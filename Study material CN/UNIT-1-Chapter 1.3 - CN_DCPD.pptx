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8"/>
  </p:notesMasterIdLst>
  <p:sldIdLst>
    <p:sldId id="256" r:id="rId2"/>
    <p:sldId id="257" r:id="rId3"/>
    <p:sldId id="404" r:id="rId4"/>
    <p:sldId id="412" r:id="rId5"/>
    <p:sldId id="397" r:id="rId6"/>
    <p:sldId id="398" r:id="rId7"/>
    <p:sldId id="399" r:id="rId8"/>
    <p:sldId id="401" r:id="rId9"/>
    <p:sldId id="402" r:id="rId10"/>
    <p:sldId id="259" r:id="rId11"/>
    <p:sldId id="260" r:id="rId12"/>
    <p:sldId id="261" r:id="rId13"/>
    <p:sldId id="287" r:id="rId14"/>
    <p:sldId id="288" r:id="rId15"/>
    <p:sldId id="289" r:id="rId16"/>
    <p:sldId id="290" r:id="rId17"/>
    <p:sldId id="291" r:id="rId18"/>
    <p:sldId id="292" r:id="rId19"/>
    <p:sldId id="262" r:id="rId20"/>
    <p:sldId id="293" r:id="rId21"/>
    <p:sldId id="263" r:id="rId22"/>
    <p:sldId id="264" r:id="rId23"/>
    <p:sldId id="265" r:id="rId24"/>
    <p:sldId id="266" r:id="rId25"/>
    <p:sldId id="294" r:id="rId26"/>
    <p:sldId id="267" r:id="rId27"/>
    <p:sldId id="295" r:id="rId28"/>
    <p:sldId id="268" r:id="rId29"/>
    <p:sldId id="296" r:id="rId30"/>
    <p:sldId id="269" r:id="rId31"/>
    <p:sldId id="270" r:id="rId32"/>
    <p:sldId id="271" r:id="rId33"/>
    <p:sldId id="272" r:id="rId34"/>
    <p:sldId id="273" r:id="rId35"/>
    <p:sldId id="297" r:id="rId36"/>
    <p:sldId id="274" r:id="rId37"/>
    <p:sldId id="275" r:id="rId38"/>
    <p:sldId id="413" r:id="rId39"/>
    <p:sldId id="415" r:id="rId40"/>
    <p:sldId id="414" r:id="rId41"/>
    <p:sldId id="258" r:id="rId42"/>
    <p:sldId id="298" r:id="rId43"/>
    <p:sldId id="330" r:id="rId44"/>
    <p:sldId id="331" r:id="rId45"/>
    <p:sldId id="299" r:id="rId46"/>
    <p:sldId id="300" r:id="rId47"/>
    <p:sldId id="301" r:id="rId48"/>
    <p:sldId id="332" r:id="rId49"/>
    <p:sldId id="302" r:id="rId50"/>
    <p:sldId id="333" r:id="rId51"/>
    <p:sldId id="303" r:id="rId52"/>
    <p:sldId id="334" r:id="rId53"/>
    <p:sldId id="304" r:id="rId54"/>
    <p:sldId id="305" r:id="rId55"/>
    <p:sldId id="306" r:id="rId56"/>
    <p:sldId id="335" r:id="rId57"/>
    <p:sldId id="307" r:id="rId58"/>
    <p:sldId id="336" r:id="rId59"/>
    <p:sldId id="337" r:id="rId60"/>
    <p:sldId id="338" r:id="rId61"/>
    <p:sldId id="308" r:id="rId62"/>
    <p:sldId id="309" r:id="rId63"/>
    <p:sldId id="416" r:id="rId64"/>
    <p:sldId id="417" r:id="rId65"/>
    <p:sldId id="418" r:id="rId66"/>
    <p:sldId id="419" r:id="rId67"/>
    <p:sldId id="340" r:id="rId68"/>
    <p:sldId id="420" r:id="rId69"/>
    <p:sldId id="421" r:id="rId70"/>
    <p:sldId id="423" r:id="rId71"/>
    <p:sldId id="422" r:id="rId72"/>
    <p:sldId id="341" r:id="rId73"/>
    <p:sldId id="310" r:id="rId74"/>
    <p:sldId id="424" r:id="rId75"/>
    <p:sldId id="311" r:id="rId76"/>
    <p:sldId id="425" r:id="rId77"/>
    <p:sldId id="426" r:id="rId78"/>
    <p:sldId id="427" r:id="rId79"/>
    <p:sldId id="428" r:id="rId80"/>
    <p:sldId id="429" r:id="rId81"/>
    <p:sldId id="430" r:id="rId82"/>
    <p:sldId id="442" r:id="rId83"/>
    <p:sldId id="431" r:id="rId84"/>
    <p:sldId id="432" r:id="rId85"/>
    <p:sldId id="443" r:id="rId86"/>
    <p:sldId id="433" r:id="rId8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presProps" Target="pres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viewProps" Target="viewProps.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notesMaster" Target="notesMasters/notesMaster1.xml"/><Relationship Id="rId9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tableStyles" Target="tableStyle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40069B0-480F-48FD-B1DF-BD9A275DD854}" type="datetimeFigureOut">
              <a:rPr lang="en-IN" smtClean="0"/>
              <a:t>24-08-2026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BBF6176-D07F-46AF-9AD7-F65A42C312EE}" type="slidenum">
              <a:rPr lang="en-IN" smtClean="0"/>
              <a:t>‹#›</a:t>
            </a:fld>
            <a:endParaRPr lang="en-IN"/>
          </a:p>
        </p:txBody>
      </p:sp>
    </p:spTree>
    <p:extLst>
      <p:ext uri="{BB962C8B-B14F-4D97-AF65-F5344CB8AC3E}">
        <p14:creationId xmlns:p14="http://schemas.microsoft.com/office/powerpoint/2010/main" val="5313022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BBF6176-D07F-46AF-9AD7-F65A42C312EE}" type="slidenum">
              <a:rPr lang="en-IN" smtClean="0"/>
              <a:t>42</a:t>
            </a:fld>
            <a:endParaRPr lang="en-IN"/>
          </a:p>
        </p:txBody>
      </p:sp>
    </p:spTree>
    <p:extLst>
      <p:ext uri="{BB962C8B-B14F-4D97-AF65-F5344CB8AC3E}">
        <p14:creationId xmlns:p14="http://schemas.microsoft.com/office/powerpoint/2010/main" val="15892884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BBF6176-D07F-46AF-9AD7-F65A42C312EE}" type="slidenum">
              <a:rPr lang="en-IN" smtClean="0"/>
              <a:t>60</a:t>
            </a:fld>
            <a:endParaRPr lang="en-IN"/>
          </a:p>
        </p:txBody>
      </p:sp>
    </p:spTree>
    <p:extLst>
      <p:ext uri="{BB962C8B-B14F-4D97-AF65-F5344CB8AC3E}">
        <p14:creationId xmlns:p14="http://schemas.microsoft.com/office/powerpoint/2010/main" val="41278762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1F35B0-2E11-C739-69DB-364B50BC44A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E787A682-50E1-D718-98BB-0C03CDEB42A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4E5C3F3-5A4E-2CA7-F0D3-1E368F1325BC}"/>
              </a:ext>
            </a:extLst>
          </p:cNvPr>
          <p:cNvSpPr>
            <a:spLocks noGrp="1"/>
          </p:cNvSpPr>
          <p:nvPr>
            <p:ph type="dt" sz="half" idx="10"/>
          </p:nvPr>
        </p:nvSpPr>
        <p:spPr/>
        <p:txBody>
          <a:bodyPr/>
          <a:lstStyle/>
          <a:p>
            <a:fld id="{76D1D44E-AB28-4CBC-A39C-24E65F43CAF0}" type="datetimeFigureOut">
              <a:rPr lang="en-IN" smtClean="0"/>
              <a:t>24-08-2026</a:t>
            </a:fld>
            <a:endParaRPr lang="en-IN"/>
          </a:p>
        </p:txBody>
      </p:sp>
      <p:sp>
        <p:nvSpPr>
          <p:cNvPr id="5" name="Footer Placeholder 4">
            <a:extLst>
              <a:ext uri="{FF2B5EF4-FFF2-40B4-BE49-F238E27FC236}">
                <a16:creationId xmlns:a16="http://schemas.microsoft.com/office/drawing/2014/main" id="{E74371E8-D93E-C2FF-CFBA-894890D4DF4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6CFCED8-5C15-079E-5683-4F4A63796AA2}"/>
              </a:ext>
            </a:extLst>
          </p:cNvPr>
          <p:cNvSpPr>
            <a:spLocks noGrp="1"/>
          </p:cNvSpPr>
          <p:nvPr>
            <p:ph type="sldNum" sz="quarter" idx="12"/>
          </p:nvPr>
        </p:nvSpPr>
        <p:spPr/>
        <p:txBody>
          <a:bodyPr/>
          <a:lstStyle/>
          <a:p>
            <a:fld id="{25F51036-C248-445B-92C7-3B36FDACE25D}" type="slidenum">
              <a:rPr lang="en-IN" smtClean="0"/>
              <a:t>‹#›</a:t>
            </a:fld>
            <a:endParaRPr lang="en-IN"/>
          </a:p>
        </p:txBody>
      </p:sp>
    </p:spTree>
    <p:extLst>
      <p:ext uri="{BB962C8B-B14F-4D97-AF65-F5344CB8AC3E}">
        <p14:creationId xmlns:p14="http://schemas.microsoft.com/office/powerpoint/2010/main" val="2528236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C9165B-2DD9-C21D-9E4B-088A3598456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142A5AD-2FF5-E1F8-9931-4285120FCE8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18FA393-9C5E-1CAD-F178-46E249C77534}"/>
              </a:ext>
            </a:extLst>
          </p:cNvPr>
          <p:cNvSpPr>
            <a:spLocks noGrp="1"/>
          </p:cNvSpPr>
          <p:nvPr>
            <p:ph type="dt" sz="half" idx="10"/>
          </p:nvPr>
        </p:nvSpPr>
        <p:spPr/>
        <p:txBody>
          <a:bodyPr/>
          <a:lstStyle/>
          <a:p>
            <a:fld id="{76D1D44E-AB28-4CBC-A39C-24E65F43CAF0}" type="datetimeFigureOut">
              <a:rPr lang="en-IN" smtClean="0"/>
              <a:t>24-08-2026</a:t>
            </a:fld>
            <a:endParaRPr lang="en-IN"/>
          </a:p>
        </p:txBody>
      </p:sp>
      <p:sp>
        <p:nvSpPr>
          <p:cNvPr id="5" name="Footer Placeholder 4">
            <a:extLst>
              <a:ext uri="{FF2B5EF4-FFF2-40B4-BE49-F238E27FC236}">
                <a16:creationId xmlns:a16="http://schemas.microsoft.com/office/drawing/2014/main" id="{FCDED7A9-F787-B9BD-5A26-DB0D5849DEB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51438EA-0CBA-3E52-9115-778AD438944B}"/>
              </a:ext>
            </a:extLst>
          </p:cNvPr>
          <p:cNvSpPr>
            <a:spLocks noGrp="1"/>
          </p:cNvSpPr>
          <p:nvPr>
            <p:ph type="sldNum" sz="quarter" idx="12"/>
          </p:nvPr>
        </p:nvSpPr>
        <p:spPr/>
        <p:txBody>
          <a:bodyPr/>
          <a:lstStyle/>
          <a:p>
            <a:fld id="{25F51036-C248-445B-92C7-3B36FDACE25D}" type="slidenum">
              <a:rPr lang="en-IN" smtClean="0"/>
              <a:t>‹#›</a:t>
            </a:fld>
            <a:endParaRPr lang="en-IN"/>
          </a:p>
        </p:txBody>
      </p:sp>
    </p:spTree>
    <p:extLst>
      <p:ext uri="{BB962C8B-B14F-4D97-AF65-F5344CB8AC3E}">
        <p14:creationId xmlns:p14="http://schemas.microsoft.com/office/powerpoint/2010/main" val="18438210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2D6E5D-98F1-37C7-FC25-CCB699F9B09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E62DC34-E631-12FA-549C-E52BEBBD991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7553A9A-7129-18CF-AAB2-D839585474A6}"/>
              </a:ext>
            </a:extLst>
          </p:cNvPr>
          <p:cNvSpPr>
            <a:spLocks noGrp="1"/>
          </p:cNvSpPr>
          <p:nvPr>
            <p:ph type="dt" sz="half" idx="10"/>
          </p:nvPr>
        </p:nvSpPr>
        <p:spPr/>
        <p:txBody>
          <a:bodyPr/>
          <a:lstStyle/>
          <a:p>
            <a:fld id="{76D1D44E-AB28-4CBC-A39C-24E65F43CAF0}" type="datetimeFigureOut">
              <a:rPr lang="en-IN" smtClean="0"/>
              <a:t>24-08-2026</a:t>
            </a:fld>
            <a:endParaRPr lang="en-IN"/>
          </a:p>
        </p:txBody>
      </p:sp>
      <p:sp>
        <p:nvSpPr>
          <p:cNvPr id="5" name="Footer Placeholder 4">
            <a:extLst>
              <a:ext uri="{FF2B5EF4-FFF2-40B4-BE49-F238E27FC236}">
                <a16:creationId xmlns:a16="http://schemas.microsoft.com/office/drawing/2014/main" id="{08DE5574-9C57-B457-E05A-77C66C67398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CA17AD6-B667-E2B4-D2E5-710323E5AEC6}"/>
              </a:ext>
            </a:extLst>
          </p:cNvPr>
          <p:cNvSpPr>
            <a:spLocks noGrp="1"/>
          </p:cNvSpPr>
          <p:nvPr>
            <p:ph type="sldNum" sz="quarter" idx="12"/>
          </p:nvPr>
        </p:nvSpPr>
        <p:spPr/>
        <p:txBody>
          <a:bodyPr/>
          <a:lstStyle/>
          <a:p>
            <a:fld id="{25F51036-C248-445B-92C7-3B36FDACE25D}" type="slidenum">
              <a:rPr lang="en-IN" smtClean="0"/>
              <a:t>‹#›</a:t>
            </a:fld>
            <a:endParaRPr lang="en-IN"/>
          </a:p>
        </p:txBody>
      </p:sp>
    </p:spTree>
    <p:extLst>
      <p:ext uri="{BB962C8B-B14F-4D97-AF65-F5344CB8AC3E}">
        <p14:creationId xmlns:p14="http://schemas.microsoft.com/office/powerpoint/2010/main" val="13105820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ACBC63-7456-D1F9-A162-78594A30AA1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E9CC7F6-A474-AC27-613F-B48A7AAD8F5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A7829F0-327A-2F26-9F9B-0B312F1A95A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DF87326-1987-B189-28DE-A090D08D8D14}"/>
              </a:ext>
            </a:extLst>
          </p:cNvPr>
          <p:cNvSpPr>
            <a:spLocks noGrp="1"/>
          </p:cNvSpPr>
          <p:nvPr>
            <p:ph type="dt" sz="half" idx="10"/>
          </p:nvPr>
        </p:nvSpPr>
        <p:spPr/>
        <p:txBody>
          <a:bodyPr/>
          <a:lstStyle/>
          <a:p>
            <a:fld id="{76D1D44E-AB28-4CBC-A39C-24E65F43CAF0}" type="datetimeFigureOut">
              <a:rPr lang="en-IN" smtClean="0"/>
              <a:t>24-08-2026</a:t>
            </a:fld>
            <a:endParaRPr lang="en-IN"/>
          </a:p>
        </p:txBody>
      </p:sp>
      <p:sp>
        <p:nvSpPr>
          <p:cNvPr id="6" name="Footer Placeholder 5">
            <a:extLst>
              <a:ext uri="{FF2B5EF4-FFF2-40B4-BE49-F238E27FC236}">
                <a16:creationId xmlns:a16="http://schemas.microsoft.com/office/drawing/2014/main" id="{3DDD356B-9C9E-BDC0-DAEC-E972AE53984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22B52F5-53DD-D223-CE59-66255741BC52}"/>
              </a:ext>
            </a:extLst>
          </p:cNvPr>
          <p:cNvSpPr>
            <a:spLocks noGrp="1"/>
          </p:cNvSpPr>
          <p:nvPr>
            <p:ph type="sldNum" sz="quarter" idx="12"/>
          </p:nvPr>
        </p:nvSpPr>
        <p:spPr/>
        <p:txBody>
          <a:bodyPr/>
          <a:lstStyle/>
          <a:p>
            <a:fld id="{25F51036-C248-445B-92C7-3B36FDACE25D}" type="slidenum">
              <a:rPr lang="en-IN" smtClean="0"/>
              <a:t>‹#›</a:t>
            </a:fld>
            <a:endParaRPr lang="en-IN"/>
          </a:p>
        </p:txBody>
      </p:sp>
    </p:spTree>
    <p:extLst>
      <p:ext uri="{BB962C8B-B14F-4D97-AF65-F5344CB8AC3E}">
        <p14:creationId xmlns:p14="http://schemas.microsoft.com/office/powerpoint/2010/main" val="32268308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A0C4C7-14EC-4BB0-E0DC-AB13AD28605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79C2B95-E867-D870-7C7F-CA0903AB748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645D53E-3BA6-8B31-AFF3-D0EDE9D705F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BD6DBE8-84D2-5E9A-371C-AB768F4E2D2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9B7287E-4DA7-20FD-B7C1-37509F0F72F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9CCBF527-5D51-4795-2713-056103C2ED9B}"/>
              </a:ext>
            </a:extLst>
          </p:cNvPr>
          <p:cNvSpPr>
            <a:spLocks noGrp="1"/>
          </p:cNvSpPr>
          <p:nvPr>
            <p:ph type="dt" sz="half" idx="10"/>
          </p:nvPr>
        </p:nvSpPr>
        <p:spPr/>
        <p:txBody>
          <a:bodyPr/>
          <a:lstStyle/>
          <a:p>
            <a:fld id="{76D1D44E-AB28-4CBC-A39C-24E65F43CAF0}" type="datetimeFigureOut">
              <a:rPr lang="en-IN" smtClean="0"/>
              <a:t>24-08-2026</a:t>
            </a:fld>
            <a:endParaRPr lang="en-IN"/>
          </a:p>
        </p:txBody>
      </p:sp>
      <p:sp>
        <p:nvSpPr>
          <p:cNvPr id="8" name="Footer Placeholder 7">
            <a:extLst>
              <a:ext uri="{FF2B5EF4-FFF2-40B4-BE49-F238E27FC236}">
                <a16:creationId xmlns:a16="http://schemas.microsoft.com/office/drawing/2014/main" id="{E037B607-5F54-9092-0C4D-CCD410446EF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C6F3AE7A-0B5F-B4FC-70F0-1E87A92E206A}"/>
              </a:ext>
            </a:extLst>
          </p:cNvPr>
          <p:cNvSpPr>
            <a:spLocks noGrp="1"/>
          </p:cNvSpPr>
          <p:nvPr>
            <p:ph type="sldNum" sz="quarter" idx="12"/>
          </p:nvPr>
        </p:nvSpPr>
        <p:spPr/>
        <p:txBody>
          <a:bodyPr/>
          <a:lstStyle/>
          <a:p>
            <a:fld id="{25F51036-C248-445B-92C7-3B36FDACE25D}" type="slidenum">
              <a:rPr lang="en-IN" smtClean="0"/>
              <a:t>‹#›</a:t>
            </a:fld>
            <a:endParaRPr lang="en-IN"/>
          </a:p>
        </p:txBody>
      </p:sp>
    </p:spTree>
    <p:extLst>
      <p:ext uri="{BB962C8B-B14F-4D97-AF65-F5344CB8AC3E}">
        <p14:creationId xmlns:p14="http://schemas.microsoft.com/office/powerpoint/2010/main" val="38148692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DA4A22-D351-DF7C-00FF-B94A6EFDD70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79F6709-02AC-CA33-E808-586F5E8529EA}"/>
              </a:ext>
            </a:extLst>
          </p:cNvPr>
          <p:cNvSpPr>
            <a:spLocks noGrp="1"/>
          </p:cNvSpPr>
          <p:nvPr>
            <p:ph type="dt" sz="half" idx="10"/>
          </p:nvPr>
        </p:nvSpPr>
        <p:spPr/>
        <p:txBody>
          <a:bodyPr/>
          <a:lstStyle/>
          <a:p>
            <a:fld id="{76D1D44E-AB28-4CBC-A39C-24E65F43CAF0}" type="datetimeFigureOut">
              <a:rPr lang="en-IN" smtClean="0"/>
              <a:t>24-08-2026</a:t>
            </a:fld>
            <a:endParaRPr lang="en-IN"/>
          </a:p>
        </p:txBody>
      </p:sp>
      <p:sp>
        <p:nvSpPr>
          <p:cNvPr id="4" name="Footer Placeholder 3">
            <a:extLst>
              <a:ext uri="{FF2B5EF4-FFF2-40B4-BE49-F238E27FC236}">
                <a16:creationId xmlns:a16="http://schemas.microsoft.com/office/drawing/2014/main" id="{A0A60254-780D-7B92-0902-421F461CCF0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FCDF8FF-41B4-3716-C394-EE0159FDDABC}"/>
              </a:ext>
            </a:extLst>
          </p:cNvPr>
          <p:cNvSpPr>
            <a:spLocks noGrp="1"/>
          </p:cNvSpPr>
          <p:nvPr>
            <p:ph type="sldNum" sz="quarter" idx="12"/>
          </p:nvPr>
        </p:nvSpPr>
        <p:spPr/>
        <p:txBody>
          <a:bodyPr/>
          <a:lstStyle/>
          <a:p>
            <a:fld id="{25F51036-C248-445B-92C7-3B36FDACE25D}" type="slidenum">
              <a:rPr lang="en-IN" smtClean="0"/>
              <a:t>‹#›</a:t>
            </a:fld>
            <a:endParaRPr lang="en-IN"/>
          </a:p>
        </p:txBody>
      </p:sp>
    </p:spTree>
    <p:extLst>
      <p:ext uri="{BB962C8B-B14F-4D97-AF65-F5344CB8AC3E}">
        <p14:creationId xmlns:p14="http://schemas.microsoft.com/office/powerpoint/2010/main" val="20605899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A47B3BD-D617-3C35-1AB6-6C6A4E44E2EF}"/>
              </a:ext>
            </a:extLst>
          </p:cNvPr>
          <p:cNvSpPr>
            <a:spLocks noGrp="1"/>
          </p:cNvSpPr>
          <p:nvPr>
            <p:ph type="dt" sz="half" idx="10"/>
          </p:nvPr>
        </p:nvSpPr>
        <p:spPr/>
        <p:txBody>
          <a:bodyPr/>
          <a:lstStyle/>
          <a:p>
            <a:fld id="{76D1D44E-AB28-4CBC-A39C-24E65F43CAF0}" type="datetimeFigureOut">
              <a:rPr lang="en-IN" smtClean="0"/>
              <a:t>24-08-2026</a:t>
            </a:fld>
            <a:endParaRPr lang="en-IN"/>
          </a:p>
        </p:txBody>
      </p:sp>
      <p:sp>
        <p:nvSpPr>
          <p:cNvPr id="3" name="Footer Placeholder 2">
            <a:extLst>
              <a:ext uri="{FF2B5EF4-FFF2-40B4-BE49-F238E27FC236}">
                <a16:creationId xmlns:a16="http://schemas.microsoft.com/office/drawing/2014/main" id="{8F060D8F-3B0A-6713-FDD1-2537105CB9F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259A2E4-0DFD-D51C-6B82-6C14A169EC23}"/>
              </a:ext>
            </a:extLst>
          </p:cNvPr>
          <p:cNvSpPr>
            <a:spLocks noGrp="1"/>
          </p:cNvSpPr>
          <p:nvPr>
            <p:ph type="sldNum" sz="quarter" idx="12"/>
          </p:nvPr>
        </p:nvSpPr>
        <p:spPr/>
        <p:txBody>
          <a:bodyPr/>
          <a:lstStyle/>
          <a:p>
            <a:fld id="{25F51036-C248-445B-92C7-3B36FDACE25D}" type="slidenum">
              <a:rPr lang="en-IN" smtClean="0"/>
              <a:t>‹#›</a:t>
            </a:fld>
            <a:endParaRPr lang="en-IN"/>
          </a:p>
        </p:txBody>
      </p:sp>
    </p:spTree>
    <p:extLst>
      <p:ext uri="{BB962C8B-B14F-4D97-AF65-F5344CB8AC3E}">
        <p14:creationId xmlns:p14="http://schemas.microsoft.com/office/powerpoint/2010/main" val="16620827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70D0AE-FA26-BFCE-5B03-7D92BD27D93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B1E4246-2740-AF92-4924-2AC4B2FE1BB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560E825-8180-0E22-1F76-6C71A0ED950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B81EF12-4D15-0E18-B33E-F1E50CB2D729}"/>
              </a:ext>
            </a:extLst>
          </p:cNvPr>
          <p:cNvSpPr>
            <a:spLocks noGrp="1"/>
          </p:cNvSpPr>
          <p:nvPr>
            <p:ph type="dt" sz="half" idx="10"/>
          </p:nvPr>
        </p:nvSpPr>
        <p:spPr/>
        <p:txBody>
          <a:bodyPr/>
          <a:lstStyle/>
          <a:p>
            <a:fld id="{76D1D44E-AB28-4CBC-A39C-24E65F43CAF0}" type="datetimeFigureOut">
              <a:rPr lang="en-IN" smtClean="0"/>
              <a:t>24-08-2026</a:t>
            </a:fld>
            <a:endParaRPr lang="en-IN"/>
          </a:p>
        </p:txBody>
      </p:sp>
      <p:sp>
        <p:nvSpPr>
          <p:cNvPr id="6" name="Footer Placeholder 5">
            <a:extLst>
              <a:ext uri="{FF2B5EF4-FFF2-40B4-BE49-F238E27FC236}">
                <a16:creationId xmlns:a16="http://schemas.microsoft.com/office/drawing/2014/main" id="{00060264-ABCF-9739-E5C5-6FC0E4A1A14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D71ADC3-C221-91B1-DF01-C4839B44A944}"/>
              </a:ext>
            </a:extLst>
          </p:cNvPr>
          <p:cNvSpPr>
            <a:spLocks noGrp="1"/>
          </p:cNvSpPr>
          <p:nvPr>
            <p:ph type="sldNum" sz="quarter" idx="12"/>
          </p:nvPr>
        </p:nvSpPr>
        <p:spPr/>
        <p:txBody>
          <a:bodyPr/>
          <a:lstStyle/>
          <a:p>
            <a:fld id="{25F51036-C248-445B-92C7-3B36FDACE25D}" type="slidenum">
              <a:rPr lang="en-IN" smtClean="0"/>
              <a:t>‹#›</a:t>
            </a:fld>
            <a:endParaRPr lang="en-IN"/>
          </a:p>
        </p:txBody>
      </p:sp>
    </p:spTree>
    <p:extLst>
      <p:ext uri="{BB962C8B-B14F-4D97-AF65-F5344CB8AC3E}">
        <p14:creationId xmlns:p14="http://schemas.microsoft.com/office/powerpoint/2010/main" val="27933384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0DA673-9EFF-961A-B81C-4BEB57BE70D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1A5C82A-3DD1-B7D0-C4FB-6E2E9CBCC48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2B84FB1-2EE9-7A86-3114-329876C2840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F3A6D42-E88E-3A27-5384-50319FAD310A}"/>
              </a:ext>
            </a:extLst>
          </p:cNvPr>
          <p:cNvSpPr>
            <a:spLocks noGrp="1"/>
          </p:cNvSpPr>
          <p:nvPr>
            <p:ph type="dt" sz="half" idx="10"/>
          </p:nvPr>
        </p:nvSpPr>
        <p:spPr/>
        <p:txBody>
          <a:bodyPr/>
          <a:lstStyle/>
          <a:p>
            <a:fld id="{76D1D44E-AB28-4CBC-A39C-24E65F43CAF0}" type="datetimeFigureOut">
              <a:rPr lang="en-IN" smtClean="0"/>
              <a:t>24-08-2026</a:t>
            </a:fld>
            <a:endParaRPr lang="en-IN"/>
          </a:p>
        </p:txBody>
      </p:sp>
      <p:sp>
        <p:nvSpPr>
          <p:cNvPr id="6" name="Footer Placeholder 5">
            <a:extLst>
              <a:ext uri="{FF2B5EF4-FFF2-40B4-BE49-F238E27FC236}">
                <a16:creationId xmlns:a16="http://schemas.microsoft.com/office/drawing/2014/main" id="{5BB7F436-1513-6D61-E222-645EFA478AE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A31E9D6-0990-5804-1808-BD85CFEC903D}"/>
              </a:ext>
            </a:extLst>
          </p:cNvPr>
          <p:cNvSpPr>
            <a:spLocks noGrp="1"/>
          </p:cNvSpPr>
          <p:nvPr>
            <p:ph type="sldNum" sz="quarter" idx="12"/>
          </p:nvPr>
        </p:nvSpPr>
        <p:spPr/>
        <p:txBody>
          <a:bodyPr/>
          <a:lstStyle/>
          <a:p>
            <a:fld id="{25F51036-C248-445B-92C7-3B36FDACE25D}" type="slidenum">
              <a:rPr lang="en-IN" smtClean="0"/>
              <a:t>‹#›</a:t>
            </a:fld>
            <a:endParaRPr lang="en-IN"/>
          </a:p>
        </p:txBody>
      </p:sp>
    </p:spTree>
    <p:extLst>
      <p:ext uri="{BB962C8B-B14F-4D97-AF65-F5344CB8AC3E}">
        <p14:creationId xmlns:p14="http://schemas.microsoft.com/office/powerpoint/2010/main" val="8162075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622D2B-210E-8CCD-C1B7-690B8B07879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40AE3B0-5D83-7159-2547-F9770F73D10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C52A936-1387-088C-2B2E-6C9C7D3A85F3}"/>
              </a:ext>
            </a:extLst>
          </p:cNvPr>
          <p:cNvSpPr>
            <a:spLocks noGrp="1"/>
          </p:cNvSpPr>
          <p:nvPr>
            <p:ph type="dt" sz="half" idx="10"/>
          </p:nvPr>
        </p:nvSpPr>
        <p:spPr/>
        <p:txBody>
          <a:bodyPr/>
          <a:lstStyle/>
          <a:p>
            <a:fld id="{76D1D44E-AB28-4CBC-A39C-24E65F43CAF0}" type="datetimeFigureOut">
              <a:rPr lang="en-IN" smtClean="0"/>
              <a:t>24-08-2026</a:t>
            </a:fld>
            <a:endParaRPr lang="en-IN"/>
          </a:p>
        </p:txBody>
      </p:sp>
      <p:sp>
        <p:nvSpPr>
          <p:cNvPr id="5" name="Footer Placeholder 4">
            <a:extLst>
              <a:ext uri="{FF2B5EF4-FFF2-40B4-BE49-F238E27FC236}">
                <a16:creationId xmlns:a16="http://schemas.microsoft.com/office/drawing/2014/main" id="{D06F6D25-0002-D4B1-11BD-6EB85C6CEF6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575D986-C532-24B9-4B76-4466D0DD4547}"/>
              </a:ext>
            </a:extLst>
          </p:cNvPr>
          <p:cNvSpPr>
            <a:spLocks noGrp="1"/>
          </p:cNvSpPr>
          <p:nvPr>
            <p:ph type="sldNum" sz="quarter" idx="12"/>
          </p:nvPr>
        </p:nvSpPr>
        <p:spPr/>
        <p:txBody>
          <a:bodyPr/>
          <a:lstStyle/>
          <a:p>
            <a:fld id="{25F51036-C248-445B-92C7-3B36FDACE25D}" type="slidenum">
              <a:rPr lang="en-IN" smtClean="0"/>
              <a:t>‹#›</a:t>
            </a:fld>
            <a:endParaRPr lang="en-IN"/>
          </a:p>
        </p:txBody>
      </p:sp>
    </p:spTree>
    <p:extLst>
      <p:ext uri="{BB962C8B-B14F-4D97-AF65-F5344CB8AC3E}">
        <p14:creationId xmlns:p14="http://schemas.microsoft.com/office/powerpoint/2010/main" val="2860552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7013FA5-C7CD-0413-1726-170EBEC2416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87AB966-7617-A5E8-BE31-2072AB8075A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FD02B28-064F-861F-B8F9-E8ABDFB9C1E6}"/>
              </a:ext>
            </a:extLst>
          </p:cNvPr>
          <p:cNvSpPr>
            <a:spLocks noGrp="1"/>
          </p:cNvSpPr>
          <p:nvPr>
            <p:ph type="dt" sz="half" idx="10"/>
          </p:nvPr>
        </p:nvSpPr>
        <p:spPr/>
        <p:txBody>
          <a:bodyPr/>
          <a:lstStyle/>
          <a:p>
            <a:fld id="{76D1D44E-AB28-4CBC-A39C-24E65F43CAF0}" type="datetimeFigureOut">
              <a:rPr lang="en-IN" smtClean="0"/>
              <a:t>24-08-2026</a:t>
            </a:fld>
            <a:endParaRPr lang="en-IN"/>
          </a:p>
        </p:txBody>
      </p:sp>
      <p:sp>
        <p:nvSpPr>
          <p:cNvPr id="5" name="Footer Placeholder 4">
            <a:extLst>
              <a:ext uri="{FF2B5EF4-FFF2-40B4-BE49-F238E27FC236}">
                <a16:creationId xmlns:a16="http://schemas.microsoft.com/office/drawing/2014/main" id="{5F301644-CEEF-85C2-108C-FDD7804D32A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9C0FC37-4F38-9433-D755-3B53E82279A1}"/>
              </a:ext>
            </a:extLst>
          </p:cNvPr>
          <p:cNvSpPr>
            <a:spLocks noGrp="1"/>
          </p:cNvSpPr>
          <p:nvPr>
            <p:ph type="sldNum" sz="quarter" idx="12"/>
          </p:nvPr>
        </p:nvSpPr>
        <p:spPr/>
        <p:txBody>
          <a:bodyPr/>
          <a:lstStyle/>
          <a:p>
            <a:fld id="{25F51036-C248-445B-92C7-3B36FDACE25D}" type="slidenum">
              <a:rPr lang="en-IN" smtClean="0"/>
              <a:t>‹#›</a:t>
            </a:fld>
            <a:endParaRPr lang="en-IN"/>
          </a:p>
        </p:txBody>
      </p:sp>
    </p:spTree>
    <p:extLst>
      <p:ext uri="{BB962C8B-B14F-4D97-AF65-F5344CB8AC3E}">
        <p14:creationId xmlns:p14="http://schemas.microsoft.com/office/powerpoint/2010/main" val="18734049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3E2FEC6-FDE4-5248-150B-C0D1D84B9C8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endParaRPr lang="en-IN" dirty="0"/>
          </a:p>
        </p:txBody>
      </p:sp>
      <p:sp>
        <p:nvSpPr>
          <p:cNvPr id="3" name="Text Placeholder 2">
            <a:extLst>
              <a:ext uri="{FF2B5EF4-FFF2-40B4-BE49-F238E27FC236}">
                <a16:creationId xmlns:a16="http://schemas.microsoft.com/office/drawing/2014/main" id="{21ED9D89-6AD7-5F4F-E83D-1D646A846D5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2FC4029-7543-0447-F921-F3883716338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6D1D44E-AB28-4CBC-A39C-24E65F43CAF0}" type="datetimeFigureOut">
              <a:rPr lang="en-IN" smtClean="0"/>
              <a:t>24-08-2026</a:t>
            </a:fld>
            <a:endParaRPr lang="en-IN"/>
          </a:p>
        </p:txBody>
      </p:sp>
      <p:sp>
        <p:nvSpPr>
          <p:cNvPr id="5" name="Footer Placeholder 4">
            <a:extLst>
              <a:ext uri="{FF2B5EF4-FFF2-40B4-BE49-F238E27FC236}">
                <a16:creationId xmlns:a16="http://schemas.microsoft.com/office/drawing/2014/main" id="{84A3F134-11C7-5AA3-F3BB-52B4D224B75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E1FDA509-422C-EE10-B291-6D7B469A505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5F51036-C248-445B-92C7-3B36FDACE25D}" type="slidenum">
              <a:rPr lang="en-IN" smtClean="0"/>
              <a:t>‹#›</a:t>
            </a:fld>
            <a:endParaRPr lang="en-IN"/>
          </a:p>
        </p:txBody>
      </p:sp>
      <p:pic>
        <p:nvPicPr>
          <p:cNvPr id="8" name="Picture 7">
            <a:extLst>
              <a:ext uri="{FF2B5EF4-FFF2-40B4-BE49-F238E27FC236}">
                <a16:creationId xmlns:a16="http://schemas.microsoft.com/office/drawing/2014/main" id="{BC7FC92D-6EC7-3DCB-B94C-619543D8C54E}"/>
              </a:ext>
            </a:extLst>
          </p:cNvPr>
          <p:cNvPicPr>
            <a:picLocks noChangeAspect="1"/>
          </p:cNvPicPr>
          <p:nvPr userDrawn="1"/>
        </p:nvPicPr>
        <p:blipFill>
          <a:blip r:embed="rId13"/>
          <a:stretch>
            <a:fillRect/>
          </a:stretch>
        </p:blipFill>
        <p:spPr>
          <a:xfrm>
            <a:off x="120770" y="60385"/>
            <a:ext cx="11904453" cy="500332"/>
          </a:xfrm>
          <a:prstGeom prst="rect">
            <a:avLst/>
          </a:prstGeom>
        </p:spPr>
      </p:pic>
    </p:spTree>
    <p:extLst>
      <p:ext uri="{BB962C8B-B14F-4D97-AF65-F5344CB8AC3E}">
        <p14:creationId xmlns:p14="http://schemas.microsoft.com/office/powerpoint/2010/main" val="30512974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218BC5-2CDF-002D-43CC-10F2FB6378A5}"/>
              </a:ext>
            </a:extLst>
          </p:cNvPr>
          <p:cNvSpPr>
            <a:spLocks noGrp="1"/>
          </p:cNvSpPr>
          <p:nvPr>
            <p:ph type="ctrTitle"/>
          </p:nvPr>
        </p:nvSpPr>
        <p:spPr/>
        <p:txBody>
          <a:bodyPr/>
          <a:lstStyle/>
          <a:p>
            <a:r>
              <a:rPr lang="en-US" dirty="0"/>
              <a:t>Computer Networks</a:t>
            </a:r>
            <a:endParaRPr lang="en-IN" dirty="0"/>
          </a:p>
        </p:txBody>
      </p:sp>
      <p:sp>
        <p:nvSpPr>
          <p:cNvPr id="3" name="Subtitle 2">
            <a:extLst>
              <a:ext uri="{FF2B5EF4-FFF2-40B4-BE49-F238E27FC236}">
                <a16:creationId xmlns:a16="http://schemas.microsoft.com/office/drawing/2014/main" id="{39C0DBBC-FF82-56F1-2B4E-AF7B9BF0BFF7}"/>
              </a:ext>
            </a:extLst>
          </p:cNvPr>
          <p:cNvSpPr>
            <a:spLocks noGrp="1"/>
          </p:cNvSpPr>
          <p:nvPr>
            <p:ph type="subTitle" idx="1"/>
          </p:nvPr>
        </p:nvSpPr>
        <p:spPr/>
        <p:txBody>
          <a:bodyPr/>
          <a:lstStyle/>
          <a:p>
            <a:r>
              <a:rPr lang="en-US" dirty="0"/>
              <a:t>Chapter 1.3</a:t>
            </a:r>
            <a:endParaRPr lang="en-IN" dirty="0"/>
          </a:p>
        </p:txBody>
      </p:sp>
      <p:sp>
        <p:nvSpPr>
          <p:cNvPr id="4" name="TextBox 3">
            <a:extLst>
              <a:ext uri="{FF2B5EF4-FFF2-40B4-BE49-F238E27FC236}">
                <a16:creationId xmlns:a16="http://schemas.microsoft.com/office/drawing/2014/main" id="{D17E4571-81D3-3F2E-A57B-5EBD74A8A0B7}"/>
              </a:ext>
            </a:extLst>
          </p:cNvPr>
          <p:cNvSpPr txBox="1"/>
          <p:nvPr/>
        </p:nvSpPr>
        <p:spPr>
          <a:xfrm>
            <a:off x="2385883" y="6092518"/>
            <a:ext cx="7735171" cy="646331"/>
          </a:xfrm>
          <a:prstGeom prst="rect">
            <a:avLst/>
          </a:prstGeom>
          <a:noFill/>
        </p:spPr>
        <p:txBody>
          <a:bodyPr wrap="square" rtlCol="0">
            <a:spAutoFit/>
          </a:bodyPr>
          <a:lstStyle/>
          <a:p>
            <a:pPr algn="ctr"/>
            <a:r>
              <a:rPr lang="en-US" dirty="0"/>
              <a:t>ALOK KUMAR – ASSISTANT PROFESSOR &amp; KARGIL TECHINCAL TRAINER (DCPD) </a:t>
            </a:r>
            <a:br>
              <a:rPr lang="en-US" dirty="0"/>
            </a:br>
            <a:r>
              <a:rPr lang="en-US" dirty="0"/>
              <a:t>EMAIL: DCPD.KARGILT1@CUMAIL.IN</a:t>
            </a:r>
            <a:endParaRPr lang="en-IN" dirty="0"/>
          </a:p>
        </p:txBody>
      </p:sp>
    </p:spTree>
    <p:extLst>
      <p:ext uri="{BB962C8B-B14F-4D97-AF65-F5344CB8AC3E}">
        <p14:creationId xmlns:p14="http://schemas.microsoft.com/office/powerpoint/2010/main" val="2866482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F6EA74-A973-F2A5-CD14-1B7EFD8F2811}"/>
              </a:ext>
            </a:extLst>
          </p:cNvPr>
          <p:cNvSpPr>
            <a:spLocks noGrp="1"/>
          </p:cNvSpPr>
          <p:nvPr>
            <p:ph type="title"/>
          </p:nvPr>
        </p:nvSpPr>
        <p:spPr>
          <a:xfrm>
            <a:off x="838200" y="365125"/>
            <a:ext cx="10515600" cy="796163"/>
          </a:xfrm>
        </p:spPr>
        <p:txBody>
          <a:bodyPr>
            <a:normAutofit/>
          </a:bodyPr>
          <a:lstStyle/>
          <a:p>
            <a:r>
              <a:rPr lang="en-US" dirty="0"/>
              <a:t>Contents</a:t>
            </a:r>
            <a:endParaRPr lang="en-IN" dirty="0"/>
          </a:p>
        </p:txBody>
      </p:sp>
      <p:sp>
        <p:nvSpPr>
          <p:cNvPr id="3" name="Content Placeholder 2">
            <a:extLst>
              <a:ext uri="{FF2B5EF4-FFF2-40B4-BE49-F238E27FC236}">
                <a16:creationId xmlns:a16="http://schemas.microsoft.com/office/drawing/2014/main" id="{9529EDEE-0AED-5107-CD8E-199C43709E6A}"/>
              </a:ext>
            </a:extLst>
          </p:cNvPr>
          <p:cNvSpPr>
            <a:spLocks noGrp="1"/>
          </p:cNvSpPr>
          <p:nvPr>
            <p:ph idx="1"/>
          </p:nvPr>
        </p:nvSpPr>
        <p:spPr>
          <a:xfrm>
            <a:off x="838200" y="1316736"/>
            <a:ext cx="10515600" cy="4860227"/>
          </a:xfrm>
        </p:spPr>
        <p:txBody>
          <a:bodyPr/>
          <a:lstStyle/>
          <a:p>
            <a:r>
              <a:rPr lang="en-US" dirty="0"/>
              <a:t>Data link layer: Functions of data link layer &amp; services provided to network layer.</a:t>
            </a:r>
          </a:p>
          <a:p>
            <a:r>
              <a:rPr lang="en-US" dirty="0"/>
              <a:t>Error detection &amp; correction: Hamming code, CRC, Parity, Checksum</a:t>
            </a:r>
          </a:p>
          <a:p>
            <a:r>
              <a:rPr lang="en-US" dirty="0"/>
              <a:t>Switch working</a:t>
            </a:r>
          </a:p>
          <a:p>
            <a:r>
              <a:rPr lang="en-US" dirty="0"/>
              <a:t>Multiple access protocols with random access protocols like: ALOHA, CSMA, CSMA/CD and CSMA/CA.</a:t>
            </a:r>
          </a:p>
        </p:txBody>
      </p:sp>
    </p:spTree>
    <p:extLst>
      <p:ext uri="{BB962C8B-B14F-4D97-AF65-F5344CB8AC3E}">
        <p14:creationId xmlns:p14="http://schemas.microsoft.com/office/powerpoint/2010/main" val="27902430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3A5173-0D04-BBF5-8D70-EA8027611E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7DF27C-9984-D3D8-8155-17B2ADE47FE6}"/>
              </a:ext>
            </a:extLst>
          </p:cNvPr>
          <p:cNvSpPr>
            <a:spLocks noGrp="1"/>
          </p:cNvSpPr>
          <p:nvPr>
            <p:ph type="title"/>
          </p:nvPr>
        </p:nvSpPr>
        <p:spPr>
          <a:xfrm>
            <a:off x="240631" y="365126"/>
            <a:ext cx="11486147" cy="645528"/>
          </a:xfrm>
        </p:spPr>
        <p:txBody>
          <a:bodyPr>
            <a:normAutofit fontScale="90000"/>
          </a:bodyPr>
          <a:lstStyle/>
          <a:p>
            <a:r>
              <a:rPr lang="en-IN" dirty="0"/>
              <a:t>Data Link Layer – NEED?</a:t>
            </a:r>
          </a:p>
        </p:txBody>
      </p:sp>
      <p:graphicFrame>
        <p:nvGraphicFramePr>
          <p:cNvPr id="12" name="Table 11">
            <a:extLst>
              <a:ext uri="{FF2B5EF4-FFF2-40B4-BE49-F238E27FC236}">
                <a16:creationId xmlns:a16="http://schemas.microsoft.com/office/drawing/2014/main" id="{A7A1D05B-A98F-0632-BC84-99DBF29EB9F3}"/>
              </a:ext>
            </a:extLst>
          </p:cNvPr>
          <p:cNvGraphicFramePr>
            <a:graphicFrameLocks noGrp="1"/>
          </p:cNvGraphicFramePr>
          <p:nvPr>
            <p:extLst>
              <p:ext uri="{D42A27DB-BD31-4B8C-83A1-F6EECF244321}">
                <p14:modId xmlns:p14="http://schemas.microsoft.com/office/powerpoint/2010/main" val="1362052660"/>
              </p:ext>
            </p:extLst>
          </p:nvPr>
        </p:nvGraphicFramePr>
        <p:xfrm>
          <a:off x="465222" y="1010654"/>
          <a:ext cx="10363200" cy="5034280"/>
        </p:xfrm>
        <a:graphic>
          <a:graphicData uri="http://schemas.openxmlformats.org/drawingml/2006/table">
            <a:tbl>
              <a:tblPr firstRow="1" bandRow="1">
                <a:tableStyleId>{5C22544A-7EE6-4342-B048-85BDC9FD1C3A}</a:tableStyleId>
              </a:tblPr>
              <a:tblGrid>
                <a:gridCol w="3454400">
                  <a:extLst>
                    <a:ext uri="{9D8B030D-6E8A-4147-A177-3AD203B41FA5}">
                      <a16:colId xmlns:a16="http://schemas.microsoft.com/office/drawing/2014/main" val="51687323"/>
                    </a:ext>
                  </a:extLst>
                </a:gridCol>
                <a:gridCol w="3454400">
                  <a:extLst>
                    <a:ext uri="{9D8B030D-6E8A-4147-A177-3AD203B41FA5}">
                      <a16:colId xmlns:a16="http://schemas.microsoft.com/office/drawing/2014/main" val="434334892"/>
                    </a:ext>
                  </a:extLst>
                </a:gridCol>
                <a:gridCol w="3454400">
                  <a:extLst>
                    <a:ext uri="{9D8B030D-6E8A-4147-A177-3AD203B41FA5}">
                      <a16:colId xmlns:a16="http://schemas.microsoft.com/office/drawing/2014/main" val="3173934697"/>
                    </a:ext>
                  </a:extLst>
                </a:gridCol>
              </a:tblGrid>
              <a:tr h="370840">
                <a:tc>
                  <a:txBody>
                    <a:bodyPr/>
                    <a:lstStyle/>
                    <a:p>
                      <a:pPr>
                        <a:buNone/>
                      </a:pPr>
                      <a:r>
                        <a:rPr lang="en-IN" dirty="0"/>
                        <a:t>Problem</a:t>
                      </a:r>
                    </a:p>
                  </a:txBody>
                  <a:tcPr anchor="ctr"/>
                </a:tc>
                <a:tc>
                  <a:txBody>
                    <a:bodyPr/>
                    <a:lstStyle/>
                    <a:p>
                      <a:pPr>
                        <a:buNone/>
                      </a:pPr>
                      <a:r>
                        <a:rPr lang="en-IN"/>
                        <a:t>Why does it occur?</a:t>
                      </a:r>
                    </a:p>
                  </a:txBody>
                  <a:tcPr anchor="ctr"/>
                </a:tc>
                <a:tc>
                  <a:txBody>
                    <a:bodyPr/>
                    <a:lstStyle/>
                    <a:p>
                      <a:pPr>
                        <a:buNone/>
                      </a:pPr>
                      <a:r>
                        <a:rPr lang="en-IN"/>
                        <a:t>Solution by Data Link Layer</a:t>
                      </a:r>
                    </a:p>
                  </a:txBody>
                  <a:tcPr anchor="ctr"/>
                </a:tc>
                <a:extLst>
                  <a:ext uri="{0D108BD9-81ED-4DB2-BD59-A6C34878D82A}">
                    <a16:rowId xmlns:a16="http://schemas.microsoft.com/office/drawing/2014/main" val="1432196687"/>
                  </a:ext>
                </a:extLst>
              </a:tr>
              <a:tr h="370840">
                <a:tc>
                  <a:txBody>
                    <a:bodyPr/>
                    <a:lstStyle/>
                    <a:p>
                      <a:pPr>
                        <a:buNone/>
                      </a:pPr>
                      <a:r>
                        <a:rPr lang="en-IN" dirty="0"/>
                        <a:t>Physical Layer understands only bits</a:t>
                      </a:r>
                    </a:p>
                  </a:txBody>
                  <a:tcPr anchor="ctr"/>
                </a:tc>
                <a:tc>
                  <a:txBody>
                    <a:bodyPr/>
                    <a:lstStyle/>
                    <a:p>
                      <a:pPr>
                        <a:buNone/>
                      </a:pPr>
                      <a:r>
                        <a:rPr lang="en-IN"/>
                        <a:t>It cannot understand packets, addresses, or messages.</a:t>
                      </a:r>
                    </a:p>
                  </a:txBody>
                  <a:tcPr anchor="ctr"/>
                </a:tc>
                <a:tc>
                  <a:txBody>
                    <a:bodyPr/>
                    <a:lstStyle/>
                    <a:p>
                      <a:pPr>
                        <a:buNone/>
                      </a:pPr>
                      <a:r>
                        <a:rPr lang="en-IN"/>
                        <a:t>Converts packets into </a:t>
                      </a:r>
                      <a:r>
                        <a:rPr lang="en-IN" b="1"/>
                        <a:t>Frames</a:t>
                      </a:r>
                      <a:r>
                        <a:rPr lang="en-IN"/>
                        <a:t> before transmission.</a:t>
                      </a:r>
                    </a:p>
                  </a:txBody>
                  <a:tcPr anchor="ctr"/>
                </a:tc>
                <a:extLst>
                  <a:ext uri="{0D108BD9-81ED-4DB2-BD59-A6C34878D82A}">
                    <a16:rowId xmlns:a16="http://schemas.microsoft.com/office/drawing/2014/main" val="1919920047"/>
                  </a:ext>
                </a:extLst>
              </a:tr>
              <a:tr h="370840">
                <a:tc>
                  <a:txBody>
                    <a:bodyPr/>
                    <a:lstStyle/>
                    <a:p>
                      <a:pPr>
                        <a:buNone/>
                      </a:pPr>
                      <a:r>
                        <a:rPr lang="en-IN" dirty="0"/>
                        <a:t>No beginning or end of data</a:t>
                      </a:r>
                    </a:p>
                  </a:txBody>
                  <a:tcPr anchor="ctr"/>
                </a:tc>
                <a:tc>
                  <a:txBody>
                    <a:bodyPr/>
                    <a:lstStyle/>
                    <a:p>
                      <a:pPr>
                        <a:buNone/>
                      </a:pPr>
                      <a:r>
                        <a:rPr lang="en-IN"/>
                        <a:t>Receiver cannot identify where one message starts or ends.</a:t>
                      </a:r>
                    </a:p>
                  </a:txBody>
                  <a:tcPr anchor="ctr"/>
                </a:tc>
                <a:tc>
                  <a:txBody>
                    <a:bodyPr/>
                    <a:lstStyle/>
                    <a:p>
                      <a:pPr>
                        <a:buNone/>
                      </a:pPr>
                      <a:r>
                        <a:rPr lang="en-IN"/>
                        <a:t>Uses </a:t>
                      </a:r>
                      <a:r>
                        <a:rPr lang="en-IN" b="1"/>
                        <a:t>Framing</a:t>
                      </a:r>
                      <a:r>
                        <a:rPr lang="en-IN"/>
                        <a:t> to organize data into frames.</a:t>
                      </a:r>
                    </a:p>
                  </a:txBody>
                  <a:tcPr anchor="ctr"/>
                </a:tc>
                <a:extLst>
                  <a:ext uri="{0D108BD9-81ED-4DB2-BD59-A6C34878D82A}">
                    <a16:rowId xmlns:a16="http://schemas.microsoft.com/office/drawing/2014/main" val="714338667"/>
                  </a:ext>
                </a:extLst>
              </a:tr>
              <a:tr h="370840">
                <a:tc>
                  <a:txBody>
                    <a:bodyPr/>
                    <a:lstStyle/>
                    <a:p>
                      <a:pPr>
                        <a:buNone/>
                      </a:pPr>
                      <a:r>
                        <a:rPr lang="en-IN" dirty="0"/>
                        <a:t>Destination cannot be identified</a:t>
                      </a:r>
                    </a:p>
                  </a:txBody>
                  <a:tcPr anchor="ctr"/>
                </a:tc>
                <a:tc>
                  <a:txBody>
                    <a:bodyPr/>
                    <a:lstStyle/>
                    <a:p>
                      <a:pPr>
                        <a:buNone/>
                      </a:pPr>
                      <a:r>
                        <a:rPr lang="en-IN"/>
                        <a:t>A switch cannot determine which device should receive the data.</a:t>
                      </a:r>
                    </a:p>
                  </a:txBody>
                  <a:tcPr anchor="ctr"/>
                </a:tc>
                <a:tc>
                  <a:txBody>
                    <a:bodyPr/>
                    <a:lstStyle/>
                    <a:p>
                      <a:pPr>
                        <a:buNone/>
                      </a:pPr>
                      <a:r>
                        <a:rPr lang="en-IN"/>
                        <a:t>Adds </a:t>
                      </a:r>
                      <a:r>
                        <a:rPr lang="en-IN" b="1"/>
                        <a:t>Source MAC</a:t>
                      </a:r>
                      <a:r>
                        <a:rPr lang="en-IN"/>
                        <a:t> and </a:t>
                      </a:r>
                      <a:r>
                        <a:rPr lang="en-IN" b="1"/>
                        <a:t>Destination MAC</a:t>
                      </a:r>
                      <a:r>
                        <a:rPr lang="en-IN"/>
                        <a:t> addresses.</a:t>
                      </a:r>
                    </a:p>
                  </a:txBody>
                  <a:tcPr anchor="ctr"/>
                </a:tc>
                <a:extLst>
                  <a:ext uri="{0D108BD9-81ED-4DB2-BD59-A6C34878D82A}">
                    <a16:rowId xmlns:a16="http://schemas.microsoft.com/office/drawing/2014/main" val="2734821230"/>
                  </a:ext>
                </a:extLst>
              </a:tr>
              <a:tr h="370840">
                <a:tc>
                  <a:txBody>
                    <a:bodyPr/>
                    <a:lstStyle/>
                    <a:p>
                      <a:pPr>
                        <a:buNone/>
                      </a:pPr>
                      <a:r>
                        <a:rPr lang="en-IN" dirty="0"/>
                        <a:t>Transmission errors</a:t>
                      </a:r>
                    </a:p>
                  </a:txBody>
                  <a:tcPr anchor="ctr"/>
                </a:tc>
                <a:tc>
                  <a:txBody>
                    <a:bodyPr/>
                    <a:lstStyle/>
                    <a:p>
                      <a:pPr>
                        <a:buNone/>
                      </a:pPr>
                      <a:r>
                        <a:rPr lang="en-IN"/>
                        <a:t>Noise or interference may change one or more bits during transmission.</a:t>
                      </a:r>
                    </a:p>
                  </a:txBody>
                  <a:tcPr anchor="ctr"/>
                </a:tc>
                <a:tc>
                  <a:txBody>
                    <a:bodyPr/>
                    <a:lstStyle/>
                    <a:p>
                      <a:pPr>
                        <a:buNone/>
                      </a:pPr>
                      <a:r>
                        <a:rPr lang="en-IN"/>
                        <a:t>Uses </a:t>
                      </a:r>
                      <a:r>
                        <a:rPr lang="en-IN" b="1"/>
                        <a:t>FCS (Frame Check Sequence)</a:t>
                      </a:r>
                      <a:r>
                        <a:rPr lang="en-IN"/>
                        <a:t> to detect errors.</a:t>
                      </a:r>
                    </a:p>
                  </a:txBody>
                  <a:tcPr anchor="ctr"/>
                </a:tc>
                <a:extLst>
                  <a:ext uri="{0D108BD9-81ED-4DB2-BD59-A6C34878D82A}">
                    <a16:rowId xmlns:a16="http://schemas.microsoft.com/office/drawing/2014/main" val="2627777564"/>
                  </a:ext>
                </a:extLst>
              </a:tr>
              <a:tr h="370840">
                <a:tc>
                  <a:txBody>
                    <a:bodyPr/>
                    <a:lstStyle/>
                    <a:p>
                      <a:pPr>
                        <a:buNone/>
                      </a:pPr>
                      <a:r>
                        <a:rPr lang="en-IN" dirty="0"/>
                        <a:t>Sender transmits too fast</a:t>
                      </a:r>
                    </a:p>
                  </a:txBody>
                  <a:tcPr anchor="ctr"/>
                </a:tc>
                <a:tc>
                  <a:txBody>
                    <a:bodyPr/>
                    <a:lstStyle/>
                    <a:p>
                      <a:pPr>
                        <a:buNone/>
                      </a:pPr>
                      <a:r>
                        <a:rPr lang="en-IN"/>
                        <a:t>The receiver may not be able to process incoming data quickly enough.</a:t>
                      </a:r>
                    </a:p>
                  </a:txBody>
                  <a:tcPr anchor="ctr"/>
                </a:tc>
                <a:tc>
                  <a:txBody>
                    <a:bodyPr/>
                    <a:lstStyle/>
                    <a:p>
                      <a:pPr>
                        <a:buNone/>
                      </a:pPr>
                      <a:r>
                        <a:rPr lang="en-IN"/>
                        <a:t>Uses </a:t>
                      </a:r>
                      <a:r>
                        <a:rPr lang="en-IN" b="1"/>
                        <a:t>Flow Control</a:t>
                      </a:r>
                      <a:r>
                        <a:rPr lang="en-IN"/>
                        <a:t> to regulate the transmission speed.</a:t>
                      </a:r>
                    </a:p>
                  </a:txBody>
                  <a:tcPr anchor="ctr"/>
                </a:tc>
                <a:extLst>
                  <a:ext uri="{0D108BD9-81ED-4DB2-BD59-A6C34878D82A}">
                    <a16:rowId xmlns:a16="http://schemas.microsoft.com/office/drawing/2014/main" val="3142332047"/>
                  </a:ext>
                </a:extLst>
              </a:tr>
              <a:tr h="370840">
                <a:tc>
                  <a:txBody>
                    <a:bodyPr/>
                    <a:lstStyle/>
                    <a:p>
                      <a:pPr>
                        <a:buNone/>
                      </a:pPr>
                      <a:r>
                        <a:rPr lang="en-IN" dirty="0"/>
                        <a:t>Multiple devices transmit simultaneously</a:t>
                      </a:r>
                    </a:p>
                  </a:txBody>
                  <a:tcPr anchor="ctr"/>
                </a:tc>
                <a:tc>
                  <a:txBody>
                    <a:bodyPr/>
                    <a:lstStyle/>
                    <a:p>
                      <a:pPr>
                        <a:buNone/>
                      </a:pPr>
                      <a:r>
                        <a:rPr lang="en-IN" dirty="0"/>
                        <a:t>Two or more devices may send data at the same time, causing collisions.</a:t>
                      </a:r>
                    </a:p>
                  </a:txBody>
                  <a:tcPr anchor="ctr"/>
                </a:tc>
                <a:tc>
                  <a:txBody>
                    <a:bodyPr/>
                    <a:lstStyle/>
                    <a:p>
                      <a:pPr>
                        <a:buNone/>
                      </a:pPr>
                      <a:r>
                        <a:rPr lang="en-IN" dirty="0"/>
                        <a:t>Uses </a:t>
                      </a:r>
                      <a:r>
                        <a:rPr lang="en-IN" b="1" dirty="0"/>
                        <a:t>Media Access Control (MAC)</a:t>
                      </a:r>
                      <a:r>
                        <a:rPr lang="en-IN" dirty="0"/>
                        <a:t> protocols to manage channel access.</a:t>
                      </a:r>
                    </a:p>
                  </a:txBody>
                  <a:tcPr anchor="ctr"/>
                </a:tc>
                <a:extLst>
                  <a:ext uri="{0D108BD9-81ED-4DB2-BD59-A6C34878D82A}">
                    <a16:rowId xmlns:a16="http://schemas.microsoft.com/office/drawing/2014/main" val="1462634388"/>
                  </a:ext>
                </a:extLst>
              </a:tr>
            </a:tbl>
          </a:graphicData>
        </a:graphic>
      </p:graphicFrame>
    </p:spTree>
    <p:extLst>
      <p:ext uri="{BB962C8B-B14F-4D97-AF65-F5344CB8AC3E}">
        <p14:creationId xmlns:p14="http://schemas.microsoft.com/office/powerpoint/2010/main" val="14672588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E8258E-1263-B048-0D05-72BDDECEF8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4CF592-E2DF-44D4-95B9-D04C8DC0032B}"/>
              </a:ext>
            </a:extLst>
          </p:cNvPr>
          <p:cNvSpPr>
            <a:spLocks noGrp="1"/>
          </p:cNvSpPr>
          <p:nvPr>
            <p:ph type="title"/>
          </p:nvPr>
        </p:nvSpPr>
        <p:spPr>
          <a:xfrm>
            <a:off x="240631" y="365126"/>
            <a:ext cx="11486147" cy="645528"/>
          </a:xfrm>
        </p:spPr>
        <p:txBody>
          <a:bodyPr>
            <a:normAutofit/>
          </a:bodyPr>
          <a:lstStyle/>
          <a:p>
            <a:r>
              <a:rPr lang="en-IN" sz="4000" dirty="0"/>
              <a:t>Data Link Layer</a:t>
            </a:r>
          </a:p>
        </p:txBody>
      </p:sp>
      <p:sp>
        <p:nvSpPr>
          <p:cNvPr id="6" name="Content Placeholder 5">
            <a:extLst>
              <a:ext uri="{FF2B5EF4-FFF2-40B4-BE49-F238E27FC236}">
                <a16:creationId xmlns:a16="http://schemas.microsoft.com/office/drawing/2014/main" id="{DE602584-DA76-6CD2-070F-BD08CCD87C0C}"/>
              </a:ext>
            </a:extLst>
          </p:cNvPr>
          <p:cNvSpPr>
            <a:spLocks noGrp="1"/>
          </p:cNvSpPr>
          <p:nvPr>
            <p:ph idx="1"/>
          </p:nvPr>
        </p:nvSpPr>
        <p:spPr>
          <a:xfrm>
            <a:off x="240631" y="1010654"/>
            <a:ext cx="11630527" cy="5614735"/>
          </a:xfrm>
        </p:spPr>
        <p:txBody>
          <a:bodyPr/>
          <a:lstStyle/>
          <a:p>
            <a:r>
              <a:rPr lang="en-IN" dirty="0"/>
              <a:t>The </a:t>
            </a:r>
            <a:r>
              <a:rPr lang="en-IN" b="1" dirty="0"/>
              <a:t>Data Link Layer (DLL)</a:t>
            </a:r>
            <a:r>
              <a:rPr lang="en-IN" dirty="0"/>
              <a:t> is the </a:t>
            </a:r>
            <a:r>
              <a:rPr lang="en-IN" b="1" dirty="0"/>
              <a:t>second layer</a:t>
            </a:r>
            <a:r>
              <a:rPr lang="en-IN" dirty="0"/>
              <a:t> of the </a:t>
            </a:r>
            <a:r>
              <a:rPr lang="en-IN" b="1" dirty="0"/>
              <a:t>OSI (Open Systems Interconnection) Model</a:t>
            </a:r>
            <a:r>
              <a:rPr lang="en-IN" dirty="0"/>
              <a:t>. It receives data from the </a:t>
            </a:r>
            <a:r>
              <a:rPr lang="en-IN" b="1" dirty="0"/>
              <a:t>Network Layer</a:t>
            </a:r>
            <a:r>
              <a:rPr lang="en-IN" dirty="0"/>
              <a:t>, converts it into </a:t>
            </a:r>
            <a:r>
              <a:rPr lang="en-IN" b="1" dirty="0"/>
              <a:t>Frames</a:t>
            </a:r>
            <a:r>
              <a:rPr lang="en-IN" dirty="0"/>
              <a:t>, and passes these frames to the </a:t>
            </a:r>
            <a:r>
              <a:rPr lang="en-IN" b="1" dirty="0"/>
              <a:t>Physical Layer</a:t>
            </a:r>
            <a:r>
              <a:rPr lang="en-IN" dirty="0"/>
              <a:t> for transmission.</a:t>
            </a:r>
          </a:p>
          <a:p>
            <a:r>
              <a:rPr lang="en-IN" dirty="0"/>
              <a:t>At the receiver's side, it performs the reverse operation. It receives the frame from the Physical Layer, checks whether the frame contains any errors, removes the Data Link Layer information, and forwards the original packet to the Network Layer.</a:t>
            </a:r>
          </a:p>
          <a:p>
            <a:r>
              <a:rPr lang="en-IN" dirty="0"/>
              <a:t>The primary goal of the Data Link Layer is to provide </a:t>
            </a:r>
            <a:r>
              <a:rPr lang="en-IN" b="1" dirty="0"/>
              <a:t>reliable Node-to-Node communication</a:t>
            </a:r>
            <a:r>
              <a:rPr lang="en-IN" dirty="0"/>
              <a:t> over a single communication link.</a:t>
            </a:r>
          </a:p>
          <a:p>
            <a:r>
              <a:rPr lang="en-IN" dirty="0">
                <a:highlight>
                  <a:srgbClr val="FFFF00"/>
                </a:highlight>
              </a:rPr>
              <a:t>The Data Link Layer is responsible for reliable </a:t>
            </a:r>
            <a:r>
              <a:rPr lang="en-IN" b="1" dirty="0">
                <a:highlight>
                  <a:srgbClr val="FFFF00"/>
                </a:highlight>
              </a:rPr>
              <a:t>node-to-node delivery </a:t>
            </a:r>
            <a:r>
              <a:rPr lang="en-IN" dirty="0">
                <a:highlight>
                  <a:srgbClr val="FFFF00"/>
                </a:highlight>
              </a:rPr>
              <a:t>of data by converting </a:t>
            </a:r>
            <a:r>
              <a:rPr lang="en-IN" b="1" dirty="0">
                <a:highlight>
                  <a:srgbClr val="FFFF00"/>
                </a:highlight>
              </a:rPr>
              <a:t>packets into frames</a:t>
            </a:r>
            <a:r>
              <a:rPr lang="en-IN" dirty="0">
                <a:highlight>
                  <a:srgbClr val="FFFF00"/>
                </a:highlight>
              </a:rPr>
              <a:t>, </a:t>
            </a:r>
            <a:r>
              <a:rPr lang="en-IN" b="1" dirty="0">
                <a:highlight>
                  <a:srgbClr val="FFFF00"/>
                </a:highlight>
              </a:rPr>
              <a:t>adding physical (MAC) addresses</a:t>
            </a:r>
            <a:r>
              <a:rPr lang="en-IN" dirty="0">
                <a:highlight>
                  <a:srgbClr val="FFFF00"/>
                </a:highlight>
              </a:rPr>
              <a:t>, </a:t>
            </a:r>
            <a:r>
              <a:rPr lang="en-IN" b="1" dirty="0">
                <a:highlight>
                  <a:srgbClr val="FFFF00"/>
                </a:highlight>
              </a:rPr>
              <a:t>detecting transmission errors</a:t>
            </a:r>
            <a:r>
              <a:rPr lang="en-IN" dirty="0">
                <a:highlight>
                  <a:srgbClr val="FFFF00"/>
                </a:highlight>
              </a:rPr>
              <a:t>, </a:t>
            </a:r>
            <a:r>
              <a:rPr lang="en-IN" b="1" dirty="0">
                <a:highlight>
                  <a:srgbClr val="FFFF00"/>
                </a:highlight>
              </a:rPr>
              <a:t>controlling the flow of data</a:t>
            </a:r>
            <a:r>
              <a:rPr lang="en-IN" dirty="0">
                <a:highlight>
                  <a:srgbClr val="FFFF00"/>
                </a:highlight>
              </a:rPr>
              <a:t>, and </a:t>
            </a:r>
            <a:r>
              <a:rPr lang="en-IN" b="1" dirty="0">
                <a:highlight>
                  <a:srgbClr val="FFFF00"/>
                </a:highlight>
              </a:rPr>
              <a:t>managing access to the communication medium</a:t>
            </a:r>
            <a:r>
              <a:rPr lang="en-IN" dirty="0">
                <a:highlight>
                  <a:srgbClr val="FFFF00"/>
                </a:highlight>
              </a:rPr>
              <a:t>.</a:t>
            </a:r>
          </a:p>
        </p:txBody>
      </p:sp>
    </p:spTree>
    <p:extLst>
      <p:ext uri="{BB962C8B-B14F-4D97-AF65-F5344CB8AC3E}">
        <p14:creationId xmlns:p14="http://schemas.microsoft.com/office/powerpoint/2010/main" val="7650318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73F44B-200A-F52B-9A30-126D900485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6E3820-1506-AAAF-E1BE-A1C3208FFDC4}"/>
              </a:ext>
            </a:extLst>
          </p:cNvPr>
          <p:cNvSpPr>
            <a:spLocks noGrp="1"/>
          </p:cNvSpPr>
          <p:nvPr>
            <p:ph type="title"/>
          </p:nvPr>
        </p:nvSpPr>
        <p:spPr>
          <a:xfrm>
            <a:off x="240631" y="365126"/>
            <a:ext cx="11486147" cy="645528"/>
          </a:xfrm>
        </p:spPr>
        <p:txBody>
          <a:bodyPr>
            <a:normAutofit fontScale="90000"/>
          </a:bodyPr>
          <a:lstStyle/>
          <a:p>
            <a:r>
              <a:rPr lang="en-IN" dirty="0"/>
              <a:t>Data Link Layer</a:t>
            </a:r>
          </a:p>
        </p:txBody>
      </p:sp>
      <p:sp>
        <p:nvSpPr>
          <p:cNvPr id="3" name="Content Placeholder 2">
            <a:extLst>
              <a:ext uri="{FF2B5EF4-FFF2-40B4-BE49-F238E27FC236}">
                <a16:creationId xmlns:a16="http://schemas.microsoft.com/office/drawing/2014/main" id="{93D689BC-B55D-C4F4-F983-AF119E62ACF9}"/>
              </a:ext>
            </a:extLst>
          </p:cNvPr>
          <p:cNvSpPr>
            <a:spLocks noGrp="1"/>
          </p:cNvSpPr>
          <p:nvPr>
            <p:ph idx="1"/>
          </p:nvPr>
        </p:nvSpPr>
        <p:spPr>
          <a:xfrm>
            <a:off x="240631" y="1010654"/>
            <a:ext cx="11710738" cy="5662862"/>
          </a:xfrm>
        </p:spPr>
        <p:txBody>
          <a:bodyPr>
            <a:normAutofit/>
          </a:bodyPr>
          <a:lstStyle/>
          <a:p>
            <a:r>
              <a:rPr lang="en-IN" dirty="0"/>
              <a:t>The </a:t>
            </a:r>
            <a:r>
              <a:rPr lang="en-IN" b="1" dirty="0"/>
              <a:t>Data Link Layer</a:t>
            </a:r>
            <a:r>
              <a:rPr lang="en-IN" dirty="0"/>
              <a:t> is the </a:t>
            </a:r>
            <a:r>
              <a:rPr lang="en-IN" b="1" dirty="0"/>
              <a:t>2nd layer</a:t>
            </a:r>
            <a:r>
              <a:rPr lang="en-IN" dirty="0"/>
              <a:t> of the OSI Model.</a:t>
            </a:r>
          </a:p>
          <a:p>
            <a:r>
              <a:rPr lang="en-IN" dirty="0"/>
              <a:t>Its main responsibility is to provide </a:t>
            </a:r>
            <a:r>
              <a:rPr lang="en-IN" b="1" dirty="0"/>
              <a:t>node-to-node delivery</a:t>
            </a:r>
            <a:r>
              <a:rPr lang="en-IN" dirty="0"/>
              <a:t> of data over the </a:t>
            </a:r>
            <a:r>
              <a:rPr lang="en-IN" b="1" dirty="0"/>
              <a:t>same local network (LAN)</a:t>
            </a:r>
            <a:r>
              <a:rPr lang="en-IN" dirty="0"/>
              <a:t>.</a:t>
            </a:r>
          </a:p>
          <a:p>
            <a:r>
              <a:rPr lang="en-IN" dirty="0"/>
              <a:t>Unlike the Network Layer, which uses </a:t>
            </a:r>
            <a:r>
              <a:rPr lang="en-IN" b="1" dirty="0"/>
              <a:t>IP Addresses</a:t>
            </a:r>
            <a:r>
              <a:rPr lang="en-IN" dirty="0"/>
              <a:t> to deliver packets between different networks, the Data Link Layer uses </a:t>
            </a:r>
            <a:r>
              <a:rPr lang="en-IN" b="1" dirty="0"/>
              <a:t>MAC Addresses</a:t>
            </a:r>
            <a:r>
              <a:rPr lang="en-IN" dirty="0"/>
              <a:t> to deliver data between devices connected to the same network.</a:t>
            </a:r>
          </a:p>
          <a:p>
            <a:r>
              <a:rPr lang="en-IN" dirty="0"/>
              <a:t>It also detects </a:t>
            </a:r>
            <a:r>
              <a:rPr lang="en-IN" b="1" dirty="0"/>
              <a:t>transmission errors </a:t>
            </a:r>
            <a:r>
              <a:rPr lang="en-IN" dirty="0"/>
              <a:t>and </a:t>
            </a:r>
            <a:r>
              <a:rPr lang="en-IN" b="1" dirty="0"/>
              <a:t>controls access </a:t>
            </a:r>
            <a:r>
              <a:rPr lang="en-IN" dirty="0"/>
              <a:t>to the communication medium.</a:t>
            </a:r>
          </a:p>
          <a:p>
            <a:r>
              <a:rPr lang="en-IN" dirty="0">
                <a:highlight>
                  <a:srgbClr val="FFFF00"/>
                </a:highlight>
              </a:rPr>
              <a:t>The Data Link Layer is responsible for node-to-node communication, framing, physical addressing (MAC Address), error detection, and media access control within the same local network.</a:t>
            </a:r>
            <a:endParaRPr lang="en-IN" dirty="0"/>
          </a:p>
        </p:txBody>
      </p:sp>
    </p:spTree>
    <p:extLst>
      <p:ext uri="{BB962C8B-B14F-4D97-AF65-F5344CB8AC3E}">
        <p14:creationId xmlns:p14="http://schemas.microsoft.com/office/powerpoint/2010/main" val="32952394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EAB321-FB85-5342-DF76-AC3673643B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54B168-203D-1ADA-15C1-A77534E10421}"/>
              </a:ext>
            </a:extLst>
          </p:cNvPr>
          <p:cNvSpPr>
            <a:spLocks noGrp="1"/>
          </p:cNvSpPr>
          <p:nvPr>
            <p:ph type="title"/>
          </p:nvPr>
        </p:nvSpPr>
        <p:spPr>
          <a:xfrm>
            <a:off x="613611" y="433137"/>
            <a:ext cx="10515600" cy="737938"/>
          </a:xfrm>
        </p:spPr>
        <p:txBody>
          <a:bodyPr/>
          <a:lstStyle/>
          <a:p>
            <a:r>
              <a:rPr lang="en-IN" dirty="0"/>
              <a:t>The Data Link Layer: Functionalities</a:t>
            </a:r>
          </a:p>
        </p:txBody>
      </p:sp>
      <p:graphicFrame>
        <p:nvGraphicFramePr>
          <p:cNvPr id="4" name="Table 3">
            <a:extLst>
              <a:ext uri="{FF2B5EF4-FFF2-40B4-BE49-F238E27FC236}">
                <a16:creationId xmlns:a16="http://schemas.microsoft.com/office/drawing/2014/main" id="{2FDBA59C-778F-10E5-E59C-BD9E4CBCD7C3}"/>
              </a:ext>
            </a:extLst>
          </p:cNvPr>
          <p:cNvGraphicFramePr>
            <a:graphicFrameLocks noGrp="1"/>
          </p:cNvGraphicFramePr>
          <p:nvPr/>
        </p:nvGraphicFramePr>
        <p:xfrm>
          <a:off x="320842" y="1407160"/>
          <a:ext cx="11550316" cy="2966720"/>
        </p:xfrm>
        <a:graphic>
          <a:graphicData uri="http://schemas.openxmlformats.org/drawingml/2006/table">
            <a:tbl>
              <a:tblPr firstRow="1" bandRow="1">
                <a:tableStyleId>{5C22544A-7EE6-4342-B048-85BDC9FD1C3A}</a:tableStyleId>
              </a:tblPr>
              <a:tblGrid>
                <a:gridCol w="3400926">
                  <a:extLst>
                    <a:ext uri="{9D8B030D-6E8A-4147-A177-3AD203B41FA5}">
                      <a16:colId xmlns:a16="http://schemas.microsoft.com/office/drawing/2014/main" val="4260580132"/>
                    </a:ext>
                  </a:extLst>
                </a:gridCol>
                <a:gridCol w="8149390">
                  <a:extLst>
                    <a:ext uri="{9D8B030D-6E8A-4147-A177-3AD203B41FA5}">
                      <a16:colId xmlns:a16="http://schemas.microsoft.com/office/drawing/2014/main" val="343688418"/>
                    </a:ext>
                  </a:extLst>
                </a:gridCol>
              </a:tblGrid>
              <a:tr h="370840">
                <a:tc>
                  <a:txBody>
                    <a:bodyPr/>
                    <a:lstStyle/>
                    <a:p>
                      <a:pPr>
                        <a:buNone/>
                      </a:pPr>
                      <a:r>
                        <a:rPr lang="en-IN" dirty="0"/>
                        <a:t>Functionality</a:t>
                      </a:r>
                    </a:p>
                  </a:txBody>
                  <a:tcPr anchor="ctr"/>
                </a:tc>
                <a:tc>
                  <a:txBody>
                    <a:bodyPr/>
                    <a:lstStyle/>
                    <a:p>
                      <a:pPr>
                        <a:buNone/>
                      </a:pPr>
                      <a:r>
                        <a:rPr lang="en-IN" dirty="0"/>
                        <a:t>Description</a:t>
                      </a:r>
                    </a:p>
                  </a:txBody>
                  <a:tcPr anchor="ctr"/>
                </a:tc>
                <a:extLst>
                  <a:ext uri="{0D108BD9-81ED-4DB2-BD59-A6C34878D82A}">
                    <a16:rowId xmlns:a16="http://schemas.microsoft.com/office/drawing/2014/main" val="3685672146"/>
                  </a:ext>
                </a:extLst>
              </a:tr>
              <a:tr h="370840">
                <a:tc>
                  <a:txBody>
                    <a:bodyPr/>
                    <a:lstStyle/>
                    <a:p>
                      <a:pPr>
                        <a:buNone/>
                      </a:pPr>
                      <a:r>
                        <a:rPr lang="en-IN" b="1" dirty="0"/>
                        <a:t>Framing</a:t>
                      </a:r>
                      <a:endParaRPr lang="en-IN" dirty="0"/>
                    </a:p>
                  </a:txBody>
                  <a:tcPr anchor="ctr"/>
                </a:tc>
                <a:tc>
                  <a:txBody>
                    <a:bodyPr/>
                    <a:lstStyle/>
                    <a:p>
                      <a:pPr>
                        <a:buNone/>
                      </a:pPr>
                      <a:r>
                        <a:rPr lang="en-IN"/>
                        <a:t>Converts Network Layer packets into frames before transmission.</a:t>
                      </a:r>
                    </a:p>
                  </a:txBody>
                  <a:tcPr anchor="ctr"/>
                </a:tc>
                <a:extLst>
                  <a:ext uri="{0D108BD9-81ED-4DB2-BD59-A6C34878D82A}">
                    <a16:rowId xmlns:a16="http://schemas.microsoft.com/office/drawing/2014/main" val="953366262"/>
                  </a:ext>
                </a:extLst>
              </a:tr>
              <a:tr h="370840">
                <a:tc>
                  <a:txBody>
                    <a:bodyPr/>
                    <a:lstStyle/>
                    <a:p>
                      <a:pPr>
                        <a:buNone/>
                      </a:pPr>
                      <a:r>
                        <a:rPr lang="en-IN" b="1" dirty="0"/>
                        <a:t>Physical Addressing</a:t>
                      </a:r>
                      <a:endParaRPr lang="en-IN" dirty="0"/>
                    </a:p>
                  </a:txBody>
                  <a:tcPr anchor="ctr"/>
                </a:tc>
                <a:tc>
                  <a:txBody>
                    <a:bodyPr/>
                    <a:lstStyle/>
                    <a:p>
                      <a:pPr>
                        <a:buNone/>
                      </a:pPr>
                      <a:r>
                        <a:rPr lang="en-IN"/>
                        <a:t>Uses MAC Addresses to identify sender and receiver within the same LAN.</a:t>
                      </a:r>
                    </a:p>
                  </a:txBody>
                  <a:tcPr anchor="ctr"/>
                </a:tc>
                <a:extLst>
                  <a:ext uri="{0D108BD9-81ED-4DB2-BD59-A6C34878D82A}">
                    <a16:rowId xmlns:a16="http://schemas.microsoft.com/office/drawing/2014/main" val="3976189341"/>
                  </a:ext>
                </a:extLst>
              </a:tr>
              <a:tr h="370840">
                <a:tc>
                  <a:txBody>
                    <a:bodyPr/>
                    <a:lstStyle/>
                    <a:p>
                      <a:pPr>
                        <a:buNone/>
                      </a:pPr>
                      <a:r>
                        <a:rPr lang="en-IN" b="1" dirty="0"/>
                        <a:t>Error Detection</a:t>
                      </a:r>
                      <a:endParaRPr lang="en-IN" dirty="0"/>
                    </a:p>
                  </a:txBody>
                  <a:tcPr anchor="ctr"/>
                </a:tc>
                <a:tc>
                  <a:txBody>
                    <a:bodyPr/>
                    <a:lstStyle/>
                    <a:p>
                      <a:pPr>
                        <a:buNone/>
                      </a:pPr>
                      <a:r>
                        <a:rPr lang="en-IN"/>
                        <a:t>Detects transmission errors using FCS (Frame Check Sequence) or CRC.</a:t>
                      </a:r>
                    </a:p>
                  </a:txBody>
                  <a:tcPr anchor="ctr"/>
                </a:tc>
                <a:extLst>
                  <a:ext uri="{0D108BD9-81ED-4DB2-BD59-A6C34878D82A}">
                    <a16:rowId xmlns:a16="http://schemas.microsoft.com/office/drawing/2014/main" val="3315618413"/>
                  </a:ext>
                </a:extLst>
              </a:tr>
              <a:tr h="370840">
                <a:tc>
                  <a:txBody>
                    <a:bodyPr/>
                    <a:lstStyle/>
                    <a:p>
                      <a:pPr>
                        <a:buNone/>
                      </a:pPr>
                      <a:r>
                        <a:rPr lang="en-IN" b="1" dirty="0"/>
                        <a:t>Media Access Control</a:t>
                      </a:r>
                      <a:endParaRPr lang="en-IN" dirty="0"/>
                    </a:p>
                  </a:txBody>
                  <a:tcPr anchor="ctr"/>
                </a:tc>
                <a:tc>
                  <a:txBody>
                    <a:bodyPr/>
                    <a:lstStyle/>
                    <a:p>
                      <a:pPr>
                        <a:buNone/>
                      </a:pPr>
                      <a:r>
                        <a:rPr lang="en-IN"/>
                        <a:t>Controls how devices access the communication medium to avoid collisions.</a:t>
                      </a:r>
                    </a:p>
                  </a:txBody>
                  <a:tcPr anchor="ctr"/>
                </a:tc>
                <a:extLst>
                  <a:ext uri="{0D108BD9-81ED-4DB2-BD59-A6C34878D82A}">
                    <a16:rowId xmlns:a16="http://schemas.microsoft.com/office/drawing/2014/main" val="385594624"/>
                  </a:ext>
                </a:extLst>
              </a:tr>
              <a:tr h="370840">
                <a:tc>
                  <a:txBody>
                    <a:bodyPr/>
                    <a:lstStyle/>
                    <a:p>
                      <a:pPr>
                        <a:buNone/>
                      </a:pPr>
                      <a:r>
                        <a:rPr lang="en-IN" b="1" dirty="0"/>
                        <a:t>Flow Control</a:t>
                      </a:r>
                      <a:endParaRPr lang="en-IN" dirty="0"/>
                    </a:p>
                  </a:txBody>
                  <a:tcPr anchor="ctr"/>
                </a:tc>
                <a:tc>
                  <a:txBody>
                    <a:bodyPr/>
                    <a:lstStyle/>
                    <a:p>
                      <a:pPr>
                        <a:buNone/>
                      </a:pPr>
                      <a:r>
                        <a:rPr lang="en-IN"/>
                        <a:t>Prevents a fast sender from overwhelming a slow receiver on the local link.</a:t>
                      </a:r>
                    </a:p>
                  </a:txBody>
                  <a:tcPr anchor="ctr"/>
                </a:tc>
                <a:extLst>
                  <a:ext uri="{0D108BD9-81ED-4DB2-BD59-A6C34878D82A}">
                    <a16:rowId xmlns:a16="http://schemas.microsoft.com/office/drawing/2014/main" val="2440142686"/>
                  </a:ext>
                </a:extLst>
              </a:tr>
              <a:tr h="370840">
                <a:tc>
                  <a:txBody>
                    <a:bodyPr/>
                    <a:lstStyle/>
                    <a:p>
                      <a:pPr>
                        <a:buNone/>
                      </a:pPr>
                      <a:r>
                        <a:rPr lang="en-IN" b="1" dirty="0"/>
                        <a:t>Node-to-Node Delivery</a:t>
                      </a:r>
                      <a:endParaRPr lang="en-IN" dirty="0"/>
                    </a:p>
                  </a:txBody>
                  <a:tcPr anchor="ctr"/>
                </a:tc>
                <a:tc>
                  <a:txBody>
                    <a:bodyPr/>
                    <a:lstStyle/>
                    <a:p>
                      <a:pPr>
                        <a:buNone/>
                      </a:pPr>
                      <a:r>
                        <a:rPr lang="en-IN"/>
                        <a:t>Delivers data between directly connected devices in the same network.</a:t>
                      </a:r>
                    </a:p>
                  </a:txBody>
                  <a:tcPr anchor="ctr"/>
                </a:tc>
                <a:extLst>
                  <a:ext uri="{0D108BD9-81ED-4DB2-BD59-A6C34878D82A}">
                    <a16:rowId xmlns:a16="http://schemas.microsoft.com/office/drawing/2014/main" val="2091929012"/>
                  </a:ext>
                </a:extLst>
              </a:tr>
              <a:tr h="370840">
                <a:tc>
                  <a:txBody>
                    <a:bodyPr/>
                    <a:lstStyle/>
                    <a:p>
                      <a:pPr>
                        <a:buNone/>
                      </a:pPr>
                      <a:r>
                        <a:rPr lang="en-IN" b="1" dirty="0"/>
                        <a:t>Frame Synchronization</a:t>
                      </a:r>
                      <a:endParaRPr lang="en-IN" dirty="0"/>
                    </a:p>
                  </a:txBody>
                  <a:tcPr anchor="ctr"/>
                </a:tc>
                <a:tc>
                  <a:txBody>
                    <a:bodyPr/>
                    <a:lstStyle/>
                    <a:p>
                      <a:pPr>
                        <a:buNone/>
                      </a:pPr>
                      <a:r>
                        <a:rPr lang="en-IN" dirty="0"/>
                        <a:t>Marks the beginning and end of each frame.</a:t>
                      </a:r>
                    </a:p>
                  </a:txBody>
                  <a:tcPr anchor="ctr"/>
                </a:tc>
                <a:extLst>
                  <a:ext uri="{0D108BD9-81ED-4DB2-BD59-A6C34878D82A}">
                    <a16:rowId xmlns:a16="http://schemas.microsoft.com/office/drawing/2014/main" val="320253377"/>
                  </a:ext>
                </a:extLst>
              </a:tr>
            </a:tbl>
          </a:graphicData>
        </a:graphic>
      </p:graphicFrame>
    </p:spTree>
    <p:extLst>
      <p:ext uri="{BB962C8B-B14F-4D97-AF65-F5344CB8AC3E}">
        <p14:creationId xmlns:p14="http://schemas.microsoft.com/office/powerpoint/2010/main" val="35425255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DA3347-5179-0840-A860-F5A4BA134E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98325B-F8BF-D7AE-D47C-E0831A5791A6}"/>
              </a:ext>
            </a:extLst>
          </p:cNvPr>
          <p:cNvSpPr>
            <a:spLocks noGrp="1"/>
          </p:cNvSpPr>
          <p:nvPr>
            <p:ph type="title"/>
          </p:nvPr>
        </p:nvSpPr>
        <p:spPr>
          <a:xfrm>
            <a:off x="613611" y="433137"/>
            <a:ext cx="10515600" cy="737938"/>
          </a:xfrm>
        </p:spPr>
        <p:txBody>
          <a:bodyPr/>
          <a:lstStyle/>
          <a:p>
            <a:r>
              <a:rPr lang="en-IN" dirty="0"/>
              <a:t>The Data Link Layer: Protocols</a:t>
            </a:r>
          </a:p>
        </p:txBody>
      </p:sp>
      <p:graphicFrame>
        <p:nvGraphicFramePr>
          <p:cNvPr id="4" name="Table 3">
            <a:extLst>
              <a:ext uri="{FF2B5EF4-FFF2-40B4-BE49-F238E27FC236}">
                <a16:creationId xmlns:a16="http://schemas.microsoft.com/office/drawing/2014/main" id="{4CF984A0-FD4E-2151-E9DE-04A31C800C3E}"/>
              </a:ext>
            </a:extLst>
          </p:cNvPr>
          <p:cNvGraphicFramePr>
            <a:graphicFrameLocks noGrp="1"/>
          </p:cNvGraphicFramePr>
          <p:nvPr/>
        </p:nvGraphicFramePr>
        <p:xfrm>
          <a:off x="320842" y="1407160"/>
          <a:ext cx="11550316" cy="3134360"/>
        </p:xfrm>
        <a:graphic>
          <a:graphicData uri="http://schemas.openxmlformats.org/drawingml/2006/table">
            <a:tbl>
              <a:tblPr firstRow="1" bandRow="1">
                <a:tableStyleId>{5C22544A-7EE6-4342-B048-85BDC9FD1C3A}</a:tableStyleId>
              </a:tblPr>
              <a:tblGrid>
                <a:gridCol w="3400926">
                  <a:extLst>
                    <a:ext uri="{9D8B030D-6E8A-4147-A177-3AD203B41FA5}">
                      <a16:colId xmlns:a16="http://schemas.microsoft.com/office/drawing/2014/main" val="4260580132"/>
                    </a:ext>
                  </a:extLst>
                </a:gridCol>
                <a:gridCol w="8149390">
                  <a:extLst>
                    <a:ext uri="{9D8B030D-6E8A-4147-A177-3AD203B41FA5}">
                      <a16:colId xmlns:a16="http://schemas.microsoft.com/office/drawing/2014/main" val="343688418"/>
                    </a:ext>
                  </a:extLst>
                </a:gridCol>
              </a:tblGrid>
              <a:tr h="370840">
                <a:tc>
                  <a:txBody>
                    <a:bodyPr/>
                    <a:lstStyle/>
                    <a:p>
                      <a:pPr>
                        <a:buNone/>
                      </a:pPr>
                      <a:r>
                        <a:rPr lang="en-IN" dirty="0"/>
                        <a:t>Protocol / Standard</a:t>
                      </a:r>
                    </a:p>
                  </a:txBody>
                  <a:tcPr anchor="ctr"/>
                </a:tc>
                <a:tc>
                  <a:txBody>
                    <a:bodyPr/>
                    <a:lstStyle/>
                    <a:p>
                      <a:pPr>
                        <a:buNone/>
                      </a:pPr>
                      <a:r>
                        <a:rPr lang="en-IN"/>
                        <a:t>Purpose</a:t>
                      </a:r>
                    </a:p>
                  </a:txBody>
                  <a:tcPr anchor="ctr"/>
                </a:tc>
                <a:extLst>
                  <a:ext uri="{0D108BD9-81ED-4DB2-BD59-A6C34878D82A}">
                    <a16:rowId xmlns:a16="http://schemas.microsoft.com/office/drawing/2014/main" val="3685672146"/>
                  </a:ext>
                </a:extLst>
              </a:tr>
              <a:tr h="370840">
                <a:tc>
                  <a:txBody>
                    <a:bodyPr/>
                    <a:lstStyle/>
                    <a:p>
                      <a:pPr>
                        <a:buNone/>
                      </a:pPr>
                      <a:r>
                        <a:rPr lang="en-IN" dirty="0"/>
                        <a:t>Ethernet (IEEE 802.3)</a:t>
                      </a:r>
                    </a:p>
                  </a:txBody>
                  <a:tcPr anchor="ctr"/>
                </a:tc>
                <a:tc>
                  <a:txBody>
                    <a:bodyPr/>
                    <a:lstStyle/>
                    <a:p>
                      <a:pPr>
                        <a:buNone/>
                      </a:pPr>
                      <a:r>
                        <a:rPr lang="en-IN"/>
                        <a:t>Wired LAN communication.</a:t>
                      </a:r>
                    </a:p>
                  </a:txBody>
                  <a:tcPr anchor="ctr"/>
                </a:tc>
                <a:extLst>
                  <a:ext uri="{0D108BD9-81ED-4DB2-BD59-A6C34878D82A}">
                    <a16:rowId xmlns:a16="http://schemas.microsoft.com/office/drawing/2014/main" val="1967567592"/>
                  </a:ext>
                </a:extLst>
              </a:tr>
              <a:tr h="370840">
                <a:tc>
                  <a:txBody>
                    <a:bodyPr/>
                    <a:lstStyle/>
                    <a:p>
                      <a:pPr>
                        <a:buNone/>
                      </a:pPr>
                      <a:r>
                        <a:rPr lang="en-IN" dirty="0"/>
                        <a:t>Wi-Fi (IEEE 802.11 MAC)</a:t>
                      </a:r>
                    </a:p>
                  </a:txBody>
                  <a:tcPr anchor="ctr"/>
                </a:tc>
                <a:tc>
                  <a:txBody>
                    <a:bodyPr/>
                    <a:lstStyle/>
                    <a:p>
                      <a:pPr>
                        <a:buNone/>
                      </a:pPr>
                      <a:r>
                        <a:rPr lang="en-IN"/>
                        <a:t>Wireless LAN communication.</a:t>
                      </a:r>
                    </a:p>
                  </a:txBody>
                  <a:tcPr anchor="ctr"/>
                </a:tc>
                <a:extLst>
                  <a:ext uri="{0D108BD9-81ED-4DB2-BD59-A6C34878D82A}">
                    <a16:rowId xmlns:a16="http://schemas.microsoft.com/office/drawing/2014/main" val="1542425792"/>
                  </a:ext>
                </a:extLst>
              </a:tr>
              <a:tr h="370840">
                <a:tc>
                  <a:txBody>
                    <a:bodyPr/>
                    <a:lstStyle/>
                    <a:p>
                      <a:pPr>
                        <a:buNone/>
                      </a:pPr>
                      <a:r>
                        <a:rPr lang="en-IN" dirty="0"/>
                        <a:t>PPP (Point-to-Point Protocol)</a:t>
                      </a:r>
                    </a:p>
                  </a:txBody>
                  <a:tcPr anchor="ctr"/>
                </a:tc>
                <a:tc>
                  <a:txBody>
                    <a:bodyPr/>
                    <a:lstStyle/>
                    <a:p>
                      <a:pPr>
                        <a:buNone/>
                      </a:pPr>
                      <a:r>
                        <a:rPr lang="en-IN" dirty="0"/>
                        <a:t>Direct communication between two devices based on MAC Address.</a:t>
                      </a:r>
                    </a:p>
                  </a:txBody>
                  <a:tcPr anchor="ctr"/>
                </a:tc>
                <a:extLst>
                  <a:ext uri="{0D108BD9-81ED-4DB2-BD59-A6C34878D82A}">
                    <a16:rowId xmlns:a16="http://schemas.microsoft.com/office/drawing/2014/main" val="947690947"/>
                  </a:ext>
                </a:extLst>
              </a:tr>
              <a:tr h="370840">
                <a:tc>
                  <a:txBody>
                    <a:bodyPr/>
                    <a:lstStyle/>
                    <a:p>
                      <a:pPr>
                        <a:buNone/>
                      </a:pPr>
                      <a:r>
                        <a:rPr lang="en-IN" dirty="0"/>
                        <a:t>HDLC (High-Level Data Link Control)</a:t>
                      </a:r>
                    </a:p>
                  </a:txBody>
                  <a:tcPr anchor="ctr"/>
                </a:tc>
                <a:tc>
                  <a:txBody>
                    <a:bodyPr/>
                    <a:lstStyle/>
                    <a:p>
                      <a:pPr>
                        <a:buNone/>
                      </a:pPr>
                      <a:r>
                        <a:rPr lang="en-IN" dirty="0"/>
                        <a:t>Reliable communication over point-to-point links.</a:t>
                      </a:r>
                    </a:p>
                  </a:txBody>
                  <a:tcPr anchor="ctr"/>
                </a:tc>
                <a:extLst>
                  <a:ext uri="{0D108BD9-81ED-4DB2-BD59-A6C34878D82A}">
                    <a16:rowId xmlns:a16="http://schemas.microsoft.com/office/drawing/2014/main" val="953366262"/>
                  </a:ext>
                </a:extLst>
              </a:tr>
              <a:tr h="370840">
                <a:tc>
                  <a:txBody>
                    <a:bodyPr/>
                    <a:lstStyle/>
                    <a:p>
                      <a:pPr>
                        <a:buNone/>
                      </a:pPr>
                      <a:r>
                        <a:rPr lang="en-IN" dirty="0"/>
                        <a:t>Frame Relay</a:t>
                      </a:r>
                    </a:p>
                  </a:txBody>
                  <a:tcPr anchor="ctr"/>
                </a:tc>
                <a:tc>
                  <a:txBody>
                    <a:bodyPr/>
                    <a:lstStyle/>
                    <a:p>
                      <a:pPr>
                        <a:buNone/>
                      </a:pPr>
                      <a:r>
                        <a:rPr lang="en-IN"/>
                        <a:t>WAN data link technology (legacy).</a:t>
                      </a:r>
                    </a:p>
                  </a:txBody>
                  <a:tcPr anchor="ctr"/>
                </a:tc>
                <a:extLst>
                  <a:ext uri="{0D108BD9-81ED-4DB2-BD59-A6C34878D82A}">
                    <a16:rowId xmlns:a16="http://schemas.microsoft.com/office/drawing/2014/main" val="3976189341"/>
                  </a:ext>
                </a:extLst>
              </a:tr>
              <a:tr h="370840">
                <a:tc>
                  <a:txBody>
                    <a:bodyPr/>
                    <a:lstStyle/>
                    <a:p>
                      <a:pPr>
                        <a:buNone/>
                      </a:pPr>
                      <a:r>
                        <a:rPr lang="en-IN" dirty="0"/>
                        <a:t>ATM (Asynchronous Transfer Mode)</a:t>
                      </a:r>
                    </a:p>
                  </a:txBody>
                  <a:tcPr anchor="ctr"/>
                </a:tc>
                <a:tc>
                  <a:txBody>
                    <a:bodyPr/>
                    <a:lstStyle/>
                    <a:p>
                      <a:pPr>
                        <a:buNone/>
                      </a:pPr>
                      <a:r>
                        <a:rPr lang="en-IN" dirty="0"/>
                        <a:t>High-speed switching technology (legacy).</a:t>
                      </a:r>
                    </a:p>
                  </a:txBody>
                  <a:tcPr anchor="ctr"/>
                </a:tc>
                <a:extLst>
                  <a:ext uri="{0D108BD9-81ED-4DB2-BD59-A6C34878D82A}">
                    <a16:rowId xmlns:a16="http://schemas.microsoft.com/office/drawing/2014/main" val="3315618413"/>
                  </a:ext>
                </a:extLst>
              </a:tr>
            </a:tbl>
          </a:graphicData>
        </a:graphic>
      </p:graphicFrame>
    </p:spTree>
    <p:extLst>
      <p:ext uri="{BB962C8B-B14F-4D97-AF65-F5344CB8AC3E}">
        <p14:creationId xmlns:p14="http://schemas.microsoft.com/office/powerpoint/2010/main" val="7608928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7AF74D-CFAA-AF05-A55B-CD516D3ACB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AA8995-3436-EFF7-4BA8-C8A2ED4B135E}"/>
              </a:ext>
            </a:extLst>
          </p:cNvPr>
          <p:cNvSpPr>
            <a:spLocks noGrp="1"/>
          </p:cNvSpPr>
          <p:nvPr>
            <p:ph type="title"/>
          </p:nvPr>
        </p:nvSpPr>
        <p:spPr>
          <a:xfrm>
            <a:off x="613611" y="433137"/>
            <a:ext cx="10515600" cy="737938"/>
          </a:xfrm>
        </p:spPr>
        <p:txBody>
          <a:bodyPr/>
          <a:lstStyle/>
          <a:p>
            <a:r>
              <a:rPr lang="en-IN" dirty="0"/>
              <a:t>The Data Link Layer: Sub-Layers</a:t>
            </a:r>
          </a:p>
        </p:txBody>
      </p:sp>
      <p:graphicFrame>
        <p:nvGraphicFramePr>
          <p:cNvPr id="4" name="Table 3">
            <a:extLst>
              <a:ext uri="{FF2B5EF4-FFF2-40B4-BE49-F238E27FC236}">
                <a16:creationId xmlns:a16="http://schemas.microsoft.com/office/drawing/2014/main" id="{96689C01-432D-AB4C-1744-CE1B9785B8B7}"/>
              </a:ext>
            </a:extLst>
          </p:cNvPr>
          <p:cNvGraphicFramePr>
            <a:graphicFrameLocks noGrp="1"/>
          </p:cNvGraphicFramePr>
          <p:nvPr/>
        </p:nvGraphicFramePr>
        <p:xfrm>
          <a:off x="320842" y="1171075"/>
          <a:ext cx="11550316" cy="4770120"/>
        </p:xfrm>
        <a:graphic>
          <a:graphicData uri="http://schemas.openxmlformats.org/drawingml/2006/table">
            <a:tbl>
              <a:tblPr firstRow="1" bandRow="1">
                <a:tableStyleId>{5C22544A-7EE6-4342-B048-85BDC9FD1C3A}</a:tableStyleId>
              </a:tblPr>
              <a:tblGrid>
                <a:gridCol w="2627325">
                  <a:extLst>
                    <a:ext uri="{9D8B030D-6E8A-4147-A177-3AD203B41FA5}">
                      <a16:colId xmlns:a16="http://schemas.microsoft.com/office/drawing/2014/main" val="4260580132"/>
                    </a:ext>
                  </a:extLst>
                </a:gridCol>
                <a:gridCol w="2627325">
                  <a:extLst>
                    <a:ext uri="{9D8B030D-6E8A-4147-A177-3AD203B41FA5}">
                      <a16:colId xmlns:a16="http://schemas.microsoft.com/office/drawing/2014/main" val="4002579546"/>
                    </a:ext>
                  </a:extLst>
                </a:gridCol>
                <a:gridCol w="6295666">
                  <a:extLst>
                    <a:ext uri="{9D8B030D-6E8A-4147-A177-3AD203B41FA5}">
                      <a16:colId xmlns:a16="http://schemas.microsoft.com/office/drawing/2014/main" val="343688418"/>
                    </a:ext>
                  </a:extLst>
                </a:gridCol>
              </a:tblGrid>
              <a:tr h="370840">
                <a:tc>
                  <a:txBody>
                    <a:bodyPr/>
                    <a:lstStyle/>
                    <a:p>
                      <a:pPr>
                        <a:buNone/>
                      </a:pPr>
                      <a:r>
                        <a:rPr lang="en-IN" dirty="0"/>
                        <a:t>Feature</a:t>
                      </a:r>
                    </a:p>
                  </a:txBody>
                  <a:tcPr anchor="ctr"/>
                </a:tc>
                <a:tc>
                  <a:txBody>
                    <a:bodyPr/>
                    <a:lstStyle/>
                    <a:p>
                      <a:pPr>
                        <a:buNone/>
                      </a:pPr>
                      <a:r>
                        <a:rPr lang="en-IN"/>
                        <a:t>LLC (Logical Link Control)</a:t>
                      </a:r>
                    </a:p>
                  </a:txBody>
                  <a:tcPr anchor="ctr"/>
                </a:tc>
                <a:tc>
                  <a:txBody>
                    <a:bodyPr/>
                    <a:lstStyle/>
                    <a:p>
                      <a:pPr>
                        <a:buNone/>
                      </a:pPr>
                      <a:r>
                        <a:rPr lang="en-IN"/>
                        <a:t>MAC (Media Access Control)</a:t>
                      </a:r>
                    </a:p>
                  </a:txBody>
                  <a:tcPr anchor="ctr"/>
                </a:tc>
                <a:extLst>
                  <a:ext uri="{0D108BD9-81ED-4DB2-BD59-A6C34878D82A}">
                    <a16:rowId xmlns:a16="http://schemas.microsoft.com/office/drawing/2014/main" val="3685672146"/>
                  </a:ext>
                </a:extLst>
              </a:tr>
              <a:tr h="370840">
                <a:tc>
                  <a:txBody>
                    <a:bodyPr/>
                    <a:lstStyle/>
                    <a:p>
                      <a:pPr>
                        <a:buNone/>
                      </a:pPr>
                      <a:r>
                        <a:rPr lang="en-IN" b="1"/>
                        <a:t>Full Form</a:t>
                      </a:r>
                      <a:endParaRPr lang="en-IN"/>
                    </a:p>
                  </a:txBody>
                  <a:tcPr anchor="ctr"/>
                </a:tc>
                <a:tc>
                  <a:txBody>
                    <a:bodyPr/>
                    <a:lstStyle/>
                    <a:p>
                      <a:pPr>
                        <a:buNone/>
                      </a:pPr>
                      <a:r>
                        <a:rPr lang="en-IN"/>
                        <a:t>Logical Link Control</a:t>
                      </a:r>
                    </a:p>
                  </a:txBody>
                  <a:tcPr anchor="ctr"/>
                </a:tc>
                <a:tc>
                  <a:txBody>
                    <a:bodyPr/>
                    <a:lstStyle/>
                    <a:p>
                      <a:pPr>
                        <a:buNone/>
                      </a:pPr>
                      <a:r>
                        <a:rPr lang="en-IN"/>
                        <a:t>Media Access Control</a:t>
                      </a:r>
                    </a:p>
                  </a:txBody>
                  <a:tcPr anchor="ctr"/>
                </a:tc>
                <a:extLst>
                  <a:ext uri="{0D108BD9-81ED-4DB2-BD59-A6C34878D82A}">
                    <a16:rowId xmlns:a16="http://schemas.microsoft.com/office/drawing/2014/main" val="1761147150"/>
                  </a:ext>
                </a:extLst>
              </a:tr>
              <a:tr h="370840">
                <a:tc>
                  <a:txBody>
                    <a:bodyPr/>
                    <a:lstStyle/>
                    <a:p>
                      <a:pPr>
                        <a:buNone/>
                      </a:pPr>
                      <a:r>
                        <a:rPr lang="en-IN" b="1"/>
                        <a:t>Standard</a:t>
                      </a:r>
                      <a:endParaRPr lang="en-IN"/>
                    </a:p>
                  </a:txBody>
                  <a:tcPr anchor="ctr"/>
                </a:tc>
                <a:tc>
                  <a:txBody>
                    <a:bodyPr/>
                    <a:lstStyle/>
                    <a:p>
                      <a:pPr>
                        <a:buNone/>
                      </a:pPr>
                      <a:r>
                        <a:rPr lang="en-IN"/>
                        <a:t>IEEE 802.2</a:t>
                      </a:r>
                    </a:p>
                  </a:txBody>
                  <a:tcPr anchor="ctr"/>
                </a:tc>
                <a:tc>
                  <a:txBody>
                    <a:bodyPr/>
                    <a:lstStyle/>
                    <a:p>
                      <a:pPr>
                        <a:buNone/>
                      </a:pPr>
                      <a:r>
                        <a:rPr lang="en-IN"/>
                        <a:t>IEEE 802.3 (Ethernet), IEEE 802.11 (Wi-Fi)</a:t>
                      </a:r>
                    </a:p>
                  </a:txBody>
                  <a:tcPr anchor="ctr"/>
                </a:tc>
                <a:extLst>
                  <a:ext uri="{0D108BD9-81ED-4DB2-BD59-A6C34878D82A}">
                    <a16:rowId xmlns:a16="http://schemas.microsoft.com/office/drawing/2014/main" val="4148741064"/>
                  </a:ext>
                </a:extLst>
              </a:tr>
              <a:tr h="370840">
                <a:tc>
                  <a:txBody>
                    <a:bodyPr/>
                    <a:lstStyle/>
                    <a:p>
                      <a:pPr>
                        <a:buNone/>
                      </a:pPr>
                      <a:r>
                        <a:rPr lang="en-IN" b="1" dirty="0"/>
                        <a:t>Position</a:t>
                      </a:r>
                      <a:endParaRPr lang="en-IN" dirty="0"/>
                    </a:p>
                  </a:txBody>
                  <a:tcPr anchor="ctr"/>
                </a:tc>
                <a:tc>
                  <a:txBody>
                    <a:bodyPr/>
                    <a:lstStyle/>
                    <a:p>
                      <a:pPr>
                        <a:buNone/>
                      </a:pPr>
                      <a:r>
                        <a:rPr lang="en-IN" dirty="0"/>
                        <a:t>Upper sublayer of the Data Link Layer</a:t>
                      </a:r>
                    </a:p>
                  </a:txBody>
                  <a:tcPr anchor="ctr"/>
                </a:tc>
                <a:tc>
                  <a:txBody>
                    <a:bodyPr/>
                    <a:lstStyle/>
                    <a:p>
                      <a:pPr>
                        <a:buNone/>
                      </a:pPr>
                      <a:r>
                        <a:rPr lang="en-IN" dirty="0"/>
                        <a:t>Lower sublayer of the Data Link Layer</a:t>
                      </a:r>
                    </a:p>
                  </a:txBody>
                  <a:tcPr anchor="ctr"/>
                </a:tc>
                <a:extLst>
                  <a:ext uri="{0D108BD9-81ED-4DB2-BD59-A6C34878D82A}">
                    <a16:rowId xmlns:a16="http://schemas.microsoft.com/office/drawing/2014/main" val="367781679"/>
                  </a:ext>
                </a:extLst>
              </a:tr>
              <a:tr h="370840">
                <a:tc>
                  <a:txBody>
                    <a:bodyPr/>
                    <a:lstStyle/>
                    <a:p>
                      <a:pPr>
                        <a:buNone/>
                      </a:pPr>
                      <a:r>
                        <a:rPr lang="en-IN" b="1" dirty="0"/>
                        <a:t>Main Function</a:t>
                      </a:r>
                      <a:endParaRPr lang="en-IN" dirty="0"/>
                    </a:p>
                  </a:txBody>
                  <a:tcPr anchor="ctr"/>
                </a:tc>
                <a:tc>
                  <a:txBody>
                    <a:bodyPr/>
                    <a:lstStyle/>
                    <a:p>
                      <a:pPr>
                        <a:buNone/>
                      </a:pPr>
                      <a:r>
                        <a:rPr lang="en-IN" dirty="0"/>
                        <a:t>Provides communication between the Network Layer and the MAC sublayer.</a:t>
                      </a:r>
                    </a:p>
                  </a:txBody>
                  <a:tcPr anchor="ctr"/>
                </a:tc>
                <a:tc>
                  <a:txBody>
                    <a:bodyPr/>
                    <a:lstStyle/>
                    <a:p>
                      <a:pPr>
                        <a:buNone/>
                      </a:pPr>
                      <a:r>
                        <a:rPr lang="en-IN"/>
                        <a:t>Controls access to the physical transmission medium and handles frame transmission.</a:t>
                      </a:r>
                    </a:p>
                  </a:txBody>
                  <a:tcPr anchor="ctr"/>
                </a:tc>
                <a:extLst>
                  <a:ext uri="{0D108BD9-81ED-4DB2-BD59-A6C34878D82A}">
                    <a16:rowId xmlns:a16="http://schemas.microsoft.com/office/drawing/2014/main" val="1595741861"/>
                  </a:ext>
                </a:extLst>
              </a:tr>
              <a:tr h="370840">
                <a:tc>
                  <a:txBody>
                    <a:bodyPr/>
                    <a:lstStyle/>
                    <a:p>
                      <a:pPr>
                        <a:buNone/>
                      </a:pPr>
                      <a:r>
                        <a:rPr lang="en-IN" b="1"/>
                        <a:t>Primary Responsibility</a:t>
                      </a:r>
                      <a:endParaRPr lang="en-IN"/>
                    </a:p>
                  </a:txBody>
                  <a:tcPr anchor="ctr"/>
                </a:tc>
                <a:tc>
                  <a:txBody>
                    <a:bodyPr/>
                    <a:lstStyle/>
                    <a:p>
                      <a:pPr>
                        <a:buNone/>
                      </a:pPr>
                      <a:r>
                        <a:rPr lang="en-IN" dirty="0"/>
                        <a:t>Identifies the Network Layer protocol and provides logical communication.</a:t>
                      </a:r>
                    </a:p>
                  </a:txBody>
                  <a:tcPr anchor="ctr"/>
                </a:tc>
                <a:tc>
                  <a:txBody>
                    <a:bodyPr/>
                    <a:lstStyle/>
                    <a:p>
                      <a:pPr>
                        <a:buNone/>
                      </a:pPr>
                      <a:r>
                        <a:rPr lang="en-IN" dirty="0"/>
                        <a:t>Uses MAC addresses and controls how devices transmit data on the network.</a:t>
                      </a:r>
                    </a:p>
                  </a:txBody>
                  <a:tcPr anchor="ctr"/>
                </a:tc>
                <a:extLst>
                  <a:ext uri="{0D108BD9-81ED-4DB2-BD59-A6C34878D82A}">
                    <a16:rowId xmlns:a16="http://schemas.microsoft.com/office/drawing/2014/main" val="115085153"/>
                  </a:ext>
                </a:extLst>
              </a:tr>
              <a:tr h="370840">
                <a:tc>
                  <a:txBody>
                    <a:bodyPr/>
                    <a:lstStyle/>
                    <a:p>
                      <a:pPr>
                        <a:buNone/>
                      </a:pPr>
                      <a:r>
                        <a:rPr lang="en-IN" b="1" dirty="0"/>
                        <a:t>Address Used</a:t>
                      </a:r>
                      <a:endParaRPr lang="en-IN" dirty="0"/>
                    </a:p>
                  </a:txBody>
                  <a:tcPr anchor="ctr"/>
                </a:tc>
                <a:tc>
                  <a:txBody>
                    <a:bodyPr/>
                    <a:lstStyle/>
                    <a:p>
                      <a:pPr>
                        <a:buNone/>
                      </a:pPr>
                      <a:r>
                        <a:rPr lang="en-IN"/>
                        <a:t>Does not use MAC addresses.</a:t>
                      </a:r>
                    </a:p>
                  </a:txBody>
                  <a:tcPr anchor="ctr"/>
                </a:tc>
                <a:tc>
                  <a:txBody>
                    <a:bodyPr/>
                    <a:lstStyle/>
                    <a:p>
                      <a:pPr>
                        <a:buNone/>
                      </a:pPr>
                      <a:r>
                        <a:rPr lang="en-IN" dirty="0"/>
                        <a:t>Uses Source MAC Address and Destination MAC Address.</a:t>
                      </a:r>
                    </a:p>
                  </a:txBody>
                  <a:tcPr anchor="ctr"/>
                </a:tc>
                <a:extLst>
                  <a:ext uri="{0D108BD9-81ED-4DB2-BD59-A6C34878D82A}">
                    <a16:rowId xmlns:a16="http://schemas.microsoft.com/office/drawing/2014/main" val="344023705"/>
                  </a:ext>
                </a:extLst>
              </a:tr>
            </a:tbl>
          </a:graphicData>
        </a:graphic>
      </p:graphicFrame>
    </p:spTree>
    <p:extLst>
      <p:ext uri="{BB962C8B-B14F-4D97-AF65-F5344CB8AC3E}">
        <p14:creationId xmlns:p14="http://schemas.microsoft.com/office/powerpoint/2010/main" val="42665514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9B88E0-B1B3-88A1-A7A4-7E1D013625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6B1778-0A2F-A4AE-2207-73E8FE1B7EF0}"/>
              </a:ext>
            </a:extLst>
          </p:cNvPr>
          <p:cNvSpPr>
            <a:spLocks noGrp="1"/>
          </p:cNvSpPr>
          <p:nvPr>
            <p:ph type="title"/>
          </p:nvPr>
        </p:nvSpPr>
        <p:spPr>
          <a:xfrm>
            <a:off x="613611" y="433137"/>
            <a:ext cx="10515600" cy="737938"/>
          </a:xfrm>
        </p:spPr>
        <p:txBody>
          <a:bodyPr/>
          <a:lstStyle/>
          <a:p>
            <a:r>
              <a:rPr lang="en-IN" dirty="0"/>
              <a:t>The Data Link Layer: Sub-Layers</a:t>
            </a:r>
          </a:p>
        </p:txBody>
      </p:sp>
      <p:graphicFrame>
        <p:nvGraphicFramePr>
          <p:cNvPr id="4" name="Table 3">
            <a:extLst>
              <a:ext uri="{FF2B5EF4-FFF2-40B4-BE49-F238E27FC236}">
                <a16:creationId xmlns:a16="http://schemas.microsoft.com/office/drawing/2014/main" id="{B0C3EED1-3C28-94B3-8F98-BF743462471F}"/>
              </a:ext>
            </a:extLst>
          </p:cNvPr>
          <p:cNvGraphicFramePr>
            <a:graphicFrameLocks noGrp="1"/>
          </p:cNvGraphicFramePr>
          <p:nvPr/>
        </p:nvGraphicFramePr>
        <p:xfrm>
          <a:off x="320842" y="1171075"/>
          <a:ext cx="11550316" cy="4495800"/>
        </p:xfrm>
        <a:graphic>
          <a:graphicData uri="http://schemas.openxmlformats.org/drawingml/2006/table">
            <a:tbl>
              <a:tblPr firstRow="1" bandRow="1">
                <a:tableStyleId>{5C22544A-7EE6-4342-B048-85BDC9FD1C3A}</a:tableStyleId>
              </a:tblPr>
              <a:tblGrid>
                <a:gridCol w="2627325">
                  <a:extLst>
                    <a:ext uri="{9D8B030D-6E8A-4147-A177-3AD203B41FA5}">
                      <a16:colId xmlns:a16="http://schemas.microsoft.com/office/drawing/2014/main" val="4260580132"/>
                    </a:ext>
                  </a:extLst>
                </a:gridCol>
                <a:gridCol w="2627325">
                  <a:extLst>
                    <a:ext uri="{9D8B030D-6E8A-4147-A177-3AD203B41FA5}">
                      <a16:colId xmlns:a16="http://schemas.microsoft.com/office/drawing/2014/main" val="4002579546"/>
                    </a:ext>
                  </a:extLst>
                </a:gridCol>
                <a:gridCol w="6295666">
                  <a:extLst>
                    <a:ext uri="{9D8B030D-6E8A-4147-A177-3AD203B41FA5}">
                      <a16:colId xmlns:a16="http://schemas.microsoft.com/office/drawing/2014/main" val="343688418"/>
                    </a:ext>
                  </a:extLst>
                </a:gridCol>
              </a:tblGrid>
              <a:tr h="370840">
                <a:tc>
                  <a:txBody>
                    <a:bodyPr/>
                    <a:lstStyle/>
                    <a:p>
                      <a:pPr>
                        <a:buNone/>
                      </a:pPr>
                      <a:r>
                        <a:rPr lang="en-IN" dirty="0"/>
                        <a:t>Feature</a:t>
                      </a:r>
                    </a:p>
                  </a:txBody>
                  <a:tcPr anchor="ctr"/>
                </a:tc>
                <a:tc>
                  <a:txBody>
                    <a:bodyPr/>
                    <a:lstStyle/>
                    <a:p>
                      <a:pPr>
                        <a:buNone/>
                      </a:pPr>
                      <a:r>
                        <a:rPr lang="en-IN"/>
                        <a:t>LLC (Logical Link Control)</a:t>
                      </a:r>
                    </a:p>
                  </a:txBody>
                  <a:tcPr anchor="ctr"/>
                </a:tc>
                <a:tc>
                  <a:txBody>
                    <a:bodyPr/>
                    <a:lstStyle/>
                    <a:p>
                      <a:pPr>
                        <a:buNone/>
                      </a:pPr>
                      <a:r>
                        <a:rPr lang="en-IN"/>
                        <a:t>MAC (Media Access Control)</a:t>
                      </a:r>
                    </a:p>
                  </a:txBody>
                  <a:tcPr anchor="ctr"/>
                </a:tc>
                <a:extLst>
                  <a:ext uri="{0D108BD9-81ED-4DB2-BD59-A6C34878D82A}">
                    <a16:rowId xmlns:a16="http://schemas.microsoft.com/office/drawing/2014/main" val="3685672146"/>
                  </a:ext>
                </a:extLst>
              </a:tr>
              <a:tr h="370840">
                <a:tc>
                  <a:txBody>
                    <a:bodyPr/>
                    <a:lstStyle/>
                    <a:p>
                      <a:pPr>
                        <a:buNone/>
                      </a:pPr>
                      <a:r>
                        <a:rPr lang="en-IN" b="1" dirty="0"/>
                        <a:t>Frame Handling</a:t>
                      </a:r>
                      <a:endParaRPr lang="en-IN" dirty="0"/>
                    </a:p>
                  </a:txBody>
                  <a:tcPr anchor="ctr"/>
                </a:tc>
                <a:tc>
                  <a:txBody>
                    <a:bodyPr/>
                    <a:lstStyle/>
                    <a:p>
                      <a:pPr>
                        <a:buNone/>
                      </a:pPr>
                      <a:r>
                        <a:rPr lang="en-IN" dirty="0"/>
                        <a:t>Passes data to the MAC sublayer.</a:t>
                      </a:r>
                    </a:p>
                  </a:txBody>
                  <a:tcPr anchor="ctr"/>
                </a:tc>
                <a:tc>
                  <a:txBody>
                    <a:bodyPr/>
                    <a:lstStyle/>
                    <a:p>
                      <a:pPr>
                        <a:buNone/>
                      </a:pPr>
                      <a:r>
                        <a:rPr lang="en-IN" dirty="0"/>
                        <a:t>Creates and processes Ethernet/Wi-Fi frames.</a:t>
                      </a:r>
                    </a:p>
                  </a:txBody>
                  <a:tcPr anchor="ctr"/>
                </a:tc>
                <a:extLst>
                  <a:ext uri="{0D108BD9-81ED-4DB2-BD59-A6C34878D82A}">
                    <a16:rowId xmlns:a16="http://schemas.microsoft.com/office/drawing/2014/main" val="1761147150"/>
                  </a:ext>
                </a:extLst>
              </a:tr>
              <a:tr h="370840">
                <a:tc>
                  <a:txBody>
                    <a:bodyPr/>
                    <a:lstStyle/>
                    <a:p>
                      <a:pPr>
                        <a:buNone/>
                      </a:pPr>
                      <a:r>
                        <a:rPr lang="en-IN" b="1"/>
                        <a:t>Media Access</a:t>
                      </a:r>
                      <a:endParaRPr lang="en-IN"/>
                    </a:p>
                  </a:txBody>
                  <a:tcPr anchor="ctr"/>
                </a:tc>
                <a:tc>
                  <a:txBody>
                    <a:bodyPr/>
                    <a:lstStyle/>
                    <a:p>
                      <a:pPr>
                        <a:buNone/>
                      </a:pPr>
                      <a:r>
                        <a:rPr lang="en-IN"/>
                        <a:t>Does not control access to the network medium.</a:t>
                      </a:r>
                    </a:p>
                  </a:txBody>
                  <a:tcPr anchor="ctr"/>
                </a:tc>
                <a:tc>
                  <a:txBody>
                    <a:bodyPr/>
                    <a:lstStyle/>
                    <a:p>
                      <a:pPr>
                        <a:buNone/>
                      </a:pPr>
                      <a:r>
                        <a:rPr lang="en-IN" dirty="0"/>
                        <a:t>Decides when a device can transmit data to avoid collisions.</a:t>
                      </a:r>
                    </a:p>
                  </a:txBody>
                  <a:tcPr anchor="ctr"/>
                </a:tc>
                <a:extLst>
                  <a:ext uri="{0D108BD9-81ED-4DB2-BD59-A6C34878D82A}">
                    <a16:rowId xmlns:a16="http://schemas.microsoft.com/office/drawing/2014/main" val="4148741064"/>
                  </a:ext>
                </a:extLst>
              </a:tr>
              <a:tr h="370840">
                <a:tc>
                  <a:txBody>
                    <a:bodyPr/>
                    <a:lstStyle/>
                    <a:p>
                      <a:pPr>
                        <a:buNone/>
                      </a:pPr>
                      <a:r>
                        <a:rPr lang="en-IN" b="1"/>
                        <a:t>Communication Type</a:t>
                      </a:r>
                      <a:endParaRPr lang="en-IN"/>
                    </a:p>
                  </a:txBody>
                  <a:tcPr anchor="ctr"/>
                </a:tc>
                <a:tc>
                  <a:txBody>
                    <a:bodyPr/>
                    <a:lstStyle/>
                    <a:p>
                      <a:pPr>
                        <a:buNone/>
                      </a:pPr>
                      <a:r>
                        <a:rPr lang="en-IN"/>
                        <a:t>Logical communication between Network Layer and MAC Layer.</a:t>
                      </a:r>
                    </a:p>
                  </a:txBody>
                  <a:tcPr anchor="ctr"/>
                </a:tc>
                <a:tc>
                  <a:txBody>
                    <a:bodyPr/>
                    <a:lstStyle/>
                    <a:p>
                      <a:pPr>
                        <a:buNone/>
                      </a:pPr>
                      <a:r>
                        <a:rPr lang="en-IN" dirty="0"/>
                        <a:t>Physical communication over the network medium.</a:t>
                      </a:r>
                    </a:p>
                  </a:txBody>
                  <a:tcPr anchor="ctr"/>
                </a:tc>
                <a:extLst>
                  <a:ext uri="{0D108BD9-81ED-4DB2-BD59-A6C34878D82A}">
                    <a16:rowId xmlns:a16="http://schemas.microsoft.com/office/drawing/2014/main" val="367781679"/>
                  </a:ext>
                </a:extLst>
              </a:tr>
              <a:tr h="370840">
                <a:tc>
                  <a:txBody>
                    <a:bodyPr/>
                    <a:lstStyle/>
                    <a:p>
                      <a:pPr>
                        <a:buNone/>
                      </a:pPr>
                      <a:r>
                        <a:rPr lang="en-IN" b="1"/>
                        <a:t>Protocols/Standards</a:t>
                      </a:r>
                      <a:endParaRPr lang="en-IN"/>
                    </a:p>
                  </a:txBody>
                  <a:tcPr anchor="ctr"/>
                </a:tc>
                <a:tc>
                  <a:txBody>
                    <a:bodyPr/>
                    <a:lstStyle/>
                    <a:p>
                      <a:pPr>
                        <a:buNone/>
                      </a:pPr>
                      <a:r>
                        <a:rPr lang="en-IN"/>
                        <a:t>IEEE 802.2</a:t>
                      </a:r>
                    </a:p>
                  </a:txBody>
                  <a:tcPr anchor="ctr"/>
                </a:tc>
                <a:tc>
                  <a:txBody>
                    <a:bodyPr/>
                    <a:lstStyle/>
                    <a:p>
                      <a:pPr>
                        <a:buNone/>
                      </a:pPr>
                      <a:r>
                        <a:rPr lang="en-IN" dirty="0"/>
                        <a:t>Ethernet (IEEE 802.3), Wi-Fi (IEEE 802.11)</a:t>
                      </a:r>
                    </a:p>
                  </a:txBody>
                  <a:tcPr anchor="ctr"/>
                </a:tc>
                <a:extLst>
                  <a:ext uri="{0D108BD9-81ED-4DB2-BD59-A6C34878D82A}">
                    <a16:rowId xmlns:a16="http://schemas.microsoft.com/office/drawing/2014/main" val="1595741861"/>
                  </a:ext>
                </a:extLst>
              </a:tr>
              <a:tr h="370840">
                <a:tc>
                  <a:txBody>
                    <a:bodyPr/>
                    <a:lstStyle/>
                    <a:p>
                      <a:pPr>
                        <a:buNone/>
                      </a:pPr>
                      <a:r>
                        <a:rPr lang="en-IN" b="1"/>
                        <a:t>Error Handling</a:t>
                      </a:r>
                      <a:endParaRPr lang="en-IN"/>
                    </a:p>
                  </a:txBody>
                  <a:tcPr anchor="ctr"/>
                </a:tc>
                <a:tc>
                  <a:txBody>
                    <a:bodyPr/>
                    <a:lstStyle/>
                    <a:p>
                      <a:pPr>
                        <a:buNone/>
                      </a:pPr>
                      <a:r>
                        <a:rPr lang="en-IN"/>
                        <a:t>May provide logical flow and error management depending on implementation.</a:t>
                      </a:r>
                    </a:p>
                  </a:txBody>
                  <a:tcPr anchor="ctr"/>
                </a:tc>
                <a:tc>
                  <a:txBody>
                    <a:bodyPr/>
                    <a:lstStyle/>
                    <a:p>
                      <a:pPr>
                        <a:buNone/>
                      </a:pPr>
                      <a:r>
                        <a:rPr lang="en-IN" dirty="0"/>
                        <a:t>Detects frame errors using FCS (CRC).</a:t>
                      </a:r>
                    </a:p>
                  </a:txBody>
                  <a:tcPr anchor="ctr"/>
                </a:tc>
                <a:extLst>
                  <a:ext uri="{0D108BD9-81ED-4DB2-BD59-A6C34878D82A}">
                    <a16:rowId xmlns:a16="http://schemas.microsoft.com/office/drawing/2014/main" val="115085153"/>
                  </a:ext>
                </a:extLst>
              </a:tr>
              <a:tr h="370840">
                <a:tc>
                  <a:txBody>
                    <a:bodyPr/>
                    <a:lstStyle/>
                    <a:p>
                      <a:pPr>
                        <a:buNone/>
                      </a:pPr>
                      <a:r>
                        <a:rPr lang="en-IN" b="1"/>
                        <a:t>Works With</a:t>
                      </a:r>
                      <a:endParaRPr lang="en-IN"/>
                    </a:p>
                  </a:txBody>
                  <a:tcPr anchor="ctr"/>
                </a:tc>
                <a:tc>
                  <a:txBody>
                    <a:bodyPr/>
                    <a:lstStyle/>
                    <a:p>
                      <a:pPr>
                        <a:buNone/>
                      </a:pPr>
                      <a:r>
                        <a:rPr lang="en-IN"/>
                        <a:t>Network Layer</a:t>
                      </a:r>
                    </a:p>
                  </a:txBody>
                  <a:tcPr anchor="ctr"/>
                </a:tc>
                <a:tc>
                  <a:txBody>
                    <a:bodyPr/>
                    <a:lstStyle/>
                    <a:p>
                      <a:pPr>
                        <a:buNone/>
                      </a:pPr>
                      <a:r>
                        <a:rPr lang="en-IN" dirty="0"/>
                        <a:t>Physical Layer</a:t>
                      </a:r>
                    </a:p>
                  </a:txBody>
                  <a:tcPr anchor="ctr"/>
                </a:tc>
                <a:extLst>
                  <a:ext uri="{0D108BD9-81ED-4DB2-BD59-A6C34878D82A}">
                    <a16:rowId xmlns:a16="http://schemas.microsoft.com/office/drawing/2014/main" val="344023705"/>
                  </a:ext>
                </a:extLst>
              </a:tr>
            </a:tbl>
          </a:graphicData>
        </a:graphic>
      </p:graphicFrame>
    </p:spTree>
    <p:extLst>
      <p:ext uri="{BB962C8B-B14F-4D97-AF65-F5344CB8AC3E}">
        <p14:creationId xmlns:p14="http://schemas.microsoft.com/office/powerpoint/2010/main" val="2777364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2ADF57-E88A-764A-8151-18A866FE02F2}"/>
              </a:ext>
            </a:extLst>
          </p:cNvPr>
          <p:cNvSpPr>
            <a:spLocks noGrp="1"/>
          </p:cNvSpPr>
          <p:nvPr>
            <p:ph type="title"/>
          </p:nvPr>
        </p:nvSpPr>
        <p:spPr>
          <a:xfrm>
            <a:off x="411480" y="577516"/>
            <a:ext cx="11365992" cy="437468"/>
          </a:xfrm>
        </p:spPr>
        <p:txBody>
          <a:bodyPr>
            <a:normAutofit fontScale="90000"/>
          </a:bodyPr>
          <a:lstStyle/>
          <a:p>
            <a:r>
              <a:rPr lang="en-US" dirty="0"/>
              <a:t>Data Link Layer</a:t>
            </a:r>
            <a:endParaRPr lang="en-IN" dirty="0"/>
          </a:p>
        </p:txBody>
      </p:sp>
      <p:sp>
        <p:nvSpPr>
          <p:cNvPr id="3" name="Content Placeholder 2">
            <a:extLst>
              <a:ext uri="{FF2B5EF4-FFF2-40B4-BE49-F238E27FC236}">
                <a16:creationId xmlns:a16="http://schemas.microsoft.com/office/drawing/2014/main" id="{39C01885-3AE7-001E-CEAC-FAB8E907F800}"/>
              </a:ext>
            </a:extLst>
          </p:cNvPr>
          <p:cNvSpPr>
            <a:spLocks noGrp="1"/>
          </p:cNvSpPr>
          <p:nvPr>
            <p:ph idx="1"/>
          </p:nvPr>
        </p:nvSpPr>
        <p:spPr>
          <a:xfrm>
            <a:off x="411480" y="1088136"/>
            <a:ext cx="11365992" cy="5404740"/>
          </a:xfrm>
        </p:spPr>
        <p:txBody>
          <a:bodyPr>
            <a:normAutofit/>
          </a:bodyPr>
          <a:lstStyle/>
          <a:p>
            <a:r>
              <a:rPr lang="en-IN" sz="2000" dirty="0"/>
              <a:t>Data Link Layer is the second layer of seven-layer OSI</a:t>
            </a:r>
            <a:r>
              <a:rPr lang="en-IN" sz="2000" u="sng" dirty="0"/>
              <a:t> </a:t>
            </a:r>
            <a:r>
              <a:rPr lang="en-IN" sz="2000" dirty="0"/>
              <a:t>reference model of computer networking and lies just above Physical Layer. It is responsible for receiving and getting data bits usually from Physical Layer and then converting these bits into groups, known as data link frames so that it can be transmitted further. It is also responsible to handle errors that might arise due to transmission of bits.</a:t>
            </a:r>
          </a:p>
          <a:p>
            <a:r>
              <a:rPr lang="en-IN" sz="2000"/>
              <a:t>The </a:t>
            </a:r>
            <a:r>
              <a:rPr lang="en-IN" sz="2000" dirty="0"/>
              <a:t>Physical Layer is simply responsible for moving raw electronic bits (0s and 1s) across a physical wire or wireless medium. However, the Physical Layer is completely blind and lacks any intelligence. It has no idea where a message starts, where it ends, or if environmental noise flipped a bit along the way. If a computer sends a steady stream of one million bits, the receiver has no way of grouping those bits into meaningful sentences, files, or protocols.</a:t>
            </a:r>
          </a:p>
          <a:p>
            <a:r>
              <a:rPr lang="en-IN" sz="2000" dirty="0"/>
              <a:t>We need a smart software layer sitting directly above the physical wires to manage this chaos, handle transmission errors, and make the physical line appear completely error-free to the upper layers. This is why the </a:t>
            </a:r>
            <a:r>
              <a:rPr lang="en-IN" sz="2000" b="1" dirty="0"/>
              <a:t>Data Link Layer (DLL)</a:t>
            </a:r>
            <a:r>
              <a:rPr lang="en-IN" sz="2000" dirty="0"/>
              <a:t> exists. It takes a raw, fragile stream of bits and transforms it into a highly organized, reliable communication channel. Understanding its structural design issues helps engineers design the software that rules network interface cards (NICs).</a:t>
            </a:r>
          </a:p>
          <a:p>
            <a:endParaRPr lang="en-IN" sz="2000" dirty="0"/>
          </a:p>
        </p:txBody>
      </p:sp>
    </p:spTree>
    <p:extLst>
      <p:ext uri="{BB962C8B-B14F-4D97-AF65-F5344CB8AC3E}">
        <p14:creationId xmlns:p14="http://schemas.microsoft.com/office/powerpoint/2010/main" val="10617776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15E89D-32A3-BA18-4A45-A9A4746805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73FA7D-DBC1-06F8-BAAE-5E3CD4CC2864}"/>
              </a:ext>
            </a:extLst>
          </p:cNvPr>
          <p:cNvSpPr>
            <a:spLocks noGrp="1"/>
          </p:cNvSpPr>
          <p:nvPr>
            <p:ph type="title"/>
          </p:nvPr>
        </p:nvSpPr>
        <p:spPr>
          <a:xfrm>
            <a:off x="411480" y="577516"/>
            <a:ext cx="11365992" cy="437468"/>
          </a:xfrm>
        </p:spPr>
        <p:txBody>
          <a:bodyPr>
            <a:normAutofit fontScale="90000"/>
          </a:bodyPr>
          <a:lstStyle/>
          <a:p>
            <a:r>
              <a:rPr lang="en-US" dirty="0"/>
              <a:t>Key Functionalities of DLL / Design Issues</a:t>
            </a:r>
            <a:endParaRPr lang="en-IN" dirty="0"/>
          </a:p>
        </p:txBody>
      </p:sp>
      <p:sp>
        <p:nvSpPr>
          <p:cNvPr id="3" name="Content Placeholder 2">
            <a:extLst>
              <a:ext uri="{FF2B5EF4-FFF2-40B4-BE49-F238E27FC236}">
                <a16:creationId xmlns:a16="http://schemas.microsoft.com/office/drawing/2014/main" id="{2ECE1386-EA3E-90E2-9F30-2ECCA2AE7356}"/>
              </a:ext>
            </a:extLst>
          </p:cNvPr>
          <p:cNvSpPr>
            <a:spLocks noGrp="1"/>
          </p:cNvSpPr>
          <p:nvPr>
            <p:ph idx="1"/>
          </p:nvPr>
        </p:nvSpPr>
        <p:spPr>
          <a:xfrm>
            <a:off x="411480" y="1088136"/>
            <a:ext cx="11365992" cy="5769864"/>
          </a:xfrm>
        </p:spPr>
        <p:txBody>
          <a:bodyPr>
            <a:normAutofit fontScale="92500" lnSpcReduction="20000"/>
          </a:bodyPr>
          <a:lstStyle/>
          <a:p>
            <a:pPr marL="0" indent="0">
              <a:buNone/>
            </a:pPr>
            <a:r>
              <a:rPr lang="en-IN" sz="2200" b="1" dirty="0">
                <a:highlight>
                  <a:srgbClr val="FFFF00"/>
                </a:highlight>
              </a:rPr>
              <a:t>1. Framing</a:t>
            </a:r>
          </a:p>
          <a:p>
            <a:r>
              <a:rPr lang="en-IN" sz="2200" dirty="0"/>
              <a:t>Framing is the process of breaking a continuous stream of data into smaller units called Frames by adding a Header and Trailer to each frame. </a:t>
            </a:r>
          </a:p>
          <a:p>
            <a:r>
              <a:rPr lang="en-IN" sz="2200" b="1" dirty="0"/>
              <a:t>The Design Challenge:</a:t>
            </a:r>
            <a:r>
              <a:rPr lang="en-IN" sz="2200" dirty="0"/>
              <a:t> The receiver needs a clear way to know exactly where a frame starts and where it ends so it doesn't accidentally read two separate messages as one.</a:t>
            </a:r>
          </a:p>
          <a:p>
            <a:r>
              <a:rPr lang="en-IN" sz="2200" b="1" dirty="0"/>
              <a:t>How it is solved:</a:t>
            </a:r>
            <a:r>
              <a:rPr lang="en-IN" sz="2200" dirty="0"/>
              <a:t> The DLL uses three primary framing techniques:</a:t>
            </a:r>
          </a:p>
          <a:p>
            <a:pPr lvl="1"/>
            <a:r>
              <a:rPr lang="en-IN" sz="2200" b="1" dirty="0"/>
              <a:t>Character Count:</a:t>
            </a:r>
            <a:r>
              <a:rPr lang="en-IN" sz="2200" dirty="0"/>
              <a:t> The frame starts with a number indicating the total length of the frame. (If that number bit flips due to noise, the entire network drops out of sync).</a:t>
            </a:r>
          </a:p>
          <a:p>
            <a:pPr lvl="1"/>
            <a:r>
              <a:rPr lang="en-IN" sz="2200" dirty="0"/>
              <a:t>Eg: [5 Hello]</a:t>
            </a:r>
          </a:p>
          <a:p>
            <a:pPr marL="457200" lvl="1" indent="0">
              <a:buNone/>
            </a:pPr>
            <a:endParaRPr lang="en-IN" sz="2200" dirty="0"/>
          </a:p>
          <a:p>
            <a:pPr lvl="1"/>
            <a:r>
              <a:rPr lang="en-IN" sz="2200" b="1" dirty="0"/>
              <a:t>Byte Stuffing:</a:t>
            </a:r>
            <a:r>
              <a:rPr lang="en-IN" sz="2200" dirty="0"/>
              <a:t> The DLL wraps a special </a:t>
            </a:r>
            <a:r>
              <a:rPr lang="en-IN" sz="2200" b="1" dirty="0"/>
              <a:t>Flag byte</a:t>
            </a:r>
            <a:r>
              <a:rPr lang="en-IN" sz="2200" dirty="0"/>
              <a:t> (like a specific text character) at the start and end of every frame. If the actual message payload contains that same flag character by coincidence, an </a:t>
            </a:r>
            <a:r>
              <a:rPr lang="en-IN" sz="2200" b="1" dirty="0"/>
              <a:t>Escape (ESC) byte</a:t>
            </a:r>
            <a:r>
              <a:rPr lang="en-IN" sz="2200" dirty="0"/>
              <a:t> is inserted right before it to tell the receiver to treat it as data, not the end of the frame.</a:t>
            </a:r>
          </a:p>
          <a:p>
            <a:pPr lvl="1"/>
            <a:r>
              <a:rPr lang="en-IN" sz="2200" dirty="0"/>
              <a:t>Eg: </a:t>
            </a:r>
            <a:r>
              <a:rPr lang="en-IN" sz="2200" b="1" dirty="0"/>
              <a:t>F</a:t>
            </a:r>
            <a:r>
              <a:rPr lang="en-IN" sz="2200" dirty="0"/>
              <a:t> Hello ESC F India </a:t>
            </a:r>
            <a:r>
              <a:rPr lang="en-IN" sz="2200" b="1" dirty="0"/>
              <a:t>F</a:t>
            </a:r>
          </a:p>
          <a:p>
            <a:pPr lvl="1"/>
            <a:endParaRPr lang="en-IN" sz="2200" b="1" dirty="0"/>
          </a:p>
          <a:p>
            <a:pPr lvl="1"/>
            <a:r>
              <a:rPr lang="en-IN" sz="2200" b="1" dirty="0"/>
              <a:t>Bit Stuffing:</a:t>
            </a:r>
            <a:r>
              <a:rPr lang="en-IN" sz="2200" dirty="0"/>
              <a:t> A flag string of six consecutive ones (01111110) marks the borders. To prevent the real data from matching this flag, the transmitter scans the data stream and automatically </a:t>
            </a:r>
            <a:r>
              <a:rPr lang="en-IN" sz="2200" b="1" dirty="0"/>
              <a:t>stuffs a 0 bit</a:t>
            </a:r>
            <a:r>
              <a:rPr lang="en-IN" sz="2200" dirty="0"/>
              <a:t> after every five consecutive ones it finds. The receiver automatically strips this extra 0 out.</a:t>
            </a:r>
          </a:p>
          <a:p>
            <a:pPr lvl="1"/>
            <a:r>
              <a:rPr lang="en-IN" sz="2200" dirty="0"/>
              <a:t>Eg: 01111110  DATA  01111110</a:t>
            </a:r>
          </a:p>
          <a:p>
            <a:endParaRPr lang="en-IN" sz="2200" dirty="0"/>
          </a:p>
        </p:txBody>
      </p:sp>
    </p:spTree>
    <p:extLst>
      <p:ext uri="{BB962C8B-B14F-4D97-AF65-F5344CB8AC3E}">
        <p14:creationId xmlns:p14="http://schemas.microsoft.com/office/powerpoint/2010/main" val="25320329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CEBCF6-2B0C-AB17-1DEE-919CEE99F93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6185EE4-B71D-E8BC-5486-724AD3E9B0F3}"/>
              </a:ext>
            </a:extLst>
          </p:cNvPr>
          <p:cNvSpPr>
            <a:spLocks noGrp="1"/>
          </p:cNvSpPr>
          <p:nvPr>
            <p:ph idx="1"/>
          </p:nvPr>
        </p:nvSpPr>
        <p:spPr>
          <a:xfrm>
            <a:off x="411480" y="753979"/>
            <a:ext cx="11365992" cy="5738897"/>
          </a:xfrm>
        </p:spPr>
        <p:txBody>
          <a:bodyPr>
            <a:normAutofit/>
          </a:bodyPr>
          <a:lstStyle/>
          <a:p>
            <a:pPr marL="0" indent="0">
              <a:buNone/>
            </a:pPr>
            <a:r>
              <a:rPr lang="en-IN" b="1" dirty="0">
                <a:highlight>
                  <a:srgbClr val="FFFF00"/>
                </a:highlight>
              </a:rPr>
              <a:t>2. Error Detection – (i) Parity Check</a:t>
            </a:r>
          </a:p>
          <a:p>
            <a:r>
              <a:rPr lang="en-IN" b="1" dirty="0"/>
              <a:t>What it is:</a:t>
            </a:r>
            <a:r>
              <a:rPr lang="en-IN" dirty="0"/>
              <a:t> The simplest hardware-level method used to detect if a </a:t>
            </a:r>
            <a:r>
              <a:rPr lang="en-IN" b="1" dirty="0"/>
              <a:t>single bit </a:t>
            </a:r>
            <a:r>
              <a:rPr lang="en-IN" dirty="0"/>
              <a:t>was corrupted during transit.</a:t>
            </a:r>
          </a:p>
          <a:p>
            <a:r>
              <a:rPr lang="en-IN" b="1" dirty="0"/>
              <a:t>The Design Challenge:</a:t>
            </a:r>
            <a:r>
              <a:rPr lang="en-IN" dirty="0"/>
              <a:t> Static noise on a wire can flip a 1 to a 0 or vice-versa. The receiver must know if the data arrived broken.</a:t>
            </a:r>
          </a:p>
          <a:p>
            <a:r>
              <a:rPr lang="en-IN" b="1" dirty="0"/>
              <a:t>How it is solved:</a:t>
            </a:r>
            <a:r>
              <a:rPr lang="en-IN" dirty="0"/>
              <a:t> An extra bit, called the </a:t>
            </a:r>
            <a:r>
              <a:rPr lang="en-IN" b="1" dirty="0"/>
              <a:t>Parity Bit</a:t>
            </a:r>
            <a:r>
              <a:rPr lang="en-IN" dirty="0"/>
              <a:t>, is added to the end of a data block.</a:t>
            </a:r>
          </a:p>
          <a:p>
            <a:pPr lvl="1"/>
            <a:r>
              <a:rPr lang="en-IN" b="1" dirty="0"/>
              <a:t>Even Parity:</a:t>
            </a:r>
            <a:r>
              <a:rPr lang="en-IN" dirty="0"/>
              <a:t> The sender counts the ones in the data. If the count is odd, it sets the parity bit to 1 to make the total number of ones even. If it is already even, it sets it to 0.</a:t>
            </a:r>
          </a:p>
          <a:p>
            <a:pPr lvl="1"/>
            <a:r>
              <a:rPr lang="en-IN" b="1" dirty="0"/>
              <a:t>Odd Parity:</a:t>
            </a:r>
            <a:r>
              <a:rPr lang="en-IN" dirty="0"/>
              <a:t> The sender sets the parity bit so that the total count of ones across the block is always odd.</a:t>
            </a:r>
          </a:p>
          <a:p>
            <a:pPr lvl="1"/>
            <a:r>
              <a:rPr lang="en-IN" dirty="0"/>
              <a:t>The receiver counts the ones upon arrival. If it is using Even Parity and counts an odd number of ones, it knows an error occurred and drops the frame.</a:t>
            </a:r>
          </a:p>
          <a:p>
            <a:endParaRPr lang="en-IN" sz="2000" dirty="0"/>
          </a:p>
        </p:txBody>
      </p:sp>
    </p:spTree>
    <p:extLst>
      <p:ext uri="{BB962C8B-B14F-4D97-AF65-F5344CB8AC3E}">
        <p14:creationId xmlns:p14="http://schemas.microsoft.com/office/powerpoint/2010/main" val="41602627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B94292-F68E-F438-A476-3E260578CD5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A313C8E-E8E1-526B-4C85-0CADA86259B2}"/>
              </a:ext>
            </a:extLst>
          </p:cNvPr>
          <p:cNvSpPr>
            <a:spLocks noGrp="1"/>
          </p:cNvSpPr>
          <p:nvPr>
            <p:ph idx="1"/>
          </p:nvPr>
        </p:nvSpPr>
        <p:spPr>
          <a:xfrm>
            <a:off x="411480" y="753979"/>
            <a:ext cx="11365992" cy="5738897"/>
          </a:xfrm>
        </p:spPr>
        <p:txBody>
          <a:bodyPr>
            <a:normAutofit/>
          </a:bodyPr>
          <a:lstStyle/>
          <a:p>
            <a:pPr marL="0" indent="0">
              <a:buNone/>
            </a:pPr>
            <a:r>
              <a:rPr lang="en-IN" b="1" dirty="0">
                <a:highlight>
                  <a:srgbClr val="FFFF00"/>
                </a:highlight>
              </a:rPr>
              <a:t>3. Error Detection - (ii) Checksum</a:t>
            </a:r>
          </a:p>
          <a:p>
            <a:r>
              <a:rPr lang="en-IN" b="1" dirty="0"/>
              <a:t>What it is:</a:t>
            </a:r>
            <a:r>
              <a:rPr lang="en-IN" dirty="0"/>
              <a:t> A higher-level mathematical error-detection method mostly used by software protocols to check the integrity of an entire block of data words.</a:t>
            </a:r>
          </a:p>
          <a:p>
            <a:r>
              <a:rPr lang="en-IN" b="1" dirty="0"/>
              <a:t>The Design Challenge:</a:t>
            </a:r>
            <a:r>
              <a:rPr lang="en-IN" dirty="0"/>
              <a:t> Simple parity checks fail completely if an even number of bits flip at the same time. The network needs a stronger multi-bit mathematical check.</a:t>
            </a:r>
          </a:p>
          <a:p>
            <a:r>
              <a:rPr lang="en-IN" b="1" dirty="0"/>
              <a:t>How it is solved:</a:t>
            </a:r>
            <a:r>
              <a:rPr lang="en-IN" dirty="0"/>
              <a:t> The sender splits the data frame into equal segments of bits (usually 8 or 16 bits each). It adds all these segments together using standard binary addition rules. It then takes the final sum, flips all the bits (zeros become ones, and ones become zeros) to create the </a:t>
            </a:r>
            <a:r>
              <a:rPr lang="en-IN" b="1" dirty="0"/>
              <a:t>Checksum</a:t>
            </a:r>
            <a:r>
              <a:rPr lang="en-IN" dirty="0"/>
              <a:t>, and appends it to the end of the frame. The receiver adds all received segments plus the checksum; if the result is all ones, the data is clean.</a:t>
            </a:r>
          </a:p>
        </p:txBody>
      </p:sp>
    </p:spTree>
    <p:extLst>
      <p:ext uri="{BB962C8B-B14F-4D97-AF65-F5344CB8AC3E}">
        <p14:creationId xmlns:p14="http://schemas.microsoft.com/office/powerpoint/2010/main" val="6045023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A59796-C86E-A9D6-506D-29726BDFD43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74590A-83D2-B184-E7AF-985EC4CCEB8F}"/>
              </a:ext>
            </a:extLst>
          </p:cNvPr>
          <p:cNvSpPr>
            <a:spLocks noGrp="1"/>
          </p:cNvSpPr>
          <p:nvPr>
            <p:ph idx="1"/>
          </p:nvPr>
        </p:nvSpPr>
        <p:spPr>
          <a:xfrm>
            <a:off x="411480" y="753979"/>
            <a:ext cx="11365992" cy="5738897"/>
          </a:xfrm>
        </p:spPr>
        <p:txBody>
          <a:bodyPr>
            <a:normAutofit lnSpcReduction="10000"/>
          </a:bodyPr>
          <a:lstStyle/>
          <a:p>
            <a:pPr marL="0" indent="0">
              <a:buNone/>
            </a:pPr>
            <a:r>
              <a:rPr lang="en-IN" b="1" dirty="0">
                <a:highlight>
                  <a:srgbClr val="FFFF00"/>
                </a:highlight>
              </a:rPr>
              <a:t>4. Error Detection – (iii) CRC (Cyclic Redundancy Check)</a:t>
            </a:r>
          </a:p>
          <a:p>
            <a:r>
              <a:rPr lang="en-IN" b="1" dirty="0"/>
              <a:t>What it is:</a:t>
            </a:r>
            <a:r>
              <a:rPr lang="en-IN" dirty="0"/>
              <a:t> An extremely powerful, industry-standard algebraic error-detection method based on </a:t>
            </a:r>
            <a:r>
              <a:rPr lang="en-IN" b="1" dirty="0"/>
              <a:t>Binary Division</a:t>
            </a:r>
            <a:r>
              <a:rPr lang="en-IN" dirty="0"/>
              <a:t>.</a:t>
            </a:r>
          </a:p>
          <a:p>
            <a:r>
              <a:rPr lang="en-IN" b="1" dirty="0"/>
              <a:t>The Design Challenge:</a:t>
            </a:r>
            <a:r>
              <a:rPr lang="en-IN" dirty="0"/>
              <a:t> Industrial environments experience burst errors where a long spark of electricity ruins a continuous string of 10 or 20 bits at once. Neither parity nor basic checksums can reliably catch this.</a:t>
            </a:r>
          </a:p>
          <a:p>
            <a:r>
              <a:rPr lang="en-IN" b="1" dirty="0"/>
              <a:t>How it is solved:</a:t>
            </a:r>
            <a:r>
              <a:rPr lang="en-IN" dirty="0"/>
              <a:t> The sender and receiver agree on a standard mathematical formula called a </a:t>
            </a:r>
            <a:r>
              <a:rPr lang="en-IN" b="1" dirty="0"/>
              <a:t>Generator Polynomial</a:t>
            </a:r>
            <a:r>
              <a:rPr lang="en-IN" dirty="0"/>
              <a:t> (represented as a binary divisor, like 1101). The sender appends a string of zeros to the data and divides it by the divisor using </a:t>
            </a:r>
            <a:r>
              <a:rPr lang="en-IN" b="1" dirty="0"/>
              <a:t>XOR subtraction</a:t>
            </a:r>
            <a:r>
              <a:rPr lang="en-IN" dirty="0"/>
              <a:t>. The leftover remainder from this division is called the </a:t>
            </a:r>
            <a:r>
              <a:rPr lang="en-IN" b="1" dirty="0"/>
              <a:t>CRC Frame Check Sequence (FCS)</a:t>
            </a:r>
            <a:r>
              <a:rPr lang="en-IN" dirty="0"/>
              <a:t>. The sender replaces the trailing zeros with this remainder and sends it. The receiver divides the whole package by the same divisor; if the remainder is exactly 0, the frame is 100% clean.</a:t>
            </a:r>
          </a:p>
        </p:txBody>
      </p:sp>
    </p:spTree>
    <p:extLst>
      <p:ext uri="{BB962C8B-B14F-4D97-AF65-F5344CB8AC3E}">
        <p14:creationId xmlns:p14="http://schemas.microsoft.com/office/powerpoint/2010/main" val="22769872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A799AA-6A2B-62C2-24B1-9072616691E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9E9297F-DE0A-2EFF-8DB8-5689C1D9152A}"/>
              </a:ext>
            </a:extLst>
          </p:cNvPr>
          <p:cNvSpPr>
            <a:spLocks noGrp="1"/>
          </p:cNvSpPr>
          <p:nvPr>
            <p:ph idx="1"/>
          </p:nvPr>
        </p:nvSpPr>
        <p:spPr>
          <a:xfrm>
            <a:off x="411480" y="753979"/>
            <a:ext cx="11365992" cy="5738897"/>
          </a:xfrm>
        </p:spPr>
        <p:txBody>
          <a:bodyPr>
            <a:normAutofit/>
          </a:bodyPr>
          <a:lstStyle/>
          <a:p>
            <a:pPr marL="0" indent="0">
              <a:buNone/>
            </a:pPr>
            <a:r>
              <a:rPr lang="en-IN" b="1" dirty="0">
                <a:highlight>
                  <a:srgbClr val="FFFF00"/>
                </a:highlight>
              </a:rPr>
              <a:t>5. Error Correction</a:t>
            </a:r>
          </a:p>
          <a:p>
            <a:r>
              <a:rPr lang="en-IN" b="1" dirty="0"/>
              <a:t>What it is:</a:t>
            </a:r>
            <a:r>
              <a:rPr lang="en-IN" dirty="0"/>
              <a:t> The advanced capability of a receiver to not only </a:t>
            </a:r>
            <a:r>
              <a:rPr lang="en-IN" i="1" dirty="0"/>
              <a:t>detect</a:t>
            </a:r>
            <a:r>
              <a:rPr lang="en-IN" dirty="0"/>
              <a:t> that a packet is broken but to mathematically pinpoint exactly which specific bit flipped and repair it on the fly without asking for a re-transmission.</a:t>
            </a:r>
          </a:p>
          <a:p>
            <a:r>
              <a:rPr lang="en-IN" b="1" dirty="0"/>
              <a:t>The Design Challenge:</a:t>
            </a:r>
            <a:r>
              <a:rPr lang="en-IN" dirty="0"/>
              <a:t> On long-distance satellite links or deep-sea lines, waiting for a re-transmission takes too long. The receiver must fix errors locally.</a:t>
            </a:r>
          </a:p>
          <a:p>
            <a:r>
              <a:rPr lang="en-IN" b="1" dirty="0"/>
              <a:t>How it is solved:</a:t>
            </a:r>
            <a:r>
              <a:rPr lang="en-IN" dirty="0"/>
              <a:t> The layer uses </a:t>
            </a:r>
            <a:r>
              <a:rPr lang="en-IN" b="1" dirty="0"/>
              <a:t>Forward Error Correction (FEC)</a:t>
            </a:r>
            <a:r>
              <a:rPr lang="en-IN" dirty="0"/>
              <a:t> codes, most notably </a:t>
            </a:r>
            <a:r>
              <a:rPr lang="en-IN" b="1" dirty="0"/>
              <a:t>Hamming Codes</a:t>
            </a:r>
            <a:r>
              <a:rPr lang="en-IN" dirty="0"/>
              <a:t>. By interweaving multiple redundant parity bits at specific mathematical positions inside the data word, the receiver can calculate a unique binary value that reveals the exact column and row position of the corrupted bit, allowing the receiver to flip it back to its correct state.</a:t>
            </a:r>
          </a:p>
          <a:p>
            <a:pPr marL="0" indent="0">
              <a:buNone/>
            </a:pPr>
            <a:endParaRPr lang="en-IN" dirty="0"/>
          </a:p>
        </p:txBody>
      </p:sp>
    </p:spTree>
    <p:extLst>
      <p:ext uri="{BB962C8B-B14F-4D97-AF65-F5344CB8AC3E}">
        <p14:creationId xmlns:p14="http://schemas.microsoft.com/office/powerpoint/2010/main" val="29678513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753241-8D17-3158-9D5D-8085EED749F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9A54D1C-9499-D21E-B0AF-1A94A831375C}"/>
              </a:ext>
            </a:extLst>
          </p:cNvPr>
          <p:cNvSpPr>
            <a:spLocks noGrp="1"/>
          </p:cNvSpPr>
          <p:nvPr>
            <p:ph idx="1"/>
          </p:nvPr>
        </p:nvSpPr>
        <p:spPr>
          <a:xfrm>
            <a:off x="411480" y="753979"/>
            <a:ext cx="11365992" cy="5738897"/>
          </a:xfrm>
        </p:spPr>
        <p:txBody>
          <a:bodyPr>
            <a:normAutofit/>
          </a:bodyPr>
          <a:lstStyle/>
          <a:p>
            <a:pPr marL="0" indent="0">
              <a:buNone/>
            </a:pPr>
            <a:r>
              <a:rPr lang="en-IN" b="1" dirty="0">
                <a:highlight>
                  <a:srgbClr val="FFFF00"/>
                </a:highlight>
              </a:rPr>
              <a:t>6. Flow Control</a:t>
            </a:r>
          </a:p>
          <a:p>
            <a:r>
              <a:rPr lang="en-IN" b="1" dirty="0"/>
              <a:t>What it is:</a:t>
            </a:r>
            <a:r>
              <a:rPr lang="en-IN" dirty="0"/>
              <a:t> The set of rules that regulates the speed of data transmission between a fast sender and a slow receiver.</a:t>
            </a:r>
          </a:p>
          <a:p>
            <a:r>
              <a:rPr lang="en-IN" b="1" dirty="0"/>
              <a:t>The Design Challenge:</a:t>
            </a:r>
            <a:r>
              <a:rPr lang="en-IN" dirty="0"/>
              <a:t> If a high-speed server blasts data frames at high speeds to an old, slow laptop, the laptop's memory buffers will instantly overflow, causing it to drop packets.</a:t>
            </a:r>
          </a:p>
          <a:p>
            <a:r>
              <a:rPr lang="en-IN" b="1" dirty="0"/>
              <a:t>How it is solved:</a:t>
            </a:r>
            <a:r>
              <a:rPr lang="en-IN" dirty="0"/>
              <a:t> The DLL introduces coordination protocols like </a:t>
            </a:r>
            <a:r>
              <a:rPr lang="en-IN" b="1" dirty="0"/>
              <a:t>Stop-and-Wait</a:t>
            </a:r>
            <a:r>
              <a:rPr lang="en-IN" dirty="0"/>
              <a:t> (the sender must pause and cannot send frame 2 until the receiver sends an acknowledgment back for frame 1) or </a:t>
            </a:r>
            <a:r>
              <a:rPr lang="en-IN" b="1" dirty="0"/>
              <a:t>Sliding Window</a:t>
            </a:r>
            <a:r>
              <a:rPr lang="en-IN" dirty="0"/>
              <a:t> protocols (the sender can blast a specific batch of frames before halting to wait for a clearance update).</a:t>
            </a:r>
          </a:p>
        </p:txBody>
      </p:sp>
    </p:spTree>
    <p:extLst>
      <p:ext uri="{BB962C8B-B14F-4D97-AF65-F5344CB8AC3E}">
        <p14:creationId xmlns:p14="http://schemas.microsoft.com/office/powerpoint/2010/main" val="13544315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3EDB32-9FFF-0222-B7FD-A10AB1FDEEA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B396BA9-8B29-99F2-F645-C6539982C8CC}"/>
              </a:ext>
            </a:extLst>
          </p:cNvPr>
          <p:cNvSpPr>
            <a:spLocks noGrp="1"/>
          </p:cNvSpPr>
          <p:nvPr>
            <p:ph idx="1"/>
          </p:nvPr>
        </p:nvSpPr>
        <p:spPr>
          <a:xfrm>
            <a:off x="411480" y="753979"/>
            <a:ext cx="11365992" cy="5738897"/>
          </a:xfrm>
        </p:spPr>
        <p:txBody>
          <a:bodyPr>
            <a:normAutofit/>
          </a:bodyPr>
          <a:lstStyle/>
          <a:p>
            <a:pPr marL="0" indent="0">
              <a:buNone/>
            </a:pPr>
            <a:r>
              <a:rPr lang="en-IN" b="1" dirty="0">
                <a:highlight>
                  <a:srgbClr val="FFFF00"/>
                </a:highlight>
              </a:rPr>
              <a:t>7. Addressing (Physical / MAC Addressing)</a:t>
            </a:r>
          </a:p>
          <a:p>
            <a:r>
              <a:rPr lang="en-IN" b="1" dirty="0"/>
              <a:t>What it is:</a:t>
            </a:r>
            <a:r>
              <a:rPr lang="en-IN" dirty="0"/>
              <a:t> The process of adding explicit hardware identity tags to a frame before dropping it onto a shared physical wire.</a:t>
            </a:r>
          </a:p>
          <a:p>
            <a:r>
              <a:rPr lang="en-IN" b="1" dirty="0"/>
              <a:t>The Design Challenge:</a:t>
            </a:r>
            <a:r>
              <a:rPr lang="en-IN" dirty="0"/>
              <a:t> When multiple computers are plugged into the same local network cable or switch, there must be a way to ensure that Computer B opens the packet while Computer C and D ignore it.</a:t>
            </a:r>
          </a:p>
          <a:p>
            <a:r>
              <a:rPr lang="en-IN" b="1" dirty="0"/>
              <a:t>How it is solved:</a:t>
            </a:r>
            <a:r>
              <a:rPr lang="en-IN" dirty="0"/>
              <a:t> The DLL appends a </a:t>
            </a:r>
            <a:r>
              <a:rPr lang="en-IN" b="1" dirty="0"/>
              <a:t>Source MAC Address</a:t>
            </a:r>
            <a:r>
              <a:rPr lang="en-IN" dirty="0"/>
              <a:t> and a </a:t>
            </a:r>
            <a:r>
              <a:rPr lang="en-IN" b="1" dirty="0"/>
              <a:t>Destination MAC Address</a:t>
            </a:r>
            <a:r>
              <a:rPr lang="en-IN" dirty="0"/>
              <a:t> into the frame header. Every network interface card built into a computer reads these headers at the hardware level, if the destination MAC does not match its own unique factory-assigned hardware ID, it immediately discards the frame without wasting any main processor power.</a:t>
            </a:r>
          </a:p>
        </p:txBody>
      </p:sp>
    </p:spTree>
    <p:extLst>
      <p:ext uri="{BB962C8B-B14F-4D97-AF65-F5344CB8AC3E}">
        <p14:creationId xmlns:p14="http://schemas.microsoft.com/office/powerpoint/2010/main" val="5759402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347351-6493-7393-1155-B150E7BB55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973061-0E86-807B-B95B-829063F7B29F}"/>
              </a:ext>
            </a:extLst>
          </p:cNvPr>
          <p:cNvSpPr>
            <a:spLocks noGrp="1"/>
          </p:cNvSpPr>
          <p:nvPr>
            <p:ph type="title"/>
          </p:nvPr>
        </p:nvSpPr>
        <p:spPr>
          <a:xfrm>
            <a:off x="411480" y="577516"/>
            <a:ext cx="11365992" cy="437468"/>
          </a:xfrm>
        </p:spPr>
        <p:txBody>
          <a:bodyPr>
            <a:normAutofit fontScale="90000"/>
          </a:bodyPr>
          <a:lstStyle/>
          <a:p>
            <a:r>
              <a:rPr lang="en-US" dirty="0"/>
              <a:t>Error Detection – Parity Check</a:t>
            </a:r>
            <a:endParaRPr lang="en-IN" dirty="0"/>
          </a:p>
        </p:txBody>
      </p:sp>
      <p:sp>
        <p:nvSpPr>
          <p:cNvPr id="3" name="Content Placeholder 2">
            <a:extLst>
              <a:ext uri="{FF2B5EF4-FFF2-40B4-BE49-F238E27FC236}">
                <a16:creationId xmlns:a16="http://schemas.microsoft.com/office/drawing/2014/main" id="{DB6789C8-0ACD-181A-169C-20C0E378E58B}"/>
              </a:ext>
            </a:extLst>
          </p:cNvPr>
          <p:cNvSpPr>
            <a:spLocks noGrp="1"/>
          </p:cNvSpPr>
          <p:nvPr>
            <p:ph idx="1"/>
          </p:nvPr>
        </p:nvSpPr>
        <p:spPr>
          <a:xfrm>
            <a:off x="411480" y="1088136"/>
            <a:ext cx="11365992" cy="5404740"/>
          </a:xfrm>
        </p:spPr>
        <p:txBody>
          <a:bodyPr>
            <a:normAutofit/>
          </a:bodyPr>
          <a:lstStyle/>
          <a:p>
            <a:r>
              <a:rPr lang="en-IN" sz="2200" dirty="0"/>
              <a:t>If a receiver accepts corrupted data without checking it, software programs can crash, bank balances can become incorrect, or files can get permanently ruined. Therefore, the Data Link Layer must implement an error detection mechanism. </a:t>
            </a:r>
            <a:r>
              <a:rPr lang="en-IN" sz="2200" b="1" dirty="0"/>
              <a:t>Parity Check</a:t>
            </a:r>
            <a:r>
              <a:rPr lang="en-IN" sz="2200" dirty="0"/>
              <a:t> is the most fundamental, light-weight, and hardware-friendly method designed to catch these transmission errors the moment a frame lands on the receiver.</a:t>
            </a:r>
          </a:p>
          <a:p>
            <a:r>
              <a:rPr lang="en-IN" sz="2200" dirty="0"/>
              <a:t>The parity check method works by appending one extra single bit, called the </a:t>
            </a:r>
            <a:r>
              <a:rPr lang="en-IN" sz="2200" b="1" dirty="0"/>
              <a:t>Parity Bit</a:t>
            </a:r>
            <a:r>
              <a:rPr lang="en-IN" sz="2200" dirty="0"/>
              <a:t>, to the end of a binary data block before it leaves the sender. The value of this bit (whether it is a 0 or a 1) is completely dependent on the total count of 1s present inside the original data block.</a:t>
            </a:r>
          </a:p>
          <a:p>
            <a:r>
              <a:rPr lang="en-IN" sz="2200" dirty="0"/>
              <a:t>There are two distinct types of parity check systems used in networking:</a:t>
            </a:r>
          </a:p>
          <a:p>
            <a:pPr lvl="1"/>
            <a:r>
              <a:rPr lang="en-IN" sz="2200" dirty="0"/>
              <a:t>Even Parity System</a:t>
            </a:r>
          </a:p>
          <a:p>
            <a:pPr lvl="1"/>
            <a:r>
              <a:rPr lang="en-IN" sz="2200" dirty="0"/>
              <a:t>Odd Parity System</a:t>
            </a:r>
          </a:p>
        </p:txBody>
      </p:sp>
    </p:spTree>
    <p:extLst>
      <p:ext uri="{BB962C8B-B14F-4D97-AF65-F5344CB8AC3E}">
        <p14:creationId xmlns:p14="http://schemas.microsoft.com/office/powerpoint/2010/main" val="41882171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F9DF3D-4E51-A51F-09D6-C433FCA244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1EA0A4-F293-FB19-1E96-494C9A4603D5}"/>
              </a:ext>
            </a:extLst>
          </p:cNvPr>
          <p:cNvSpPr>
            <a:spLocks noGrp="1"/>
          </p:cNvSpPr>
          <p:nvPr>
            <p:ph type="title"/>
          </p:nvPr>
        </p:nvSpPr>
        <p:spPr>
          <a:xfrm>
            <a:off x="411480" y="577516"/>
            <a:ext cx="11365992" cy="437468"/>
          </a:xfrm>
        </p:spPr>
        <p:txBody>
          <a:bodyPr>
            <a:normAutofit fontScale="90000"/>
          </a:bodyPr>
          <a:lstStyle/>
          <a:p>
            <a:r>
              <a:rPr lang="en-US" dirty="0"/>
              <a:t>Even Parity System</a:t>
            </a:r>
            <a:endParaRPr lang="en-IN" dirty="0"/>
          </a:p>
        </p:txBody>
      </p:sp>
      <p:sp>
        <p:nvSpPr>
          <p:cNvPr id="3" name="Content Placeholder 2">
            <a:extLst>
              <a:ext uri="{FF2B5EF4-FFF2-40B4-BE49-F238E27FC236}">
                <a16:creationId xmlns:a16="http://schemas.microsoft.com/office/drawing/2014/main" id="{D8AC62BC-13FE-A15B-6C8F-6519A93E8B2B}"/>
              </a:ext>
            </a:extLst>
          </p:cNvPr>
          <p:cNvSpPr>
            <a:spLocks noGrp="1"/>
          </p:cNvSpPr>
          <p:nvPr>
            <p:ph idx="1"/>
          </p:nvPr>
        </p:nvSpPr>
        <p:spPr>
          <a:xfrm>
            <a:off x="411480" y="1088136"/>
            <a:ext cx="11365992" cy="5404740"/>
          </a:xfrm>
        </p:spPr>
        <p:txBody>
          <a:bodyPr>
            <a:normAutofit/>
          </a:bodyPr>
          <a:lstStyle/>
          <a:p>
            <a:r>
              <a:rPr lang="en-IN" sz="2000" b="1" dirty="0"/>
              <a:t>The Rule:</a:t>
            </a:r>
            <a:r>
              <a:rPr lang="en-IN" sz="2000" dirty="0"/>
              <a:t> The total number of 1s in the entire transmitted block (including the data bits and the added parity bit) must always add up to an </a:t>
            </a:r>
            <a:r>
              <a:rPr lang="en-IN" sz="2000" b="1" dirty="0"/>
              <a:t>even number</a:t>
            </a:r>
            <a:r>
              <a:rPr lang="en-IN" sz="2000" dirty="0"/>
              <a:t> (0, 2, 4, 6, etc.).</a:t>
            </a:r>
          </a:p>
          <a:p>
            <a:r>
              <a:rPr lang="en-IN" sz="2000" b="1" dirty="0"/>
              <a:t>Sender Action:</a:t>
            </a:r>
            <a:r>
              <a:rPr lang="en-IN" sz="2000" dirty="0"/>
              <a:t> The sender counts the 1s in the raw data message. If the count is already even, the parity bit is set to 0. If the count is odd, the parity bit is set to 1 to force the total count to become even.</a:t>
            </a:r>
          </a:p>
          <a:p>
            <a:r>
              <a:rPr lang="en-IN" sz="2000" b="1" dirty="0"/>
              <a:t>Receiver Action:</a:t>
            </a:r>
            <a:r>
              <a:rPr lang="en-IN" sz="2000" dirty="0"/>
              <a:t> The receiver counts all the 1s in the arriving frame. If the count is even, the frame is assumed to be safe and is accepted. If the count turns out to be odd, the receiver knows an error occurred and throws the frame away.</a:t>
            </a:r>
          </a:p>
          <a:p>
            <a:endParaRPr lang="en-IN" sz="2000" dirty="0"/>
          </a:p>
        </p:txBody>
      </p:sp>
    </p:spTree>
    <p:extLst>
      <p:ext uri="{BB962C8B-B14F-4D97-AF65-F5344CB8AC3E}">
        <p14:creationId xmlns:p14="http://schemas.microsoft.com/office/powerpoint/2010/main" val="23968733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A18BD4-3732-589D-784F-CC4BD00ECC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4BE5DB-EDD7-9867-D8A5-71408C74BDE0}"/>
              </a:ext>
            </a:extLst>
          </p:cNvPr>
          <p:cNvSpPr>
            <a:spLocks noGrp="1"/>
          </p:cNvSpPr>
          <p:nvPr>
            <p:ph type="title"/>
          </p:nvPr>
        </p:nvSpPr>
        <p:spPr>
          <a:xfrm>
            <a:off x="411480" y="577516"/>
            <a:ext cx="11365992" cy="437468"/>
          </a:xfrm>
        </p:spPr>
        <p:txBody>
          <a:bodyPr>
            <a:normAutofit fontScale="90000"/>
          </a:bodyPr>
          <a:lstStyle/>
          <a:p>
            <a:r>
              <a:rPr lang="en-US" dirty="0"/>
              <a:t>Odd Parity System</a:t>
            </a:r>
            <a:endParaRPr lang="en-IN" dirty="0"/>
          </a:p>
        </p:txBody>
      </p:sp>
      <p:sp>
        <p:nvSpPr>
          <p:cNvPr id="3" name="Content Placeholder 2">
            <a:extLst>
              <a:ext uri="{FF2B5EF4-FFF2-40B4-BE49-F238E27FC236}">
                <a16:creationId xmlns:a16="http://schemas.microsoft.com/office/drawing/2014/main" id="{28F25CE6-D2E2-0A15-20DD-71BF75BE0FDB}"/>
              </a:ext>
            </a:extLst>
          </p:cNvPr>
          <p:cNvSpPr>
            <a:spLocks noGrp="1"/>
          </p:cNvSpPr>
          <p:nvPr>
            <p:ph idx="1"/>
          </p:nvPr>
        </p:nvSpPr>
        <p:spPr>
          <a:xfrm>
            <a:off x="411480" y="1088136"/>
            <a:ext cx="11365992" cy="5404740"/>
          </a:xfrm>
        </p:spPr>
        <p:txBody>
          <a:bodyPr>
            <a:normAutofit/>
          </a:bodyPr>
          <a:lstStyle/>
          <a:p>
            <a:r>
              <a:rPr lang="en-IN" sz="2000" b="1" dirty="0"/>
              <a:t>The Rule:</a:t>
            </a:r>
            <a:r>
              <a:rPr lang="en-IN" sz="2000" dirty="0"/>
              <a:t> The total number of 1s in the entire transmitted block (including data bits and the parity bit) must always add up to an </a:t>
            </a:r>
            <a:r>
              <a:rPr lang="en-IN" sz="2000" b="1" dirty="0"/>
              <a:t>odd number</a:t>
            </a:r>
            <a:r>
              <a:rPr lang="en-IN" sz="2000" dirty="0"/>
              <a:t> (1, 3, 5, 7, etc.).</a:t>
            </a:r>
          </a:p>
          <a:p>
            <a:r>
              <a:rPr lang="en-IN" sz="2000" b="1" dirty="0"/>
              <a:t>Sender Action:</a:t>
            </a:r>
            <a:r>
              <a:rPr lang="en-IN" sz="2000" dirty="0"/>
              <a:t> The sender counts the 1s in the raw data. If the count is already odd, the parity bit is set to 0. If the count is even, the parity bit is set to 1 to force the total count to become odd.</a:t>
            </a:r>
          </a:p>
          <a:p>
            <a:r>
              <a:rPr lang="en-IN" sz="2000" b="1" dirty="0"/>
              <a:t>Receiver Action:</a:t>
            </a:r>
            <a:r>
              <a:rPr lang="en-IN" sz="2000" dirty="0"/>
              <a:t> The receiver counts all the 1s in the arriving frame. If the count is odd, it accepts the frame. If the count turns out to be even, it rejects the frame.</a:t>
            </a:r>
          </a:p>
        </p:txBody>
      </p:sp>
      <p:sp>
        <p:nvSpPr>
          <p:cNvPr id="5" name="TextBox 4">
            <a:extLst>
              <a:ext uri="{FF2B5EF4-FFF2-40B4-BE49-F238E27FC236}">
                <a16:creationId xmlns:a16="http://schemas.microsoft.com/office/drawing/2014/main" id="{1E19A282-0122-7F7D-9B17-2AF9482B9E8E}"/>
              </a:ext>
            </a:extLst>
          </p:cNvPr>
          <p:cNvSpPr txBox="1"/>
          <p:nvPr/>
        </p:nvSpPr>
        <p:spPr>
          <a:xfrm>
            <a:off x="866274" y="4292536"/>
            <a:ext cx="9705474" cy="1631216"/>
          </a:xfrm>
          <a:prstGeom prst="rect">
            <a:avLst/>
          </a:prstGeom>
          <a:noFill/>
        </p:spPr>
        <p:txBody>
          <a:bodyPr wrap="square">
            <a:spAutoFit/>
          </a:bodyPr>
          <a:lstStyle/>
          <a:p>
            <a:pPr>
              <a:buNone/>
            </a:pPr>
            <a:r>
              <a:rPr lang="en-IN" sz="2000" b="1" dirty="0"/>
              <a:t>The Limitation of Parity Sum</a:t>
            </a:r>
            <a:br>
              <a:rPr lang="en-IN" sz="2000" b="1" dirty="0"/>
            </a:br>
            <a:r>
              <a:rPr lang="en-IN" sz="2000" dirty="0"/>
              <a:t>Parity checks can only detect </a:t>
            </a:r>
            <a:r>
              <a:rPr lang="en-IN" sz="2000" b="1" dirty="0"/>
              <a:t>single-bit errors</a:t>
            </a:r>
            <a:r>
              <a:rPr lang="en-IN" sz="2000" dirty="0"/>
              <a:t> (where exactly one bit flips). If a major noise spike flips an </a:t>
            </a:r>
            <a:r>
              <a:rPr lang="en-IN" sz="2000" b="1" dirty="0"/>
              <a:t>even number of bits</a:t>
            </a:r>
            <a:r>
              <a:rPr lang="en-IN" sz="2000" dirty="0"/>
              <a:t> at the exact same time (for example, two bits flip simultaneously), the total count of 1s stays mathematically consistent with the parity rule, and the error completely evades detection.</a:t>
            </a:r>
          </a:p>
        </p:txBody>
      </p:sp>
    </p:spTree>
    <p:extLst>
      <p:ext uri="{BB962C8B-B14F-4D97-AF65-F5344CB8AC3E}">
        <p14:creationId xmlns:p14="http://schemas.microsoft.com/office/powerpoint/2010/main" val="15701139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B904D3-0E1F-DD92-4842-50097A5460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17F96B-D77A-D1A4-CF5D-6CDF84779D29}"/>
              </a:ext>
            </a:extLst>
          </p:cNvPr>
          <p:cNvSpPr>
            <a:spLocks noGrp="1"/>
          </p:cNvSpPr>
          <p:nvPr>
            <p:ph type="title"/>
          </p:nvPr>
        </p:nvSpPr>
        <p:spPr>
          <a:xfrm>
            <a:off x="411480" y="577516"/>
            <a:ext cx="11365992" cy="437468"/>
          </a:xfrm>
        </p:spPr>
        <p:txBody>
          <a:bodyPr>
            <a:normAutofit fontScale="90000"/>
          </a:bodyPr>
          <a:lstStyle/>
          <a:p>
            <a:r>
              <a:rPr lang="en-IN" dirty="0"/>
              <a:t>Example 1</a:t>
            </a:r>
          </a:p>
        </p:txBody>
      </p:sp>
      <p:sp>
        <p:nvSpPr>
          <p:cNvPr id="3" name="Content Placeholder 2">
            <a:extLst>
              <a:ext uri="{FF2B5EF4-FFF2-40B4-BE49-F238E27FC236}">
                <a16:creationId xmlns:a16="http://schemas.microsoft.com/office/drawing/2014/main" id="{8F49FF79-9361-02BC-F5D6-CB1FA89D0574}"/>
              </a:ext>
            </a:extLst>
          </p:cNvPr>
          <p:cNvSpPr>
            <a:spLocks noGrp="1"/>
          </p:cNvSpPr>
          <p:nvPr>
            <p:ph idx="1"/>
          </p:nvPr>
        </p:nvSpPr>
        <p:spPr>
          <a:xfrm>
            <a:off x="411480" y="1088136"/>
            <a:ext cx="11365992" cy="5404740"/>
          </a:xfrm>
        </p:spPr>
        <p:txBody>
          <a:bodyPr>
            <a:normAutofit/>
          </a:bodyPr>
          <a:lstStyle/>
          <a:p>
            <a:r>
              <a:rPr lang="en-IN" sz="2000" b="1" dirty="0"/>
              <a:t>Scenario:</a:t>
            </a:r>
            <a:r>
              <a:rPr lang="en-IN" sz="2000" dirty="0"/>
              <a:t> The sender wants to transmit the data word </a:t>
            </a:r>
            <a:r>
              <a:rPr lang="en-IN" dirty="0"/>
              <a:t>1011010</a:t>
            </a:r>
            <a:r>
              <a:rPr lang="en-IN" sz="2000" dirty="0"/>
              <a:t> using an </a:t>
            </a:r>
            <a:r>
              <a:rPr lang="en-IN" sz="2000" b="1" dirty="0"/>
              <a:t>Even Parity</a:t>
            </a:r>
            <a:r>
              <a:rPr lang="en-IN" sz="2000" dirty="0"/>
              <a:t> system.</a:t>
            </a:r>
          </a:p>
          <a:p>
            <a:r>
              <a:rPr lang="en-IN" sz="2000" b="1" dirty="0"/>
              <a:t>Step 1 (Sender Count):</a:t>
            </a:r>
            <a:r>
              <a:rPr lang="en-IN" sz="2000" dirty="0"/>
              <a:t> Count the number of 1s in the data string </a:t>
            </a:r>
            <a:r>
              <a:rPr lang="en-IN" dirty="0"/>
              <a:t>1011010</a:t>
            </a:r>
            <a:r>
              <a:rPr lang="en-IN" sz="2000" dirty="0"/>
              <a:t>. There are exactly four 1s.</a:t>
            </a:r>
          </a:p>
          <a:p>
            <a:r>
              <a:rPr lang="en-IN" sz="2000" b="1" dirty="0"/>
              <a:t>Step 2 (Determine Parity Bit):</a:t>
            </a:r>
            <a:r>
              <a:rPr lang="en-IN" sz="2000" dirty="0"/>
              <a:t> Since 4 is already an even number, the sender does not need to add an extra 1. The Even Parity bit is set to </a:t>
            </a:r>
            <a:r>
              <a:rPr lang="en-IN" dirty="0"/>
              <a:t>0</a:t>
            </a:r>
            <a:r>
              <a:rPr lang="en-IN" sz="2000" dirty="0"/>
              <a:t>.</a:t>
            </a:r>
          </a:p>
          <a:p>
            <a:r>
              <a:rPr lang="en-IN" sz="2000" b="1" dirty="0"/>
              <a:t>Step 3 (The Code Word):</a:t>
            </a:r>
            <a:r>
              <a:rPr lang="en-IN" sz="2000" dirty="0"/>
              <a:t> The final packet sent on the wire is </a:t>
            </a:r>
            <a:r>
              <a:rPr lang="en-IN" dirty="0"/>
              <a:t>10110100</a:t>
            </a:r>
            <a:r>
              <a:rPr lang="en-IN" sz="2000" dirty="0"/>
              <a:t> (Data + Parity Bit).</a:t>
            </a:r>
          </a:p>
          <a:p>
            <a:r>
              <a:rPr lang="en-IN" sz="2000" b="1" dirty="0"/>
              <a:t>Step 4 (Receiver Validation):</a:t>
            </a:r>
            <a:r>
              <a:rPr lang="en-IN" sz="2000" dirty="0"/>
              <a:t> The frame arrives at the receiver safely as </a:t>
            </a:r>
            <a:r>
              <a:rPr lang="en-IN" dirty="0"/>
              <a:t>10110100</a:t>
            </a:r>
            <a:r>
              <a:rPr lang="en-IN" sz="2000" dirty="0"/>
              <a:t>. The receiver counts the total number of 1s. The count is 4 (even). </a:t>
            </a:r>
            <a:r>
              <a:rPr lang="en-IN" sz="2000" b="1" dirty="0"/>
              <a:t>Result: Frame Accepted.</a:t>
            </a:r>
            <a:endParaRPr lang="en-IN" sz="2000" dirty="0"/>
          </a:p>
          <a:p>
            <a:endParaRPr lang="en-IN" sz="2000" dirty="0"/>
          </a:p>
        </p:txBody>
      </p:sp>
    </p:spTree>
    <p:extLst>
      <p:ext uri="{BB962C8B-B14F-4D97-AF65-F5344CB8AC3E}">
        <p14:creationId xmlns:p14="http://schemas.microsoft.com/office/powerpoint/2010/main" val="4164504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8B24CF-5AA3-BF31-B592-594FA8C265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C2AA8A-E93B-71CF-A123-B1115E02B86F}"/>
              </a:ext>
            </a:extLst>
          </p:cNvPr>
          <p:cNvSpPr>
            <a:spLocks noGrp="1"/>
          </p:cNvSpPr>
          <p:nvPr>
            <p:ph type="title"/>
          </p:nvPr>
        </p:nvSpPr>
        <p:spPr>
          <a:xfrm>
            <a:off x="411480" y="577516"/>
            <a:ext cx="11365992" cy="437468"/>
          </a:xfrm>
        </p:spPr>
        <p:txBody>
          <a:bodyPr>
            <a:normAutofit fontScale="90000"/>
          </a:bodyPr>
          <a:lstStyle/>
          <a:p>
            <a:r>
              <a:rPr lang="en-IN" dirty="0"/>
              <a:t>Even Parity with a Two-Bit Error (The System Fails)</a:t>
            </a:r>
          </a:p>
        </p:txBody>
      </p:sp>
      <p:sp>
        <p:nvSpPr>
          <p:cNvPr id="3" name="Content Placeholder 2">
            <a:extLst>
              <a:ext uri="{FF2B5EF4-FFF2-40B4-BE49-F238E27FC236}">
                <a16:creationId xmlns:a16="http://schemas.microsoft.com/office/drawing/2014/main" id="{7E92A8AC-EAD0-474B-0682-467FFE0CE42E}"/>
              </a:ext>
            </a:extLst>
          </p:cNvPr>
          <p:cNvSpPr>
            <a:spLocks noGrp="1"/>
          </p:cNvSpPr>
          <p:nvPr>
            <p:ph idx="1"/>
          </p:nvPr>
        </p:nvSpPr>
        <p:spPr>
          <a:xfrm>
            <a:off x="411480" y="1088136"/>
            <a:ext cx="11365992" cy="5404740"/>
          </a:xfrm>
        </p:spPr>
        <p:txBody>
          <a:bodyPr>
            <a:normAutofit/>
          </a:bodyPr>
          <a:lstStyle/>
          <a:p>
            <a:r>
              <a:rPr lang="en-IN" sz="2000" b="1" dirty="0"/>
              <a:t>Scenario:</a:t>
            </a:r>
            <a:r>
              <a:rPr lang="en-IN" sz="2000" dirty="0"/>
              <a:t> The same code word </a:t>
            </a:r>
            <a:r>
              <a:rPr lang="en-IN" dirty="0"/>
              <a:t>10110100</a:t>
            </a:r>
            <a:r>
              <a:rPr lang="en-IN" sz="2000" dirty="0"/>
              <a:t> is sent, but a harsh electrical burst flips </a:t>
            </a:r>
            <a:r>
              <a:rPr lang="en-IN" sz="2000" i="1" dirty="0"/>
              <a:t>both</a:t>
            </a:r>
            <a:r>
              <a:rPr lang="en-IN" sz="2000" dirty="0"/>
              <a:t> the third bit (1 becomes 0) and the fifth bit (0 becomes 1) at the same time.</a:t>
            </a:r>
          </a:p>
          <a:p>
            <a:r>
              <a:rPr lang="en-IN" sz="2000" b="1" dirty="0"/>
              <a:t>Step 1 (Arrival):</a:t>
            </a:r>
            <a:r>
              <a:rPr lang="en-IN" sz="2000" dirty="0"/>
              <a:t> The receiver catches the corrupted frame: </a:t>
            </a:r>
            <a:r>
              <a:rPr lang="en-IN" dirty="0"/>
              <a:t>10011100</a:t>
            </a:r>
            <a:r>
              <a:rPr lang="en-IN" sz="2000" dirty="0"/>
              <a:t>.</a:t>
            </a:r>
          </a:p>
          <a:p>
            <a:r>
              <a:rPr lang="en-IN" sz="2000" b="1" dirty="0"/>
              <a:t>Step 2 (Receiver Evaluation):</a:t>
            </a:r>
            <a:r>
              <a:rPr lang="en-IN" sz="2000" dirty="0"/>
              <a:t> The receiver counts the total number of 1s in the received string. The count is exactly four 1s.</a:t>
            </a:r>
          </a:p>
          <a:p>
            <a:r>
              <a:rPr lang="en-IN" sz="2000" b="1" dirty="0"/>
              <a:t>Step 3 (Validation Decision):</a:t>
            </a:r>
            <a:r>
              <a:rPr lang="en-IN" sz="2000" dirty="0"/>
              <a:t> Since 4 is an even number, the receiver thinks the frame is completely healthy, even though two data bits are completely wrong. </a:t>
            </a:r>
            <a:r>
              <a:rPr lang="en-IN" sz="2000" b="1" dirty="0"/>
              <a:t>Result: Error Not Detected (System Tricked).</a:t>
            </a:r>
            <a:endParaRPr lang="en-IN" sz="2000" dirty="0"/>
          </a:p>
          <a:p>
            <a:endParaRPr lang="en-IN" sz="2000" dirty="0"/>
          </a:p>
        </p:txBody>
      </p:sp>
    </p:spTree>
    <p:extLst>
      <p:ext uri="{BB962C8B-B14F-4D97-AF65-F5344CB8AC3E}">
        <p14:creationId xmlns:p14="http://schemas.microsoft.com/office/powerpoint/2010/main" val="15861738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4AB25E-3CA0-BFF1-15E4-83099B74C707}"/>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9998C517-A7DC-F9E9-598E-0FF88516B011}"/>
              </a:ext>
            </a:extLst>
          </p:cNvPr>
          <p:cNvGraphicFramePr>
            <a:graphicFrameLocks noGrp="1"/>
          </p:cNvGraphicFramePr>
          <p:nvPr/>
        </p:nvGraphicFramePr>
        <p:xfrm>
          <a:off x="1026695" y="2051161"/>
          <a:ext cx="9673390" cy="3352800"/>
        </p:xfrm>
        <a:graphic>
          <a:graphicData uri="http://schemas.openxmlformats.org/drawingml/2006/table">
            <a:tbl>
              <a:tblPr firstRow="1" bandRow="1">
                <a:tableStyleId>{5C22544A-7EE6-4342-B048-85BDC9FD1C3A}</a:tableStyleId>
              </a:tblPr>
              <a:tblGrid>
                <a:gridCol w="4836695">
                  <a:extLst>
                    <a:ext uri="{9D8B030D-6E8A-4147-A177-3AD203B41FA5}">
                      <a16:colId xmlns:a16="http://schemas.microsoft.com/office/drawing/2014/main" val="3132909152"/>
                    </a:ext>
                  </a:extLst>
                </a:gridCol>
                <a:gridCol w="4836695">
                  <a:extLst>
                    <a:ext uri="{9D8B030D-6E8A-4147-A177-3AD203B41FA5}">
                      <a16:colId xmlns:a16="http://schemas.microsoft.com/office/drawing/2014/main" val="3383203435"/>
                    </a:ext>
                  </a:extLst>
                </a:gridCol>
              </a:tblGrid>
              <a:tr h="370840">
                <a:tc>
                  <a:txBody>
                    <a:bodyPr/>
                    <a:lstStyle/>
                    <a:p>
                      <a:pPr>
                        <a:buNone/>
                      </a:pPr>
                      <a:r>
                        <a:rPr lang="en-IN" b="1" dirty="0">
                          <a:effectLst/>
                          <a:latin typeface="Google Sans Text"/>
                        </a:rPr>
                        <a:t>Why it is Good (Advantages)</a:t>
                      </a:r>
                      <a:endParaRPr lang="en-IN" dirty="0">
                        <a:effectLst/>
                        <a:latin typeface="Google Sans Text"/>
                      </a:endParaRPr>
                    </a:p>
                  </a:txBody>
                  <a:tcPr marL="114300" marR="114300" marT="76200" marB="76200" anchor="ctr"/>
                </a:tc>
                <a:tc>
                  <a:txBody>
                    <a:bodyPr/>
                    <a:lstStyle/>
                    <a:p>
                      <a:pPr>
                        <a:buNone/>
                      </a:pPr>
                      <a:r>
                        <a:rPr lang="en-IN" b="1">
                          <a:effectLst/>
                          <a:latin typeface="Google Sans Text"/>
                        </a:rPr>
                        <a:t>Where it Fails (Disadvantages)</a:t>
                      </a:r>
                      <a:endParaRPr lang="en-IN">
                        <a:effectLst/>
                        <a:latin typeface="Google Sans Text"/>
                      </a:endParaRPr>
                    </a:p>
                  </a:txBody>
                  <a:tcPr marL="114300" marR="114300" marT="76200" marB="76200" anchor="ctr"/>
                </a:tc>
                <a:extLst>
                  <a:ext uri="{0D108BD9-81ED-4DB2-BD59-A6C34878D82A}">
                    <a16:rowId xmlns:a16="http://schemas.microsoft.com/office/drawing/2014/main" val="2840967073"/>
                  </a:ext>
                </a:extLst>
              </a:tr>
              <a:tr h="370840">
                <a:tc>
                  <a:txBody>
                    <a:bodyPr/>
                    <a:lstStyle/>
                    <a:p>
                      <a:pPr>
                        <a:buNone/>
                      </a:pPr>
                      <a:r>
                        <a:rPr lang="en-IN">
                          <a:effectLst/>
                          <a:latin typeface="Google Sans Text"/>
                        </a:rPr>
                        <a:t>- Incredibly simple and fast; it can be implemented with minimal electronic circuits (just basic XOR gates).</a:t>
                      </a:r>
                    </a:p>
                  </a:txBody>
                  <a:tcPr marL="114300" marR="114300" marT="76200" marB="76200" anchor="ctr"/>
                </a:tc>
                <a:tc>
                  <a:txBody>
                    <a:bodyPr/>
                    <a:lstStyle/>
                    <a:p>
                      <a:pPr>
                        <a:buNone/>
                      </a:pPr>
                      <a:r>
                        <a:rPr lang="en-IN">
                          <a:effectLst/>
                          <a:latin typeface="Google Sans Text"/>
                        </a:rPr>
                        <a:t>- It fails completely if an even number of bits get corrupted inside the same frame.</a:t>
                      </a:r>
                    </a:p>
                  </a:txBody>
                  <a:tcPr marL="114300" marR="114300" marT="76200" marB="76200" anchor="ctr"/>
                </a:tc>
                <a:extLst>
                  <a:ext uri="{0D108BD9-81ED-4DB2-BD59-A6C34878D82A}">
                    <a16:rowId xmlns:a16="http://schemas.microsoft.com/office/drawing/2014/main" val="1295650126"/>
                  </a:ext>
                </a:extLst>
              </a:tr>
              <a:tr h="370840">
                <a:tc>
                  <a:txBody>
                    <a:bodyPr/>
                    <a:lstStyle/>
                    <a:p>
                      <a:pPr>
                        <a:buNone/>
                      </a:pPr>
                      <a:r>
                        <a:rPr lang="en-IN">
                          <a:effectLst/>
                          <a:latin typeface="Google Sans Text"/>
                        </a:rPr>
                        <a:t>- Requires almost zero overhead space; it only adds a single bit of extra data to your message block.</a:t>
                      </a:r>
                    </a:p>
                  </a:txBody>
                  <a:tcPr marL="114300" marR="114300" marT="76200" marB="76200" anchor="ctr"/>
                </a:tc>
                <a:tc>
                  <a:txBody>
                    <a:bodyPr/>
                    <a:lstStyle/>
                    <a:p>
                      <a:pPr>
                        <a:buNone/>
                      </a:pPr>
                      <a:r>
                        <a:rPr lang="en-IN">
                          <a:effectLst/>
                          <a:latin typeface="Google Sans Text"/>
                        </a:rPr>
                        <a:t>- It cannot tell you </a:t>
                      </a:r>
                      <a:r>
                        <a:rPr lang="en-IN" i="1">
                          <a:effectLst/>
                          <a:latin typeface="Google Sans Text"/>
                        </a:rPr>
                        <a:t>which</a:t>
                      </a:r>
                      <a:r>
                        <a:rPr lang="en-IN">
                          <a:effectLst/>
                          <a:latin typeface="Google Sans Text"/>
                        </a:rPr>
                        <a:t> bit flipped; it only knows something went wrong, so it cannot perform error correction.</a:t>
                      </a:r>
                    </a:p>
                  </a:txBody>
                  <a:tcPr marL="114300" marR="114300" marT="76200" marB="76200" anchor="ctr"/>
                </a:tc>
                <a:extLst>
                  <a:ext uri="{0D108BD9-81ED-4DB2-BD59-A6C34878D82A}">
                    <a16:rowId xmlns:a16="http://schemas.microsoft.com/office/drawing/2014/main" val="1755273819"/>
                  </a:ext>
                </a:extLst>
              </a:tr>
              <a:tr h="370840">
                <a:tc>
                  <a:txBody>
                    <a:bodyPr/>
                    <a:lstStyle/>
                    <a:p>
                      <a:pPr>
                        <a:buNone/>
                      </a:pPr>
                      <a:r>
                        <a:rPr lang="en-IN">
                          <a:effectLst/>
                          <a:latin typeface="Google Sans Text"/>
                        </a:rPr>
                        <a:t>- Perfect for ultra-reliable environments (like internal computer memory bus routing) where multi-bit errors are rare.</a:t>
                      </a:r>
                    </a:p>
                  </a:txBody>
                  <a:tcPr marL="114300" marR="114300" marT="76200" marB="76200" anchor="ctr"/>
                </a:tc>
                <a:tc>
                  <a:txBody>
                    <a:bodyPr/>
                    <a:lstStyle/>
                    <a:p>
                      <a:pPr>
                        <a:buNone/>
                      </a:pPr>
                      <a:r>
                        <a:rPr lang="en-IN" dirty="0">
                          <a:effectLst/>
                          <a:latin typeface="Google Sans Text"/>
                        </a:rPr>
                        <a:t>- Unsuited for modern wireless or long-distance copper networks where noise typically ruins clusters of multiple bits at a time.</a:t>
                      </a:r>
                    </a:p>
                  </a:txBody>
                  <a:tcPr marL="114300" marR="114300" marT="76200" marB="76200" anchor="ctr"/>
                </a:tc>
                <a:extLst>
                  <a:ext uri="{0D108BD9-81ED-4DB2-BD59-A6C34878D82A}">
                    <a16:rowId xmlns:a16="http://schemas.microsoft.com/office/drawing/2014/main" val="3330480844"/>
                  </a:ext>
                </a:extLst>
              </a:tr>
            </a:tbl>
          </a:graphicData>
        </a:graphic>
      </p:graphicFrame>
    </p:spTree>
    <p:extLst>
      <p:ext uri="{BB962C8B-B14F-4D97-AF65-F5344CB8AC3E}">
        <p14:creationId xmlns:p14="http://schemas.microsoft.com/office/powerpoint/2010/main" val="30914331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420E28-1459-549D-725D-C0217D163A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E61947-6328-90FD-BB8E-FA9768505FAB}"/>
              </a:ext>
            </a:extLst>
          </p:cNvPr>
          <p:cNvSpPr>
            <a:spLocks noGrp="1"/>
          </p:cNvSpPr>
          <p:nvPr>
            <p:ph type="title"/>
          </p:nvPr>
        </p:nvSpPr>
        <p:spPr>
          <a:xfrm>
            <a:off x="411480" y="577516"/>
            <a:ext cx="11365992" cy="437468"/>
          </a:xfrm>
        </p:spPr>
        <p:txBody>
          <a:bodyPr>
            <a:normAutofit fontScale="90000"/>
          </a:bodyPr>
          <a:lstStyle/>
          <a:p>
            <a:r>
              <a:rPr lang="en-IN" dirty="0"/>
              <a:t>Error Detection - Checksum</a:t>
            </a:r>
          </a:p>
        </p:txBody>
      </p:sp>
      <p:sp>
        <p:nvSpPr>
          <p:cNvPr id="3" name="Content Placeholder 2">
            <a:extLst>
              <a:ext uri="{FF2B5EF4-FFF2-40B4-BE49-F238E27FC236}">
                <a16:creationId xmlns:a16="http://schemas.microsoft.com/office/drawing/2014/main" id="{502CF43E-2557-8DF8-2781-EBCF1E9A0467}"/>
              </a:ext>
            </a:extLst>
          </p:cNvPr>
          <p:cNvSpPr>
            <a:spLocks noGrp="1"/>
          </p:cNvSpPr>
          <p:nvPr>
            <p:ph idx="1"/>
          </p:nvPr>
        </p:nvSpPr>
        <p:spPr>
          <a:xfrm>
            <a:off x="144379" y="1088136"/>
            <a:ext cx="11871158" cy="5769864"/>
          </a:xfrm>
        </p:spPr>
        <p:txBody>
          <a:bodyPr>
            <a:normAutofit fontScale="77500" lnSpcReduction="20000"/>
          </a:bodyPr>
          <a:lstStyle/>
          <a:p>
            <a:pPr marL="0" indent="0">
              <a:buNone/>
            </a:pPr>
            <a:r>
              <a:rPr lang="en-IN" dirty="0"/>
              <a:t>The checksum mechanism splits the original data payload into equal-sized segments. It then uses </a:t>
            </a:r>
            <a:r>
              <a:rPr lang="en-IN" b="1" dirty="0"/>
              <a:t>ones-complement arithmetic</a:t>
            </a:r>
            <a:r>
              <a:rPr lang="en-IN" dirty="0"/>
              <a:t> to calculate a tracking code that is sent along with the data.</a:t>
            </a:r>
          </a:p>
          <a:p>
            <a:pPr marL="0" indent="0">
              <a:buNone/>
            </a:pPr>
            <a:r>
              <a:rPr lang="en-IN" dirty="0"/>
              <a:t>The entire process operates through a strict set of rules divided between the sender and the receiver:</a:t>
            </a:r>
          </a:p>
          <a:p>
            <a:pPr marL="0" indent="0">
              <a:buNone/>
            </a:pPr>
            <a:r>
              <a:rPr lang="en-IN" b="1" dirty="0">
                <a:highlight>
                  <a:srgbClr val="FFFF00"/>
                </a:highlight>
              </a:rPr>
              <a:t>A. Operations at the Sender Side</a:t>
            </a:r>
          </a:p>
          <a:p>
            <a:r>
              <a:rPr lang="en-IN" b="1" dirty="0"/>
              <a:t>Segmentation:</a:t>
            </a:r>
            <a:r>
              <a:rPr lang="en-IN" dirty="0"/>
              <a:t> The sender divides the binary data block into </a:t>
            </a:r>
            <a:r>
              <a:rPr lang="en-IN" b="1" dirty="0"/>
              <a:t>k</a:t>
            </a:r>
            <a:r>
              <a:rPr lang="en-IN" dirty="0"/>
              <a:t> separate segments, where each segment is exactly </a:t>
            </a:r>
            <a:r>
              <a:rPr lang="en-IN" b="1" dirty="0"/>
              <a:t>m</a:t>
            </a:r>
            <a:r>
              <a:rPr lang="en-IN" dirty="0"/>
              <a:t> bits long (typically 8 bits or 16 bits).</a:t>
            </a:r>
          </a:p>
          <a:p>
            <a:r>
              <a:rPr lang="en-IN" b="1" dirty="0"/>
              <a:t>Ones-Complement Addition:</a:t>
            </a:r>
            <a:r>
              <a:rPr lang="en-IN" dirty="0"/>
              <a:t> The sender adds all these </a:t>
            </a:r>
            <a:r>
              <a:rPr lang="en-IN" b="1" dirty="0"/>
              <a:t>k</a:t>
            </a:r>
            <a:r>
              <a:rPr lang="en-IN" dirty="0"/>
              <a:t> segments together using standard binary addition.</a:t>
            </a:r>
          </a:p>
          <a:p>
            <a:r>
              <a:rPr lang="en-IN" b="1" dirty="0"/>
              <a:t>Handling the Carry-Over:</a:t>
            </a:r>
            <a:r>
              <a:rPr lang="en-IN" dirty="0"/>
              <a:t> If the addition results in a carry bit that pushes past the </a:t>
            </a:r>
            <a:r>
              <a:rPr lang="en-IN" b="1" dirty="0"/>
              <a:t>m-bit</a:t>
            </a:r>
            <a:r>
              <a:rPr lang="en-IN" dirty="0"/>
              <a:t> boundary, that extra bit cannot simply be ignored. It must be sliced off and added back to the absolute right side (the least significant bit) of the running sum. This is known as </a:t>
            </a:r>
            <a:r>
              <a:rPr lang="en-IN" b="1" dirty="0"/>
              <a:t>Wrap-Around Carry</a:t>
            </a:r>
            <a:r>
              <a:rPr lang="en-IN" dirty="0"/>
              <a:t>.</a:t>
            </a:r>
          </a:p>
          <a:p>
            <a:r>
              <a:rPr lang="en-IN" b="1" dirty="0"/>
              <a:t>Complementing the Sum:</a:t>
            </a:r>
            <a:r>
              <a:rPr lang="en-IN" dirty="0"/>
              <a:t> Once all segments are added and the carry-overs are wrapped back in, the sender takes the final sum and performs a ones-complement operation on it. This means every 0 is flipped into a 1, and every 1 is flipped into a 0.</a:t>
            </a:r>
          </a:p>
          <a:p>
            <a:r>
              <a:rPr lang="en-IN" b="1" dirty="0"/>
              <a:t>Transmission:</a:t>
            </a:r>
            <a:r>
              <a:rPr lang="en-IN" dirty="0"/>
              <a:t> This final flipped binary string is the </a:t>
            </a:r>
            <a:r>
              <a:rPr lang="en-IN" b="1" dirty="0"/>
              <a:t>Checksum</a:t>
            </a:r>
            <a:r>
              <a:rPr lang="en-IN" dirty="0"/>
              <a:t>. The sender appends this checksum value to the end of the original data block and transmits the whole package over the network.</a:t>
            </a:r>
          </a:p>
          <a:p>
            <a:endParaRPr lang="en-IN" sz="2000" dirty="0"/>
          </a:p>
        </p:txBody>
      </p:sp>
    </p:spTree>
    <p:extLst>
      <p:ext uri="{BB962C8B-B14F-4D97-AF65-F5344CB8AC3E}">
        <p14:creationId xmlns:p14="http://schemas.microsoft.com/office/powerpoint/2010/main" val="329840319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0C7891-8D27-CCB0-44B8-D9F6CA362F1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5CB93F7-230C-A391-B807-04254A26086E}"/>
              </a:ext>
            </a:extLst>
          </p:cNvPr>
          <p:cNvSpPr>
            <a:spLocks noGrp="1"/>
          </p:cNvSpPr>
          <p:nvPr>
            <p:ph idx="1"/>
          </p:nvPr>
        </p:nvSpPr>
        <p:spPr>
          <a:xfrm>
            <a:off x="144379" y="705854"/>
            <a:ext cx="11871158" cy="5470358"/>
          </a:xfrm>
        </p:spPr>
        <p:txBody>
          <a:bodyPr>
            <a:normAutofit lnSpcReduction="10000"/>
          </a:bodyPr>
          <a:lstStyle/>
          <a:p>
            <a:pPr marL="0" indent="0">
              <a:buNone/>
            </a:pPr>
            <a:r>
              <a:rPr lang="en-IN" b="1" dirty="0">
                <a:highlight>
                  <a:srgbClr val="FFFF00"/>
                </a:highlight>
              </a:rPr>
              <a:t>B. Operations at the Receiver Side</a:t>
            </a:r>
          </a:p>
          <a:p>
            <a:r>
              <a:rPr lang="en-IN" b="1" dirty="0"/>
              <a:t>Segmentation:</a:t>
            </a:r>
            <a:r>
              <a:rPr lang="en-IN" dirty="0"/>
              <a:t> The receiver accepts the packet and cuts it up into the exact same </a:t>
            </a:r>
            <a:r>
              <a:rPr lang="en-IN" b="1" dirty="0"/>
              <a:t>m</a:t>
            </a:r>
            <a:r>
              <a:rPr lang="en-IN" dirty="0"/>
              <a:t>-bit segment lengths, keeping the received checksum segment included at the end.</a:t>
            </a:r>
          </a:p>
          <a:p>
            <a:r>
              <a:rPr lang="en-IN" b="1" dirty="0"/>
              <a:t>Total Addition:</a:t>
            </a:r>
            <a:r>
              <a:rPr lang="en-IN" dirty="0"/>
              <a:t> The receiver adds all the data segments plus the checksum segment together using the exact same ones-complement addition rules.</a:t>
            </a:r>
          </a:p>
          <a:p>
            <a:r>
              <a:rPr lang="en-IN" b="1" dirty="0"/>
              <a:t>Wrap-Around:</a:t>
            </a:r>
            <a:r>
              <a:rPr lang="en-IN" dirty="0"/>
              <a:t> Any carry-over bit generated during this massive sum is wrapped around and added back to the right side.</a:t>
            </a:r>
          </a:p>
          <a:p>
            <a:r>
              <a:rPr lang="en-IN" b="1" dirty="0"/>
              <a:t>The Ultimate Check:</a:t>
            </a:r>
            <a:r>
              <a:rPr lang="en-IN" dirty="0"/>
              <a:t> The receiver evaluates the final sum:</a:t>
            </a:r>
          </a:p>
          <a:p>
            <a:pPr lvl="1"/>
            <a:r>
              <a:rPr lang="en-IN" dirty="0"/>
              <a:t>If the final sum consists of </a:t>
            </a:r>
            <a:r>
              <a:rPr lang="en-IN" b="1" dirty="0"/>
              <a:t>all 1s</a:t>
            </a:r>
            <a:r>
              <a:rPr lang="en-IN" dirty="0"/>
              <a:t> (e.g., 11111111), it means the data matches the checksum perfectly. The data is clean, and the frame is accepted.</a:t>
            </a:r>
          </a:p>
          <a:p>
            <a:pPr lvl="1"/>
            <a:r>
              <a:rPr lang="en-IN" dirty="0"/>
              <a:t>If even a single 0 appears anywhere inside the final sum, it mathematically proves that the bits were altered during transit. The frame is instantly rejected.</a:t>
            </a:r>
          </a:p>
        </p:txBody>
      </p:sp>
    </p:spTree>
    <p:extLst>
      <p:ext uri="{BB962C8B-B14F-4D97-AF65-F5344CB8AC3E}">
        <p14:creationId xmlns:p14="http://schemas.microsoft.com/office/powerpoint/2010/main" val="1313897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855E59-7D8B-37A8-51BF-5B3CCDB4F9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CDAA38-B280-52CD-5E70-C70A363AF9B4}"/>
              </a:ext>
            </a:extLst>
          </p:cNvPr>
          <p:cNvSpPr>
            <a:spLocks noGrp="1"/>
          </p:cNvSpPr>
          <p:nvPr>
            <p:ph type="title"/>
          </p:nvPr>
        </p:nvSpPr>
        <p:spPr>
          <a:xfrm>
            <a:off x="411480" y="577516"/>
            <a:ext cx="11365992" cy="437468"/>
          </a:xfrm>
        </p:spPr>
        <p:txBody>
          <a:bodyPr>
            <a:normAutofit fontScale="90000"/>
          </a:bodyPr>
          <a:lstStyle/>
          <a:p>
            <a:r>
              <a:rPr lang="en-US" dirty="0"/>
              <a:t>Example</a:t>
            </a:r>
            <a:endParaRPr lang="en-IN" dirty="0"/>
          </a:p>
        </p:txBody>
      </p:sp>
      <p:sp>
        <p:nvSpPr>
          <p:cNvPr id="3" name="Content Placeholder 2">
            <a:extLst>
              <a:ext uri="{FF2B5EF4-FFF2-40B4-BE49-F238E27FC236}">
                <a16:creationId xmlns:a16="http://schemas.microsoft.com/office/drawing/2014/main" id="{8E8D6DC4-9DD9-17DD-EC22-B60C9D84A61E}"/>
              </a:ext>
            </a:extLst>
          </p:cNvPr>
          <p:cNvSpPr>
            <a:spLocks noGrp="1"/>
          </p:cNvSpPr>
          <p:nvPr>
            <p:ph idx="1"/>
          </p:nvPr>
        </p:nvSpPr>
        <p:spPr>
          <a:xfrm>
            <a:off x="411480" y="1088136"/>
            <a:ext cx="11365992" cy="5404740"/>
          </a:xfrm>
        </p:spPr>
        <p:txBody>
          <a:bodyPr>
            <a:normAutofit/>
          </a:bodyPr>
          <a:lstStyle/>
          <a:p>
            <a:pPr marL="0" indent="0">
              <a:buNone/>
            </a:pPr>
            <a:r>
              <a:rPr lang="en-IN" sz="2000" b="1" dirty="0"/>
              <a:t>Question:</a:t>
            </a:r>
            <a:r>
              <a:rPr lang="en-IN" sz="2000" dirty="0"/>
              <a:t> A sender wants to transmit the following 16-bit data stream: 1010100100111001. Using an 8-bit segment size (m = 8), calculate the checksum value at the sender side and show how the receiver validates that the incoming data is clean.</a:t>
            </a:r>
          </a:p>
          <a:p>
            <a:r>
              <a:rPr lang="en-IN" sz="2000" b="1" dirty="0"/>
              <a:t>Sender Side Execution Steps:</a:t>
            </a:r>
            <a:endParaRPr lang="en-IN" sz="2000" dirty="0"/>
          </a:p>
          <a:p>
            <a:r>
              <a:rPr lang="en-IN" sz="2000" b="1" dirty="0">
                <a:highlight>
                  <a:srgbClr val="FFFF00"/>
                </a:highlight>
              </a:rPr>
              <a:t>Step 1</a:t>
            </a:r>
            <a:r>
              <a:rPr lang="en-IN" sz="2000" b="1" dirty="0"/>
              <a:t>: Segment the data.</a:t>
            </a:r>
            <a:r>
              <a:rPr lang="en-IN" sz="2000" dirty="0"/>
              <a:t> Since the block is 16 bits total and our segment size is 8 bits, we divide the data right down the middle into two blocks (Segment 1 and Segment 2).</a:t>
            </a:r>
          </a:p>
          <a:p>
            <a:pPr lvl="1"/>
            <a:r>
              <a:rPr lang="en-IN" sz="2000" dirty="0"/>
              <a:t>Segment 1 = 10101001</a:t>
            </a:r>
          </a:p>
          <a:p>
            <a:pPr lvl="1"/>
            <a:r>
              <a:rPr lang="en-IN" sz="2000" dirty="0"/>
              <a:t>Segment 2 = 00111001</a:t>
            </a:r>
          </a:p>
          <a:p>
            <a:r>
              <a:rPr lang="en-IN" sz="2000" b="1" dirty="0">
                <a:highlight>
                  <a:srgbClr val="FFFF00"/>
                </a:highlight>
              </a:rPr>
              <a:t>Step 2</a:t>
            </a:r>
            <a:r>
              <a:rPr lang="en-IN" sz="2000" b="1" dirty="0"/>
              <a:t>: Add the segments together.</a:t>
            </a:r>
            <a:br>
              <a:rPr lang="en-IN" sz="2000" b="1" dirty="0"/>
            </a:br>
            <a:r>
              <a:rPr lang="en-IN" sz="2000" b="1" dirty="0"/>
              <a:t>	</a:t>
            </a:r>
          </a:p>
        </p:txBody>
      </p:sp>
      <p:pic>
        <p:nvPicPr>
          <p:cNvPr id="5" name="Picture 4">
            <a:extLst>
              <a:ext uri="{FF2B5EF4-FFF2-40B4-BE49-F238E27FC236}">
                <a16:creationId xmlns:a16="http://schemas.microsoft.com/office/drawing/2014/main" id="{570F6363-0C4C-4FA0-D2D5-9C137796C11B}"/>
              </a:ext>
            </a:extLst>
          </p:cNvPr>
          <p:cNvPicPr>
            <a:picLocks noChangeAspect="1"/>
          </p:cNvPicPr>
          <p:nvPr/>
        </p:nvPicPr>
        <p:blipFill>
          <a:blip r:embed="rId2"/>
          <a:stretch>
            <a:fillRect/>
          </a:stretch>
        </p:blipFill>
        <p:spPr>
          <a:xfrm>
            <a:off x="1063556" y="4250072"/>
            <a:ext cx="3391373" cy="1181265"/>
          </a:xfrm>
          <a:prstGeom prst="rect">
            <a:avLst/>
          </a:prstGeom>
        </p:spPr>
      </p:pic>
      <p:sp>
        <p:nvSpPr>
          <p:cNvPr id="7" name="TextBox 6">
            <a:extLst>
              <a:ext uri="{FF2B5EF4-FFF2-40B4-BE49-F238E27FC236}">
                <a16:creationId xmlns:a16="http://schemas.microsoft.com/office/drawing/2014/main" id="{32684446-2EFE-30E0-F412-552A3ED50C2A}"/>
              </a:ext>
            </a:extLst>
          </p:cNvPr>
          <p:cNvSpPr txBox="1"/>
          <p:nvPr/>
        </p:nvSpPr>
        <p:spPr>
          <a:xfrm>
            <a:off x="411480" y="5561001"/>
            <a:ext cx="3244836" cy="1200329"/>
          </a:xfrm>
          <a:prstGeom prst="rect">
            <a:avLst/>
          </a:prstGeom>
          <a:noFill/>
        </p:spPr>
        <p:txBody>
          <a:bodyPr wrap="square">
            <a:spAutoFit/>
          </a:bodyPr>
          <a:lstStyle/>
          <a:p>
            <a:r>
              <a:rPr lang="en-IN"/>
              <a:t>(Note: This addition did not produce an extra 9th-bit carry, so no wrap-around is needed yet).</a:t>
            </a:r>
            <a:endParaRPr lang="en-IN" dirty="0"/>
          </a:p>
        </p:txBody>
      </p:sp>
      <p:sp>
        <p:nvSpPr>
          <p:cNvPr id="9" name="TextBox 8">
            <a:extLst>
              <a:ext uri="{FF2B5EF4-FFF2-40B4-BE49-F238E27FC236}">
                <a16:creationId xmlns:a16="http://schemas.microsoft.com/office/drawing/2014/main" id="{9322646A-8C58-B383-DA4A-C415476A0A35}"/>
              </a:ext>
            </a:extLst>
          </p:cNvPr>
          <p:cNvSpPr txBox="1"/>
          <p:nvPr/>
        </p:nvSpPr>
        <p:spPr>
          <a:xfrm>
            <a:off x="5218016" y="3429000"/>
            <a:ext cx="6781478" cy="1015663"/>
          </a:xfrm>
          <a:prstGeom prst="rect">
            <a:avLst/>
          </a:prstGeom>
          <a:noFill/>
        </p:spPr>
        <p:txBody>
          <a:bodyPr wrap="square">
            <a:spAutoFit/>
          </a:bodyPr>
          <a:lstStyle/>
          <a:p>
            <a:pPr>
              <a:buNone/>
            </a:pPr>
            <a:r>
              <a:rPr lang="en-IN" sz="2000" b="1" dirty="0">
                <a:highlight>
                  <a:srgbClr val="FFFF00"/>
                </a:highlight>
              </a:rPr>
              <a:t>Step 3</a:t>
            </a:r>
            <a:r>
              <a:rPr lang="en-IN" sz="2000" b="1" dirty="0"/>
              <a:t>: Complement the sum to find the Checksum.</a:t>
            </a:r>
            <a:r>
              <a:rPr lang="en-IN" sz="2000" dirty="0"/>
              <a:t> Flip every bit of the final sum string </a:t>
            </a:r>
            <a:r>
              <a:rPr lang="en-IN" sz="2000" dirty="0">
                <a:latin typeface="Courier New" panose="02070309020205020404" pitchFamily="49" charset="0"/>
              </a:rPr>
              <a:t>11100010</a:t>
            </a:r>
            <a:r>
              <a:rPr lang="en-IN" sz="2000" dirty="0"/>
              <a:t>.</a:t>
            </a:r>
          </a:p>
          <a:p>
            <a:r>
              <a:rPr lang="en-IN" sz="2000" b="1" dirty="0"/>
              <a:t>	Calculated Checksum = 00011101 - CHECKSUM</a:t>
            </a:r>
            <a:endParaRPr lang="en-IN" sz="2000" dirty="0"/>
          </a:p>
        </p:txBody>
      </p:sp>
      <p:sp>
        <p:nvSpPr>
          <p:cNvPr id="11" name="TextBox 10">
            <a:extLst>
              <a:ext uri="{FF2B5EF4-FFF2-40B4-BE49-F238E27FC236}">
                <a16:creationId xmlns:a16="http://schemas.microsoft.com/office/drawing/2014/main" id="{6E8E3C87-FB8D-FD5A-5715-562A762A4D45}"/>
              </a:ext>
            </a:extLst>
          </p:cNvPr>
          <p:cNvSpPr txBox="1"/>
          <p:nvPr/>
        </p:nvSpPr>
        <p:spPr>
          <a:xfrm>
            <a:off x="5107005" y="5007104"/>
            <a:ext cx="6781478" cy="1015663"/>
          </a:xfrm>
          <a:prstGeom prst="rect">
            <a:avLst/>
          </a:prstGeom>
          <a:noFill/>
        </p:spPr>
        <p:txBody>
          <a:bodyPr wrap="square">
            <a:spAutoFit/>
          </a:bodyPr>
          <a:lstStyle/>
          <a:p>
            <a:pPr>
              <a:buNone/>
            </a:pPr>
            <a:r>
              <a:rPr lang="en-IN" sz="2000" b="1" dirty="0">
                <a:highlight>
                  <a:srgbClr val="FFFF00"/>
                </a:highlight>
              </a:rPr>
              <a:t>Step 4</a:t>
            </a:r>
            <a:r>
              <a:rPr lang="en-IN" sz="2000" b="1" dirty="0"/>
              <a:t>: Transmit the entire packet.</a:t>
            </a:r>
            <a:r>
              <a:rPr lang="en-IN" sz="2000" dirty="0"/>
              <a:t> The sender hooks the checksum to the back of the data segments.</a:t>
            </a:r>
          </a:p>
          <a:p>
            <a:r>
              <a:rPr lang="en-IN" sz="2000" b="1" dirty="0"/>
              <a:t>Packet Sent on Wire = </a:t>
            </a:r>
            <a:r>
              <a:rPr lang="en-IN" sz="2000" b="1" dirty="0">
                <a:latin typeface="Courier New" panose="02070309020205020404" pitchFamily="49" charset="0"/>
              </a:rPr>
              <a:t>10101001 00111001 00011101</a:t>
            </a:r>
            <a:endParaRPr lang="en-IN" sz="2000" dirty="0"/>
          </a:p>
        </p:txBody>
      </p:sp>
    </p:spTree>
    <p:extLst>
      <p:ext uri="{BB962C8B-B14F-4D97-AF65-F5344CB8AC3E}">
        <p14:creationId xmlns:p14="http://schemas.microsoft.com/office/powerpoint/2010/main" val="386794979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4AE650-1CEF-118A-C683-24A6FF2547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3C8549-6B00-0066-62F0-1DDD50FFE105}"/>
              </a:ext>
            </a:extLst>
          </p:cNvPr>
          <p:cNvSpPr>
            <a:spLocks noGrp="1"/>
          </p:cNvSpPr>
          <p:nvPr>
            <p:ph type="title"/>
          </p:nvPr>
        </p:nvSpPr>
        <p:spPr>
          <a:xfrm>
            <a:off x="411480" y="577516"/>
            <a:ext cx="11365992" cy="437468"/>
          </a:xfrm>
        </p:spPr>
        <p:txBody>
          <a:bodyPr>
            <a:normAutofit fontScale="90000"/>
          </a:bodyPr>
          <a:lstStyle/>
          <a:p>
            <a:r>
              <a:rPr lang="en-US" dirty="0"/>
              <a:t>Example: </a:t>
            </a:r>
            <a:r>
              <a:rPr lang="en-IN" dirty="0"/>
              <a:t>Receiver Side Validation Steps</a:t>
            </a:r>
          </a:p>
        </p:txBody>
      </p:sp>
      <p:sp>
        <p:nvSpPr>
          <p:cNvPr id="3" name="Content Placeholder 2">
            <a:extLst>
              <a:ext uri="{FF2B5EF4-FFF2-40B4-BE49-F238E27FC236}">
                <a16:creationId xmlns:a16="http://schemas.microsoft.com/office/drawing/2014/main" id="{00A37F74-9F40-4D43-15DE-723FE27A5174}"/>
              </a:ext>
            </a:extLst>
          </p:cNvPr>
          <p:cNvSpPr>
            <a:spLocks noGrp="1"/>
          </p:cNvSpPr>
          <p:nvPr>
            <p:ph idx="1"/>
          </p:nvPr>
        </p:nvSpPr>
        <p:spPr>
          <a:xfrm>
            <a:off x="411480" y="1014984"/>
            <a:ext cx="11365992" cy="5404740"/>
          </a:xfrm>
        </p:spPr>
        <p:txBody>
          <a:bodyPr>
            <a:normAutofit/>
          </a:bodyPr>
          <a:lstStyle/>
          <a:p>
            <a:pPr marL="0" indent="0">
              <a:buNone/>
            </a:pPr>
            <a:r>
              <a:rPr lang="en-IN" sz="2000"/>
              <a:t>The receiver catches the complete, uncorrupted packet containing all three 8-bit segments.</a:t>
            </a:r>
          </a:p>
          <a:p>
            <a:r>
              <a:rPr lang="en-IN" sz="2000" b="1"/>
              <a:t>Step 1: Add all received segments together (Data + Checksum).</a:t>
            </a:r>
            <a:endParaRPr lang="en-IN" sz="2000"/>
          </a:p>
          <a:p>
            <a:pPr marL="0" indent="0">
              <a:buNone/>
            </a:pPr>
            <a:endParaRPr lang="en-IN" sz="2000" b="1" dirty="0"/>
          </a:p>
        </p:txBody>
      </p:sp>
      <p:pic>
        <p:nvPicPr>
          <p:cNvPr id="10" name="Picture 9">
            <a:extLst>
              <a:ext uri="{FF2B5EF4-FFF2-40B4-BE49-F238E27FC236}">
                <a16:creationId xmlns:a16="http://schemas.microsoft.com/office/drawing/2014/main" id="{996FF67E-5934-1D3A-2D3F-50A7845E8CB0}"/>
              </a:ext>
            </a:extLst>
          </p:cNvPr>
          <p:cNvPicPr>
            <a:picLocks noChangeAspect="1"/>
          </p:cNvPicPr>
          <p:nvPr/>
        </p:nvPicPr>
        <p:blipFill>
          <a:blip r:embed="rId2"/>
          <a:stretch>
            <a:fillRect/>
          </a:stretch>
        </p:blipFill>
        <p:spPr>
          <a:xfrm>
            <a:off x="979443" y="1963246"/>
            <a:ext cx="4876685" cy="2031238"/>
          </a:xfrm>
          <a:prstGeom prst="rect">
            <a:avLst/>
          </a:prstGeom>
        </p:spPr>
      </p:pic>
      <p:sp>
        <p:nvSpPr>
          <p:cNvPr id="13" name="TextBox 12">
            <a:extLst>
              <a:ext uri="{FF2B5EF4-FFF2-40B4-BE49-F238E27FC236}">
                <a16:creationId xmlns:a16="http://schemas.microsoft.com/office/drawing/2014/main" id="{6F74BE50-A8B5-8CF9-9727-8DD014838F63}"/>
              </a:ext>
            </a:extLst>
          </p:cNvPr>
          <p:cNvSpPr txBox="1"/>
          <p:nvPr/>
        </p:nvSpPr>
        <p:spPr>
          <a:xfrm>
            <a:off x="288758" y="4431952"/>
            <a:ext cx="10042358" cy="1323439"/>
          </a:xfrm>
          <a:prstGeom prst="rect">
            <a:avLst/>
          </a:prstGeom>
          <a:noFill/>
        </p:spPr>
        <p:txBody>
          <a:bodyPr wrap="square">
            <a:spAutoFit/>
          </a:bodyPr>
          <a:lstStyle/>
          <a:p>
            <a:pPr marL="342900" indent="-342900">
              <a:buFont typeface="Arial" panose="020B0604020202020204" pitchFamily="34" charset="0"/>
              <a:buChar char="•"/>
            </a:pPr>
            <a:r>
              <a:rPr lang="en-IN" sz="2000" b="1" dirty="0"/>
              <a:t>Step 2: Check the result.</a:t>
            </a:r>
            <a:r>
              <a:rPr lang="en-IN" sz="2000" dirty="0"/>
              <a:t> Since the final sum is completely full of ones (</a:t>
            </a:r>
            <a:r>
              <a:rPr lang="en-IN" sz="2000" dirty="0">
                <a:latin typeface="Courier New" panose="02070309020205020404" pitchFamily="49" charset="0"/>
              </a:rPr>
              <a:t>11111111</a:t>
            </a:r>
            <a:r>
              <a:rPr lang="en-IN" sz="2000" dirty="0"/>
              <a:t>), the receiver knows no bit distortion occurred.</a:t>
            </a:r>
            <a:br>
              <a:rPr lang="en-IN" sz="2000" dirty="0"/>
            </a:br>
            <a:endParaRPr lang="en-IN" sz="2000" dirty="0"/>
          </a:p>
          <a:p>
            <a:pPr marL="342900" indent="-342900">
              <a:buFont typeface="Arial" panose="020B0604020202020204" pitchFamily="34" charset="0"/>
              <a:buChar char="•"/>
            </a:pPr>
            <a:r>
              <a:rPr lang="en-IN" sz="2000" b="1" dirty="0"/>
              <a:t>Result: Data Validated, Frame Accepted.</a:t>
            </a:r>
            <a:endParaRPr lang="en-IN" sz="2000" dirty="0"/>
          </a:p>
        </p:txBody>
      </p:sp>
    </p:spTree>
    <p:extLst>
      <p:ext uri="{BB962C8B-B14F-4D97-AF65-F5344CB8AC3E}">
        <p14:creationId xmlns:p14="http://schemas.microsoft.com/office/powerpoint/2010/main" val="274080625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19B138-ACA4-A59F-318F-4CBE451305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3804E5-C405-17DC-1D6D-EDD3DF44707A}"/>
              </a:ext>
            </a:extLst>
          </p:cNvPr>
          <p:cNvSpPr>
            <a:spLocks noGrp="1"/>
          </p:cNvSpPr>
          <p:nvPr>
            <p:ph type="title"/>
          </p:nvPr>
        </p:nvSpPr>
        <p:spPr>
          <a:xfrm>
            <a:off x="411480" y="577516"/>
            <a:ext cx="11365992" cy="437468"/>
          </a:xfrm>
        </p:spPr>
        <p:txBody>
          <a:bodyPr>
            <a:noAutofit/>
          </a:bodyPr>
          <a:lstStyle/>
          <a:p>
            <a:r>
              <a:rPr lang="en-IN" sz="2800" dirty="0"/>
              <a:t>Example 2: Checksum Detection with a Carry-Over and Transmission Error</a:t>
            </a:r>
          </a:p>
        </p:txBody>
      </p:sp>
      <p:sp>
        <p:nvSpPr>
          <p:cNvPr id="3" name="Content Placeholder 2">
            <a:extLst>
              <a:ext uri="{FF2B5EF4-FFF2-40B4-BE49-F238E27FC236}">
                <a16:creationId xmlns:a16="http://schemas.microsoft.com/office/drawing/2014/main" id="{A25936D9-C877-75B3-8969-DE5D283A8641}"/>
              </a:ext>
            </a:extLst>
          </p:cNvPr>
          <p:cNvSpPr>
            <a:spLocks noGrp="1"/>
          </p:cNvSpPr>
          <p:nvPr>
            <p:ph idx="1"/>
          </p:nvPr>
        </p:nvSpPr>
        <p:spPr>
          <a:xfrm>
            <a:off x="411480" y="1088136"/>
            <a:ext cx="11365992" cy="5404740"/>
          </a:xfrm>
        </p:spPr>
        <p:txBody>
          <a:bodyPr>
            <a:normAutofit/>
          </a:bodyPr>
          <a:lstStyle/>
          <a:p>
            <a:pPr marL="0" indent="0">
              <a:buNone/>
            </a:pPr>
            <a:r>
              <a:rPr lang="en-IN" sz="2000" dirty="0"/>
              <a:t>Suppose the sender wants to send two new segments: </a:t>
            </a:r>
            <a:r>
              <a:rPr lang="en-IN" dirty="0"/>
              <a:t>11110011</a:t>
            </a:r>
            <a:r>
              <a:rPr lang="en-IN" sz="2000" dirty="0"/>
              <a:t> and </a:t>
            </a:r>
            <a:r>
              <a:rPr lang="en-IN" dirty="0"/>
              <a:t>11110011</a:t>
            </a:r>
            <a:r>
              <a:rPr lang="en-IN" sz="2000" dirty="0"/>
              <a:t>. Show the carry wrap-around calculation, and then show how the receiver catches an error if the first bit of the packet flips from a 1 to a 0.</a:t>
            </a:r>
          </a:p>
        </p:txBody>
      </p:sp>
      <p:pic>
        <p:nvPicPr>
          <p:cNvPr id="5" name="Picture 4">
            <a:extLst>
              <a:ext uri="{FF2B5EF4-FFF2-40B4-BE49-F238E27FC236}">
                <a16:creationId xmlns:a16="http://schemas.microsoft.com/office/drawing/2014/main" id="{C485867B-9EED-3916-7730-A04F4995BD54}"/>
              </a:ext>
            </a:extLst>
          </p:cNvPr>
          <p:cNvPicPr>
            <a:picLocks noChangeAspect="1"/>
          </p:cNvPicPr>
          <p:nvPr/>
        </p:nvPicPr>
        <p:blipFill>
          <a:blip r:embed="rId2"/>
          <a:stretch>
            <a:fillRect/>
          </a:stretch>
        </p:blipFill>
        <p:spPr>
          <a:xfrm>
            <a:off x="616057" y="2628294"/>
            <a:ext cx="8040222" cy="1162212"/>
          </a:xfrm>
          <a:prstGeom prst="rect">
            <a:avLst/>
          </a:prstGeom>
        </p:spPr>
      </p:pic>
      <p:sp>
        <p:nvSpPr>
          <p:cNvPr id="7" name="TextBox 6">
            <a:extLst>
              <a:ext uri="{FF2B5EF4-FFF2-40B4-BE49-F238E27FC236}">
                <a16:creationId xmlns:a16="http://schemas.microsoft.com/office/drawing/2014/main" id="{B518902C-DAE0-A78C-2318-D99D1F83B690}"/>
              </a:ext>
            </a:extLst>
          </p:cNvPr>
          <p:cNvSpPr txBox="1"/>
          <p:nvPr/>
        </p:nvSpPr>
        <p:spPr>
          <a:xfrm>
            <a:off x="411480" y="2258962"/>
            <a:ext cx="6096000" cy="369332"/>
          </a:xfrm>
          <a:prstGeom prst="rect">
            <a:avLst/>
          </a:prstGeom>
          <a:noFill/>
        </p:spPr>
        <p:txBody>
          <a:bodyPr wrap="square">
            <a:spAutoFit/>
          </a:bodyPr>
          <a:lstStyle/>
          <a:p>
            <a:r>
              <a:rPr lang="en-IN" b="1" dirty="0"/>
              <a:t>Step 1: Add the segments.</a:t>
            </a:r>
          </a:p>
        </p:txBody>
      </p:sp>
      <p:sp>
        <p:nvSpPr>
          <p:cNvPr id="9" name="TextBox 8">
            <a:extLst>
              <a:ext uri="{FF2B5EF4-FFF2-40B4-BE49-F238E27FC236}">
                <a16:creationId xmlns:a16="http://schemas.microsoft.com/office/drawing/2014/main" id="{E84EE786-C326-E3F1-5CCE-4942A334067A}"/>
              </a:ext>
            </a:extLst>
          </p:cNvPr>
          <p:cNvSpPr txBox="1"/>
          <p:nvPr/>
        </p:nvSpPr>
        <p:spPr>
          <a:xfrm>
            <a:off x="411479" y="4159838"/>
            <a:ext cx="11090709" cy="369332"/>
          </a:xfrm>
          <a:prstGeom prst="rect">
            <a:avLst/>
          </a:prstGeom>
          <a:noFill/>
        </p:spPr>
        <p:txBody>
          <a:bodyPr wrap="square">
            <a:spAutoFit/>
          </a:bodyPr>
          <a:lstStyle/>
          <a:p>
            <a:r>
              <a:rPr lang="en-IN" b="1" dirty="0"/>
              <a:t>Step 2: Wrap the carry around.</a:t>
            </a:r>
            <a:r>
              <a:rPr lang="en-IN" dirty="0"/>
              <a:t> Remove that outer left 1 and add it directly to the bottom right bit.</a:t>
            </a:r>
          </a:p>
        </p:txBody>
      </p:sp>
      <p:pic>
        <p:nvPicPr>
          <p:cNvPr id="11" name="Picture 10">
            <a:extLst>
              <a:ext uri="{FF2B5EF4-FFF2-40B4-BE49-F238E27FC236}">
                <a16:creationId xmlns:a16="http://schemas.microsoft.com/office/drawing/2014/main" id="{BA37EA95-3C2C-60A7-22D6-CDA84C040CD1}"/>
              </a:ext>
            </a:extLst>
          </p:cNvPr>
          <p:cNvPicPr>
            <a:picLocks noChangeAspect="1"/>
          </p:cNvPicPr>
          <p:nvPr/>
        </p:nvPicPr>
        <p:blipFill>
          <a:blip r:embed="rId3"/>
          <a:stretch>
            <a:fillRect/>
          </a:stretch>
        </p:blipFill>
        <p:spPr>
          <a:xfrm>
            <a:off x="650668" y="4860396"/>
            <a:ext cx="5306165" cy="1200318"/>
          </a:xfrm>
          <a:prstGeom prst="rect">
            <a:avLst/>
          </a:prstGeom>
        </p:spPr>
      </p:pic>
      <p:sp>
        <p:nvSpPr>
          <p:cNvPr id="13" name="TextBox 12">
            <a:extLst>
              <a:ext uri="{FF2B5EF4-FFF2-40B4-BE49-F238E27FC236}">
                <a16:creationId xmlns:a16="http://schemas.microsoft.com/office/drawing/2014/main" id="{1A9FF5B6-2954-29BB-05D9-6CB3C840D195}"/>
              </a:ext>
            </a:extLst>
          </p:cNvPr>
          <p:cNvSpPr txBox="1"/>
          <p:nvPr/>
        </p:nvSpPr>
        <p:spPr>
          <a:xfrm>
            <a:off x="6094476" y="4646090"/>
            <a:ext cx="6384758" cy="1938992"/>
          </a:xfrm>
          <a:prstGeom prst="rect">
            <a:avLst/>
          </a:prstGeom>
          <a:noFill/>
        </p:spPr>
        <p:txBody>
          <a:bodyPr wrap="square">
            <a:spAutoFit/>
          </a:bodyPr>
          <a:lstStyle/>
          <a:p>
            <a:pPr>
              <a:buNone/>
            </a:pPr>
            <a:r>
              <a:rPr lang="en-IN" sz="2000" b="1" dirty="0"/>
              <a:t>Step 3: Complement the wrapped sum.</a:t>
            </a:r>
            <a:r>
              <a:rPr lang="en-IN" sz="2000" dirty="0"/>
              <a:t> Flip the bits of </a:t>
            </a:r>
            <a:r>
              <a:rPr lang="en-IN" sz="2000" dirty="0">
                <a:latin typeface="Courier New" panose="02070309020205020404" pitchFamily="49" charset="0"/>
              </a:rPr>
              <a:t>11100111</a:t>
            </a:r>
            <a:r>
              <a:rPr lang="en-IN" sz="2000" dirty="0"/>
              <a:t>.</a:t>
            </a:r>
          </a:p>
          <a:p>
            <a:pPr>
              <a:buNone/>
            </a:pPr>
            <a:endParaRPr lang="en-IN" sz="2000" dirty="0"/>
          </a:p>
          <a:p>
            <a:pPr>
              <a:buFont typeface="Arial" panose="020B0604020202020204" pitchFamily="34" charset="0"/>
              <a:buChar char="•"/>
            </a:pPr>
            <a:r>
              <a:rPr lang="en-IN" sz="2000" b="1" dirty="0"/>
              <a:t>Calculated Checksum = 00011000</a:t>
            </a:r>
            <a:endParaRPr lang="en-IN" sz="2000" dirty="0"/>
          </a:p>
          <a:p>
            <a:pPr>
              <a:buNone/>
            </a:pPr>
            <a:r>
              <a:rPr lang="en-IN" sz="2000" b="1" dirty="0"/>
              <a:t>Step 4: Sent Packet = </a:t>
            </a:r>
            <a:r>
              <a:rPr lang="en-IN" sz="2000" b="1" dirty="0">
                <a:latin typeface="Courier New" panose="02070309020205020404" pitchFamily="49" charset="0"/>
              </a:rPr>
              <a:t>11110011 11110011 00011000</a:t>
            </a:r>
            <a:endParaRPr lang="en-IN" sz="2000" dirty="0"/>
          </a:p>
        </p:txBody>
      </p:sp>
    </p:spTree>
    <p:extLst>
      <p:ext uri="{BB962C8B-B14F-4D97-AF65-F5344CB8AC3E}">
        <p14:creationId xmlns:p14="http://schemas.microsoft.com/office/powerpoint/2010/main" val="303332041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06F2E1-458E-554F-0C93-3BC32BE2A743}"/>
            </a:ext>
          </a:extLst>
        </p:cNvPr>
        <p:cNvGrpSpPr/>
        <p:nvPr/>
      </p:nvGrpSpPr>
      <p:grpSpPr>
        <a:xfrm>
          <a:off x="0" y="0"/>
          <a:ext cx="0" cy="0"/>
          <a:chOff x="0" y="0"/>
          <a:chExt cx="0" cy="0"/>
        </a:xfrm>
      </p:grpSpPr>
      <p:sp>
        <p:nvSpPr>
          <p:cNvPr id="14" name="TextBox 13">
            <a:extLst>
              <a:ext uri="{FF2B5EF4-FFF2-40B4-BE49-F238E27FC236}">
                <a16:creationId xmlns:a16="http://schemas.microsoft.com/office/drawing/2014/main" id="{893F5914-CD65-5BEB-57A8-EE830D4137DA}"/>
              </a:ext>
            </a:extLst>
          </p:cNvPr>
          <p:cNvSpPr txBox="1"/>
          <p:nvPr/>
        </p:nvSpPr>
        <p:spPr>
          <a:xfrm>
            <a:off x="288758" y="678921"/>
            <a:ext cx="11614484" cy="1200329"/>
          </a:xfrm>
          <a:prstGeom prst="rect">
            <a:avLst/>
          </a:prstGeom>
          <a:noFill/>
        </p:spPr>
        <p:txBody>
          <a:bodyPr wrap="square">
            <a:spAutoFit/>
          </a:bodyPr>
          <a:lstStyle/>
          <a:p>
            <a:pPr>
              <a:buNone/>
            </a:pPr>
            <a:r>
              <a:rPr lang="en-IN" b="1" dirty="0"/>
              <a:t>Receiver Error-Catching Execution:</a:t>
            </a:r>
            <a:r>
              <a:rPr lang="en-IN" dirty="0"/>
              <a:t> During the transmission, the very first bit of the first segment flips from a 1 to a 0 due to an electrical spark.</a:t>
            </a:r>
          </a:p>
          <a:p>
            <a:pPr>
              <a:buNone/>
            </a:pPr>
            <a:endParaRPr lang="en-IN" dirty="0"/>
          </a:p>
          <a:p>
            <a:pPr>
              <a:buFont typeface="Arial" panose="020B0604020202020204" pitchFamily="34" charset="0"/>
              <a:buChar char="•"/>
            </a:pPr>
            <a:r>
              <a:rPr lang="en-IN" b="1" dirty="0"/>
              <a:t>Corrupted Packet Received = </a:t>
            </a:r>
            <a:r>
              <a:rPr lang="en-IN" b="1" dirty="0">
                <a:latin typeface="Courier New" panose="02070309020205020404" pitchFamily="49" charset="0"/>
              </a:rPr>
              <a:t>01110011 11110011 00011000</a:t>
            </a:r>
            <a:endParaRPr lang="en-IN" dirty="0"/>
          </a:p>
        </p:txBody>
      </p:sp>
      <p:pic>
        <p:nvPicPr>
          <p:cNvPr id="16" name="Picture 15">
            <a:extLst>
              <a:ext uri="{FF2B5EF4-FFF2-40B4-BE49-F238E27FC236}">
                <a16:creationId xmlns:a16="http://schemas.microsoft.com/office/drawing/2014/main" id="{03F2BC12-E29C-5845-6930-97B427535354}"/>
              </a:ext>
            </a:extLst>
          </p:cNvPr>
          <p:cNvPicPr>
            <a:picLocks noChangeAspect="1"/>
          </p:cNvPicPr>
          <p:nvPr/>
        </p:nvPicPr>
        <p:blipFill>
          <a:blip r:embed="rId2"/>
          <a:stretch>
            <a:fillRect/>
          </a:stretch>
        </p:blipFill>
        <p:spPr>
          <a:xfrm>
            <a:off x="288758" y="1937820"/>
            <a:ext cx="6043570" cy="4241259"/>
          </a:xfrm>
          <a:prstGeom prst="rect">
            <a:avLst/>
          </a:prstGeom>
        </p:spPr>
      </p:pic>
      <p:sp>
        <p:nvSpPr>
          <p:cNvPr id="18" name="TextBox 17">
            <a:extLst>
              <a:ext uri="{FF2B5EF4-FFF2-40B4-BE49-F238E27FC236}">
                <a16:creationId xmlns:a16="http://schemas.microsoft.com/office/drawing/2014/main" id="{60A1CD58-9187-A5CE-C43D-9114D7110994}"/>
              </a:ext>
            </a:extLst>
          </p:cNvPr>
          <p:cNvSpPr txBox="1"/>
          <p:nvPr/>
        </p:nvSpPr>
        <p:spPr>
          <a:xfrm>
            <a:off x="6497052" y="2670427"/>
            <a:ext cx="5053264" cy="2308324"/>
          </a:xfrm>
          <a:prstGeom prst="rect">
            <a:avLst/>
          </a:prstGeom>
          <a:noFill/>
        </p:spPr>
        <p:txBody>
          <a:bodyPr wrap="square">
            <a:spAutoFit/>
          </a:bodyPr>
          <a:lstStyle/>
          <a:p>
            <a:pPr>
              <a:buNone/>
            </a:pPr>
            <a:r>
              <a:rPr lang="en-IN" b="1" dirty="0"/>
              <a:t>The Decision:</a:t>
            </a:r>
            <a:r>
              <a:rPr lang="en-IN" dirty="0"/>
              <a:t> The receiver looks closely at the final sum string: </a:t>
            </a:r>
            <a:r>
              <a:rPr lang="en-IN" dirty="0">
                <a:latin typeface="Courier New" panose="02070309020205020404" pitchFamily="49" charset="0"/>
              </a:rPr>
              <a:t>01111111</a:t>
            </a:r>
            <a:r>
              <a:rPr lang="en-IN" dirty="0"/>
              <a:t>. Because the very first bit position is a </a:t>
            </a:r>
            <a:r>
              <a:rPr lang="en-IN" b="1" dirty="0"/>
              <a:t>0</a:t>
            </a:r>
            <a:r>
              <a:rPr lang="en-IN" dirty="0"/>
              <a:t> instead of a 1, the check fails completely.</a:t>
            </a:r>
          </a:p>
          <a:p>
            <a:pPr>
              <a:buNone/>
            </a:pPr>
            <a:endParaRPr lang="en-IN" b="1" dirty="0"/>
          </a:p>
          <a:p>
            <a:pPr>
              <a:buNone/>
            </a:pPr>
            <a:endParaRPr lang="en-IN" b="1" dirty="0"/>
          </a:p>
          <a:p>
            <a:pPr>
              <a:buNone/>
            </a:pPr>
            <a:r>
              <a:rPr lang="en-IN" b="1" dirty="0"/>
              <a:t>Result: Error Successfully Detected, Frame Destroyed.</a:t>
            </a:r>
            <a:endParaRPr lang="en-IN" dirty="0"/>
          </a:p>
        </p:txBody>
      </p:sp>
    </p:spTree>
    <p:extLst>
      <p:ext uri="{BB962C8B-B14F-4D97-AF65-F5344CB8AC3E}">
        <p14:creationId xmlns:p14="http://schemas.microsoft.com/office/powerpoint/2010/main" val="120735741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0288B9-9E8E-ED7E-5A92-18747297ECAF}"/>
            </a:ext>
          </a:extLst>
        </p:cNvPr>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BC23C546-7A92-51A7-6EB1-21B6E18B3D2B}"/>
              </a:ext>
            </a:extLst>
          </p:cNvPr>
          <p:cNvGraphicFramePr>
            <a:graphicFrameLocks noGrp="1"/>
          </p:cNvGraphicFramePr>
          <p:nvPr>
            <p:ph idx="1"/>
          </p:nvPr>
        </p:nvGraphicFramePr>
        <p:xfrm>
          <a:off x="677779" y="1584994"/>
          <a:ext cx="10515600" cy="3937000"/>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3966004857"/>
                    </a:ext>
                  </a:extLst>
                </a:gridCol>
                <a:gridCol w="5257800">
                  <a:extLst>
                    <a:ext uri="{9D8B030D-6E8A-4147-A177-3AD203B41FA5}">
                      <a16:colId xmlns:a16="http://schemas.microsoft.com/office/drawing/2014/main" val="910545410"/>
                    </a:ext>
                  </a:extLst>
                </a:gridCol>
              </a:tblGrid>
              <a:tr h="370840">
                <a:tc>
                  <a:txBody>
                    <a:bodyPr/>
                    <a:lstStyle/>
                    <a:p>
                      <a:pPr>
                        <a:buNone/>
                      </a:pPr>
                      <a:r>
                        <a:rPr lang="en-IN" dirty="0"/>
                        <a:t>Why it is Good (Advantages)</a:t>
                      </a:r>
                    </a:p>
                  </a:txBody>
                  <a:tcPr anchor="ctr"/>
                </a:tc>
                <a:tc>
                  <a:txBody>
                    <a:bodyPr/>
                    <a:lstStyle/>
                    <a:p>
                      <a:pPr>
                        <a:buNone/>
                      </a:pPr>
                      <a:r>
                        <a:rPr lang="en-IN"/>
                        <a:t>Where it Fails (Disadvantages)</a:t>
                      </a:r>
                    </a:p>
                  </a:txBody>
                  <a:tcPr anchor="ctr"/>
                </a:tc>
                <a:extLst>
                  <a:ext uri="{0D108BD9-81ED-4DB2-BD59-A6C34878D82A}">
                    <a16:rowId xmlns:a16="http://schemas.microsoft.com/office/drawing/2014/main" val="3409432773"/>
                  </a:ext>
                </a:extLst>
              </a:tr>
              <a:tr h="370840">
                <a:tc>
                  <a:txBody>
                    <a:bodyPr/>
                    <a:lstStyle/>
                    <a:p>
                      <a:pPr>
                        <a:buNone/>
                      </a:pPr>
                      <a:r>
                        <a:rPr lang="en-IN"/>
                        <a:t>- Considerably stronger than a parity check; it can easily detect multi-bit and burst errors distributed across different segments.</a:t>
                      </a:r>
                    </a:p>
                  </a:txBody>
                  <a:tcPr anchor="ctr"/>
                </a:tc>
                <a:tc>
                  <a:txBody>
                    <a:bodyPr/>
                    <a:lstStyle/>
                    <a:p>
                      <a:pPr>
                        <a:buNone/>
                      </a:pPr>
                      <a:r>
                        <a:rPr lang="en-IN"/>
                        <a:t>- It can be tricked if two symmetric errors cancel each other out (for example, if a bit flips from 0 to 1 in Segment 1, and a corresponding bit flips from 1 to 0 in Segment 2, the final mathematical sum remains identical).</a:t>
                      </a:r>
                    </a:p>
                  </a:txBody>
                  <a:tcPr anchor="ctr"/>
                </a:tc>
                <a:extLst>
                  <a:ext uri="{0D108BD9-81ED-4DB2-BD59-A6C34878D82A}">
                    <a16:rowId xmlns:a16="http://schemas.microsoft.com/office/drawing/2014/main" val="2838205199"/>
                  </a:ext>
                </a:extLst>
              </a:tr>
              <a:tr h="370840">
                <a:tc>
                  <a:txBody>
                    <a:bodyPr/>
                    <a:lstStyle/>
                    <a:p>
                      <a:pPr>
                        <a:buNone/>
                      </a:pPr>
                      <a:r>
                        <a:rPr lang="en-IN"/>
                        <a:t>- Highly optimized for software implementation; it relies on simple addition operations that any basic CPU can calculate instantly without specialized network hardware.</a:t>
                      </a:r>
                    </a:p>
                  </a:txBody>
                  <a:tcPr anchor="ctr"/>
                </a:tc>
                <a:tc>
                  <a:txBody>
                    <a:bodyPr/>
                    <a:lstStyle/>
                    <a:p>
                      <a:pPr>
                        <a:buNone/>
                      </a:pPr>
                      <a:r>
                        <a:rPr lang="en-IN"/>
                        <a:t>- It creates higher packet overhead compared to parity, as it requires appending an entire 8-bit or 16-bit tracking block to your message.</a:t>
                      </a:r>
                    </a:p>
                  </a:txBody>
                  <a:tcPr anchor="ctr"/>
                </a:tc>
                <a:extLst>
                  <a:ext uri="{0D108BD9-81ED-4DB2-BD59-A6C34878D82A}">
                    <a16:rowId xmlns:a16="http://schemas.microsoft.com/office/drawing/2014/main" val="3657977224"/>
                  </a:ext>
                </a:extLst>
              </a:tr>
              <a:tr h="370840">
                <a:tc>
                  <a:txBody>
                    <a:bodyPr/>
                    <a:lstStyle/>
                    <a:p>
                      <a:pPr>
                        <a:buNone/>
                      </a:pPr>
                      <a:r>
                        <a:rPr lang="en-IN"/>
                        <a:t>- Widely trusted across the upper network protocols (like IP, TCP, and UDP layers) due to its clean software logic.</a:t>
                      </a:r>
                    </a:p>
                  </a:txBody>
                  <a:tcPr anchor="ctr"/>
                </a:tc>
                <a:tc>
                  <a:txBody>
                    <a:bodyPr/>
                    <a:lstStyle/>
                    <a:p>
                      <a:pPr>
                        <a:buNone/>
                      </a:pPr>
                      <a:r>
                        <a:rPr lang="en-IN" dirty="0"/>
                        <a:t>- It does not provide error correction capability; it only points out that a failure exists somewhere in the block.</a:t>
                      </a:r>
                    </a:p>
                  </a:txBody>
                  <a:tcPr anchor="ctr"/>
                </a:tc>
                <a:extLst>
                  <a:ext uri="{0D108BD9-81ED-4DB2-BD59-A6C34878D82A}">
                    <a16:rowId xmlns:a16="http://schemas.microsoft.com/office/drawing/2014/main" val="922843016"/>
                  </a:ext>
                </a:extLst>
              </a:tr>
            </a:tbl>
          </a:graphicData>
        </a:graphic>
      </p:graphicFrame>
    </p:spTree>
    <p:extLst>
      <p:ext uri="{BB962C8B-B14F-4D97-AF65-F5344CB8AC3E}">
        <p14:creationId xmlns:p14="http://schemas.microsoft.com/office/powerpoint/2010/main" val="108950180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746AC6-9306-7100-1510-D3B7C80351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2B61E3-748F-C3A7-1566-8C2128D4C6EB}"/>
              </a:ext>
            </a:extLst>
          </p:cNvPr>
          <p:cNvSpPr>
            <a:spLocks noGrp="1"/>
          </p:cNvSpPr>
          <p:nvPr>
            <p:ph type="title"/>
          </p:nvPr>
        </p:nvSpPr>
        <p:spPr>
          <a:xfrm>
            <a:off x="411480" y="577516"/>
            <a:ext cx="11365992" cy="437468"/>
          </a:xfrm>
        </p:spPr>
        <p:txBody>
          <a:bodyPr>
            <a:normAutofit fontScale="90000"/>
          </a:bodyPr>
          <a:lstStyle/>
          <a:p>
            <a:r>
              <a:rPr lang="en-IN" dirty="0"/>
              <a:t>Cyclic Redundancy Check (CRC)</a:t>
            </a:r>
          </a:p>
        </p:txBody>
      </p:sp>
      <p:sp>
        <p:nvSpPr>
          <p:cNvPr id="3" name="Content Placeholder 2">
            <a:extLst>
              <a:ext uri="{FF2B5EF4-FFF2-40B4-BE49-F238E27FC236}">
                <a16:creationId xmlns:a16="http://schemas.microsoft.com/office/drawing/2014/main" id="{7500642C-B73B-02FA-17DB-FAC8EC639053}"/>
              </a:ext>
            </a:extLst>
          </p:cNvPr>
          <p:cNvSpPr>
            <a:spLocks noGrp="1"/>
          </p:cNvSpPr>
          <p:nvPr>
            <p:ph idx="1"/>
          </p:nvPr>
        </p:nvSpPr>
        <p:spPr>
          <a:xfrm>
            <a:off x="160421" y="1088136"/>
            <a:ext cx="11855115" cy="5769864"/>
          </a:xfrm>
        </p:spPr>
        <p:txBody>
          <a:bodyPr>
            <a:normAutofit fontScale="92500" lnSpcReduction="10000"/>
          </a:bodyPr>
          <a:lstStyle/>
          <a:p>
            <a:r>
              <a:rPr lang="en-IN" sz="2000" dirty="0"/>
              <a:t>The CRC method operates by treating binary bit streams as algebraic coefficients of a polynomial. For example, a binary stream of 1101 can be thought of as a polynomial equation: 1x^3 + 1x^2 + 0x^1 + 1x^0.</a:t>
            </a:r>
          </a:p>
          <a:p>
            <a:r>
              <a:rPr lang="en-IN" sz="2000" dirty="0"/>
              <a:t>Rather than doing complex algebra, engineers simplify this into direct </a:t>
            </a:r>
            <a:r>
              <a:rPr lang="en-IN" sz="2000" b="1" dirty="0"/>
              <a:t>Binary Division</a:t>
            </a:r>
            <a:r>
              <a:rPr lang="en-IN" sz="2000" dirty="0"/>
              <a:t> using </a:t>
            </a:r>
            <a:r>
              <a:rPr lang="en-IN" sz="2000" b="1" dirty="0"/>
              <a:t>Modulo-2 Arithmetic</a:t>
            </a:r>
            <a:r>
              <a:rPr lang="en-IN" sz="2000" dirty="0"/>
              <a:t>. In Modulo-2 arithmetic, addition and subtraction are completely identical and are performed using a simple </a:t>
            </a:r>
            <a:r>
              <a:rPr lang="en-IN" sz="2000" b="1" dirty="0"/>
              <a:t>XOR (Exclusive OR)</a:t>
            </a:r>
            <a:r>
              <a:rPr lang="en-IN" sz="2000" dirty="0"/>
              <a:t> logical gate operation.</a:t>
            </a:r>
          </a:p>
          <a:p>
            <a:r>
              <a:rPr lang="en-IN" sz="2000" dirty="0"/>
              <a:t>The process is governed by a strict set of steps shared between the sender and the receiver:</a:t>
            </a:r>
          </a:p>
          <a:p>
            <a:pPr marL="0" indent="0">
              <a:buNone/>
            </a:pPr>
            <a:r>
              <a:rPr lang="en-IN" sz="2000" b="1" dirty="0">
                <a:highlight>
                  <a:srgbClr val="FFFF00"/>
                </a:highlight>
              </a:rPr>
              <a:t>A. Operations at the Sender Side</a:t>
            </a:r>
          </a:p>
          <a:p>
            <a:r>
              <a:rPr lang="en-IN" sz="2000" b="1" dirty="0"/>
              <a:t>Agreeing on a Divisor:</a:t>
            </a:r>
            <a:r>
              <a:rPr lang="en-IN" sz="2000" dirty="0"/>
              <a:t> Before communication begins, both the sender and receiver agree on a fixed bit pattern called the </a:t>
            </a:r>
            <a:r>
              <a:rPr lang="en-IN" sz="2000" b="1" dirty="0"/>
              <a:t>Generator Polynomial</a:t>
            </a:r>
            <a:r>
              <a:rPr lang="en-IN" sz="2000" dirty="0"/>
              <a:t> (or simply the </a:t>
            </a:r>
            <a:r>
              <a:rPr lang="en-IN" sz="2000" b="1" dirty="0"/>
              <a:t>Divisor</a:t>
            </a:r>
            <a:r>
              <a:rPr lang="en-IN" sz="2000" dirty="0"/>
              <a:t>). Let the number of bits in this divisor be represented as </a:t>
            </a:r>
            <a:r>
              <a:rPr lang="en-IN" sz="2000" b="1" dirty="0"/>
              <a:t>n</a:t>
            </a:r>
            <a:r>
              <a:rPr lang="en-IN" sz="2000" dirty="0"/>
              <a:t>.</a:t>
            </a:r>
          </a:p>
          <a:p>
            <a:r>
              <a:rPr lang="en-IN" sz="2000" b="1" dirty="0"/>
              <a:t>Appending Zeros:</a:t>
            </a:r>
            <a:r>
              <a:rPr lang="en-IN" sz="2000" dirty="0"/>
              <a:t> The sender takes the original data block and appends exactly </a:t>
            </a:r>
            <a:r>
              <a:rPr lang="en-IN" sz="2000" b="1" dirty="0"/>
              <a:t>n - 1</a:t>
            </a:r>
            <a:r>
              <a:rPr lang="en-IN" sz="2000" dirty="0"/>
              <a:t> zeros to its right side. This creates an extended temporary workspace block.</a:t>
            </a:r>
          </a:p>
          <a:p>
            <a:r>
              <a:rPr lang="en-IN" sz="2000" b="1" dirty="0"/>
              <a:t>Modulo-2 Division:</a:t>
            </a:r>
            <a:r>
              <a:rPr lang="en-IN" sz="2000" dirty="0"/>
              <a:t> The sender divides this extended data block by the fixed divisor using Modulo-2 division (XOR subtraction).</a:t>
            </a:r>
          </a:p>
          <a:p>
            <a:r>
              <a:rPr lang="en-IN" sz="2000" b="1" dirty="0"/>
              <a:t>Isolating the Remainder:</a:t>
            </a:r>
            <a:r>
              <a:rPr lang="en-IN" sz="2000" dirty="0"/>
              <a:t> The division continues until the remaining bits are shorter than the divisor. This leftover piece is the </a:t>
            </a:r>
            <a:r>
              <a:rPr lang="en-IN" sz="2000" b="1" dirty="0"/>
              <a:t>CRC Remainder</a:t>
            </a:r>
            <a:r>
              <a:rPr lang="en-IN" sz="2000" dirty="0"/>
              <a:t> (also known as the Frame Check Sequence, or FCS), and its length must be exactly </a:t>
            </a:r>
            <a:r>
              <a:rPr lang="en-IN" sz="2000" b="1" dirty="0"/>
              <a:t>n - 1</a:t>
            </a:r>
            <a:r>
              <a:rPr lang="en-IN" sz="2000" dirty="0"/>
              <a:t> bits.</a:t>
            </a:r>
          </a:p>
          <a:p>
            <a:r>
              <a:rPr lang="en-IN" sz="2000" b="1" dirty="0"/>
              <a:t>Replacing and Transmitting:</a:t>
            </a:r>
            <a:r>
              <a:rPr lang="en-IN" sz="2000" dirty="0"/>
              <a:t> The sender strips away the dummy zeros it added in step 2, replaces them with this fresh CRC remainder, and transmits the final combined frame over the network.</a:t>
            </a:r>
          </a:p>
          <a:p>
            <a:endParaRPr lang="en-IN" sz="2000" dirty="0"/>
          </a:p>
        </p:txBody>
      </p:sp>
    </p:spTree>
    <p:extLst>
      <p:ext uri="{BB962C8B-B14F-4D97-AF65-F5344CB8AC3E}">
        <p14:creationId xmlns:p14="http://schemas.microsoft.com/office/powerpoint/2010/main" val="94418548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52A107-A454-E205-6AA3-A4429C04C1D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C6038D2-34AB-136D-B2E4-EF7455D831BF}"/>
              </a:ext>
            </a:extLst>
          </p:cNvPr>
          <p:cNvSpPr>
            <a:spLocks noGrp="1"/>
          </p:cNvSpPr>
          <p:nvPr>
            <p:ph idx="1"/>
          </p:nvPr>
        </p:nvSpPr>
        <p:spPr>
          <a:xfrm>
            <a:off x="411480" y="609600"/>
            <a:ext cx="11365992" cy="5883276"/>
          </a:xfrm>
        </p:spPr>
        <p:txBody>
          <a:bodyPr>
            <a:normAutofit/>
          </a:bodyPr>
          <a:lstStyle/>
          <a:p>
            <a:pPr marL="0" indent="0">
              <a:buNone/>
            </a:pPr>
            <a:r>
              <a:rPr lang="en-IN" sz="2000" b="1" dirty="0">
                <a:highlight>
                  <a:srgbClr val="FFFF00"/>
                </a:highlight>
              </a:rPr>
              <a:t>B. Operations at the Receiver Side</a:t>
            </a:r>
          </a:p>
          <a:p>
            <a:r>
              <a:rPr lang="en-IN" sz="2000" b="1" dirty="0"/>
              <a:t>Receiving the Package:</a:t>
            </a:r>
            <a:r>
              <a:rPr lang="en-IN" sz="2000" dirty="0"/>
              <a:t> The receiver catches the incoming frame, which contains both the original data and the appended CRC remainder.</a:t>
            </a:r>
          </a:p>
          <a:p>
            <a:r>
              <a:rPr lang="en-IN" sz="2000" b="1" dirty="0"/>
              <a:t>Direct Modulo-2 Division:</a:t>
            </a:r>
            <a:r>
              <a:rPr lang="en-IN" sz="2000" dirty="0"/>
              <a:t> The receiver takes this entire frame and divides it by the exact same agreed-upon Generator Polynomial Divisor.</a:t>
            </a:r>
          </a:p>
          <a:p>
            <a:r>
              <a:rPr lang="en-IN" sz="2000" b="1" dirty="0"/>
              <a:t>Evaluating the Remainder:</a:t>
            </a:r>
            <a:endParaRPr lang="en-IN" sz="2000" dirty="0"/>
          </a:p>
          <a:p>
            <a:pPr lvl="1"/>
            <a:r>
              <a:rPr lang="en-IN" sz="2000" dirty="0"/>
              <a:t>If the division finishes with a final remainder of </a:t>
            </a:r>
            <a:r>
              <a:rPr lang="en-IN" sz="2000" b="1" dirty="0"/>
              <a:t>exactly all zeros</a:t>
            </a:r>
            <a:r>
              <a:rPr lang="en-IN" sz="2000" dirty="0"/>
              <a:t>, it mathematically proves that the data payload was not altered during the journey. The frame is verified as clean and accepted.</a:t>
            </a:r>
          </a:p>
          <a:p>
            <a:pPr lvl="1"/>
            <a:r>
              <a:rPr lang="en-IN" sz="2000" dirty="0"/>
              <a:t>If even a single 1 appears anywhere in the final remainder, it means the binary code was corrupted by noise. The frame is instantly flagged and thrown away.</a:t>
            </a:r>
          </a:p>
          <a:p>
            <a:endParaRPr lang="en-IN" sz="2000" dirty="0"/>
          </a:p>
        </p:txBody>
      </p:sp>
    </p:spTree>
    <p:extLst>
      <p:ext uri="{BB962C8B-B14F-4D97-AF65-F5344CB8AC3E}">
        <p14:creationId xmlns:p14="http://schemas.microsoft.com/office/powerpoint/2010/main" val="223752016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72E1D0-67BA-F45D-75D6-3987F49210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476DC6-1ABA-F262-391E-45636156620C}"/>
              </a:ext>
            </a:extLst>
          </p:cNvPr>
          <p:cNvSpPr>
            <a:spLocks noGrp="1"/>
          </p:cNvSpPr>
          <p:nvPr>
            <p:ph type="title"/>
          </p:nvPr>
        </p:nvSpPr>
        <p:spPr>
          <a:xfrm>
            <a:off x="411480" y="577516"/>
            <a:ext cx="11365992" cy="437468"/>
          </a:xfrm>
        </p:spPr>
        <p:txBody>
          <a:bodyPr>
            <a:normAutofit fontScale="90000"/>
          </a:bodyPr>
          <a:lstStyle/>
          <a:p>
            <a:r>
              <a:rPr lang="en-US" dirty="0"/>
              <a:t>Example</a:t>
            </a:r>
            <a:endParaRPr lang="en-IN" dirty="0"/>
          </a:p>
        </p:txBody>
      </p:sp>
      <p:sp>
        <p:nvSpPr>
          <p:cNvPr id="3" name="Content Placeholder 2">
            <a:extLst>
              <a:ext uri="{FF2B5EF4-FFF2-40B4-BE49-F238E27FC236}">
                <a16:creationId xmlns:a16="http://schemas.microsoft.com/office/drawing/2014/main" id="{94B31D41-0515-B5FA-40DD-6513F8A502FD}"/>
              </a:ext>
            </a:extLst>
          </p:cNvPr>
          <p:cNvSpPr>
            <a:spLocks noGrp="1"/>
          </p:cNvSpPr>
          <p:nvPr>
            <p:ph idx="1"/>
          </p:nvPr>
        </p:nvSpPr>
        <p:spPr>
          <a:xfrm>
            <a:off x="411480" y="1088136"/>
            <a:ext cx="11365992" cy="5404740"/>
          </a:xfrm>
        </p:spPr>
        <p:txBody>
          <a:bodyPr>
            <a:normAutofit/>
          </a:bodyPr>
          <a:lstStyle/>
          <a:p>
            <a:pPr marL="0" indent="0">
              <a:buNone/>
            </a:pPr>
            <a:r>
              <a:rPr lang="en-IN" sz="2000" b="1" dirty="0"/>
              <a:t>Question</a:t>
            </a:r>
          </a:p>
          <a:p>
            <a:r>
              <a:rPr lang="en-IN" sz="2000" dirty="0"/>
              <a:t>A sender wants to transmit the data block </a:t>
            </a:r>
            <a:r>
              <a:rPr lang="en-IN" sz="2000" b="1" dirty="0"/>
              <a:t>100100</a:t>
            </a:r>
            <a:r>
              <a:rPr lang="en-IN" sz="2000" dirty="0"/>
              <a:t> using the Generator Polynomial Divisor </a:t>
            </a:r>
            <a:r>
              <a:rPr lang="en-IN" sz="2000" b="1" dirty="0"/>
              <a:t>1101</a:t>
            </a:r>
            <a:r>
              <a:rPr lang="en-IN" sz="2000" dirty="0"/>
              <a:t>. Calculate the CRC bits generated at the sender side, construct the final frame sent on the wire, and verify how the receiver detects if the transmission arrived without errors.</a:t>
            </a:r>
          </a:p>
          <a:p>
            <a:r>
              <a:rPr lang="en-IN" sz="2000" b="1" dirty="0"/>
              <a:t>Sender Side Calculation Steps</a:t>
            </a:r>
          </a:p>
          <a:p>
            <a:r>
              <a:rPr lang="en-IN" sz="2000" b="1" dirty="0"/>
              <a:t>Step 1: Determine the number of bits to pad.</a:t>
            </a:r>
            <a:r>
              <a:rPr lang="en-IN" sz="2000" dirty="0"/>
              <a:t> The divisor is </a:t>
            </a:r>
            <a:r>
              <a:rPr lang="en-IN" sz="2000" b="1" dirty="0"/>
              <a:t>1101</a:t>
            </a:r>
            <a:r>
              <a:rPr lang="en-IN" sz="2000" dirty="0"/>
              <a:t>, which has a length of </a:t>
            </a:r>
            <a:r>
              <a:rPr lang="en-IN" sz="2000" b="1" dirty="0"/>
              <a:t>4 bits</a:t>
            </a:r>
            <a:r>
              <a:rPr lang="en-IN" sz="2000" dirty="0"/>
              <a:t> (so n = 4). Therefore, we must append exactly n - 1 zeros, which is 4 - 1 = </a:t>
            </a:r>
            <a:r>
              <a:rPr lang="en-IN" sz="2000" b="1" dirty="0"/>
              <a:t>3 zeros</a:t>
            </a:r>
            <a:r>
              <a:rPr lang="en-IN" sz="2000" dirty="0"/>
              <a:t>.</a:t>
            </a:r>
          </a:p>
          <a:p>
            <a:pPr lvl="1"/>
            <a:r>
              <a:rPr lang="en-IN" sz="2000" dirty="0"/>
              <a:t>Extended Data Block = </a:t>
            </a:r>
            <a:r>
              <a:rPr lang="en-IN" sz="2000" b="1" dirty="0"/>
              <a:t>100100000</a:t>
            </a:r>
            <a:endParaRPr lang="en-IN" sz="2000" dirty="0"/>
          </a:p>
          <a:p>
            <a:r>
              <a:rPr lang="en-IN" sz="2000" b="1" dirty="0"/>
              <a:t>Step 2: Perform Modulo-2 Binary Division (XOR Subtraction).</a:t>
            </a:r>
            <a:r>
              <a:rPr lang="en-IN" sz="2000" dirty="0"/>
              <a:t> Remember the XOR rule: Same bits result in 0, different bits result in 1.</a:t>
            </a:r>
          </a:p>
          <a:p>
            <a:pPr lvl="1"/>
            <a:r>
              <a:rPr lang="en-IN" sz="2000" dirty="0"/>
              <a:t>0 XOR 0 = 0</a:t>
            </a:r>
          </a:p>
          <a:p>
            <a:pPr lvl="1"/>
            <a:r>
              <a:rPr lang="en-IN" sz="2000" dirty="0"/>
              <a:t>1 XOR 1 = 0</a:t>
            </a:r>
          </a:p>
          <a:p>
            <a:pPr lvl="1"/>
            <a:r>
              <a:rPr lang="en-IN" sz="2000" dirty="0"/>
              <a:t>1 XOR 0 = 1</a:t>
            </a:r>
          </a:p>
          <a:p>
            <a:pPr lvl="1"/>
            <a:r>
              <a:rPr lang="en-IN" sz="2000" dirty="0"/>
              <a:t>0 XOR 1 = 1</a:t>
            </a:r>
          </a:p>
          <a:p>
            <a:r>
              <a:rPr lang="en-IN" sz="2000" dirty="0"/>
              <a:t>Let's trace the long division step-by-step:</a:t>
            </a:r>
          </a:p>
          <a:p>
            <a:pPr marL="0" indent="0">
              <a:buNone/>
            </a:pPr>
            <a:endParaRPr lang="en-IN" sz="2000" dirty="0"/>
          </a:p>
        </p:txBody>
      </p:sp>
    </p:spTree>
    <p:extLst>
      <p:ext uri="{BB962C8B-B14F-4D97-AF65-F5344CB8AC3E}">
        <p14:creationId xmlns:p14="http://schemas.microsoft.com/office/powerpoint/2010/main" val="139257701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85BE79-A4DA-A920-FF90-CD7AD6584F0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D128DF51-5049-F94A-757A-E5F185281085}"/>
              </a:ext>
            </a:extLst>
          </p:cNvPr>
          <p:cNvPicPr>
            <a:picLocks noChangeAspect="1"/>
          </p:cNvPicPr>
          <p:nvPr/>
        </p:nvPicPr>
        <p:blipFill>
          <a:blip r:embed="rId2"/>
          <a:stretch>
            <a:fillRect/>
          </a:stretch>
        </p:blipFill>
        <p:spPr>
          <a:xfrm>
            <a:off x="352926" y="1027639"/>
            <a:ext cx="11518231" cy="5316070"/>
          </a:xfrm>
          <a:prstGeom prst="rect">
            <a:avLst/>
          </a:prstGeom>
        </p:spPr>
      </p:pic>
    </p:spTree>
    <p:extLst>
      <p:ext uri="{BB962C8B-B14F-4D97-AF65-F5344CB8AC3E}">
        <p14:creationId xmlns:p14="http://schemas.microsoft.com/office/powerpoint/2010/main" val="361396204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9D85B8-87B5-069D-332F-80CD145CC72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9C68FAB-5C0A-C3CA-5429-0192BBC8C7CD}"/>
              </a:ext>
            </a:extLst>
          </p:cNvPr>
          <p:cNvSpPr txBox="1"/>
          <p:nvPr/>
        </p:nvSpPr>
        <p:spPr>
          <a:xfrm>
            <a:off x="465222" y="1797585"/>
            <a:ext cx="11053010" cy="2862322"/>
          </a:xfrm>
          <a:prstGeom prst="rect">
            <a:avLst/>
          </a:prstGeom>
          <a:noFill/>
        </p:spPr>
        <p:txBody>
          <a:bodyPr wrap="square">
            <a:spAutoFit/>
          </a:bodyPr>
          <a:lstStyle/>
          <a:p>
            <a:pPr>
              <a:buNone/>
            </a:pPr>
            <a:r>
              <a:rPr lang="en-IN" sz="2000" b="1" dirty="0"/>
              <a:t>Step 3: Extract the CRC Remainder.</a:t>
            </a:r>
            <a:r>
              <a:rPr lang="en-IN" sz="2000" dirty="0"/>
              <a:t> The last 3 bits of our remainder give us our tracking code.</a:t>
            </a:r>
          </a:p>
          <a:p>
            <a:pPr>
              <a:buFont typeface="Arial" panose="020B0604020202020204" pitchFamily="34" charset="0"/>
              <a:buChar char="•"/>
            </a:pPr>
            <a:r>
              <a:rPr lang="en-IN" sz="2000" b="1" dirty="0"/>
              <a:t>CRC Remainder (FCS) = 001</a:t>
            </a:r>
          </a:p>
          <a:p>
            <a:endParaRPr lang="en-IN" sz="2000" dirty="0"/>
          </a:p>
          <a:p>
            <a:pPr>
              <a:buNone/>
            </a:pPr>
            <a:r>
              <a:rPr lang="en-IN" sz="2000" b="1" dirty="0"/>
              <a:t>Step 4: Construct the final frame to transmit.</a:t>
            </a:r>
            <a:r>
              <a:rPr lang="en-IN" sz="2000" dirty="0"/>
              <a:t> Replace the 3 dummy zeros on the original data with our 3-bit CRC code.</a:t>
            </a:r>
          </a:p>
          <a:p>
            <a:pPr>
              <a:buFont typeface="Arial" panose="020B0604020202020204" pitchFamily="34" charset="0"/>
              <a:buChar char="•"/>
            </a:pPr>
            <a:r>
              <a:rPr lang="en-IN" sz="2000" dirty="0"/>
              <a:t>Original Data = 100100</a:t>
            </a:r>
          </a:p>
          <a:p>
            <a:pPr>
              <a:buFont typeface="Arial" panose="020B0604020202020204" pitchFamily="34" charset="0"/>
              <a:buChar char="•"/>
            </a:pPr>
            <a:r>
              <a:rPr lang="en-IN" sz="2000" dirty="0"/>
              <a:t>Appended CRC = 001</a:t>
            </a:r>
          </a:p>
          <a:p>
            <a:endParaRPr lang="en-IN" sz="2000" dirty="0"/>
          </a:p>
          <a:p>
            <a:pPr>
              <a:buFont typeface="Arial" panose="020B0604020202020204" pitchFamily="34" charset="0"/>
              <a:buChar char="•"/>
            </a:pPr>
            <a:r>
              <a:rPr lang="en-IN" sz="2000" b="1" dirty="0"/>
              <a:t>Final Transmitted Frame = 100100</a:t>
            </a:r>
            <a:r>
              <a:rPr lang="en-IN" sz="2000" b="1" u="sng" dirty="0">
                <a:highlight>
                  <a:srgbClr val="FFFF00"/>
                </a:highlight>
              </a:rPr>
              <a:t>001</a:t>
            </a:r>
            <a:endParaRPr lang="en-IN" sz="2000" u="sng" dirty="0">
              <a:highlight>
                <a:srgbClr val="FFFF00"/>
              </a:highlight>
            </a:endParaRPr>
          </a:p>
        </p:txBody>
      </p:sp>
    </p:spTree>
    <p:extLst>
      <p:ext uri="{BB962C8B-B14F-4D97-AF65-F5344CB8AC3E}">
        <p14:creationId xmlns:p14="http://schemas.microsoft.com/office/powerpoint/2010/main" val="360722359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1C5F30-36E0-48CE-AC81-B98A3EDF0C8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36FD8BB-B43A-530E-CE3B-8A1F157A1FFA}"/>
              </a:ext>
            </a:extLst>
          </p:cNvPr>
          <p:cNvSpPr txBox="1"/>
          <p:nvPr/>
        </p:nvSpPr>
        <p:spPr>
          <a:xfrm>
            <a:off x="304800" y="629198"/>
            <a:ext cx="6096000" cy="1015663"/>
          </a:xfrm>
          <a:prstGeom prst="rect">
            <a:avLst/>
          </a:prstGeom>
          <a:noFill/>
        </p:spPr>
        <p:txBody>
          <a:bodyPr wrap="square">
            <a:spAutoFit/>
          </a:bodyPr>
          <a:lstStyle/>
          <a:p>
            <a:pPr>
              <a:buNone/>
            </a:pPr>
            <a:r>
              <a:rPr lang="en-IN" sz="2000" b="1" dirty="0"/>
              <a:t>Receiver Side Verification Steps</a:t>
            </a:r>
          </a:p>
          <a:p>
            <a:pPr>
              <a:buNone/>
            </a:pPr>
            <a:r>
              <a:rPr lang="en-IN" sz="2000" dirty="0"/>
              <a:t>The receiver accepts the frame </a:t>
            </a:r>
            <a:r>
              <a:rPr lang="en-IN" sz="2000" b="1" dirty="0"/>
              <a:t>100100001</a:t>
            </a:r>
            <a:r>
              <a:rPr lang="en-IN" sz="2000" dirty="0"/>
              <a:t> from the wire and divides it by the same divisor </a:t>
            </a:r>
            <a:r>
              <a:rPr lang="en-IN" sz="2000" b="1" dirty="0"/>
              <a:t>1101</a:t>
            </a:r>
            <a:r>
              <a:rPr lang="en-IN" sz="2000" dirty="0"/>
              <a:t>.</a:t>
            </a:r>
          </a:p>
        </p:txBody>
      </p:sp>
      <p:pic>
        <p:nvPicPr>
          <p:cNvPr id="7" name="Picture 6">
            <a:extLst>
              <a:ext uri="{FF2B5EF4-FFF2-40B4-BE49-F238E27FC236}">
                <a16:creationId xmlns:a16="http://schemas.microsoft.com/office/drawing/2014/main" id="{672CC4E4-3CB4-24B7-0758-F3693A3BC1F3}"/>
              </a:ext>
            </a:extLst>
          </p:cNvPr>
          <p:cNvPicPr>
            <a:picLocks noChangeAspect="1"/>
          </p:cNvPicPr>
          <p:nvPr/>
        </p:nvPicPr>
        <p:blipFill>
          <a:blip r:embed="rId2"/>
          <a:stretch>
            <a:fillRect/>
          </a:stretch>
        </p:blipFill>
        <p:spPr>
          <a:xfrm>
            <a:off x="449179" y="1712374"/>
            <a:ext cx="6272464" cy="4516428"/>
          </a:xfrm>
          <a:prstGeom prst="rect">
            <a:avLst/>
          </a:prstGeom>
        </p:spPr>
      </p:pic>
      <p:sp>
        <p:nvSpPr>
          <p:cNvPr id="9" name="TextBox 8">
            <a:extLst>
              <a:ext uri="{FF2B5EF4-FFF2-40B4-BE49-F238E27FC236}">
                <a16:creationId xmlns:a16="http://schemas.microsoft.com/office/drawing/2014/main" id="{EF0B52A9-A3C0-EE21-DEF5-8A6AED03FF84}"/>
              </a:ext>
            </a:extLst>
          </p:cNvPr>
          <p:cNvSpPr txBox="1"/>
          <p:nvPr/>
        </p:nvSpPr>
        <p:spPr>
          <a:xfrm>
            <a:off x="7379368" y="3429000"/>
            <a:ext cx="4122821" cy="1938992"/>
          </a:xfrm>
          <a:prstGeom prst="rect">
            <a:avLst/>
          </a:prstGeom>
          <a:noFill/>
        </p:spPr>
        <p:txBody>
          <a:bodyPr wrap="square">
            <a:spAutoFit/>
          </a:bodyPr>
          <a:lstStyle/>
          <a:p>
            <a:pPr>
              <a:buNone/>
            </a:pPr>
            <a:r>
              <a:rPr lang="en-IN" sz="2000" b="1" dirty="0"/>
              <a:t>The Decision:</a:t>
            </a:r>
            <a:r>
              <a:rPr lang="en-IN" sz="2000" dirty="0"/>
              <a:t> Because the final remainder is exactly </a:t>
            </a:r>
            <a:r>
              <a:rPr lang="en-IN" sz="2000" b="1" dirty="0"/>
              <a:t>000</a:t>
            </a:r>
            <a:r>
              <a:rPr lang="en-IN" sz="2000" dirty="0"/>
              <a:t>, the receiver confirms that the data is 100% accurate.</a:t>
            </a:r>
          </a:p>
          <a:p>
            <a:pPr>
              <a:buNone/>
            </a:pPr>
            <a:endParaRPr lang="en-IN" sz="2000" dirty="0"/>
          </a:p>
          <a:p>
            <a:pPr>
              <a:buNone/>
            </a:pPr>
            <a:r>
              <a:rPr lang="en-IN" sz="2000" b="1" dirty="0"/>
              <a:t>Result: Frame Accepted.</a:t>
            </a:r>
            <a:endParaRPr lang="en-IN" sz="2000" dirty="0"/>
          </a:p>
        </p:txBody>
      </p:sp>
    </p:spTree>
    <p:extLst>
      <p:ext uri="{BB962C8B-B14F-4D97-AF65-F5344CB8AC3E}">
        <p14:creationId xmlns:p14="http://schemas.microsoft.com/office/powerpoint/2010/main" val="416819384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3C5C81-1FD8-D941-D3D4-7812D0097FB8}"/>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D93956C6-A1B1-DBF4-0B07-191F41798019}"/>
              </a:ext>
            </a:extLst>
          </p:cNvPr>
          <p:cNvGraphicFramePr>
            <a:graphicFrameLocks noGrp="1"/>
          </p:cNvGraphicFramePr>
          <p:nvPr/>
        </p:nvGraphicFramePr>
        <p:xfrm>
          <a:off x="657726" y="1752600"/>
          <a:ext cx="10379242" cy="3352800"/>
        </p:xfrm>
        <a:graphic>
          <a:graphicData uri="http://schemas.openxmlformats.org/drawingml/2006/table">
            <a:tbl>
              <a:tblPr firstRow="1" bandRow="1">
                <a:tableStyleId>{5C22544A-7EE6-4342-B048-85BDC9FD1C3A}</a:tableStyleId>
              </a:tblPr>
              <a:tblGrid>
                <a:gridCol w="5189621">
                  <a:extLst>
                    <a:ext uri="{9D8B030D-6E8A-4147-A177-3AD203B41FA5}">
                      <a16:colId xmlns:a16="http://schemas.microsoft.com/office/drawing/2014/main" val="1438777784"/>
                    </a:ext>
                  </a:extLst>
                </a:gridCol>
                <a:gridCol w="5189621">
                  <a:extLst>
                    <a:ext uri="{9D8B030D-6E8A-4147-A177-3AD203B41FA5}">
                      <a16:colId xmlns:a16="http://schemas.microsoft.com/office/drawing/2014/main" val="4010277061"/>
                    </a:ext>
                  </a:extLst>
                </a:gridCol>
              </a:tblGrid>
              <a:tr h="370840">
                <a:tc>
                  <a:txBody>
                    <a:bodyPr/>
                    <a:lstStyle/>
                    <a:p>
                      <a:pPr>
                        <a:buNone/>
                      </a:pPr>
                      <a:r>
                        <a:rPr lang="en-IN" b="1" dirty="0">
                          <a:effectLst/>
                          <a:latin typeface="Google Sans Text"/>
                        </a:rPr>
                        <a:t>Why it is Good (Advantages)</a:t>
                      </a:r>
                      <a:endParaRPr lang="en-IN" dirty="0">
                        <a:effectLst/>
                        <a:latin typeface="Google Sans Text"/>
                      </a:endParaRPr>
                    </a:p>
                  </a:txBody>
                  <a:tcPr marL="114300" marR="114300" marT="76200" marB="76200" anchor="ctr"/>
                </a:tc>
                <a:tc>
                  <a:txBody>
                    <a:bodyPr/>
                    <a:lstStyle/>
                    <a:p>
                      <a:pPr>
                        <a:buNone/>
                      </a:pPr>
                      <a:r>
                        <a:rPr lang="en-IN" b="1">
                          <a:effectLst/>
                          <a:latin typeface="Google Sans Text"/>
                        </a:rPr>
                        <a:t>Where it Fails (Disadvantages)</a:t>
                      </a:r>
                      <a:endParaRPr lang="en-IN">
                        <a:effectLst/>
                        <a:latin typeface="Google Sans Text"/>
                      </a:endParaRPr>
                    </a:p>
                  </a:txBody>
                  <a:tcPr marL="114300" marR="114300" marT="76200" marB="76200" anchor="ctr"/>
                </a:tc>
                <a:extLst>
                  <a:ext uri="{0D108BD9-81ED-4DB2-BD59-A6C34878D82A}">
                    <a16:rowId xmlns:a16="http://schemas.microsoft.com/office/drawing/2014/main" val="864446998"/>
                  </a:ext>
                </a:extLst>
              </a:tr>
              <a:tr h="370840">
                <a:tc>
                  <a:txBody>
                    <a:bodyPr/>
                    <a:lstStyle/>
                    <a:p>
                      <a:pPr>
                        <a:buNone/>
                      </a:pPr>
                      <a:r>
                        <a:rPr lang="en-IN">
                          <a:effectLst/>
                          <a:latin typeface="Google Sans Text"/>
                        </a:rPr>
                        <a:t>- Exceptionally powerful error detection capability; it catches 100% of all single-bit errors and all burst errors shorter than the divisor length.</a:t>
                      </a:r>
                    </a:p>
                  </a:txBody>
                  <a:tcPr marL="114300" marR="114300" marT="76200" marB="76200" anchor="ctr"/>
                </a:tc>
                <a:tc>
                  <a:txBody>
                    <a:bodyPr/>
                    <a:lstStyle/>
                    <a:p>
                      <a:pPr>
                        <a:buNone/>
                      </a:pPr>
                      <a:r>
                        <a:rPr lang="en-IN">
                          <a:effectLst/>
                          <a:latin typeface="Google Sans Text"/>
                        </a:rPr>
                        <a:t>- Mathematically intensive compared to basic addition; it requires bit-shifting hardware components to perform division fast.</a:t>
                      </a:r>
                    </a:p>
                  </a:txBody>
                  <a:tcPr marL="114300" marR="114300" marT="76200" marB="76200" anchor="ctr"/>
                </a:tc>
                <a:extLst>
                  <a:ext uri="{0D108BD9-81ED-4DB2-BD59-A6C34878D82A}">
                    <a16:rowId xmlns:a16="http://schemas.microsoft.com/office/drawing/2014/main" val="344178510"/>
                  </a:ext>
                </a:extLst>
              </a:tr>
              <a:tr h="370840">
                <a:tc>
                  <a:txBody>
                    <a:bodyPr/>
                    <a:lstStyle/>
                    <a:p>
                      <a:pPr>
                        <a:buNone/>
                      </a:pPr>
                      <a:r>
                        <a:rPr lang="en-IN">
                          <a:effectLst/>
                          <a:latin typeface="Google Sans Text"/>
                        </a:rPr>
                        <a:t>- Extremely reliable for catching long, chaotic bursts of electrical distortion that easily fool parity and checksums.</a:t>
                      </a:r>
                    </a:p>
                  </a:txBody>
                  <a:tcPr marL="114300" marR="114300" marT="76200" marB="76200" anchor="ctr"/>
                </a:tc>
                <a:tc>
                  <a:txBody>
                    <a:bodyPr/>
                    <a:lstStyle/>
                    <a:p>
                      <a:pPr>
                        <a:buNone/>
                      </a:pPr>
                      <a:r>
                        <a:rPr lang="en-IN">
                          <a:effectLst/>
                          <a:latin typeface="Google Sans Text"/>
                        </a:rPr>
                        <a:t>- Adds overhead to every single transmitted frame since it requires appending several extra check bits.</a:t>
                      </a:r>
                    </a:p>
                  </a:txBody>
                  <a:tcPr marL="114300" marR="114300" marT="76200" marB="76200" anchor="ctr"/>
                </a:tc>
                <a:extLst>
                  <a:ext uri="{0D108BD9-81ED-4DB2-BD59-A6C34878D82A}">
                    <a16:rowId xmlns:a16="http://schemas.microsoft.com/office/drawing/2014/main" val="881782032"/>
                  </a:ext>
                </a:extLst>
              </a:tr>
              <a:tr h="370840">
                <a:tc>
                  <a:txBody>
                    <a:bodyPr/>
                    <a:lstStyle/>
                    <a:p>
                      <a:pPr>
                        <a:buNone/>
                      </a:pPr>
                      <a:r>
                        <a:rPr lang="en-IN">
                          <a:effectLst/>
                          <a:latin typeface="Google Sans Text"/>
                        </a:rPr>
                        <a:t>- Highly standardized across major hardware industries, running directly on physical computer chips for Ethernet cables and Wi-Fi cards.</a:t>
                      </a:r>
                    </a:p>
                  </a:txBody>
                  <a:tcPr marL="114300" marR="114300" marT="76200" marB="76200" anchor="ctr"/>
                </a:tc>
                <a:tc>
                  <a:txBody>
                    <a:bodyPr/>
                    <a:lstStyle/>
                    <a:p>
                      <a:pPr>
                        <a:buNone/>
                      </a:pPr>
                      <a:r>
                        <a:rPr lang="en-IN" dirty="0">
                          <a:effectLst/>
                          <a:latin typeface="Google Sans Text"/>
                        </a:rPr>
                        <a:t>- It only acts as an error detector; it cannot fix or repair the broken data bits locally, requiring a complete frame re-transmission.</a:t>
                      </a:r>
                    </a:p>
                  </a:txBody>
                  <a:tcPr marL="114300" marR="114300" marT="76200" marB="76200" anchor="ctr"/>
                </a:tc>
                <a:extLst>
                  <a:ext uri="{0D108BD9-81ED-4DB2-BD59-A6C34878D82A}">
                    <a16:rowId xmlns:a16="http://schemas.microsoft.com/office/drawing/2014/main" val="2199661401"/>
                  </a:ext>
                </a:extLst>
              </a:tr>
            </a:tbl>
          </a:graphicData>
        </a:graphic>
      </p:graphicFrame>
    </p:spTree>
    <p:extLst>
      <p:ext uri="{BB962C8B-B14F-4D97-AF65-F5344CB8AC3E}">
        <p14:creationId xmlns:p14="http://schemas.microsoft.com/office/powerpoint/2010/main" val="26825095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796C05-D8E1-581E-B015-613A21E98877}"/>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193FA05E-3CF5-49F2-37FB-BAC3C4C8931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91412" y="576072"/>
            <a:ext cx="9079992" cy="6053328"/>
          </a:xfrm>
          <a:prstGeom prst="rect">
            <a:avLst/>
          </a:prstGeom>
        </p:spPr>
      </p:pic>
    </p:spTree>
    <p:extLst>
      <p:ext uri="{BB962C8B-B14F-4D97-AF65-F5344CB8AC3E}">
        <p14:creationId xmlns:p14="http://schemas.microsoft.com/office/powerpoint/2010/main" val="137097026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F91382-71B7-FC5F-8479-0A4FF5E7ED7B}"/>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53180C19-8369-165B-D9BD-A277DFB2FDE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88492" y="658368"/>
            <a:ext cx="10287000" cy="5907024"/>
          </a:xfrm>
          <a:prstGeom prst="rect">
            <a:avLst/>
          </a:prstGeom>
        </p:spPr>
      </p:pic>
    </p:spTree>
    <p:extLst>
      <p:ext uri="{BB962C8B-B14F-4D97-AF65-F5344CB8AC3E}">
        <p14:creationId xmlns:p14="http://schemas.microsoft.com/office/powerpoint/2010/main" val="169162823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2E3A23-6F58-5228-2361-9C6939CD661D}"/>
            </a:ext>
          </a:extLst>
        </p:cNvPr>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71D2F83B-AD5B-0308-1B4E-F3F9DB1BFEB5}"/>
              </a:ext>
            </a:extLst>
          </p:cNvPr>
          <p:cNvGraphicFramePr>
            <a:graphicFrameLocks noGrp="1"/>
          </p:cNvGraphicFramePr>
          <p:nvPr>
            <p:extLst>
              <p:ext uri="{D42A27DB-BD31-4B8C-83A1-F6EECF244321}">
                <p14:modId xmlns:p14="http://schemas.microsoft.com/office/powerpoint/2010/main" val="4178507904"/>
              </p:ext>
            </p:extLst>
          </p:nvPr>
        </p:nvGraphicFramePr>
        <p:xfrm>
          <a:off x="601471" y="1094740"/>
          <a:ext cx="10989057" cy="4668520"/>
        </p:xfrm>
        <a:graphic>
          <a:graphicData uri="http://schemas.openxmlformats.org/drawingml/2006/table">
            <a:tbl>
              <a:tblPr firstRow="1" bandRow="1">
                <a:tableStyleId>{5C22544A-7EE6-4342-B048-85BDC9FD1C3A}</a:tableStyleId>
              </a:tblPr>
              <a:tblGrid>
                <a:gridCol w="2741168">
                  <a:extLst>
                    <a:ext uri="{9D8B030D-6E8A-4147-A177-3AD203B41FA5}">
                      <a16:colId xmlns:a16="http://schemas.microsoft.com/office/drawing/2014/main" val="3645743719"/>
                    </a:ext>
                  </a:extLst>
                </a:gridCol>
                <a:gridCol w="1792224">
                  <a:extLst>
                    <a:ext uri="{9D8B030D-6E8A-4147-A177-3AD203B41FA5}">
                      <a16:colId xmlns:a16="http://schemas.microsoft.com/office/drawing/2014/main" val="1989245702"/>
                    </a:ext>
                  </a:extLst>
                </a:gridCol>
                <a:gridCol w="6455665">
                  <a:extLst>
                    <a:ext uri="{9D8B030D-6E8A-4147-A177-3AD203B41FA5}">
                      <a16:colId xmlns:a16="http://schemas.microsoft.com/office/drawing/2014/main" val="3394974296"/>
                    </a:ext>
                  </a:extLst>
                </a:gridCol>
              </a:tblGrid>
              <a:tr h="370840">
                <a:tc>
                  <a:txBody>
                    <a:bodyPr/>
                    <a:lstStyle/>
                    <a:p>
                      <a:pPr>
                        <a:buNone/>
                      </a:pPr>
                      <a:r>
                        <a:rPr lang="en-IN" sz="1600" dirty="0"/>
                        <a:t>Field</a:t>
                      </a:r>
                    </a:p>
                  </a:txBody>
                  <a:tcPr anchor="ctr"/>
                </a:tc>
                <a:tc>
                  <a:txBody>
                    <a:bodyPr/>
                    <a:lstStyle/>
                    <a:p>
                      <a:pPr>
                        <a:buNone/>
                      </a:pPr>
                      <a:r>
                        <a:rPr lang="en-IN" sz="1600" dirty="0"/>
                        <a:t>Size</a:t>
                      </a:r>
                    </a:p>
                  </a:txBody>
                  <a:tcPr anchor="ctr"/>
                </a:tc>
                <a:tc>
                  <a:txBody>
                    <a:bodyPr/>
                    <a:lstStyle/>
                    <a:p>
                      <a:pPr>
                        <a:buNone/>
                      </a:pPr>
                      <a:r>
                        <a:rPr lang="en-IN" sz="1600"/>
                        <a:t>Purpose</a:t>
                      </a:r>
                    </a:p>
                  </a:txBody>
                  <a:tcPr anchor="ctr"/>
                </a:tc>
                <a:extLst>
                  <a:ext uri="{0D108BD9-81ED-4DB2-BD59-A6C34878D82A}">
                    <a16:rowId xmlns:a16="http://schemas.microsoft.com/office/drawing/2014/main" val="3536363029"/>
                  </a:ext>
                </a:extLst>
              </a:tr>
              <a:tr h="370840">
                <a:tc>
                  <a:txBody>
                    <a:bodyPr/>
                    <a:lstStyle/>
                    <a:p>
                      <a:pPr>
                        <a:buNone/>
                      </a:pPr>
                      <a:r>
                        <a:rPr lang="en-IN" sz="1600" b="1"/>
                        <a:t>Preamble</a:t>
                      </a:r>
                      <a:endParaRPr lang="en-IN" sz="1600"/>
                    </a:p>
                  </a:txBody>
                  <a:tcPr anchor="ctr"/>
                </a:tc>
                <a:tc>
                  <a:txBody>
                    <a:bodyPr/>
                    <a:lstStyle/>
                    <a:p>
                      <a:pPr>
                        <a:buNone/>
                      </a:pPr>
                      <a:r>
                        <a:rPr lang="en-IN" sz="1600"/>
                        <a:t>7 Bytes</a:t>
                      </a:r>
                    </a:p>
                  </a:txBody>
                  <a:tcPr anchor="ctr"/>
                </a:tc>
                <a:tc>
                  <a:txBody>
                    <a:bodyPr/>
                    <a:lstStyle/>
                    <a:p>
                      <a:pPr>
                        <a:buNone/>
                      </a:pPr>
                      <a:r>
                        <a:rPr lang="en-IN" sz="1600"/>
                        <a:t>Synchronizes the sender's and receiver's clocks before actual data transmission begins. It prepares the receiver to receive the incoming frame.</a:t>
                      </a:r>
                    </a:p>
                  </a:txBody>
                  <a:tcPr anchor="ctr"/>
                </a:tc>
                <a:extLst>
                  <a:ext uri="{0D108BD9-81ED-4DB2-BD59-A6C34878D82A}">
                    <a16:rowId xmlns:a16="http://schemas.microsoft.com/office/drawing/2014/main" val="781734500"/>
                  </a:ext>
                </a:extLst>
              </a:tr>
              <a:tr h="370840">
                <a:tc>
                  <a:txBody>
                    <a:bodyPr/>
                    <a:lstStyle/>
                    <a:p>
                      <a:pPr>
                        <a:buNone/>
                      </a:pPr>
                      <a:r>
                        <a:rPr lang="en-IN" sz="1600" b="1"/>
                        <a:t>Start Frame Delimiter (SFD)</a:t>
                      </a:r>
                      <a:endParaRPr lang="en-IN" sz="1600"/>
                    </a:p>
                  </a:txBody>
                  <a:tcPr anchor="ctr"/>
                </a:tc>
                <a:tc>
                  <a:txBody>
                    <a:bodyPr/>
                    <a:lstStyle/>
                    <a:p>
                      <a:pPr>
                        <a:buNone/>
                      </a:pPr>
                      <a:r>
                        <a:rPr lang="en-IN" sz="1600" dirty="0"/>
                        <a:t>1 Byte</a:t>
                      </a:r>
                    </a:p>
                  </a:txBody>
                  <a:tcPr anchor="ctr"/>
                </a:tc>
                <a:tc>
                  <a:txBody>
                    <a:bodyPr/>
                    <a:lstStyle/>
                    <a:p>
                      <a:pPr>
                        <a:buNone/>
                      </a:pPr>
                      <a:r>
                        <a:rPr lang="en-IN" sz="1600" dirty="0"/>
                        <a:t>Indicates the exact beginning of the Ethernet frame. It tells the receiver that the actual frame starts immediately after this field.</a:t>
                      </a:r>
                    </a:p>
                  </a:txBody>
                  <a:tcPr anchor="ctr"/>
                </a:tc>
                <a:extLst>
                  <a:ext uri="{0D108BD9-81ED-4DB2-BD59-A6C34878D82A}">
                    <a16:rowId xmlns:a16="http://schemas.microsoft.com/office/drawing/2014/main" val="452294532"/>
                  </a:ext>
                </a:extLst>
              </a:tr>
              <a:tr h="370840">
                <a:tc>
                  <a:txBody>
                    <a:bodyPr/>
                    <a:lstStyle/>
                    <a:p>
                      <a:pPr>
                        <a:buNone/>
                      </a:pPr>
                      <a:r>
                        <a:rPr lang="en-IN" sz="1600" b="1"/>
                        <a:t>Destination MAC Address</a:t>
                      </a:r>
                      <a:endParaRPr lang="en-IN" sz="1600"/>
                    </a:p>
                  </a:txBody>
                  <a:tcPr anchor="ctr"/>
                </a:tc>
                <a:tc>
                  <a:txBody>
                    <a:bodyPr/>
                    <a:lstStyle/>
                    <a:p>
                      <a:pPr>
                        <a:buNone/>
                      </a:pPr>
                      <a:r>
                        <a:rPr lang="en-IN" sz="1600" dirty="0"/>
                        <a:t>6 Bytes</a:t>
                      </a:r>
                    </a:p>
                  </a:txBody>
                  <a:tcPr anchor="ctr"/>
                </a:tc>
                <a:tc>
                  <a:txBody>
                    <a:bodyPr/>
                    <a:lstStyle/>
                    <a:p>
                      <a:pPr>
                        <a:buNone/>
                      </a:pPr>
                      <a:r>
                        <a:rPr lang="en-IN" sz="1600" dirty="0"/>
                        <a:t>Contains the MAC address of the device that should receive the frame. Every switch reads this field to forward the frame to the correct device.</a:t>
                      </a:r>
                    </a:p>
                  </a:txBody>
                  <a:tcPr anchor="ctr"/>
                </a:tc>
                <a:extLst>
                  <a:ext uri="{0D108BD9-81ED-4DB2-BD59-A6C34878D82A}">
                    <a16:rowId xmlns:a16="http://schemas.microsoft.com/office/drawing/2014/main" val="1871193978"/>
                  </a:ext>
                </a:extLst>
              </a:tr>
              <a:tr h="370840">
                <a:tc>
                  <a:txBody>
                    <a:bodyPr/>
                    <a:lstStyle/>
                    <a:p>
                      <a:pPr>
                        <a:buNone/>
                      </a:pPr>
                      <a:r>
                        <a:rPr lang="en-IN" sz="1600" b="1"/>
                        <a:t>Source MAC Address</a:t>
                      </a:r>
                      <a:endParaRPr lang="en-IN" sz="1600"/>
                    </a:p>
                  </a:txBody>
                  <a:tcPr anchor="ctr"/>
                </a:tc>
                <a:tc>
                  <a:txBody>
                    <a:bodyPr/>
                    <a:lstStyle/>
                    <a:p>
                      <a:pPr>
                        <a:buNone/>
                      </a:pPr>
                      <a:r>
                        <a:rPr lang="en-IN" sz="1600"/>
                        <a:t>6 Bytes</a:t>
                      </a:r>
                    </a:p>
                  </a:txBody>
                  <a:tcPr anchor="ctr"/>
                </a:tc>
                <a:tc>
                  <a:txBody>
                    <a:bodyPr/>
                    <a:lstStyle/>
                    <a:p>
                      <a:pPr>
                        <a:buNone/>
                      </a:pPr>
                      <a:r>
                        <a:rPr lang="en-IN" sz="1600" dirty="0"/>
                        <a:t>Contains the MAC address of the device that is sending the frame. It identifies the sender.</a:t>
                      </a:r>
                    </a:p>
                  </a:txBody>
                  <a:tcPr anchor="ctr"/>
                </a:tc>
                <a:extLst>
                  <a:ext uri="{0D108BD9-81ED-4DB2-BD59-A6C34878D82A}">
                    <a16:rowId xmlns:a16="http://schemas.microsoft.com/office/drawing/2014/main" val="1502802542"/>
                  </a:ext>
                </a:extLst>
              </a:tr>
              <a:tr h="370840">
                <a:tc>
                  <a:txBody>
                    <a:bodyPr/>
                    <a:lstStyle/>
                    <a:p>
                      <a:pPr>
                        <a:buNone/>
                      </a:pPr>
                      <a:r>
                        <a:rPr lang="en-IN" sz="1600" b="1"/>
                        <a:t>Type / Length</a:t>
                      </a:r>
                      <a:endParaRPr lang="en-IN" sz="1600"/>
                    </a:p>
                  </a:txBody>
                  <a:tcPr anchor="ctr"/>
                </a:tc>
                <a:tc>
                  <a:txBody>
                    <a:bodyPr/>
                    <a:lstStyle/>
                    <a:p>
                      <a:pPr>
                        <a:buNone/>
                      </a:pPr>
                      <a:r>
                        <a:rPr lang="en-IN" sz="1600" dirty="0"/>
                        <a:t>2 Bytes</a:t>
                      </a:r>
                    </a:p>
                  </a:txBody>
                  <a:tcPr anchor="ctr"/>
                </a:tc>
                <a:tc>
                  <a:txBody>
                    <a:bodyPr/>
                    <a:lstStyle/>
                    <a:p>
                      <a:pPr>
                        <a:buNone/>
                      </a:pPr>
                      <a:r>
                        <a:rPr lang="en-IN" sz="1600" dirty="0"/>
                        <a:t>Identifies the protocol of the upper layer (such as IPv4, IPv6, ARP), or in older Ethernet standards, specifies the length of the payload.</a:t>
                      </a:r>
                    </a:p>
                  </a:txBody>
                  <a:tcPr anchor="ctr"/>
                </a:tc>
                <a:extLst>
                  <a:ext uri="{0D108BD9-81ED-4DB2-BD59-A6C34878D82A}">
                    <a16:rowId xmlns:a16="http://schemas.microsoft.com/office/drawing/2014/main" val="3639388509"/>
                  </a:ext>
                </a:extLst>
              </a:tr>
              <a:tr h="370840">
                <a:tc>
                  <a:txBody>
                    <a:bodyPr/>
                    <a:lstStyle/>
                    <a:p>
                      <a:pPr>
                        <a:buNone/>
                      </a:pPr>
                      <a:r>
                        <a:rPr lang="en-IN" sz="1600" b="1"/>
                        <a:t>Data (Payload)</a:t>
                      </a:r>
                      <a:endParaRPr lang="en-IN" sz="1600"/>
                    </a:p>
                  </a:txBody>
                  <a:tcPr anchor="ctr"/>
                </a:tc>
                <a:tc>
                  <a:txBody>
                    <a:bodyPr/>
                    <a:lstStyle/>
                    <a:p>
                      <a:pPr>
                        <a:buNone/>
                      </a:pPr>
                      <a:r>
                        <a:rPr lang="en-IN" sz="1600"/>
                        <a:t>46–1500 Bytes</a:t>
                      </a:r>
                    </a:p>
                  </a:txBody>
                  <a:tcPr anchor="ctr"/>
                </a:tc>
                <a:tc>
                  <a:txBody>
                    <a:bodyPr/>
                    <a:lstStyle/>
                    <a:p>
                      <a:pPr>
                        <a:buNone/>
                      </a:pPr>
                      <a:r>
                        <a:rPr lang="en-IN" sz="1600" dirty="0"/>
                        <a:t>Contains the actual user information being transmitted. This is the data received from the Network Layer (usually an IP Packet).</a:t>
                      </a:r>
                    </a:p>
                  </a:txBody>
                  <a:tcPr anchor="ctr"/>
                </a:tc>
                <a:extLst>
                  <a:ext uri="{0D108BD9-81ED-4DB2-BD59-A6C34878D82A}">
                    <a16:rowId xmlns:a16="http://schemas.microsoft.com/office/drawing/2014/main" val="3449439947"/>
                  </a:ext>
                </a:extLst>
              </a:tr>
              <a:tr h="370840">
                <a:tc>
                  <a:txBody>
                    <a:bodyPr/>
                    <a:lstStyle/>
                    <a:p>
                      <a:pPr>
                        <a:buNone/>
                      </a:pPr>
                      <a:r>
                        <a:rPr lang="en-IN" sz="1600" b="1"/>
                        <a:t>FCS (Frame Check Sequence)</a:t>
                      </a:r>
                      <a:endParaRPr lang="en-IN" sz="1600"/>
                    </a:p>
                  </a:txBody>
                  <a:tcPr anchor="ctr"/>
                </a:tc>
                <a:tc>
                  <a:txBody>
                    <a:bodyPr/>
                    <a:lstStyle/>
                    <a:p>
                      <a:pPr>
                        <a:buNone/>
                      </a:pPr>
                      <a:r>
                        <a:rPr lang="en-IN" sz="1600"/>
                        <a:t>4 Bytes</a:t>
                      </a:r>
                    </a:p>
                  </a:txBody>
                  <a:tcPr anchor="ctr"/>
                </a:tc>
                <a:tc>
                  <a:txBody>
                    <a:bodyPr/>
                    <a:lstStyle/>
                    <a:p>
                      <a:pPr>
                        <a:buNone/>
                      </a:pPr>
                      <a:r>
                        <a:rPr lang="en-IN" sz="1600" dirty="0"/>
                        <a:t>Used for </a:t>
                      </a:r>
                      <a:r>
                        <a:rPr lang="en-IN" sz="1600" b="1" dirty="0"/>
                        <a:t>error detection</a:t>
                      </a:r>
                      <a:r>
                        <a:rPr lang="en-IN" sz="1600" dirty="0"/>
                        <a:t>. It contains a CRC (Cyclic Redundancy Check) value calculated by the sender. The receiver recalculates the CRC and compares the values. If they differ, the frame is discarded.</a:t>
                      </a:r>
                    </a:p>
                  </a:txBody>
                  <a:tcPr anchor="ctr"/>
                </a:tc>
                <a:extLst>
                  <a:ext uri="{0D108BD9-81ED-4DB2-BD59-A6C34878D82A}">
                    <a16:rowId xmlns:a16="http://schemas.microsoft.com/office/drawing/2014/main" val="3716821264"/>
                  </a:ext>
                </a:extLst>
              </a:tr>
            </a:tbl>
          </a:graphicData>
        </a:graphic>
      </p:graphicFrame>
    </p:spTree>
    <p:extLst>
      <p:ext uri="{BB962C8B-B14F-4D97-AF65-F5344CB8AC3E}">
        <p14:creationId xmlns:p14="http://schemas.microsoft.com/office/powerpoint/2010/main" val="344411576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2D8409-6B77-62A1-A413-62687B97CD88}"/>
              </a:ext>
            </a:extLst>
          </p:cNvPr>
          <p:cNvSpPr>
            <a:spLocks noGrp="1"/>
          </p:cNvSpPr>
          <p:nvPr>
            <p:ph type="title"/>
          </p:nvPr>
        </p:nvSpPr>
        <p:spPr>
          <a:xfrm>
            <a:off x="208547" y="529388"/>
            <a:ext cx="11678653" cy="577517"/>
          </a:xfrm>
        </p:spPr>
        <p:txBody>
          <a:bodyPr>
            <a:normAutofit fontScale="90000"/>
          </a:bodyPr>
          <a:lstStyle/>
          <a:p>
            <a:r>
              <a:rPr lang="en-US" dirty="0"/>
              <a:t>Layer 2 – Switch - Working</a:t>
            </a:r>
            <a:endParaRPr lang="en-IN" dirty="0"/>
          </a:p>
        </p:txBody>
      </p:sp>
      <p:pic>
        <p:nvPicPr>
          <p:cNvPr id="7" name="Picture 6">
            <a:extLst>
              <a:ext uri="{FF2B5EF4-FFF2-40B4-BE49-F238E27FC236}">
                <a16:creationId xmlns:a16="http://schemas.microsoft.com/office/drawing/2014/main" id="{D464EE7A-8009-F2D5-C476-98BC6097ABCE}"/>
              </a:ext>
            </a:extLst>
          </p:cNvPr>
          <p:cNvPicPr>
            <a:picLocks noChangeAspect="1"/>
          </p:cNvPicPr>
          <p:nvPr/>
        </p:nvPicPr>
        <p:blipFill>
          <a:blip r:embed="rId2"/>
          <a:stretch>
            <a:fillRect/>
          </a:stretch>
        </p:blipFill>
        <p:spPr>
          <a:xfrm>
            <a:off x="1032260" y="1520681"/>
            <a:ext cx="10031225" cy="4458322"/>
          </a:xfrm>
          <a:prstGeom prst="rect">
            <a:avLst/>
          </a:prstGeom>
        </p:spPr>
      </p:pic>
    </p:spTree>
    <p:extLst>
      <p:ext uri="{BB962C8B-B14F-4D97-AF65-F5344CB8AC3E}">
        <p14:creationId xmlns:p14="http://schemas.microsoft.com/office/powerpoint/2010/main" val="26661846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5920F5-76DC-E913-8ECE-7557C21D4D6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AD18904-2DDF-E15D-6A50-52134DF56856}"/>
              </a:ext>
            </a:extLst>
          </p:cNvPr>
          <p:cNvSpPr>
            <a:spLocks noGrp="1"/>
          </p:cNvSpPr>
          <p:nvPr>
            <p:ph idx="1"/>
          </p:nvPr>
        </p:nvSpPr>
        <p:spPr>
          <a:xfrm>
            <a:off x="208547" y="866274"/>
            <a:ext cx="11678653" cy="5694947"/>
          </a:xfrm>
        </p:spPr>
        <p:txBody>
          <a:bodyPr/>
          <a:lstStyle/>
          <a:p>
            <a:pPr marL="0" indent="0">
              <a:buNone/>
            </a:pPr>
            <a:r>
              <a:rPr lang="en-IN" b="1" dirty="0">
                <a:highlight>
                  <a:srgbClr val="FFFF00"/>
                </a:highlight>
              </a:rPr>
              <a:t>1. The Learning Phase (Source MAC Analysis)</a:t>
            </a:r>
          </a:p>
          <a:p>
            <a:r>
              <a:rPr lang="en-IN" dirty="0"/>
              <a:t>Every time an Ethernet frame enters any port on the switch, the switch's internal controller looks inside the frame's header and reads the </a:t>
            </a:r>
            <a:r>
              <a:rPr lang="en-IN" b="1" dirty="0"/>
              <a:t>Source MAC Address</a:t>
            </a:r>
            <a:r>
              <a:rPr lang="en-IN" dirty="0"/>
              <a:t> (the identity of the sender).</a:t>
            </a:r>
          </a:p>
          <a:p>
            <a:r>
              <a:rPr lang="en-IN" dirty="0"/>
              <a:t>It checks its CAM table. If that MAC address is not listed, the switch creates a new entry mapping that MAC address to the physical port number it just arrived on.</a:t>
            </a:r>
          </a:p>
          <a:p>
            <a:r>
              <a:rPr lang="en-IN" dirty="0"/>
              <a:t>If the address is already in the table, it refreshes a built-in timer to ensure the map remains accurate if the device moves to a different office desk.</a:t>
            </a:r>
          </a:p>
          <a:p>
            <a:endParaRPr lang="en-IN" dirty="0"/>
          </a:p>
        </p:txBody>
      </p:sp>
    </p:spTree>
    <p:extLst>
      <p:ext uri="{BB962C8B-B14F-4D97-AF65-F5344CB8AC3E}">
        <p14:creationId xmlns:p14="http://schemas.microsoft.com/office/powerpoint/2010/main" val="73903666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DDDBFF-9FBE-5A5E-9EF5-D3112E94B0E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E719E7F-51BF-C171-D532-323A3866CAD5}"/>
              </a:ext>
            </a:extLst>
          </p:cNvPr>
          <p:cNvSpPr>
            <a:spLocks noGrp="1"/>
          </p:cNvSpPr>
          <p:nvPr>
            <p:ph idx="1"/>
          </p:nvPr>
        </p:nvSpPr>
        <p:spPr>
          <a:xfrm>
            <a:off x="208547" y="866274"/>
            <a:ext cx="11678653" cy="5694947"/>
          </a:xfrm>
        </p:spPr>
        <p:txBody>
          <a:bodyPr/>
          <a:lstStyle/>
          <a:p>
            <a:pPr marL="0" indent="0">
              <a:buNone/>
            </a:pPr>
            <a:r>
              <a:rPr lang="en-IN" b="1" dirty="0">
                <a:highlight>
                  <a:srgbClr val="FFFF00"/>
                </a:highlight>
              </a:rPr>
              <a:t>2. The Forwarding/Filtering Phase (Targeted Delivery)</a:t>
            </a:r>
          </a:p>
          <a:p>
            <a:r>
              <a:rPr lang="en-IN" dirty="0"/>
              <a:t>Next, the switch looks at the </a:t>
            </a:r>
            <a:r>
              <a:rPr lang="en-IN" b="1" dirty="0"/>
              <a:t>Destination MAC Address</a:t>
            </a:r>
            <a:r>
              <a:rPr lang="en-IN" dirty="0"/>
              <a:t> inside the frame header (the identity of the target receiver). It runs a rapid query against its CAM table database.</a:t>
            </a:r>
          </a:p>
          <a:p>
            <a:r>
              <a:rPr lang="en-IN" dirty="0"/>
              <a:t>If the destination MAC address is safely logged in the table, the switch executes a targeted forward. It closes an internal hardware matrix circuit to route the frame </a:t>
            </a:r>
            <a:r>
              <a:rPr lang="en-IN" i="1" dirty="0"/>
              <a:t>only</a:t>
            </a:r>
            <a:r>
              <a:rPr lang="en-IN" dirty="0"/>
              <a:t> out of the port where that destination device lives.</a:t>
            </a:r>
          </a:p>
          <a:p>
            <a:r>
              <a:rPr lang="en-IN" dirty="0"/>
              <a:t>It completely filters (blocks) the frame from entering any other port, keeping those lines completely open for other devices to talk.</a:t>
            </a:r>
          </a:p>
          <a:p>
            <a:endParaRPr lang="en-IN" dirty="0"/>
          </a:p>
        </p:txBody>
      </p:sp>
    </p:spTree>
    <p:extLst>
      <p:ext uri="{BB962C8B-B14F-4D97-AF65-F5344CB8AC3E}">
        <p14:creationId xmlns:p14="http://schemas.microsoft.com/office/powerpoint/2010/main" val="69880316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865592-6996-1956-E0F8-E87FD2129A6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03E2091-7D63-44AC-FBDA-C2736C146615}"/>
              </a:ext>
            </a:extLst>
          </p:cNvPr>
          <p:cNvSpPr>
            <a:spLocks noGrp="1"/>
          </p:cNvSpPr>
          <p:nvPr>
            <p:ph idx="1"/>
          </p:nvPr>
        </p:nvSpPr>
        <p:spPr>
          <a:xfrm>
            <a:off x="208547" y="866274"/>
            <a:ext cx="11678653" cy="5694947"/>
          </a:xfrm>
        </p:spPr>
        <p:txBody>
          <a:bodyPr/>
          <a:lstStyle/>
          <a:p>
            <a:pPr marL="0" indent="0">
              <a:buNone/>
            </a:pPr>
            <a:r>
              <a:rPr lang="en-IN" b="1" dirty="0">
                <a:highlight>
                  <a:srgbClr val="FFFF00"/>
                </a:highlight>
              </a:rPr>
              <a:t>3. The Flooding Phase (Unknown Destination Fallback)</a:t>
            </a:r>
          </a:p>
          <a:p>
            <a:r>
              <a:rPr lang="en-IN" dirty="0"/>
              <a:t>If the switch queries its CAM table and discovers that the destination MAC address is missing (an </a:t>
            </a:r>
            <a:r>
              <a:rPr lang="en-IN" b="1" dirty="0"/>
              <a:t>Unknown Unicast</a:t>
            </a:r>
            <a:r>
              <a:rPr lang="en-IN" dirty="0"/>
              <a:t>), it cannot perform a targeted forward.</a:t>
            </a:r>
          </a:p>
          <a:p>
            <a:r>
              <a:rPr lang="en-IN" dirty="0"/>
              <a:t>To ensure the message gets delivered, the switch executes a fallback routine called </a:t>
            </a:r>
            <a:r>
              <a:rPr lang="en-IN" b="1" dirty="0"/>
              <a:t>Flooding</a:t>
            </a:r>
            <a:r>
              <a:rPr lang="en-IN" dirty="0"/>
              <a:t>. It duplicates the incoming frame and broadcasts it out to </a:t>
            </a:r>
            <a:r>
              <a:rPr lang="en-IN" b="1" dirty="0"/>
              <a:t>every single active port</a:t>
            </a:r>
            <a:r>
              <a:rPr lang="en-IN" dirty="0"/>
              <a:t> on the switch, except the port it originally arrived on.</a:t>
            </a:r>
          </a:p>
          <a:p>
            <a:r>
              <a:rPr lang="en-IN" dirty="0"/>
              <a:t>When the true destination device receives the flooded frame, it transmits a reply packet back. The moment that reply hits the switch, the switch reads the sender's MAC, updates its CAM table, and never has to flood a frame for that device again.</a:t>
            </a:r>
          </a:p>
          <a:p>
            <a:endParaRPr lang="en-IN" dirty="0"/>
          </a:p>
        </p:txBody>
      </p:sp>
    </p:spTree>
    <p:extLst>
      <p:ext uri="{BB962C8B-B14F-4D97-AF65-F5344CB8AC3E}">
        <p14:creationId xmlns:p14="http://schemas.microsoft.com/office/powerpoint/2010/main" val="132720694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497B34-08D5-659C-4E49-89C3FE87BD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3F1A1E-A502-6CEA-DFBD-E8BD13380618}"/>
              </a:ext>
            </a:extLst>
          </p:cNvPr>
          <p:cNvSpPr>
            <a:spLocks noGrp="1"/>
          </p:cNvSpPr>
          <p:nvPr>
            <p:ph type="title"/>
          </p:nvPr>
        </p:nvSpPr>
        <p:spPr>
          <a:xfrm>
            <a:off x="208547" y="529388"/>
            <a:ext cx="11678653" cy="577517"/>
          </a:xfrm>
        </p:spPr>
        <p:txBody>
          <a:bodyPr>
            <a:normAutofit fontScale="90000"/>
          </a:bodyPr>
          <a:lstStyle/>
          <a:p>
            <a:r>
              <a:rPr lang="en-US" dirty="0"/>
              <a:t>Sub-Layers of Data Link Layer: LLC &amp; MAC</a:t>
            </a:r>
            <a:endParaRPr lang="en-IN" dirty="0"/>
          </a:p>
        </p:txBody>
      </p:sp>
      <p:sp>
        <p:nvSpPr>
          <p:cNvPr id="3" name="Content Placeholder 2">
            <a:extLst>
              <a:ext uri="{FF2B5EF4-FFF2-40B4-BE49-F238E27FC236}">
                <a16:creationId xmlns:a16="http://schemas.microsoft.com/office/drawing/2014/main" id="{72A1CF8F-73E8-CD84-4D00-D942F3BCA4B2}"/>
              </a:ext>
            </a:extLst>
          </p:cNvPr>
          <p:cNvSpPr>
            <a:spLocks noGrp="1"/>
          </p:cNvSpPr>
          <p:nvPr>
            <p:ph idx="1"/>
          </p:nvPr>
        </p:nvSpPr>
        <p:spPr>
          <a:xfrm>
            <a:off x="208547" y="1106905"/>
            <a:ext cx="11678653" cy="5454316"/>
          </a:xfrm>
        </p:spPr>
        <p:txBody>
          <a:bodyPr>
            <a:normAutofit lnSpcReduction="10000"/>
          </a:bodyPr>
          <a:lstStyle/>
          <a:p>
            <a:r>
              <a:rPr lang="en-IN" dirty="0"/>
              <a:t>When the Data Link Layer (DLL) was originally conceived, it was tasked with a massive, dual-nature responsibility: it had to interact directly with upper-layer network software protocols (like IPv4 or IPv6) while simultaneously managing raw, messy, from-scratch hardware interfaces (like copper wires, </a:t>
            </a:r>
            <a:r>
              <a:rPr lang="en-IN" dirty="0" err="1"/>
              <a:t>fiber</a:t>
            </a:r>
            <a:r>
              <a:rPr lang="en-IN" dirty="0"/>
              <a:t> optics, or radio frequencies).</a:t>
            </a:r>
          </a:p>
          <a:p>
            <a:pPr marL="0" indent="0">
              <a:buNone/>
            </a:pPr>
            <a:r>
              <a:rPr lang="en-IN" b="1" dirty="0"/>
              <a:t>This introduces a significant engineering problem</a:t>
            </a:r>
            <a:r>
              <a:rPr lang="en-IN" dirty="0"/>
              <a:t>:</a:t>
            </a:r>
          </a:p>
          <a:p>
            <a:pPr marL="514350" indent="-514350">
              <a:buFont typeface="+mj-lt"/>
              <a:buAutoNum type="arabicPeriod"/>
            </a:pPr>
            <a:r>
              <a:rPr lang="en-IN" dirty="0"/>
              <a:t>If a software engineer writes a network driver that binds the operating system's IP packet formatting directly to a specific physical hardware medium (like a copper Ethernet cable), the entire software stack breaks the moment you try to use that same operating system over a wireless Wi-Fi link or a </a:t>
            </a:r>
            <a:r>
              <a:rPr lang="en-IN" dirty="0" err="1"/>
              <a:t>fiber</a:t>
            </a:r>
            <a:r>
              <a:rPr lang="en-IN" dirty="0"/>
              <a:t>-optic connection.</a:t>
            </a:r>
          </a:p>
          <a:p>
            <a:pPr marL="514350" indent="-514350">
              <a:buFont typeface="+mj-lt"/>
              <a:buAutoNum type="arabicPeriod"/>
            </a:pPr>
            <a:r>
              <a:rPr lang="en-IN" dirty="0"/>
              <a:t>Hardware protocols change constantly, but software applications need a steady, unchanging interface to transmit data packets.</a:t>
            </a:r>
          </a:p>
          <a:p>
            <a:endParaRPr lang="en-IN" dirty="0"/>
          </a:p>
        </p:txBody>
      </p:sp>
    </p:spTree>
    <p:extLst>
      <p:ext uri="{BB962C8B-B14F-4D97-AF65-F5344CB8AC3E}">
        <p14:creationId xmlns:p14="http://schemas.microsoft.com/office/powerpoint/2010/main" val="378418478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7A2C68-99BD-AD98-FB90-D1FA9D1668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EA3E37-88B4-BE8B-E499-4368ADF48211}"/>
              </a:ext>
            </a:extLst>
          </p:cNvPr>
          <p:cNvSpPr>
            <a:spLocks noGrp="1"/>
          </p:cNvSpPr>
          <p:nvPr>
            <p:ph type="title"/>
          </p:nvPr>
        </p:nvSpPr>
        <p:spPr>
          <a:xfrm>
            <a:off x="208547" y="529388"/>
            <a:ext cx="11678653" cy="577517"/>
          </a:xfrm>
        </p:spPr>
        <p:txBody>
          <a:bodyPr>
            <a:normAutofit fontScale="90000"/>
          </a:bodyPr>
          <a:lstStyle/>
          <a:p>
            <a:r>
              <a:rPr lang="en-IN" dirty="0"/>
              <a:t>The Solution</a:t>
            </a:r>
          </a:p>
        </p:txBody>
      </p:sp>
      <p:sp>
        <p:nvSpPr>
          <p:cNvPr id="3" name="Content Placeholder 2">
            <a:extLst>
              <a:ext uri="{FF2B5EF4-FFF2-40B4-BE49-F238E27FC236}">
                <a16:creationId xmlns:a16="http://schemas.microsoft.com/office/drawing/2014/main" id="{26D2620B-89C6-7104-1B1D-A9621C76B635}"/>
              </a:ext>
            </a:extLst>
          </p:cNvPr>
          <p:cNvSpPr>
            <a:spLocks noGrp="1"/>
          </p:cNvSpPr>
          <p:nvPr>
            <p:ph idx="1"/>
          </p:nvPr>
        </p:nvSpPr>
        <p:spPr>
          <a:xfrm>
            <a:off x="208547" y="1106905"/>
            <a:ext cx="11678653" cy="5454316"/>
          </a:xfrm>
        </p:spPr>
        <p:txBody>
          <a:bodyPr/>
          <a:lstStyle/>
          <a:p>
            <a:r>
              <a:rPr lang="en-IN" dirty="0"/>
              <a:t>To enforce clean separation of concerns, the IEEE 802 committee split the Data Link Layer into </a:t>
            </a:r>
            <a:r>
              <a:rPr lang="en-IN" b="1" dirty="0"/>
              <a:t>two distinct sub-layers</a:t>
            </a:r>
            <a:r>
              <a:rPr lang="en-IN" dirty="0"/>
              <a:t>: the </a:t>
            </a:r>
            <a:r>
              <a:rPr lang="en-IN" b="1" dirty="0"/>
              <a:t>Logical Link Control (LLC) sub-layer</a:t>
            </a:r>
            <a:r>
              <a:rPr lang="en-IN" dirty="0"/>
              <a:t> (the upper, software-facing half) and the </a:t>
            </a:r>
            <a:r>
              <a:rPr lang="en-IN" b="1" dirty="0"/>
              <a:t>Medium Access Control (MAC) sub-layer</a:t>
            </a:r>
            <a:r>
              <a:rPr lang="en-IN" dirty="0"/>
              <a:t> (the lower, hardware-facing half).</a:t>
            </a:r>
          </a:p>
          <a:p>
            <a:r>
              <a:rPr lang="en-IN" dirty="0"/>
              <a:t>By splitting the layer in two, the upper network software remains entirely decoupled from the physical wires. The LLC acts as a universal adapter for software, while the MAC acts as a specialized driver for the physical hardware.</a:t>
            </a:r>
          </a:p>
          <a:p>
            <a:endParaRPr lang="en-IN" dirty="0"/>
          </a:p>
        </p:txBody>
      </p:sp>
    </p:spTree>
    <p:extLst>
      <p:ext uri="{BB962C8B-B14F-4D97-AF65-F5344CB8AC3E}">
        <p14:creationId xmlns:p14="http://schemas.microsoft.com/office/powerpoint/2010/main" val="390777536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A28D96-4699-A269-0A36-078A4CE021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852BBA-B167-9433-F1E7-2703A02D980E}"/>
              </a:ext>
            </a:extLst>
          </p:cNvPr>
          <p:cNvSpPr>
            <a:spLocks noGrp="1"/>
          </p:cNvSpPr>
          <p:nvPr>
            <p:ph type="title"/>
          </p:nvPr>
        </p:nvSpPr>
        <p:spPr>
          <a:xfrm>
            <a:off x="208547" y="529388"/>
            <a:ext cx="11678653" cy="577517"/>
          </a:xfrm>
        </p:spPr>
        <p:txBody>
          <a:bodyPr>
            <a:normAutofit fontScale="90000"/>
          </a:bodyPr>
          <a:lstStyle/>
          <a:p>
            <a:r>
              <a:rPr lang="en-US" dirty="0"/>
              <a:t>LLC and MAC</a:t>
            </a:r>
            <a:endParaRPr lang="en-IN" dirty="0"/>
          </a:p>
        </p:txBody>
      </p:sp>
      <p:graphicFrame>
        <p:nvGraphicFramePr>
          <p:cNvPr id="4" name="Table 3">
            <a:extLst>
              <a:ext uri="{FF2B5EF4-FFF2-40B4-BE49-F238E27FC236}">
                <a16:creationId xmlns:a16="http://schemas.microsoft.com/office/drawing/2014/main" id="{2BDE4070-6B54-B82A-6FA4-4553F0118FFF}"/>
              </a:ext>
            </a:extLst>
          </p:cNvPr>
          <p:cNvGraphicFramePr>
            <a:graphicFrameLocks noGrp="1"/>
          </p:cNvGraphicFramePr>
          <p:nvPr>
            <p:extLst>
              <p:ext uri="{D42A27DB-BD31-4B8C-83A1-F6EECF244321}">
                <p14:modId xmlns:p14="http://schemas.microsoft.com/office/powerpoint/2010/main" val="3115953849"/>
              </p:ext>
            </p:extLst>
          </p:nvPr>
        </p:nvGraphicFramePr>
        <p:xfrm>
          <a:off x="1438441" y="1299410"/>
          <a:ext cx="8127999" cy="5394960"/>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1846916375"/>
                    </a:ext>
                  </a:extLst>
                </a:gridCol>
                <a:gridCol w="2709333">
                  <a:extLst>
                    <a:ext uri="{9D8B030D-6E8A-4147-A177-3AD203B41FA5}">
                      <a16:colId xmlns:a16="http://schemas.microsoft.com/office/drawing/2014/main" val="1373142705"/>
                    </a:ext>
                  </a:extLst>
                </a:gridCol>
                <a:gridCol w="2709333">
                  <a:extLst>
                    <a:ext uri="{9D8B030D-6E8A-4147-A177-3AD203B41FA5}">
                      <a16:colId xmlns:a16="http://schemas.microsoft.com/office/drawing/2014/main" val="473619705"/>
                    </a:ext>
                  </a:extLst>
                </a:gridCol>
              </a:tblGrid>
              <a:tr h="370840">
                <a:tc>
                  <a:txBody>
                    <a:bodyPr/>
                    <a:lstStyle/>
                    <a:p>
                      <a:pPr>
                        <a:buNone/>
                      </a:pPr>
                      <a:r>
                        <a:rPr lang="en-IN" dirty="0"/>
                        <a:t>Technical Metric / Feature</a:t>
                      </a:r>
                    </a:p>
                  </a:txBody>
                  <a:tcPr anchor="ctr"/>
                </a:tc>
                <a:tc>
                  <a:txBody>
                    <a:bodyPr/>
                    <a:lstStyle/>
                    <a:p>
                      <a:pPr>
                        <a:buNone/>
                      </a:pPr>
                      <a:r>
                        <a:rPr lang="en-IN"/>
                        <a:t>Logical Link Control (LLC) Sub-layer</a:t>
                      </a:r>
                    </a:p>
                  </a:txBody>
                  <a:tcPr anchor="ctr"/>
                </a:tc>
                <a:tc>
                  <a:txBody>
                    <a:bodyPr/>
                    <a:lstStyle/>
                    <a:p>
                      <a:pPr>
                        <a:buNone/>
                      </a:pPr>
                      <a:r>
                        <a:rPr lang="en-IN"/>
                        <a:t>Medium Access Control (MAC) Sub-layer</a:t>
                      </a:r>
                    </a:p>
                  </a:txBody>
                  <a:tcPr anchor="ctr"/>
                </a:tc>
                <a:extLst>
                  <a:ext uri="{0D108BD9-81ED-4DB2-BD59-A6C34878D82A}">
                    <a16:rowId xmlns:a16="http://schemas.microsoft.com/office/drawing/2014/main" val="2905158185"/>
                  </a:ext>
                </a:extLst>
              </a:tr>
              <a:tr h="370840">
                <a:tc>
                  <a:txBody>
                    <a:bodyPr/>
                    <a:lstStyle/>
                    <a:p>
                      <a:pPr>
                        <a:buNone/>
                      </a:pPr>
                      <a:r>
                        <a:rPr lang="en-IN" b="1"/>
                        <a:t>IEEE Standard Alignment</a:t>
                      </a:r>
                      <a:endParaRPr lang="en-IN"/>
                    </a:p>
                  </a:txBody>
                  <a:tcPr anchor="ctr"/>
                </a:tc>
                <a:tc>
                  <a:txBody>
                    <a:bodyPr/>
                    <a:lstStyle/>
                    <a:p>
                      <a:pPr>
                        <a:buNone/>
                      </a:pPr>
                      <a:r>
                        <a:rPr lang="en-IN"/>
                        <a:t>Standardized globally under </a:t>
                      </a:r>
                      <a:r>
                        <a:rPr lang="en-IN" b="1"/>
                        <a:t>IEEE 802.2</a:t>
                      </a:r>
                      <a:r>
                        <a:rPr lang="en-IN"/>
                        <a:t>.</a:t>
                      </a:r>
                    </a:p>
                  </a:txBody>
                  <a:tcPr anchor="ctr"/>
                </a:tc>
                <a:tc>
                  <a:txBody>
                    <a:bodyPr/>
                    <a:lstStyle/>
                    <a:p>
                      <a:pPr>
                        <a:buNone/>
                      </a:pPr>
                      <a:r>
                        <a:rPr lang="en-IN"/>
                        <a:t>Governed by medium-specific standards like </a:t>
                      </a:r>
                      <a:r>
                        <a:rPr lang="en-IN" b="1"/>
                        <a:t>IEEE 802.3 (Ethernet)</a:t>
                      </a:r>
                      <a:r>
                        <a:rPr lang="en-IN"/>
                        <a:t> or </a:t>
                      </a:r>
                      <a:r>
                        <a:rPr lang="en-IN" b="1"/>
                        <a:t>IEEE 802.11 (Wi-Fi)</a:t>
                      </a:r>
                      <a:r>
                        <a:rPr lang="en-IN"/>
                        <a:t>.</a:t>
                      </a:r>
                    </a:p>
                  </a:txBody>
                  <a:tcPr anchor="ctr"/>
                </a:tc>
                <a:extLst>
                  <a:ext uri="{0D108BD9-81ED-4DB2-BD59-A6C34878D82A}">
                    <a16:rowId xmlns:a16="http://schemas.microsoft.com/office/drawing/2014/main" val="2387388671"/>
                  </a:ext>
                </a:extLst>
              </a:tr>
              <a:tr h="370840">
                <a:tc>
                  <a:txBody>
                    <a:bodyPr/>
                    <a:lstStyle/>
                    <a:p>
                      <a:pPr>
                        <a:buNone/>
                      </a:pPr>
                      <a:r>
                        <a:rPr lang="en-IN" b="1"/>
                        <a:t>Layer Positioning</a:t>
                      </a:r>
                      <a:endParaRPr lang="en-IN"/>
                    </a:p>
                  </a:txBody>
                  <a:tcPr anchor="ctr"/>
                </a:tc>
                <a:tc>
                  <a:txBody>
                    <a:bodyPr/>
                    <a:lstStyle/>
                    <a:p>
                      <a:pPr>
                        <a:buNone/>
                      </a:pPr>
                      <a:r>
                        <a:rPr lang="en-IN" dirty="0"/>
                        <a:t>The </a:t>
                      </a:r>
                      <a:r>
                        <a:rPr lang="en-IN" b="1" dirty="0"/>
                        <a:t>upper sub-layer</a:t>
                      </a:r>
                      <a:r>
                        <a:rPr lang="en-IN" dirty="0"/>
                        <a:t> of the Data Link Layer; interfaces directly with the Network Layer (Layer 3).</a:t>
                      </a:r>
                    </a:p>
                  </a:txBody>
                  <a:tcPr anchor="ctr"/>
                </a:tc>
                <a:tc>
                  <a:txBody>
                    <a:bodyPr/>
                    <a:lstStyle/>
                    <a:p>
                      <a:pPr>
                        <a:buNone/>
                      </a:pPr>
                      <a:r>
                        <a:rPr lang="en-IN" dirty="0"/>
                        <a:t>The </a:t>
                      </a:r>
                      <a:r>
                        <a:rPr lang="en-IN" b="1" dirty="0"/>
                        <a:t>lower sub-layer</a:t>
                      </a:r>
                      <a:r>
                        <a:rPr lang="en-IN" dirty="0"/>
                        <a:t> of the Data Link Layer; interfaces directly with the Physical Layer (Layer 1).</a:t>
                      </a:r>
                    </a:p>
                  </a:txBody>
                  <a:tcPr anchor="ctr"/>
                </a:tc>
                <a:extLst>
                  <a:ext uri="{0D108BD9-81ED-4DB2-BD59-A6C34878D82A}">
                    <a16:rowId xmlns:a16="http://schemas.microsoft.com/office/drawing/2014/main" val="2167065826"/>
                  </a:ext>
                </a:extLst>
              </a:tr>
              <a:tr h="370840">
                <a:tc>
                  <a:txBody>
                    <a:bodyPr/>
                    <a:lstStyle/>
                    <a:p>
                      <a:pPr>
                        <a:buNone/>
                      </a:pPr>
                      <a:r>
                        <a:rPr lang="en-IN" b="1"/>
                        <a:t>Primary Domain / Nature</a:t>
                      </a:r>
                      <a:endParaRPr lang="en-IN"/>
                    </a:p>
                  </a:txBody>
                  <a:tcPr anchor="ctr"/>
                </a:tc>
                <a:tc>
                  <a:txBody>
                    <a:bodyPr/>
                    <a:lstStyle/>
                    <a:p>
                      <a:pPr>
                        <a:buNone/>
                      </a:pPr>
                      <a:r>
                        <a:rPr lang="en-IN" dirty="0"/>
                        <a:t>Primarily </a:t>
                      </a:r>
                      <a:r>
                        <a:rPr lang="en-IN" b="1" dirty="0"/>
                        <a:t>Software / Firmware driven</a:t>
                      </a:r>
                      <a:r>
                        <a:rPr lang="en-IN" dirty="0"/>
                        <a:t>; integrated directly into the OS network driver stack.</a:t>
                      </a:r>
                    </a:p>
                  </a:txBody>
                  <a:tcPr anchor="ctr"/>
                </a:tc>
                <a:tc>
                  <a:txBody>
                    <a:bodyPr/>
                    <a:lstStyle/>
                    <a:p>
                      <a:pPr>
                        <a:buNone/>
                      </a:pPr>
                      <a:r>
                        <a:rPr lang="en-IN" dirty="0"/>
                        <a:t>Primarily </a:t>
                      </a:r>
                      <a:r>
                        <a:rPr lang="en-IN" b="1" dirty="0"/>
                        <a:t>Hardware driven</a:t>
                      </a:r>
                      <a:r>
                        <a:rPr lang="en-IN" dirty="0"/>
                        <a:t>; hardcoded directly into the Network Interface Card (NIC) chipset.</a:t>
                      </a:r>
                    </a:p>
                  </a:txBody>
                  <a:tcPr anchor="ctr"/>
                </a:tc>
                <a:extLst>
                  <a:ext uri="{0D108BD9-81ED-4DB2-BD59-A6C34878D82A}">
                    <a16:rowId xmlns:a16="http://schemas.microsoft.com/office/drawing/2014/main" val="3078087453"/>
                  </a:ext>
                </a:extLst>
              </a:tr>
              <a:tr h="370840">
                <a:tc>
                  <a:txBody>
                    <a:bodyPr/>
                    <a:lstStyle/>
                    <a:p>
                      <a:pPr>
                        <a:buNone/>
                      </a:pPr>
                      <a:r>
                        <a:rPr lang="en-IN" b="1"/>
                        <a:t>Core Operational Responsibility</a:t>
                      </a:r>
                      <a:endParaRPr lang="en-IN"/>
                    </a:p>
                  </a:txBody>
                  <a:tcPr anchor="ctr"/>
                </a:tc>
                <a:tc>
                  <a:txBody>
                    <a:bodyPr/>
                    <a:lstStyle/>
                    <a:p>
                      <a:pPr>
                        <a:buNone/>
                      </a:pPr>
                      <a:r>
                        <a:rPr lang="en-IN" dirty="0"/>
                        <a:t>Protocol identification, software multiplexing, and managing logical links.</a:t>
                      </a:r>
                    </a:p>
                  </a:txBody>
                  <a:tcPr anchor="ctr"/>
                </a:tc>
                <a:tc>
                  <a:txBody>
                    <a:bodyPr/>
                    <a:lstStyle/>
                    <a:p>
                      <a:pPr>
                        <a:buNone/>
                      </a:pPr>
                      <a:r>
                        <a:rPr lang="en-IN" dirty="0"/>
                        <a:t>Channel allocation, hardware addressing, and resolving physical media contention.</a:t>
                      </a:r>
                    </a:p>
                  </a:txBody>
                  <a:tcPr anchor="ctr"/>
                </a:tc>
                <a:extLst>
                  <a:ext uri="{0D108BD9-81ED-4DB2-BD59-A6C34878D82A}">
                    <a16:rowId xmlns:a16="http://schemas.microsoft.com/office/drawing/2014/main" val="2205311952"/>
                  </a:ext>
                </a:extLst>
              </a:tr>
            </a:tbl>
          </a:graphicData>
        </a:graphic>
      </p:graphicFrame>
    </p:spTree>
    <p:extLst>
      <p:ext uri="{BB962C8B-B14F-4D97-AF65-F5344CB8AC3E}">
        <p14:creationId xmlns:p14="http://schemas.microsoft.com/office/powerpoint/2010/main" val="218202178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C4C365-888F-78E6-12A1-3E8CE19BD5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75AE9D-B382-DFF8-8C1F-ADAA7E571911}"/>
              </a:ext>
            </a:extLst>
          </p:cNvPr>
          <p:cNvSpPr>
            <a:spLocks noGrp="1"/>
          </p:cNvSpPr>
          <p:nvPr>
            <p:ph type="title"/>
          </p:nvPr>
        </p:nvSpPr>
        <p:spPr>
          <a:xfrm>
            <a:off x="208547" y="529388"/>
            <a:ext cx="11678653" cy="577517"/>
          </a:xfrm>
        </p:spPr>
        <p:txBody>
          <a:bodyPr>
            <a:normAutofit fontScale="90000"/>
          </a:bodyPr>
          <a:lstStyle/>
          <a:p>
            <a:r>
              <a:rPr lang="en-US" dirty="0"/>
              <a:t>LLC and MAC</a:t>
            </a:r>
            <a:endParaRPr lang="en-IN" dirty="0"/>
          </a:p>
        </p:txBody>
      </p:sp>
      <p:graphicFrame>
        <p:nvGraphicFramePr>
          <p:cNvPr id="4" name="Table 3">
            <a:extLst>
              <a:ext uri="{FF2B5EF4-FFF2-40B4-BE49-F238E27FC236}">
                <a16:creationId xmlns:a16="http://schemas.microsoft.com/office/drawing/2014/main" id="{FBA0E58C-FEDD-B0C5-5AE4-2208E1370B82}"/>
              </a:ext>
            </a:extLst>
          </p:cNvPr>
          <p:cNvGraphicFramePr>
            <a:graphicFrameLocks noGrp="1"/>
          </p:cNvGraphicFramePr>
          <p:nvPr>
            <p:extLst>
              <p:ext uri="{D42A27DB-BD31-4B8C-83A1-F6EECF244321}">
                <p14:modId xmlns:p14="http://schemas.microsoft.com/office/powerpoint/2010/main" val="787743894"/>
              </p:ext>
            </p:extLst>
          </p:nvPr>
        </p:nvGraphicFramePr>
        <p:xfrm>
          <a:off x="609602" y="1363578"/>
          <a:ext cx="10010271" cy="3840480"/>
        </p:xfrm>
        <a:graphic>
          <a:graphicData uri="http://schemas.openxmlformats.org/drawingml/2006/table">
            <a:tbl>
              <a:tblPr firstRow="1" bandRow="1">
                <a:tableStyleId>{5C22544A-7EE6-4342-B048-85BDC9FD1C3A}</a:tableStyleId>
              </a:tblPr>
              <a:tblGrid>
                <a:gridCol w="3336757">
                  <a:extLst>
                    <a:ext uri="{9D8B030D-6E8A-4147-A177-3AD203B41FA5}">
                      <a16:colId xmlns:a16="http://schemas.microsoft.com/office/drawing/2014/main" val="1846916375"/>
                    </a:ext>
                  </a:extLst>
                </a:gridCol>
                <a:gridCol w="3336757">
                  <a:extLst>
                    <a:ext uri="{9D8B030D-6E8A-4147-A177-3AD203B41FA5}">
                      <a16:colId xmlns:a16="http://schemas.microsoft.com/office/drawing/2014/main" val="1373142705"/>
                    </a:ext>
                  </a:extLst>
                </a:gridCol>
                <a:gridCol w="3336757">
                  <a:extLst>
                    <a:ext uri="{9D8B030D-6E8A-4147-A177-3AD203B41FA5}">
                      <a16:colId xmlns:a16="http://schemas.microsoft.com/office/drawing/2014/main" val="473619705"/>
                    </a:ext>
                  </a:extLst>
                </a:gridCol>
              </a:tblGrid>
              <a:tr h="370840">
                <a:tc>
                  <a:txBody>
                    <a:bodyPr/>
                    <a:lstStyle/>
                    <a:p>
                      <a:pPr>
                        <a:buNone/>
                      </a:pPr>
                      <a:r>
                        <a:rPr lang="en-IN" b="1" dirty="0"/>
                        <a:t>Hardware Portability / Abstraction</a:t>
                      </a:r>
                      <a:endParaRPr lang="en-IN" dirty="0"/>
                    </a:p>
                  </a:txBody>
                  <a:tcPr anchor="ctr"/>
                </a:tc>
                <a:tc>
                  <a:txBody>
                    <a:bodyPr/>
                    <a:lstStyle/>
                    <a:p>
                      <a:pPr>
                        <a:buNone/>
                      </a:pPr>
                      <a:r>
                        <a:rPr lang="en-IN" b="1"/>
                        <a:t>Medium Independent:</a:t>
                      </a:r>
                      <a:r>
                        <a:rPr lang="en-IN"/>
                        <a:t> The exact same LLC software code runs whether the data moves over Wi-Fi, fiber, or copper wire.</a:t>
                      </a:r>
                    </a:p>
                  </a:txBody>
                  <a:tcPr anchor="ctr"/>
                </a:tc>
                <a:tc>
                  <a:txBody>
                    <a:bodyPr/>
                    <a:lstStyle/>
                    <a:p>
                      <a:pPr>
                        <a:buNone/>
                      </a:pPr>
                      <a:r>
                        <a:rPr lang="en-IN" b="1" dirty="0"/>
                        <a:t>Medium Dependent:</a:t>
                      </a:r>
                      <a:r>
                        <a:rPr lang="en-IN" dirty="0"/>
                        <a:t> Completely rigid; an Ethernet MAC chip cannot process or understand a wireless radio frequency channel.</a:t>
                      </a:r>
                    </a:p>
                  </a:txBody>
                  <a:tcPr anchor="ctr"/>
                </a:tc>
                <a:extLst>
                  <a:ext uri="{0D108BD9-81ED-4DB2-BD59-A6C34878D82A}">
                    <a16:rowId xmlns:a16="http://schemas.microsoft.com/office/drawing/2014/main" val="2905158185"/>
                  </a:ext>
                </a:extLst>
              </a:tr>
              <a:tr h="370840">
                <a:tc>
                  <a:txBody>
                    <a:bodyPr/>
                    <a:lstStyle/>
                    <a:p>
                      <a:pPr>
                        <a:buNone/>
                      </a:pPr>
                      <a:r>
                        <a:rPr lang="en-IN" b="1"/>
                        <a:t>Flow &amp; Error Control Architecture</a:t>
                      </a:r>
                      <a:endParaRPr lang="en-IN"/>
                    </a:p>
                  </a:txBody>
                  <a:tcPr anchor="ctr"/>
                </a:tc>
                <a:tc>
                  <a:txBody>
                    <a:bodyPr/>
                    <a:lstStyle/>
                    <a:p>
                      <a:pPr>
                        <a:buNone/>
                      </a:pPr>
                      <a:r>
                        <a:rPr lang="en-IN"/>
                        <a:t>Handles high-level </a:t>
                      </a:r>
                      <a:r>
                        <a:rPr lang="en-IN" b="1"/>
                        <a:t>Software Flow Control</a:t>
                      </a:r>
                      <a:r>
                        <a:rPr lang="en-IN"/>
                        <a:t> (e.g., Sliding Window, Stop-and-Wait) and software-level packet tracking.</a:t>
                      </a:r>
                    </a:p>
                  </a:txBody>
                  <a:tcPr anchor="ctr"/>
                </a:tc>
                <a:tc>
                  <a:txBody>
                    <a:bodyPr/>
                    <a:lstStyle/>
                    <a:p>
                      <a:pPr>
                        <a:buNone/>
                      </a:pPr>
                      <a:r>
                        <a:rPr lang="en-IN" dirty="0"/>
                        <a:t>Handles low-level </a:t>
                      </a:r>
                      <a:r>
                        <a:rPr lang="en-IN" b="1" dirty="0"/>
                        <a:t>Hardware Frame Check Sequence (FCS)</a:t>
                      </a:r>
                      <a:r>
                        <a:rPr lang="en-IN" dirty="0"/>
                        <a:t> generation via 32-bit CRC calculation.</a:t>
                      </a:r>
                    </a:p>
                  </a:txBody>
                  <a:tcPr anchor="ctr"/>
                </a:tc>
                <a:extLst>
                  <a:ext uri="{0D108BD9-81ED-4DB2-BD59-A6C34878D82A}">
                    <a16:rowId xmlns:a16="http://schemas.microsoft.com/office/drawing/2014/main" val="2387388671"/>
                  </a:ext>
                </a:extLst>
              </a:tr>
              <a:tr h="370840">
                <a:tc>
                  <a:txBody>
                    <a:bodyPr/>
                    <a:lstStyle/>
                    <a:p>
                      <a:pPr>
                        <a:buNone/>
                      </a:pPr>
                      <a:r>
                        <a:rPr lang="en-IN" b="1" dirty="0"/>
                        <a:t>GATE Core Concept (Imp)</a:t>
                      </a:r>
                      <a:endParaRPr lang="en-IN" dirty="0"/>
                    </a:p>
                  </a:txBody>
                  <a:tcPr anchor="ctr"/>
                </a:tc>
                <a:tc>
                  <a:txBody>
                    <a:bodyPr/>
                    <a:lstStyle/>
                    <a:p>
                      <a:pPr>
                        <a:buNone/>
                      </a:pPr>
                      <a:r>
                        <a:rPr lang="en-IN"/>
                        <a:t>Prevents cross-contamination between different network architectures (e.g., IPv4 vs. IPv6 over the same wire).</a:t>
                      </a:r>
                    </a:p>
                  </a:txBody>
                  <a:tcPr anchor="ctr"/>
                </a:tc>
                <a:tc>
                  <a:txBody>
                    <a:bodyPr/>
                    <a:lstStyle/>
                    <a:p>
                      <a:pPr>
                        <a:buNone/>
                      </a:pPr>
                      <a:r>
                        <a:rPr lang="en-IN" dirty="0"/>
                        <a:t>Implements the </a:t>
                      </a:r>
                      <a:r>
                        <a:rPr lang="en-IN" b="1" dirty="0"/>
                        <a:t>Random Access and Multiple Access Algorithms</a:t>
                      </a:r>
                      <a:r>
                        <a:rPr lang="en-IN" dirty="0"/>
                        <a:t> (ALOHA, CSMA/CD, CSMA/CA).</a:t>
                      </a:r>
                    </a:p>
                  </a:txBody>
                  <a:tcPr anchor="ctr"/>
                </a:tc>
                <a:extLst>
                  <a:ext uri="{0D108BD9-81ED-4DB2-BD59-A6C34878D82A}">
                    <a16:rowId xmlns:a16="http://schemas.microsoft.com/office/drawing/2014/main" val="2167065826"/>
                  </a:ext>
                </a:extLst>
              </a:tr>
            </a:tbl>
          </a:graphicData>
        </a:graphic>
      </p:graphicFrame>
    </p:spTree>
    <p:extLst>
      <p:ext uri="{BB962C8B-B14F-4D97-AF65-F5344CB8AC3E}">
        <p14:creationId xmlns:p14="http://schemas.microsoft.com/office/powerpoint/2010/main" val="225939061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AB99B5-1720-BCBC-832E-0F3E04615E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4A62C1-C34B-DB5F-CAED-8EA1DA436FEB}"/>
              </a:ext>
            </a:extLst>
          </p:cNvPr>
          <p:cNvSpPr>
            <a:spLocks noGrp="1"/>
          </p:cNvSpPr>
          <p:nvPr>
            <p:ph type="title"/>
          </p:nvPr>
        </p:nvSpPr>
        <p:spPr>
          <a:xfrm>
            <a:off x="208547" y="529388"/>
            <a:ext cx="11678653" cy="577517"/>
          </a:xfrm>
        </p:spPr>
        <p:txBody>
          <a:bodyPr>
            <a:normAutofit fontScale="90000"/>
          </a:bodyPr>
          <a:lstStyle/>
          <a:p>
            <a:r>
              <a:rPr lang="en-US" dirty="0"/>
              <a:t>MAC Layer Need</a:t>
            </a:r>
            <a:endParaRPr lang="en-IN" dirty="0"/>
          </a:p>
        </p:txBody>
      </p:sp>
      <p:sp>
        <p:nvSpPr>
          <p:cNvPr id="3" name="Content Placeholder 2">
            <a:extLst>
              <a:ext uri="{FF2B5EF4-FFF2-40B4-BE49-F238E27FC236}">
                <a16:creationId xmlns:a16="http://schemas.microsoft.com/office/drawing/2014/main" id="{26AD22F0-BFAD-3235-6CEA-8241F2EF9283}"/>
              </a:ext>
            </a:extLst>
          </p:cNvPr>
          <p:cNvSpPr>
            <a:spLocks noGrp="1"/>
          </p:cNvSpPr>
          <p:nvPr>
            <p:ph idx="1"/>
          </p:nvPr>
        </p:nvSpPr>
        <p:spPr>
          <a:xfrm>
            <a:off x="208547" y="1106905"/>
            <a:ext cx="11678653" cy="5502442"/>
          </a:xfrm>
        </p:spPr>
        <p:txBody>
          <a:bodyPr>
            <a:normAutofit/>
          </a:bodyPr>
          <a:lstStyle/>
          <a:p>
            <a:pPr marL="0" indent="0">
              <a:buNone/>
            </a:pPr>
            <a:r>
              <a:rPr lang="en-IN" dirty="0"/>
              <a:t>To stop computers from interrupting each other, network engineers split all sharing rules into three main categories:</a:t>
            </a:r>
          </a:p>
        </p:txBody>
      </p:sp>
      <p:pic>
        <p:nvPicPr>
          <p:cNvPr id="7" name="Picture 6">
            <a:extLst>
              <a:ext uri="{FF2B5EF4-FFF2-40B4-BE49-F238E27FC236}">
                <a16:creationId xmlns:a16="http://schemas.microsoft.com/office/drawing/2014/main" id="{05EE3617-CA22-DD2C-41BB-702B12EB0D45}"/>
              </a:ext>
            </a:extLst>
          </p:cNvPr>
          <p:cNvPicPr>
            <a:picLocks noChangeAspect="1"/>
          </p:cNvPicPr>
          <p:nvPr/>
        </p:nvPicPr>
        <p:blipFill>
          <a:blip r:embed="rId2"/>
          <a:stretch>
            <a:fillRect/>
          </a:stretch>
        </p:blipFill>
        <p:spPr>
          <a:xfrm>
            <a:off x="1507958" y="2152162"/>
            <a:ext cx="8823773" cy="4344889"/>
          </a:xfrm>
          <a:prstGeom prst="rect">
            <a:avLst/>
          </a:prstGeom>
        </p:spPr>
      </p:pic>
    </p:spTree>
    <p:extLst>
      <p:ext uri="{BB962C8B-B14F-4D97-AF65-F5344CB8AC3E}">
        <p14:creationId xmlns:p14="http://schemas.microsoft.com/office/powerpoint/2010/main" val="361780416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1F2BE0-6702-CBD8-5DEF-17D850EA78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7402EF-77D2-AE86-AA0C-9B18F80F15EE}"/>
              </a:ext>
            </a:extLst>
          </p:cNvPr>
          <p:cNvSpPr>
            <a:spLocks noGrp="1"/>
          </p:cNvSpPr>
          <p:nvPr>
            <p:ph type="title"/>
          </p:nvPr>
        </p:nvSpPr>
        <p:spPr>
          <a:xfrm>
            <a:off x="208547" y="529388"/>
            <a:ext cx="11678653" cy="577517"/>
          </a:xfrm>
        </p:spPr>
        <p:txBody>
          <a:bodyPr>
            <a:normAutofit fontScale="90000"/>
          </a:bodyPr>
          <a:lstStyle/>
          <a:p>
            <a:r>
              <a:rPr lang="en-US" dirty="0"/>
              <a:t>MAC Layer Need</a:t>
            </a:r>
            <a:endParaRPr lang="en-IN" dirty="0"/>
          </a:p>
        </p:txBody>
      </p:sp>
      <p:sp>
        <p:nvSpPr>
          <p:cNvPr id="3" name="Content Placeholder 2">
            <a:extLst>
              <a:ext uri="{FF2B5EF4-FFF2-40B4-BE49-F238E27FC236}">
                <a16:creationId xmlns:a16="http://schemas.microsoft.com/office/drawing/2014/main" id="{46F7673C-127B-D7C8-B6DF-E4D99C03FAD6}"/>
              </a:ext>
            </a:extLst>
          </p:cNvPr>
          <p:cNvSpPr>
            <a:spLocks noGrp="1"/>
          </p:cNvSpPr>
          <p:nvPr>
            <p:ph idx="1"/>
          </p:nvPr>
        </p:nvSpPr>
        <p:spPr>
          <a:xfrm>
            <a:off x="208547" y="1106905"/>
            <a:ext cx="11678653" cy="5502442"/>
          </a:xfrm>
        </p:spPr>
        <p:txBody>
          <a:bodyPr>
            <a:normAutofit fontScale="85000" lnSpcReduction="20000"/>
          </a:bodyPr>
          <a:lstStyle/>
          <a:p>
            <a:r>
              <a:rPr lang="en-IN" dirty="0"/>
              <a:t>Imagine a classroom where 20 people are trying to talk to each other. If everyone stays quiet and speaks one at a time, everyone can hear clearly. But if two or more people start shouting their sentences at the exact same millisecond, their voices mix together mid-air. The result is just loud, scrambled noise. No one can understand what was said, and the messages are completely lost.</a:t>
            </a:r>
          </a:p>
          <a:p>
            <a:r>
              <a:rPr lang="en-IN" dirty="0"/>
              <a:t>In computer networks, this shared classroom is called a </a:t>
            </a:r>
            <a:r>
              <a:rPr lang="en-IN" b="1" dirty="0"/>
              <a:t>Broadcast Channel</a:t>
            </a:r>
            <a:r>
              <a:rPr lang="en-IN" dirty="0"/>
              <a:t>. It is a single physical medium like an open radio frequency in the air (Wi-Fi) or a single copper wire (Ethernet)—that many different computers share.</a:t>
            </a:r>
          </a:p>
          <a:p>
            <a:r>
              <a:rPr lang="en-IN" dirty="0"/>
              <a:t>When two or more computers try to send data over this shared line at the same time, their electrical or radio waves physically crash into each other. In networking, this crash is called a </a:t>
            </a:r>
            <a:r>
              <a:rPr lang="en-IN" b="1" dirty="0">
                <a:highlight>
                  <a:srgbClr val="FFFF00"/>
                </a:highlight>
              </a:rPr>
              <a:t>Collision</a:t>
            </a:r>
            <a:r>
              <a:rPr lang="en-IN" dirty="0"/>
              <a:t>. The signals distort each other, turning the data into useless digital garbage. When the receiving computer gets this scrambled signal, it cannot read it and simply throws it away.</a:t>
            </a:r>
          </a:p>
          <a:p>
            <a:r>
              <a:rPr lang="en-IN" dirty="0"/>
              <a:t>Without a strict set of rules to decide who gets to speak and when, a shared network would constantly suffer from collisions. Under medium or heavy traffic, the entire network would lock up, and the amount of useful data getting through would drop to zero. The rules that prevent this live inside the </a:t>
            </a:r>
            <a:r>
              <a:rPr lang="en-IN" b="1" dirty="0"/>
              <a:t>Medium Access Control (MAC)</a:t>
            </a:r>
            <a:r>
              <a:rPr lang="en-IN" dirty="0"/>
              <a:t> sub-layer of the Data Link Layer.</a:t>
            </a:r>
          </a:p>
          <a:p>
            <a:pPr marL="0" indent="0">
              <a:buNone/>
            </a:pPr>
            <a:endParaRPr lang="en-IN" dirty="0"/>
          </a:p>
        </p:txBody>
      </p:sp>
    </p:spTree>
    <p:extLst>
      <p:ext uri="{BB962C8B-B14F-4D97-AF65-F5344CB8AC3E}">
        <p14:creationId xmlns:p14="http://schemas.microsoft.com/office/powerpoint/2010/main" val="414696893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560D6C-7AEF-D770-10E9-67CB988324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7EC52F-F4F3-95D2-5893-EF9866DF1BB7}"/>
              </a:ext>
            </a:extLst>
          </p:cNvPr>
          <p:cNvSpPr>
            <a:spLocks noGrp="1"/>
          </p:cNvSpPr>
          <p:nvPr>
            <p:ph type="title"/>
          </p:nvPr>
        </p:nvSpPr>
        <p:spPr>
          <a:xfrm>
            <a:off x="208547" y="529388"/>
            <a:ext cx="11678653" cy="577517"/>
          </a:xfrm>
        </p:spPr>
        <p:txBody>
          <a:bodyPr>
            <a:normAutofit fontScale="90000"/>
          </a:bodyPr>
          <a:lstStyle/>
          <a:p>
            <a:r>
              <a:rPr lang="en-US" dirty="0"/>
              <a:t>Random Access Protocols</a:t>
            </a:r>
            <a:endParaRPr lang="en-IN" dirty="0"/>
          </a:p>
        </p:txBody>
      </p:sp>
      <p:sp>
        <p:nvSpPr>
          <p:cNvPr id="3" name="Content Placeholder 2">
            <a:extLst>
              <a:ext uri="{FF2B5EF4-FFF2-40B4-BE49-F238E27FC236}">
                <a16:creationId xmlns:a16="http://schemas.microsoft.com/office/drawing/2014/main" id="{2CCCE39A-8CCD-FAA9-DEBC-91143707F4B8}"/>
              </a:ext>
            </a:extLst>
          </p:cNvPr>
          <p:cNvSpPr>
            <a:spLocks noGrp="1"/>
          </p:cNvSpPr>
          <p:nvPr>
            <p:ph idx="1"/>
          </p:nvPr>
        </p:nvSpPr>
        <p:spPr>
          <a:xfrm>
            <a:off x="208547" y="1106905"/>
            <a:ext cx="11678653" cy="5454316"/>
          </a:xfrm>
        </p:spPr>
        <p:txBody>
          <a:bodyPr/>
          <a:lstStyle/>
          <a:p>
            <a:r>
              <a:rPr lang="en-IN" dirty="0"/>
              <a:t>Random Access Protocols are MAC-layer protocols where every station has an </a:t>
            </a:r>
            <a:r>
              <a:rPr lang="en-IN" b="1" dirty="0"/>
              <a:t>equal opportunity</a:t>
            </a:r>
            <a:r>
              <a:rPr lang="en-IN" dirty="0"/>
              <a:t> to access the shared communication medium.</a:t>
            </a:r>
          </a:p>
          <a:p>
            <a:r>
              <a:rPr lang="en-IN" dirty="0"/>
              <a:t>No station receives a permanently reserved communication channel.</a:t>
            </a:r>
          </a:p>
          <a:p>
            <a:r>
              <a:rPr lang="en-IN" dirty="0"/>
              <a:t>Whenever a station has data to send, it competes for access to the medium.</a:t>
            </a:r>
          </a:p>
          <a:p>
            <a:r>
              <a:rPr lang="en-IN" dirty="0"/>
              <a:t>In random access method, each station has the right to the medium without being controlled by any other station,</a:t>
            </a:r>
          </a:p>
          <a:p>
            <a:r>
              <a:rPr lang="en-IN" dirty="0"/>
              <a:t>If more then one station tries to send data, then there are high chances of collision and the frames will be either destroyed or modified.</a:t>
            </a:r>
          </a:p>
        </p:txBody>
      </p:sp>
    </p:spTree>
    <p:extLst>
      <p:ext uri="{BB962C8B-B14F-4D97-AF65-F5344CB8AC3E}">
        <p14:creationId xmlns:p14="http://schemas.microsoft.com/office/powerpoint/2010/main" val="133912257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E7D4BB-C162-201C-C741-3105BE2BFAF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DD67EA7-062B-603C-E1AD-BB3FFF199FD1}"/>
              </a:ext>
            </a:extLst>
          </p:cNvPr>
          <p:cNvSpPr>
            <a:spLocks noGrp="1"/>
          </p:cNvSpPr>
          <p:nvPr>
            <p:ph idx="1"/>
          </p:nvPr>
        </p:nvSpPr>
        <p:spPr>
          <a:xfrm>
            <a:off x="208547" y="753979"/>
            <a:ext cx="11678653" cy="5807242"/>
          </a:xfrm>
        </p:spPr>
        <p:txBody>
          <a:bodyPr/>
          <a:lstStyle/>
          <a:p>
            <a:pPr marL="0" indent="0">
              <a:buNone/>
            </a:pPr>
            <a:r>
              <a:rPr lang="en-IN" dirty="0"/>
              <a:t>To avoid access conflicts, each station follows a procedure:</a:t>
            </a:r>
          </a:p>
          <a:p>
            <a:pPr marL="514350" indent="-514350">
              <a:buFont typeface="+mj-lt"/>
              <a:buAutoNum type="arabicPeriod"/>
            </a:pPr>
            <a:r>
              <a:rPr lang="en-IN" dirty="0"/>
              <a:t>When can the station access the medium?</a:t>
            </a:r>
          </a:p>
          <a:p>
            <a:pPr marL="514350" indent="-514350">
              <a:buFont typeface="+mj-lt"/>
              <a:buAutoNum type="arabicPeriod"/>
            </a:pPr>
            <a:r>
              <a:rPr lang="en-IN" dirty="0"/>
              <a:t>What can the station do if the medium is busy?</a:t>
            </a:r>
          </a:p>
          <a:p>
            <a:pPr marL="514350" indent="-514350">
              <a:buFont typeface="+mj-lt"/>
              <a:buAutoNum type="arabicPeriod"/>
            </a:pPr>
            <a:r>
              <a:rPr lang="en-IN" dirty="0"/>
              <a:t>How can the station determine the success or failure of the transmission?</a:t>
            </a:r>
          </a:p>
          <a:p>
            <a:pPr marL="514350" indent="-514350">
              <a:buFont typeface="+mj-lt"/>
              <a:buAutoNum type="arabicPeriod"/>
            </a:pPr>
            <a:r>
              <a:rPr lang="en-IN" dirty="0"/>
              <a:t>What can the station do if there is a collision?</a:t>
            </a:r>
          </a:p>
        </p:txBody>
      </p:sp>
    </p:spTree>
    <p:extLst>
      <p:ext uri="{BB962C8B-B14F-4D97-AF65-F5344CB8AC3E}">
        <p14:creationId xmlns:p14="http://schemas.microsoft.com/office/powerpoint/2010/main" val="80101256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C52793-7AF7-86D5-4152-CF58648451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2B2F89-722B-9007-8C53-4C521228090D}"/>
              </a:ext>
            </a:extLst>
          </p:cNvPr>
          <p:cNvSpPr>
            <a:spLocks noGrp="1"/>
          </p:cNvSpPr>
          <p:nvPr>
            <p:ph type="title"/>
          </p:nvPr>
        </p:nvSpPr>
        <p:spPr>
          <a:xfrm>
            <a:off x="208547" y="529388"/>
            <a:ext cx="11678653" cy="577517"/>
          </a:xfrm>
        </p:spPr>
        <p:txBody>
          <a:bodyPr>
            <a:normAutofit fontScale="90000"/>
          </a:bodyPr>
          <a:lstStyle/>
          <a:p>
            <a:r>
              <a:rPr lang="en-US" dirty="0"/>
              <a:t>Aloha</a:t>
            </a:r>
            <a:endParaRPr lang="en-IN" dirty="0"/>
          </a:p>
        </p:txBody>
      </p:sp>
      <p:sp>
        <p:nvSpPr>
          <p:cNvPr id="3" name="Content Placeholder 2">
            <a:extLst>
              <a:ext uri="{FF2B5EF4-FFF2-40B4-BE49-F238E27FC236}">
                <a16:creationId xmlns:a16="http://schemas.microsoft.com/office/drawing/2014/main" id="{B4E1CF9A-0BFE-675F-903B-DB57D5A17A87}"/>
              </a:ext>
            </a:extLst>
          </p:cNvPr>
          <p:cNvSpPr>
            <a:spLocks noGrp="1"/>
          </p:cNvSpPr>
          <p:nvPr>
            <p:ph idx="1"/>
          </p:nvPr>
        </p:nvSpPr>
        <p:spPr>
          <a:xfrm>
            <a:off x="208547" y="1106905"/>
            <a:ext cx="11678653" cy="5454316"/>
          </a:xfrm>
        </p:spPr>
        <p:txBody>
          <a:bodyPr/>
          <a:lstStyle/>
          <a:p>
            <a:r>
              <a:rPr lang="en-US" dirty="0"/>
              <a:t>Aloha is a random-access protocol</a:t>
            </a:r>
          </a:p>
          <a:p>
            <a:r>
              <a:rPr lang="en-US" dirty="0"/>
              <a:t>It was actually designed for WLAN but its also applicable for shared medium.</a:t>
            </a:r>
          </a:p>
          <a:p>
            <a:r>
              <a:rPr lang="en-US" dirty="0"/>
              <a:t>In this, multiple stations can transmit data at the same time and can hence lead to collisions and data being garbled.</a:t>
            </a:r>
          </a:p>
          <a:p>
            <a:pPr marL="0" indent="0">
              <a:buNone/>
            </a:pPr>
            <a:r>
              <a:rPr lang="en-US" dirty="0"/>
              <a:t>Types</a:t>
            </a:r>
          </a:p>
          <a:p>
            <a:pPr marL="514350" indent="-514350">
              <a:buFont typeface="+mj-lt"/>
              <a:buAutoNum type="arabicPeriod"/>
            </a:pPr>
            <a:r>
              <a:rPr lang="en-US" dirty="0"/>
              <a:t>Pure Aloha</a:t>
            </a:r>
          </a:p>
          <a:p>
            <a:pPr marL="514350" indent="-514350">
              <a:buFont typeface="+mj-lt"/>
              <a:buAutoNum type="arabicPeriod"/>
            </a:pPr>
            <a:r>
              <a:rPr lang="en-US" dirty="0"/>
              <a:t>Slotted Aloha</a:t>
            </a:r>
            <a:endParaRPr lang="en-IN" dirty="0"/>
          </a:p>
        </p:txBody>
      </p:sp>
    </p:spTree>
    <p:extLst>
      <p:ext uri="{BB962C8B-B14F-4D97-AF65-F5344CB8AC3E}">
        <p14:creationId xmlns:p14="http://schemas.microsoft.com/office/powerpoint/2010/main" val="132280710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659648-E618-937A-2CAF-52AF8A1153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331C01-B840-9335-2D70-CE52D200CD45}"/>
              </a:ext>
            </a:extLst>
          </p:cNvPr>
          <p:cNvSpPr>
            <a:spLocks noGrp="1"/>
          </p:cNvSpPr>
          <p:nvPr>
            <p:ph type="title"/>
          </p:nvPr>
        </p:nvSpPr>
        <p:spPr>
          <a:xfrm>
            <a:off x="208547" y="529388"/>
            <a:ext cx="11678653" cy="577517"/>
          </a:xfrm>
        </p:spPr>
        <p:txBody>
          <a:bodyPr>
            <a:normAutofit fontScale="90000"/>
          </a:bodyPr>
          <a:lstStyle/>
          <a:p>
            <a:r>
              <a:rPr lang="en-US" dirty="0"/>
              <a:t>Pure Aloha</a:t>
            </a:r>
            <a:endParaRPr lang="en-IN" dirty="0"/>
          </a:p>
        </p:txBody>
      </p:sp>
      <p:pic>
        <p:nvPicPr>
          <p:cNvPr id="5" name="Picture 4">
            <a:extLst>
              <a:ext uri="{FF2B5EF4-FFF2-40B4-BE49-F238E27FC236}">
                <a16:creationId xmlns:a16="http://schemas.microsoft.com/office/drawing/2014/main" id="{3B057FA4-DE14-1839-8F55-2D02379E71BF}"/>
              </a:ext>
            </a:extLst>
          </p:cNvPr>
          <p:cNvPicPr>
            <a:picLocks noChangeAspect="1"/>
          </p:cNvPicPr>
          <p:nvPr/>
        </p:nvPicPr>
        <p:blipFill>
          <a:blip r:embed="rId2"/>
          <a:stretch>
            <a:fillRect/>
          </a:stretch>
        </p:blipFill>
        <p:spPr>
          <a:xfrm>
            <a:off x="1058779" y="1183104"/>
            <a:ext cx="9079832" cy="3966412"/>
          </a:xfrm>
          <a:prstGeom prst="rect">
            <a:avLst/>
          </a:prstGeom>
        </p:spPr>
      </p:pic>
      <p:sp>
        <p:nvSpPr>
          <p:cNvPr id="6" name="TextBox 5">
            <a:extLst>
              <a:ext uri="{FF2B5EF4-FFF2-40B4-BE49-F238E27FC236}">
                <a16:creationId xmlns:a16="http://schemas.microsoft.com/office/drawing/2014/main" id="{980FF77F-2D47-B4B2-4A7B-60CD06B0FACF}"/>
              </a:ext>
            </a:extLst>
          </p:cNvPr>
          <p:cNvSpPr txBox="1"/>
          <p:nvPr/>
        </p:nvSpPr>
        <p:spPr>
          <a:xfrm>
            <a:off x="1171074" y="5550568"/>
            <a:ext cx="7218947" cy="646331"/>
          </a:xfrm>
          <a:prstGeom prst="rect">
            <a:avLst/>
          </a:prstGeom>
          <a:noFill/>
        </p:spPr>
        <p:txBody>
          <a:bodyPr wrap="square" rtlCol="0">
            <a:spAutoFit/>
          </a:bodyPr>
          <a:lstStyle/>
          <a:p>
            <a:r>
              <a:rPr lang="en-US" dirty="0"/>
              <a:t>Time and Medium here is common for every station.</a:t>
            </a:r>
            <a:br>
              <a:rPr lang="en-US" dirty="0"/>
            </a:br>
            <a:r>
              <a:rPr lang="en-US" dirty="0"/>
              <a:t>For understanding purpose, we have taken every station separately.</a:t>
            </a:r>
            <a:endParaRPr lang="en-IN" dirty="0"/>
          </a:p>
        </p:txBody>
      </p:sp>
      <p:sp>
        <p:nvSpPr>
          <p:cNvPr id="7" name="Rectangle 6">
            <a:extLst>
              <a:ext uri="{FF2B5EF4-FFF2-40B4-BE49-F238E27FC236}">
                <a16:creationId xmlns:a16="http://schemas.microsoft.com/office/drawing/2014/main" id="{75C6D0DF-AFCB-554F-DEF9-BDF070F5E153}"/>
              </a:ext>
            </a:extLst>
          </p:cNvPr>
          <p:cNvSpPr/>
          <p:nvPr/>
        </p:nvSpPr>
        <p:spPr>
          <a:xfrm>
            <a:off x="4090737" y="1106905"/>
            <a:ext cx="1411705" cy="3689684"/>
          </a:xfrm>
          <a:prstGeom prst="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1A7F6C76-5A42-60E0-EF63-F2DE6CAAE461}"/>
              </a:ext>
            </a:extLst>
          </p:cNvPr>
          <p:cNvSpPr txBox="1"/>
          <p:nvPr/>
        </p:nvSpPr>
        <p:spPr>
          <a:xfrm>
            <a:off x="4299284" y="623092"/>
            <a:ext cx="1748589" cy="369332"/>
          </a:xfrm>
          <a:prstGeom prst="rect">
            <a:avLst/>
          </a:prstGeom>
          <a:noFill/>
        </p:spPr>
        <p:txBody>
          <a:bodyPr wrap="square" rtlCol="0">
            <a:spAutoFit/>
          </a:bodyPr>
          <a:lstStyle/>
          <a:p>
            <a:r>
              <a:rPr lang="en-US" dirty="0"/>
              <a:t>Collision</a:t>
            </a:r>
            <a:endParaRPr lang="en-IN" dirty="0"/>
          </a:p>
        </p:txBody>
      </p:sp>
      <p:sp>
        <p:nvSpPr>
          <p:cNvPr id="9" name="TextBox 8">
            <a:extLst>
              <a:ext uri="{FF2B5EF4-FFF2-40B4-BE49-F238E27FC236}">
                <a16:creationId xmlns:a16="http://schemas.microsoft.com/office/drawing/2014/main" id="{2A64F478-21F5-DA7D-CB3E-004395E0F80C}"/>
              </a:ext>
            </a:extLst>
          </p:cNvPr>
          <p:cNvSpPr txBox="1"/>
          <p:nvPr/>
        </p:nvSpPr>
        <p:spPr>
          <a:xfrm>
            <a:off x="6849979" y="807758"/>
            <a:ext cx="1748589" cy="369332"/>
          </a:xfrm>
          <a:prstGeom prst="rect">
            <a:avLst/>
          </a:prstGeom>
          <a:noFill/>
        </p:spPr>
        <p:txBody>
          <a:bodyPr wrap="square" rtlCol="0">
            <a:spAutoFit/>
          </a:bodyPr>
          <a:lstStyle/>
          <a:p>
            <a:r>
              <a:rPr lang="en-US" dirty="0"/>
              <a:t>Collision</a:t>
            </a:r>
            <a:endParaRPr lang="en-IN" dirty="0"/>
          </a:p>
        </p:txBody>
      </p:sp>
    </p:spTree>
    <p:extLst>
      <p:ext uri="{BB962C8B-B14F-4D97-AF65-F5344CB8AC3E}">
        <p14:creationId xmlns:p14="http://schemas.microsoft.com/office/powerpoint/2010/main" val="223533212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0BC0B2-0AF7-0017-CBFB-85F12AA7DB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A324DC-22B5-2CDE-1328-35E27D768E04}"/>
              </a:ext>
            </a:extLst>
          </p:cNvPr>
          <p:cNvSpPr>
            <a:spLocks noGrp="1"/>
          </p:cNvSpPr>
          <p:nvPr>
            <p:ph type="title"/>
          </p:nvPr>
        </p:nvSpPr>
        <p:spPr>
          <a:xfrm>
            <a:off x="208547" y="529388"/>
            <a:ext cx="11678653" cy="577517"/>
          </a:xfrm>
        </p:spPr>
        <p:txBody>
          <a:bodyPr>
            <a:normAutofit fontScale="90000"/>
          </a:bodyPr>
          <a:lstStyle/>
          <a:p>
            <a:r>
              <a:rPr lang="en-US" dirty="0"/>
              <a:t>Pure Aloha</a:t>
            </a:r>
            <a:endParaRPr lang="en-IN" dirty="0"/>
          </a:p>
        </p:txBody>
      </p:sp>
      <p:sp>
        <p:nvSpPr>
          <p:cNvPr id="3" name="Content Placeholder 2">
            <a:extLst>
              <a:ext uri="{FF2B5EF4-FFF2-40B4-BE49-F238E27FC236}">
                <a16:creationId xmlns:a16="http://schemas.microsoft.com/office/drawing/2014/main" id="{28DEC69C-DCE1-810F-17B0-5FB816A295B0}"/>
              </a:ext>
            </a:extLst>
          </p:cNvPr>
          <p:cNvSpPr>
            <a:spLocks noGrp="1"/>
          </p:cNvSpPr>
          <p:nvPr>
            <p:ph idx="1"/>
          </p:nvPr>
        </p:nvSpPr>
        <p:spPr>
          <a:xfrm>
            <a:off x="208547" y="1106905"/>
            <a:ext cx="11678653" cy="5454316"/>
          </a:xfrm>
        </p:spPr>
        <p:txBody>
          <a:bodyPr/>
          <a:lstStyle/>
          <a:p>
            <a:r>
              <a:rPr lang="en-US" dirty="0"/>
              <a:t>Pure aloha allows station to transmit whenever they have data to be sent.</a:t>
            </a:r>
          </a:p>
          <a:p>
            <a:r>
              <a:rPr lang="en-US" dirty="0"/>
              <a:t>When a station sends data it waits for an acknowledgment.</a:t>
            </a:r>
          </a:p>
          <a:p>
            <a:r>
              <a:rPr lang="en-US" dirty="0"/>
              <a:t>If the acknowledgment doesn’t come within the allotted time then the station waits or a random amount of time called back-off time(Tb) and re-sends the data.</a:t>
            </a:r>
          </a:p>
          <a:p>
            <a:r>
              <a:rPr lang="en-US" dirty="0"/>
              <a:t>Since different stations wait for different amount of time, the probability of further collision decreases.</a:t>
            </a:r>
          </a:p>
          <a:p>
            <a:r>
              <a:rPr lang="en-US" dirty="0"/>
              <a:t>The throughput of pure aloha is maximized when frames are of uniform length.</a:t>
            </a:r>
          </a:p>
          <a:p>
            <a:r>
              <a:rPr lang="en-US" dirty="0"/>
              <a:t>If the first bit of a new frame overlaps with just the last bit of a frame almost finished, both frames will be totally destroyed and both will have to be retransmitted later.</a:t>
            </a:r>
            <a:endParaRPr lang="en-IN" dirty="0"/>
          </a:p>
        </p:txBody>
      </p:sp>
    </p:spTree>
    <p:extLst>
      <p:ext uri="{BB962C8B-B14F-4D97-AF65-F5344CB8AC3E}">
        <p14:creationId xmlns:p14="http://schemas.microsoft.com/office/powerpoint/2010/main" val="81089058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0D833A-AF47-DE25-3F6A-5047A8BD7F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D5D68B-4382-B9E0-0042-6D3A65758A77}"/>
              </a:ext>
            </a:extLst>
          </p:cNvPr>
          <p:cNvSpPr>
            <a:spLocks noGrp="1"/>
          </p:cNvSpPr>
          <p:nvPr>
            <p:ph type="title"/>
          </p:nvPr>
        </p:nvSpPr>
        <p:spPr>
          <a:xfrm>
            <a:off x="208547" y="529388"/>
            <a:ext cx="11678653" cy="577517"/>
          </a:xfrm>
        </p:spPr>
        <p:txBody>
          <a:bodyPr>
            <a:normAutofit fontScale="90000"/>
          </a:bodyPr>
          <a:lstStyle/>
          <a:p>
            <a:r>
              <a:rPr lang="en-US" dirty="0"/>
              <a:t>Pure Aloha</a:t>
            </a:r>
            <a:endParaRPr lang="en-IN" dirty="0"/>
          </a:p>
        </p:txBody>
      </p:sp>
      <p:pic>
        <p:nvPicPr>
          <p:cNvPr id="7" name="Picture 6">
            <a:extLst>
              <a:ext uri="{FF2B5EF4-FFF2-40B4-BE49-F238E27FC236}">
                <a16:creationId xmlns:a16="http://schemas.microsoft.com/office/drawing/2014/main" id="{9C91D5AC-01A8-5D1D-160D-B9E5A980529A}"/>
              </a:ext>
            </a:extLst>
          </p:cNvPr>
          <p:cNvPicPr>
            <a:picLocks noChangeAspect="1"/>
          </p:cNvPicPr>
          <p:nvPr/>
        </p:nvPicPr>
        <p:blipFill>
          <a:blip r:embed="rId2"/>
          <a:stretch>
            <a:fillRect/>
          </a:stretch>
        </p:blipFill>
        <p:spPr>
          <a:xfrm>
            <a:off x="208548" y="1299411"/>
            <a:ext cx="6861458" cy="5374105"/>
          </a:xfrm>
          <a:prstGeom prst="rect">
            <a:avLst/>
          </a:prstGeom>
        </p:spPr>
      </p:pic>
      <p:sp>
        <p:nvSpPr>
          <p:cNvPr id="8" name="TextBox 7">
            <a:extLst>
              <a:ext uri="{FF2B5EF4-FFF2-40B4-BE49-F238E27FC236}">
                <a16:creationId xmlns:a16="http://schemas.microsoft.com/office/drawing/2014/main" id="{4FECF724-6E21-387D-DD38-8CE08EB3EB46}"/>
              </a:ext>
            </a:extLst>
          </p:cNvPr>
          <p:cNvSpPr txBox="1"/>
          <p:nvPr/>
        </p:nvSpPr>
        <p:spPr>
          <a:xfrm>
            <a:off x="7283116" y="1106905"/>
            <a:ext cx="4604084" cy="5970865"/>
          </a:xfrm>
          <a:prstGeom prst="rect">
            <a:avLst/>
          </a:prstGeom>
          <a:noFill/>
        </p:spPr>
        <p:txBody>
          <a:bodyPr wrap="square" rtlCol="0">
            <a:spAutoFit/>
          </a:bodyPr>
          <a:lstStyle/>
          <a:p>
            <a:r>
              <a:rPr lang="en-US" sz="2200" b="1" dirty="0"/>
              <a:t>Vulnerable time = 2* T</a:t>
            </a:r>
          </a:p>
          <a:p>
            <a:r>
              <a:rPr lang="en-US" sz="2200" dirty="0"/>
              <a:t>(To transmit the frame A, we need to reserve its previous slot and the current slot, that’s why X 2)</a:t>
            </a:r>
            <a:br>
              <a:rPr lang="en-US" sz="2200" dirty="0"/>
            </a:br>
            <a:endParaRPr lang="en-US" sz="2200" dirty="0"/>
          </a:p>
          <a:p>
            <a:r>
              <a:rPr lang="en-US" sz="2200" dirty="0"/>
              <a:t>(VT </a:t>
            </a:r>
            <a:r>
              <a:rPr lang="en-IN" sz="2400" dirty="0"/>
              <a:t>is the time period during which another transmission can collide with the current packet.)</a:t>
            </a:r>
          </a:p>
          <a:p>
            <a:endParaRPr lang="en-US" sz="2200" dirty="0"/>
          </a:p>
          <a:p>
            <a:endParaRPr lang="en-US" sz="2200" dirty="0"/>
          </a:p>
          <a:p>
            <a:endParaRPr lang="en-US" sz="2200" dirty="0"/>
          </a:p>
          <a:p>
            <a:endParaRPr lang="en-US" sz="2200" dirty="0"/>
          </a:p>
          <a:p>
            <a:r>
              <a:rPr lang="en-US" sz="2200" b="1" dirty="0"/>
              <a:t>Throughput = G*e</a:t>
            </a:r>
            <a:r>
              <a:rPr lang="en-US" sz="2400" b="1" dirty="0"/>
              <a:t>^-2G</a:t>
            </a:r>
            <a:endParaRPr lang="en-US" sz="2200" b="1" dirty="0"/>
          </a:p>
          <a:p>
            <a:r>
              <a:rPr lang="en-US" sz="2200" dirty="0"/>
              <a:t>Where G is the number of stations wish to transmit in the same time.</a:t>
            </a:r>
          </a:p>
          <a:p>
            <a:endParaRPr lang="en-US" sz="2200" dirty="0"/>
          </a:p>
          <a:p>
            <a:endParaRPr lang="en-IN" sz="2200" dirty="0"/>
          </a:p>
        </p:txBody>
      </p:sp>
    </p:spTree>
    <p:extLst>
      <p:ext uri="{BB962C8B-B14F-4D97-AF65-F5344CB8AC3E}">
        <p14:creationId xmlns:p14="http://schemas.microsoft.com/office/powerpoint/2010/main" val="96560312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0BD986-9761-1D3A-9F4D-2E4E640458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C1F8F2-E0F7-F951-42C3-B6B7B661463C}"/>
              </a:ext>
            </a:extLst>
          </p:cNvPr>
          <p:cNvSpPr>
            <a:spLocks noGrp="1"/>
          </p:cNvSpPr>
          <p:nvPr>
            <p:ph type="title"/>
          </p:nvPr>
        </p:nvSpPr>
        <p:spPr>
          <a:xfrm>
            <a:off x="208547" y="529388"/>
            <a:ext cx="11678653" cy="577517"/>
          </a:xfrm>
        </p:spPr>
        <p:txBody>
          <a:bodyPr>
            <a:normAutofit fontScale="90000"/>
          </a:bodyPr>
          <a:lstStyle/>
          <a:p>
            <a:r>
              <a:rPr lang="en-US" dirty="0"/>
              <a:t>Slotted Aloha</a:t>
            </a:r>
            <a:endParaRPr lang="en-IN" dirty="0"/>
          </a:p>
        </p:txBody>
      </p:sp>
      <p:sp>
        <p:nvSpPr>
          <p:cNvPr id="3" name="Content Placeholder 2">
            <a:extLst>
              <a:ext uri="{FF2B5EF4-FFF2-40B4-BE49-F238E27FC236}">
                <a16:creationId xmlns:a16="http://schemas.microsoft.com/office/drawing/2014/main" id="{44943E72-956A-6B31-7305-373F6FB6D69E}"/>
              </a:ext>
            </a:extLst>
          </p:cNvPr>
          <p:cNvSpPr>
            <a:spLocks noGrp="1"/>
          </p:cNvSpPr>
          <p:nvPr>
            <p:ph idx="1"/>
          </p:nvPr>
        </p:nvSpPr>
        <p:spPr>
          <a:xfrm>
            <a:off x="208547" y="1106905"/>
            <a:ext cx="11678653" cy="5454316"/>
          </a:xfrm>
        </p:spPr>
        <p:txBody>
          <a:bodyPr/>
          <a:lstStyle/>
          <a:p>
            <a:r>
              <a:rPr lang="en-US" dirty="0"/>
              <a:t>It was developed just to improve the efficiency of pure aloha as the chances for collision in pure aloha are high.</a:t>
            </a:r>
          </a:p>
          <a:p>
            <a:r>
              <a:rPr lang="en-US" dirty="0"/>
              <a:t>The time of the shared channel is divided into discrete time intervals called slots.</a:t>
            </a:r>
          </a:p>
          <a:p>
            <a:r>
              <a:rPr lang="en-US" dirty="0"/>
              <a:t>Sending of data is allowed only at the beginning of these slots.</a:t>
            </a:r>
            <a:endParaRPr lang="en-IN" dirty="0"/>
          </a:p>
        </p:txBody>
      </p:sp>
    </p:spTree>
    <p:extLst>
      <p:ext uri="{BB962C8B-B14F-4D97-AF65-F5344CB8AC3E}">
        <p14:creationId xmlns:p14="http://schemas.microsoft.com/office/powerpoint/2010/main" val="412388544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D3844E-06A0-F35F-8924-A0F83E9B8D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82FC9A-3F01-DB22-D0F0-7B6619756416}"/>
              </a:ext>
            </a:extLst>
          </p:cNvPr>
          <p:cNvSpPr>
            <a:spLocks noGrp="1"/>
          </p:cNvSpPr>
          <p:nvPr>
            <p:ph type="title"/>
          </p:nvPr>
        </p:nvSpPr>
        <p:spPr>
          <a:xfrm>
            <a:off x="208547" y="529388"/>
            <a:ext cx="11678653" cy="577517"/>
          </a:xfrm>
        </p:spPr>
        <p:txBody>
          <a:bodyPr>
            <a:normAutofit fontScale="90000"/>
          </a:bodyPr>
          <a:lstStyle/>
          <a:p>
            <a:r>
              <a:rPr lang="en-US" dirty="0"/>
              <a:t>Slotted Aloha</a:t>
            </a:r>
            <a:endParaRPr lang="en-IN" dirty="0"/>
          </a:p>
        </p:txBody>
      </p:sp>
      <p:pic>
        <p:nvPicPr>
          <p:cNvPr id="7" name="Picture 6">
            <a:extLst>
              <a:ext uri="{FF2B5EF4-FFF2-40B4-BE49-F238E27FC236}">
                <a16:creationId xmlns:a16="http://schemas.microsoft.com/office/drawing/2014/main" id="{5C64FA27-523A-5D1D-8C71-387CE2BB1B66}"/>
              </a:ext>
            </a:extLst>
          </p:cNvPr>
          <p:cNvPicPr>
            <a:picLocks noChangeAspect="1"/>
          </p:cNvPicPr>
          <p:nvPr/>
        </p:nvPicPr>
        <p:blipFill>
          <a:blip r:embed="rId2"/>
          <a:stretch>
            <a:fillRect/>
          </a:stretch>
        </p:blipFill>
        <p:spPr>
          <a:xfrm>
            <a:off x="360500" y="1380838"/>
            <a:ext cx="7500132" cy="4947773"/>
          </a:xfrm>
          <a:prstGeom prst="rect">
            <a:avLst/>
          </a:prstGeom>
        </p:spPr>
      </p:pic>
      <p:sp>
        <p:nvSpPr>
          <p:cNvPr id="8" name="TextBox 7">
            <a:extLst>
              <a:ext uri="{FF2B5EF4-FFF2-40B4-BE49-F238E27FC236}">
                <a16:creationId xmlns:a16="http://schemas.microsoft.com/office/drawing/2014/main" id="{33105A7B-4D89-4A02-0737-37E1DDC7E5C3}"/>
              </a:ext>
            </a:extLst>
          </p:cNvPr>
          <p:cNvSpPr txBox="1"/>
          <p:nvPr/>
        </p:nvSpPr>
        <p:spPr>
          <a:xfrm>
            <a:off x="8197516" y="1380838"/>
            <a:ext cx="3689684" cy="2800767"/>
          </a:xfrm>
          <a:prstGeom prst="rect">
            <a:avLst/>
          </a:prstGeom>
          <a:noFill/>
        </p:spPr>
        <p:txBody>
          <a:bodyPr wrap="square" rtlCol="0">
            <a:spAutoFit/>
          </a:bodyPr>
          <a:lstStyle/>
          <a:p>
            <a:r>
              <a:rPr lang="en-US" sz="2200" dirty="0"/>
              <a:t>If a station missed out the allowed time, it must wait for the next slot.</a:t>
            </a:r>
            <a:br>
              <a:rPr lang="en-US" sz="2200" dirty="0"/>
            </a:br>
            <a:br>
              <a:rPr lang="en-US" sz="2200" dirty="0"/>
            </a:br>
            <a:r>
              <a:rPr lang="en-US" sz="2200" dirty="0"/>
              <a:t>This reduces the probability of collisions.</a:t>
            </a:r>
          </a:p>
          <a:p>
            <a:endParaRPr lang="en-US" sz="2200" dirty="0"/>
          </a:p>
          <a:p>
            <a:r>
              <a:rPr lang="en-US" sz="2200" dirty="0"/>
              <a:t>Throughput: G x </a:t>
            </a:r>
            <a:r>
              <a:rPr lang="en-US" sz="2200" dirty="0" err="1"/>
              <a:t>e^G</a:t>
            </a:r>
            <a:endParaRPr lang="en-IN" sz="2200" dirty="0"/>
          </a:p>
        </p:txBody>
      </p:sp>
    </p:spTree>
    <p:extLst>
      <p:ext uri="{BB962C8B-B14F-4D97-AF65-F5344CB8AC3E}">
        <p14:creationId xmlns:p14="http://schemas.microsoft.com/office/powerpoint/2010/main" val="239434119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4008EF-832B-8386-B1D2-EDE60EA514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2FE355-544E-6115-2530-0DA84B3A3F46}"/>
              </a:ext>
            </a:extLst>
          </p:cNvPr>
          <p:cNvSpPr>
            <a:spLocks noGrp="1"/>
          </p:cNvSpPr>
          <p:nvPr>
            <p:ph type="title"/>
          </p:nvPr>
        </p:nvSpPr>
        <p:spPr>
          <a:xfrm>
            <a:off x="208547" y="529388"/>
            <a:ext cx="11678653" cy="577517"/>
          </a:xfrm>
        </p:spPr>
        <p:txBody>
          <a:bodyPr>
            <a:normAutofit fontScale="90000"/>
          </a:bodyPr>
          <a:lstStyle/>
          <a:p>
            <a:r>
              <a:rPr lang="en-US" dirty="0"/>
              <a:t>Slotted Aloha</a:t>
            </a:r>
            <a:endParaRPr lang="en-IN" dirty="0"/>
          </a:p>
        </p:txBody>
      </p:sp>
      <p:pic>
        <p:nvPicPr>
          <p:cNvPr id="4" name="Picture 3">
            <a:extLst>
              <a:ext uri="{FF2B5EF4-FFF2-40B4-BE49-F238E27FC236}">
                <a16:creationId xmlns:a16="http://schemas.microsoft.com/office/drawing/2014/main" id="{DE4F257E-CD86-339B-0DA5-B6EB38041853}"/>
              </a:ext>
            </a:extLst>
          </p:cNvPr>
          <p:cNvPicPr>
            <a:picLocks noChangeAspect="1"/>
          </p:cNvPicPr>
          <p:nvPr/>
        </p:nvPicPr>
        <p:blipFill>
          <a:blip r:embed="rId2"/>
          <a:stretch>
            <a:fillRect/>
          </a:stretch>
        </p:blipFill>
        <p:spPr>
          <a:xfrm>
            <a:off x="320842" y="1257039"/>
            <a:ext cx="10956757" cy="4935214"/>
          </a:xfrm>
          <a:prstGeom prst="rect">
            <a:avLst/>
          </a:prstGeom>
        </p:spPr>
      </p:pic>
    </p:spTree>
    <p:extLst>
      <p:ext uri="{BB962C8B-B14F-4D97-AF65-F5344CB8AC3E}">
        <p14:creationId xmlns:p14="http://schemas.microsoft.com/office/powerpoint/2010/main" val="112925225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D8CDE9-E339-CF85-3C74-1EF28D71E9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B95CC8-D2E5-51EB-3733-A844843A1149}"/>
              </a:ext>
            </a:extLst>
          </p:cNvPr>
          <p:cNvSpPr>
            <a:spLocks noGrp="1"/>
          </p:cNvSpPr>
          <p:nvPr>
            <p:ph type="title"/>
          </p:nvPr>
        </p:nvSpPr>
        <p:spPr>
          <a:xfrm>
            <a:off x="208547" y="529388"/>
            <a:ext cx="11678653" cy="577517"/>
          </a:xfrm>
        </p:spPr>
        <p:txBody>
          <a:bodyPr>
            <a:normAutofit fontScale="90000"/>
          </a:bodyPr>
          <a:lstStyle/>
          <a:p>
            <a:r>
              <a:rPr lang="en-US" dirty="0"/>
              <a:t>Pure aloha vs Slotted Aloha</a:t>
            </a:r>
            <a:endParaRPr lang="en-IN" dirty="0"/>
          </a:p>
        </p:txBody>
      </p:sp>
      <p:graphicFrame>
        <p:nvGraphicFramePr>
          <p:cNvPr id="3" name="Table 2">
            <a:extLst>
              <a:ext uri="{FF2B5EF4-FFF2-40B4-BE49-F238E27FC236}">
                <a16:creationId xmlns:a16="http://schemas.microsoft.com/office/drawing/2014/main" id="{E3A05AF7-DB28-6903-0A3C-1EB1DA51469E}"/>
              </a:ext>
            </a:extLst>
          </p:cNvPr>
          <p:cNvGraphicFramePr>
            <a:graphicFrameLocks noGrp="1"/>
          </p:cNvGraphicFramePr>
          <p:nvPr>
            <p:extLst>
              <p:ext uri="{D42A27DB-BD31-4B8C-83A1-F6EECF244321}">
                <p14:modId xmlns:p14="http://schemas.microsoft.com/office/powerpoint/2010/main" val="1992573283"/>
              </p:ext>
            </p:extLst>
          </p:nvPr>
        </p:nvGraphicFramePr>
        <p:xfrm>
          <a:off x="208547" y="529388"/>
          <a:ext cx="11678652" cy="7503160"/>
        </p:xfrm>
        <a:graphic>
          <a:graphicData uri="http://schemas.openxmlformats.org/drawingml/2006/table">
            <a:tbl>
              <a:tblPr firstRow="1" bandRow="1">
                <a:tableStyleId>{5C22544A-7EE6-4342-B048-85BDC9FD1C3A}</a:tableStyleId>
              </a:tblPr>
              <a:tblGrid>
                <a:gridCol w="3892884">
                  <a:extLst>
                    <a:ext uri="{9D8B030D-6E8A-4147-A177-3AD203B41FA5}">
                      <a16:colId xmlns:a16="http://schemas.microsoft.com/office/drawing/2014/main" val="369141113"/>
                    </a:ext>
                  </a:extLst>
                </a:gridCol>
                <a:gridCol w="3892884">
                  <a:extLst>
                    <a:ext uri="{9D8B030D-6E8A-4147-A177-3AD203B41FA5}">
                      <a16:colId xmlns:a16="http://schemas.microsoft.com/office/drawing/2014/main" val="2161755527"/>
                    </a:ext>
                  </a:extLst>
                </a:gridCol>
                <a:gridCol w="3892884">
                  <a:extLst>
                    <a:ext uri="{9D8B030D-6E8A-4147-A177-3AD203B41FA5}">
                      <a16:colId xmlns:a16="http://schemas.microsoft.com/office/drawing/2014/main" val="2913863914"/>
                    </a:ext>
                  </a:extLst>
                </a:gridCol>
              </a:tblGrid>
              <a:tr h="370840">
                <a:tc>
                  <a:txBody>
                    <a:bodyPr/>
                    <a:lstStyle/>
                    <a:p>
                      <a:pPr>
                        <a:buNone/>
                      </a:pPr>
                      <a:r>
                        <a:rPr lang="en-IN" dirty="0"/>
                        <a:t>Feature / Metric</a:t>
                      </a:r>
                    </a:p>
                  </a:txBody>
                  <a:tcPr anchor="ctr"/>
                </a:tc>
                <a:tc>
                  <a:txBody>
                    <a:bodyPr/>
                    <a:lstStyle/>
                    <a:p>
                      <a:pPr>
                        <a:buNone/>
                      </a:pPr>
                      <a:r>
                        <a:rPr lang="en-IN"/>
                        <a:t>Pure ALOHA</a:t>
                      </a:r>
                    </a:p>
                  </a:txBody>
                  <a:tcPr anchor="ctr"/>
                </a:tc>
                <a:tc>
                  <a:txBody>
                    <a:bodyPr/>
                    <a:lstStyle/>
                    <a:p>
                      <a:pPr>
                        <a:buNone/>
                      </a:pPr>
                      <a:r>
                        <a:rPr lang="en-IN"/>
                        <a:t>Slotted ALOHA</a:t>
                      </a:r>
                    </a:p>
                  </a:txBody>
                  <a:tcPr anchor="ctr"/>
                </a:tc>
                <a:extLst>
                  <a:ext uri="{0D108BD9-81ED-4DB2-BD59-A6C34878D82A}">
                    <a16:rowId xmlns:a16="http://schemas.microsoft.com/office/drawing/2014/main" val="4217982134"/>
                  </a:ext>
                </a:extLst>
              </a:tr>
              <a:tr h="370840">
                <a:tc>
                  <a:txBody>
                    <a:bodyPr/>
                    <a:lstStyle/>
                    <a:p>
                      <a:pPr>
                        <a:buNone/>
                      </a:pPr>
                      <a:r>
                        <a:rPr lang="en-IN" b="1"/>
                        <a:t>Transmission Timing</a:t>
                      </a:r>
                      <a:endParaRPr lang="en-IN"/>
                    </a:p>
                  </a:txBody>
                  <a:tcPr anchor="ctr"/>
                </a:tc>
                <a:tc>
                  <a:txBody>
                    <a:bodyPr/>
                    <a:lstStyle/>
                    <a:p>
                      <a:pPr>
                        <a:buNone/>
                      </a:pPr>
                      <a:r>
                        <a:rPr lang="en-IN"/>
                        <a:t>Devices can send data </a:t>
                      </a:r>
                      <a:r>
                        <a:rPr lang="en-IN" b="1"/>
                        <a:t>at any time</a:t>
                      </a:r>
                      <a:r>
                        <a:rPr lang="en-IN"/>
                        <a:t>, without waiting. There is no fixed timing.</a:t>
                      </a:r>
                    </a:p>
                  </a:txBody>
                  <a:tcPr anchor="ctr"/>
                </a:tc>
                <a:tc>
                  <a:txBody>
                    <a:bodyPr/>
                    <a:lstStyle/>
                    <a:p>
                      <a:pPr>
                        <a:buNone/>
                      </a:pPr>
                      <a:r>
                        <a:rPr lang="en-IN"/>
                        <a:t>Devices can send data </a:t>
                      </a:r>
                      <a:r>
                        <a:rPr lang="en-IN" b="1"/>
                        <a:t>only at fixed time intervals or slots</a:t>
                      </a:r>
                      <a:r>
                        <a:rPr lang="en-IN"/>
                        <a:t>. They have to wait for the correct time slot to send data.</a:t>
                      </a:r>
                    </a:p>
                  </a:txBody>
                  <a:tcPr anchor="ctr"/>
                </a:tc>
                <a:extLst>
                  <a:ext uri="{0D108BD9-81ED-4DB2-BD59-A6C34878D82A}">
                    <a16:rowId xmlns:a16="http://schemas.microsoft.com/office/drawing/2014/main" val="3815220775"/>
                  </a:ext>
                </a:extLst>
              </a:tr>
              <a:tr h="370840">
                <a:tc>
                  <a:txBody>
                    <a:bodyPr/>
                    <a:lstStyle/>
                    <a:p>
                      <a:pPr>
                        <a:buNone/>
                      </a:pPr>
                      <a:r>
                        <a:rPr lang="en-IN" b="1"/>
                        <a:t>Chance of Collision</a:t>
                      </a:r>
                      <a:endParaRPr lang="en-IN"/>
                    </a:p>
                  </a:txBody>
                  <a:tcPr anchor="ctr"/>
                </a:tc>
                <a:tc>
                  <a:txBody>
                    <a:bodyPr/>
                    <a:lstStyle/>
                    <a:p>
                      <a:pPr>
                        <a:buNone/>
                      </a:pPr>
                      <a:r>
                        <a:rPr lang="en-IN"/>
                        <a:t>Because devices send data randomly, there is a </a:t>
                      </a:r>
                      <a:r>
                        <a:rPr lang="en-IN" b="1"/>
                        <a:t>high chance of collision</a:t>
                      </a:r>
                      <a:r>
                        <a:rPr lang="en-IN"/>
                        <a:t> (two or more devices may send data at the same time).</a:t>
                      </a:r>
                    </a:p>
                  </a:txBody>
                  <a:tcPr anchor="ctr"/>
                </a:tc>
                <a:tc>
                  <a:txBody>
                    <a:bodyPr/>
                    <a:lstStyle/>
                    <a:p>
                      <a:pPr>
                        <a:buNone/>
                      </a:pPr>
                      <a:r>
                        <a:rPr lang="en-IN"/>
                        <a:t>Since devices send data only in their own time slot, the </a:t>
                      </a:r>
                      <a:r>
                        <a:rPr lang="en-IN" b="1"/>
                        <a:t>chance of collision is much lower</a:t>
                      </a:r>
                      <a:r>
                        <a:rPr lang="en-IN"/>
                        <a:t> than Pure ALOHA.</a:t>
                      </a:r>
                    </a:p>
                  </a:txBody>
                  <a:tcPr anchor="ctr"/>
                </a:tc>
                <a:extLst>
                  <a:ext uri="{0D108BD9-81ED-4DB2-BD59-A6C34878D82A}">
                    <a16:rowId xmlns:a16="http://schemas.microsoft.com/office/drawing/2014/main" val="1731980329"/>
                  </a:ext>
                </a:extLst>
              </a:tr>
              <a:tr h="370840">
                <a:tc>
                  <a:txBody>
                    <a:bodyPr/>
                    <a:lstStyle/>
                    <a:p>
                      <a:pPr>
                        <a:buNone/>
                      </a:pPr>
                      <a:r>
                        <a:rPr lang="en-IN" b="1"/>
                        <a:t>Throughput Efficiency</a:t>
                      </a:r>
                      <a:endParaRPr lang="en-IN"/>
                    </a:p>
                  </a:txBody>
                  <a:tcPr anchor="ctr"/>
                </a:tc>
                <a:tc>
                  <a:txBody>
                    <a:bodyPr/>
                    <a:lstStyle/>
                    <a:p>
                      <a:pPr>
                        <a:buNone/>
                      </a:pPr>
                      <a:r>
                        <a:rPr lang="en-IN"/>
                        <a:t>Pure ALOHA has </a:t>
                      </a:r>
                      <a:r>
                        <a:rPr lang="en-IN" b="1"/>
                        <a:t>low efficiency</a:t>
                      </a:r>
                      <a:r>
                        <a:rPr lang="en-IN"/>
                        <a:t>, around </a:t>
                      </a:r>
                      <a:r>
                        <a:rPr lang="en-IN" b="1"/>
                        <a:t>18%</a:t>
                      </a:r>
                      <a:r>
                        <a:rPr lang="en-IN"/>
                        <a:t>, because many data packets may collide and need to be sent again.</a:t>
                      </a:r>
                    </a:p>
                  </a:txBody>
                  <a:tcPr anchor="ctr"/>
                </a:tc>
                <a:tc>
                  <a:txBody>
                    <a:bodyPr/>
                    <a:lstStyle/>
                    <a:p>
                      <a:pPr>
                        <a:buNone/>
                      </a:pPr>
                      <a:r>
                        <a:rPr lang="en-IN"/>
                        <a:t>Slotted ALOHA is </a:t>
                      </a:r>
                      <a:r>
                        <a:rPr lang="en-IN" b="1"/>
                        <a:t>almost twice as efficient</a:t>
                      </a:r>
                      <a:r>
                        <a:rPr lang="en-IN"/>
                        <a:t> as Pure ALOHA. It has around </a:t>
                      </a:r>
                      <a:r>
                        <a:rPr lang="en-IN" b="1"/>
                        <a:t>37% efficiency</a:t>
                      </a:r>
                      <a:r>
                        <a:rPr lang="en-IN"/>
                        <a:t>, because data is sent in a more organized way.</a:t>
                      </a:r>
                    </a:p>
                  </a:txBody>
                  <a:tcPr anchor="ctr"/>
                </a:tc>
                <a:extLst>
                  <a:ext uri="{0D108BD9-81ED-4DB2-BD59-A6C34878D82A}">
                    <a16:rowId xmlns:a16="http://schemas.microsoft.com/office/drawing/2014/main" val="307436400"/>
                  </a:ext>
                </a:extLst>
              </a:tr>
              <a:tr h="370840">
                <a:tc>
                  <a:txBody>
                    <a:bodyPr/>
                    <a:lstStyle/>
                    <a:p>
                      <a:pPr>
                        <a:buNone/>
                      </a:pPr>
                      <a:r>
                        <a:rPr lang="en-IN" b="1"/>
                        <a:t>Time Synchronization</a:t>
                      </a:r>
                      <a:endParaRPr lang="en-IN"/>
                    </a:p>
                  </a:txBody>
                  <a:tcPr anchor="ctr"/>
                </a:tc>
                <a:tc>
                  <a:txBody>
                    <a:bodyPr/>
                    <a:lstStyle/>
                    <a:p>
                      <a:pPr>
                        <a:buNone/>
                      </a:pPr>
                      <a:r>
                        <a:rPr lang="en-IN"/>
                        <a:t>Pure ALOHA </a:t>
                      </a:r>
                      <a:r>
                        <a:rPr lang="en-IN" b="1"/>
                        <a:t>does not require any time synchronization</a:t>
                      </a:r>
                      <a:r>
                        <a:rPr lang="en-IN"/>
                        <a:t> between the devices. Each device sends data freely.</a:t>
                      </a:r>
                    </a:p>
                  </a:txBody>
                  <a:tcPr anchor="ctr"/>
                </a:tc>
                <a:tc>
                  <a:txBody>
                    <a:bodyPr/>
                    <a:lstStyle/>
                    <a:p>
                      <a:pPr>
                        <a:buNone/>
                      </a:pPr>
                      <a:r>
                        <a:rPr lang="en-IN"/>
                        <a:t>Slotted ALOHA </a:t>
                      </a:r>
                      <a:r>
                        <a:rPr lang="en-IN" b="1"/>
                        <a:t>requires all devices to be time-synchronized</a:t>
                      </a:r>
                      <a:r>
                        <a:rPr lang="en-IN"/>
                        <a:t>, so they know exactly when their slot comes to send the data.</a:t>
                      </a:r>
                    </a:p>
                  </a:txBody>
                  <a:tcPr anchor="ctr"/>
                </a:tc>
                <a:extLst>
                  <a:ext uri="{0D108BD9-81ED-4DB2-BD59-A6C34878D82A}">
                    <a16:rowId xmlns:a16="http://schemas.microsoft.com/office/drawing/2014/main" val="3526121880"/>
                  </a:ext>
                </a:extLst>
              </a:tr>
              <a:tr h="370840">
                <a:tc>
                  <a:txBody>
                    <a:bodyPr/>
                    <a:lstStyle/>
                    <a:p>
                      <a:pPr>
                        <a:buNone/>
                      </a:pPr>
                      <a:r>
                        <a:rPr lang="en-IN" b="1"/>
                        <a:t>Complexity to Implement</a:t>
                      </a:r>
                      <a:endParaRPr lang="en-IN"/>
                    </a:p>
                  </a:txBody>
                  <a:tcPr anchor="ctr"/>
                </a:tc>
                <a:tc>
                  <a:txBody>
                    <a:bodyPr/>
                    <a:lstStyle/>
                    <a:p>
                      <a:pPr>
                        <a:buNone/>
                      </a:pPr>
                      <a:r>
                        <a:rPr lang="en-IN"/>
                        <a:t>Pure ALOHA is </a:t>
                      </a:r>
                      <a:r>
                        <a:rPr lang="en-IN" b="1"/>
                        <a:t>simpler to implement</a:t>
                      </a:r>
                      <a:r>
                        <a:rPr lang="en-IN"/>
                        <a:t> because it doesn't require clock or timing mechanisms.</a:t>
                      </a:r>
                    </a:p>
                  </a:txBody>
                  <a:tcPr anchor="ctr"/>
                </a:tc>
                <a:tc>
                  <a:txBody>
                    <a:bodyPr/>
                    <a:lstStyle/>
                    <a:p>
                      <a:pPr>
                        <a:buNone/>
                      </a:pPr>
                      <a:r>
                        <a:rPr lang="en-IN"/>
                        <a:t>Slotted ALOHA is a bit </a:t>
                      </a:r>
                      <a:r>
                        <a:rPr lang="en-IN" b="1"/>
                        <a:t>more complex to implement</a:t>
                      </a:r>
                      <a:r>
                        <a:rPr lang="en-IN"/>
                        <a:t> because devices must follow timing rules and be synchronized.</a:t>
                      </a:r>
                    </a:p>
                  </a:txBody>
                  <a:tcPr anchor="ctr"/>
                </a:tc>
                <a:extLst>
                  <a:ext uri="{0D108BD9-81ED-4DB2-BD59-A6C34878D82A}">
                    <a16:rowId xmlns:a16="http://schemas.microsoft.com/office/drawing/2014/main" val="1362630050"/>
                  </a:ext>
                </a:extLst>
              </a:tr>
              <a:tr h="370840">
                <a:tc>
                  <a:txBody>
                    <a:bodyPr/>
                    <a:lstStyle/>
                    <a:p>
                      <a:pPr>
                        <a:buNone/>
                      </a:pPr>
                      <a:r>
                        <a:rPr lang="en-IN" b="1"/>
                        <a:t>Real-Life Analogy</a:t>
                      </a:r>
                      <a:endParaRPr lang="en-IN"/>
                    </a:p>
                  </a:txBody>
                  <a:tcPr anchor="ctr"/>
                </a:tc>
                <a:tc>
                  <a:txBody>
                    <a:bodyPr/>
                    <a:lstStyle/>
                    <a:p>
                      <a:pPr>
                        <a:buNone/>
                      </a:pPr>
                      <a:r>
                        <a:rPr lang="en-IN"/>
                        <a:t>Imagine many people speaking in a room </a:t>
                      </a:r>
                      <a:r>
                        <a:rPr lang="en-IN" b="1"/>
                        <a:t>whenever they want</a:t>
                      </a:r>
                      <a:r>
                        <a:rPr lang="en-IN"/>
                        <a:t>. They often </a:t>
                      </a:r>
                      <a:r>
                        <a:rPr lang="en-IN" b="1"/>
                        <a:t>talk over each other</a:t>
                      </a:r>
                      <a:r>
                        <a:rPr lang="en-IN"/>
                        <a:t>, and messages may not be heard clearly.</a:t>
                      </a:r>
                    </a:p>
                  </a:txBody>
                  <a:tcPr anchor="ctr"/>
                </a:tc>
                <a:tc>
                  <a:txBody>
                    <a:bodyPr/>
                    <a:lstStyle/>
                    <a:p>
                      <a:pPr>
                        <a:buNone/>
                      </a:pPr>
                      <a:r>
                        <a:rPr lang="en-IN" dirty="0"/>
                        <a:t>Imagine people </a:t>
                      </a:r>
                      <a:r>
                        <a:rPr lang="en-IN" b="1" dirty="0"/>
                        <a:t>taking turns to speak</a:t>
                      </a:r>
                      <a:r>
                        <a:rPr lang="en-IN" dirty="0"/>
                        <a:t>, like in a meeting. Each person speaks in their own time slot, so everyone can hear clearly without interruption.</a:t>
                      </a:r>
                    </a:p>
                  </a:txBody>
                  <a:tcPr anchor="ctr"/>
                </a:tc>
                <a:extLst>
                  <a:ext uri="{0D108BD9-81ED-4DB2-BD59-A6C34878D82A}">
                    <a16:rowId xmlns:a16="http://schemas.microsoft.com/office/drawing/2014/main" val="3003453644"/>
                  </a:ext>
                </a:extLst>
              </a:tr>
            </a:tbl>
          </a:graphicData>
        </a:graphic>
      </p:graphicFrame>
    </p:spTree>
    <p:extLst>
      <p:ext uri="{BB962C8B-B14F-4D97-AF65-F5344CB8AC3E}">
        <p14:creationId xmlns:p14="http://schemas.microsoft.com/office/powerpoint/2010/main" val="119844367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55B5F2-A348-9F80-08F1-9F4F9D60A0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F2D754-611B-86DF-6363-503270AEA5B6}"/>
              </a:ext>
            </a:extLst>
          </p:cNvPr>
          <p:cNvSpPr>
            <a:spLocks noGrp="1"/>
          </p:cNvSpPr>
          <p:nvPr>
            <p:ph type="title"/>
          </p:nvPr>
        </p:nvSpPr>
        <p:spPr>
          <a:xfrm>
            <a:off x="208547" y="529388"/>
            <a:ext cx="11678653" cy="577517"/>
          </a:xfrm>
        </p:spPr>
        <p:txBody>
          <a:bodyPr>
            <a:normAutofit fontScale="90000"/>
          </a:bodyPr>
          <a:lstStyle/>
          <a:p>
            <a:r>
              <a:rPr lang="en-US" dirty="0"/>
              <a:t>Carrier Sense Multiple Access (CSMA)</a:t>
            </a:r>
            <a:endParaRPr lang="en-IN" dirty="0"/>
          </a:p>
        </p:txBody>
      </p:sp>
      <p:sp>
        <p:nvSpPr>
          <p:cNvPr id="3" name="Content Placeholder 2">
            <a:extLst>
              <a:ext uri="{FF2B5EF4-FFF2-40B4-BE49-F238E27FC236}">
                <a16:creationId xmlns:a16="http://schemas.microsoft.com/office/drawing/2014/main" id="{838450D3-9215-6AEA-76B7-70ED8AE434EB}"/>
              </a:ext>
            </a:extLst>
          </p:cNvPr>
          <p:cNvSpPr>
            <a:spLocks noGrp="1"/>
          </p:cNvSpPr>
          <p:nvPr>
            <p:ph idx="1"/>
          </p:nvPr>
        </p:nvSpPr>
        <p:spPr>
          <a:xfrm>
            <a:off x="208547" y="1106905"/>
            <a:ext cx="11678653" cy="5454316"/>
          </a:xfrm>
        </p:spPr>
        <p:txBody>
          <a:bodyPr>
            <a:normAutofit fontScale="92500" lnSpcReduction="20000"/>
          </a:bodyPr>
          <a:lstStyle/>
          <a:p>
            <a:r>
              <a:rPr lang="en-US" dirty="0"/>
              <a:t>To minimize the chance of collision and, therefore increase the performance, the CSMA method was developed.</a:t>
            </a:r>
          </a:p>
          <a:p>
            <a:r>
              <a:rPr lang="en-US" dirty="0"/>
              <a:t>Principle of CSMA: “Sense before  Transmit” or “Listen before talk”.</a:t>
            </a:r>
          </a:p>
          <a:p>
            <a:r>
              <a:rPr lang="en-US" dirty="0"/>
              <a:t>When Carrier busy = Means Transmission is taking place.</a:t>
            </a:r>
          </a:p>
          <a:p>
            <a:r>
              <a:rPr lang="en-US" dirty="0"/>
              <a:t>When Carrier idle = Means No transmission taking place.</a:t>
            </a:r>
          </a:p>
          <a:p>
            <a:r>
              <a:rPr lang="en-US" dirty="0"/>
              <a:t>The possibility of collision still exists because of propagation delay: a station may sense the medium and find it idle, only because the first bit sent by another station has  not yet been received.</a:t>
            </a:r>
          </a:p>
          <a:p>
            <a:r>
              <a:rPr lang="en-US" dirty="0"/>
              <a:t>It is used in ethernet network (Wired).</a:t>
            </a:r>
          </a:p>
          <a:p>
            <a:pPr marL="0" indent="0">
              <a:buNone/>
            </a:pPr>
            <a:r>
              <a:rPr lang="en-US" dirty="0">
                <a:highlight>
                  <a:srgbClr val="FFFF00"/>
                </a:highlight>
              </a:rPr>
              <a:t>Types: </a:t>
            </a:r>
          </a:p>
          <a:p>
            <a:pPr marL="514350" indent="-514350">
              <a:buFont typeface="+mj-lt"/>
              <a:buAutoNum type="arabicPeriod"/>
            </a:pPr>
            <a:r>
              <a:rPr lang="en-US" dirty="0"/>
              <a:t>1-Persistent CSMA</a:t>
            </a:r>
          </a:p>
          <a:p>
            <a:pPr marL="514350" indent="-514350">
              <a:buFont typeface="+mj-lt"/>
              <a:buAutoNum type="arabicPeriod"/>
            </a:pPr>
            <a:r>
              <a:rPr lang="en-US" dirty="0"/>
              <a:t>P-Persistent CSMA</a:t>
            </a:r>
          </a:p>
          <a:p>
            <a:pPr marL="514350" indent="-514350">
              <a:buFont typeface="+mj-lt"/>
              <a:buAutoNum type="arabicPeriod"/>
            </a:pPr>
            <a:r>
              <a:rPr lang="en-US" dirty="0"/>
              <a:t>Non-Persistent CSMA</a:t>
            </a:r>
          </a:p>
          <a:p>
            <a:pPr marL="514350" indent="-514350">
              <a:buFont typeface="+mj-lt"/>
              <a:buAutoNum type="arabicPeriod"/>
            </a:pPr>
            <a:r>
              <a:rPr lang="en-US" dirty="0"/>
              <a:t>O-Persistent CSMA</a:t>
            </a:r>
          </a:p>
        </p:txBody>
      </p:sp>
      <p:sp>
        <p:nvSpPr>
          <p:cNvPr id="4" name="TextBox 3">
            <a:extLst>
              <a:ext uri="{FF2B5EF4-FFF2-40B4-BE49-F238E27FC236}">
                <a16:creationId xmlns:a16="http://schemas.microsoft.com/office/drawing/2014/main" id="{6AE3A37A-1C97-C183-D0D5-3DCB5207EED4}"/>
              </a:ext>
            </a:extLst>
          </p:cNvPr>
          <p:cNvSpPr txBox="1"/>
          <p:nvPr/>
        </p:nvSpPr>
        <p:spPr>
          <a:xfrm>
            <a:off x="4989095" y="4652211"/>
            <a:ext cx="5759116" cy="1631216"/>
          </a:xfrm>
          <a:prstGeom prst="rect">
            <a:avLst/>
          </a:prstGeom>
          <a:noFill/>
        </p:spPr>
        <p:txBody>
          <a:bodyPr wrap="square" rtlCol="0">
            <a:spAutoFit/>
          </a:bodyPr>
          <a:lstStyle/>
          <a:p>
            <a:r>
              <a:rPr lang="en-US" sz="2000" b="1" dirty="0"/>
              <a:t>CSMA Modified Protocols:</a:t>
            </a:r>
            <a:br>
              <a:rPr lang="en-US" sz="2000" dirty="0"/>
            </a:br>
            <a:br>
              <a:rPr lang="en-US" sz="2000" dirty="0"/>
            </a:br>
            <a:r>
              <a:rPr lang="en-US" sz="2000" dirty="0"/>
              <a:t>CSMA/CD (CSMA with Collision Detection)</a:t>
            </a:r>
          </a:p>
          <a:p>
            <a:r>
              <a:rPr lang="en-US" sz="2000" dirty="0"/>
              <a:t>CSMA/CA (CSMA with Collision Avoidance)</a:t>
            </a:r>
            <a:endParaRPr lang="en-IN" sz="2000" dirty="0"/>
          </a:p>
          <a:p>
            <a:endParaRPr lang="en-IN" sz="2000" dirty="0"/>
          </a:p>
        </p:txBody>
      </p:sp>
    </p:spTree>
    <p:extLst>
      <p:ext uri="{BB962C8B-B14F-4D97-AF65-F5344CB8AC3E}">
        <p14:creationId xmlns:p14="http://schemas.microsoft.com/office/powerpoint/2010/main" val="425593610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3DFA5F-9EFC-C82E-AE6E-A32E183563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64083F-2561-D33F-8204-2A50C59A7E47}"/>
              </a:ext>
            </a:extLst>
          </p:cNvPr>
          <p:cNvSpPr>
            <a:spLocks noGrp="1"/>
          </p:cNvSpPr>
          <p:nvPr>
            <p:ph type="title"/>
          </p:nvPr>
        </p:nvSpPr>
        <p:spPr>
          <a:xfrm>
            <a:off x="208547" y="529388"/>
            <a:ext cx="11678653" cy="577517"/>
          </a:xfrm>
        </p:spPr>
        <p:txBody>
          <a:bodyPr>
            <a:normAutofit fontScale="90000"/>
          </a:bodyPr>
          <a:lstStyle/>
          <a:p>
            <a:r>
              <a:rPr lang="en-US" dirty="0"/>
              <a:t>1-Persistent CSMA</a:t>
            </a:r>
            <a:endParaRPr lang="en-IN" dirty="0"/>
          </a:p>
        </p:txBody>
      </p:sp>
      <p:sp>
        <p:nvSpPr>
          <p:cNvPr id="3" name="Content Placeholder 2">
            <a:extLst>
              <a:ext uri="{FF2B5EF4-FFF2-40B4-BE49-F238E27FC236}">
                <a16:creationId xmlns:a16="http://schemas.microsoft.com/office/drawing/2014/main" id="{087B54A2-0A41-EDAB-33FE-9400DC877F12}"/>
              </a:ext>
            </a:extLst>
          </p:cNvPr>
          <p:cNvSpPr>
            <a:spLocks noGrp="1"/>
          </p:cNvSpPr>
          <p:nvPr>
            <p:ph idx="1"/>
          </p:nvPr>
        </p:nvSpPr>
        <p:spPr>
          <a:xfrm>
            <a:off x="208547" y="1106905"/>
            <a:ext cx="11678653" cy="5454316"/>
          </a:xfrm>
        </p:spPr>
        <p:txBody>
          <a:bodyPr/>
          <a:lstStyle/>
          <a:p>
            <a:r>
              <a:rPr lang="en-US" dirty="0"/>
              <a:t>Before sending the data, the station first listens to the channel to see if anyone else is transmitting the data at that moment.</a:t>
            </a:r>
          </a:p>
          <a:p>
            <a:r>
              <a:rPr lang="en-US" dirty="0"/>
              <a:t>If the channel is idle, the station transmits a frame.</a:t>
            </a:r>
          </a:p>
          <a:p>
            <a:r>
              <a:rPr lang="en-US" dirty="0"/>
              <a:t>If busy, it senses the transmission medium continuously until it becomes idle.</a:t>
            </a:r>
          </a:p>
          <a:p>
            <a:r>
              <a:rPr lang="en-US" dirty="0"/>
              <a:t>Since, the station transmits the frame with probability of 1 when the carrier or channel is idle, this scheme of CSMA is called as 1-Persistent CSMA.</a:t>
            </a:r>
          </a:p>
          <a:p>
            <a:r>
              <a:rPr lang="en-US" dirty="0"/>
              <a:t>The propagation delay has an important effect on the performance of the protocol. </a:t>
            </a:r>
          </a:p>
          <a:p>
            <a:r>
              <a:rPr lang="en-US" dirty="0"/>
              <a:t>The longer the propagation delay, the more important this effect becomes, and, worsens the performance of the protocol.</a:t>
            </a:r>
            <a:endParaRPr lang="en-IN" dirty="0"/>
          </a:p>
        </p:txBody>
      </p:sp>
      <p:sp>
        <p:nvSpPr>
          <p:cNvPr id="5" name="TextBox 4">
            <a:extLst>
              <a:ext uri="{FF2B5EF4-FFF2-40B4-BE49-F238E27FC236}">
                <a16:creationId xmlns:a16="http://schemas.microsoft.com/office/drawing/2014/main" id="{DEEEE1E4-D5C0-6F88-DB58-F1E6F091FA5B}"/>
              </a:ext>
            </a:extLst>
          </p:cNvPr>
          <p:cNvSpPr txBox="1"/>
          <p:nvPr/>
        </p:nvSpPr>
        <p:spPr>
          <a:xfrm>
            <a:off x="1219199" y="5914890"/>
            <a:ext cx="8630653" cy="646331"/>
          </a:xfrm>
          <a:prstGeom prst="rect">
            <a:avLst/>
          </a:prstGeom>
          <a:noFill/>
        </p:spPr>
        <p:txBody>
          <a:bodyPr wrap="square">
            <a:spAutoFit/>
          </a:bodyPr>
          <a:lstStyle/>
          <a:p>
            <a:pPr>
              <a:buNone/>
            </a:pPr>
            <a:r>
              <a:rPr lang="en-IN" dirty="0">
                <a:highlight>
                  <a:srgbClr val="FFFF00"/>
                </a:highlight>
              </a:rPr>
              <a:t>The number </a:t>
            </a:r>
            <a:r>
              <a:rPr lang="en-IN" b="1" dirty="0">
                <a:highlight>
                  <a:srgbClr val="FFFF00"/>
                </a:highlight>
              </a:rPr>
              <a:t>1</a:t>
            </a:r>
            <a:r>
              <a:rPr lang="en-IN" dirty="0">
                <a:highlight>
                  <a:srgbClr val="FFFF00"/>
                </a:highlight>
              </a:rPr>
              <a:t> means</a:t>
            </a:r>
          </a:p>
          <a:p>
            <a:pPr>
              <a:buNone/>
            </a:pPr>
            <a:r>
              <a:rPr lang="en-IN" b="1" dirty="0">
                <a:highlight>
                  <a:srgbClr val="FFFF00"/>
                </a:highlight>
              </a:rPr>
              <a:t>Transmit immediately (100% probability) when the channel becomes free.</a:t>
            </a:r>
            <a:endParaRPr lang="en-IN" dirty="0">
              <a:highlight>
                <a:srgbClr val="FFFF00"/>
              </a:highlight>
            </a:endParaRPr>
          </a:p>
        </p:txBody>
      </p:sp>
    </p:spTree>
    <p:extLst>
      <p:ext uri="{BB962C8B-B14F-4D97-AF65-F5344CB8AC3E}">
        <p14:creationId xmlns:p14="http://schemas.microsoft.com/office/powerpoint/2010/main" val="400020851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7B454B-6595-C61B-E4A8-5CEEE634EE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78EAF6-E528-980C-0688-78CAEC3B7B82}"/>
              </a:ext>
            </a:extLst>
          </p:cNvPr>
          <p:cNvSpPr>
            <a:spLocks noGrp="1"/>
          </p:cNvSpPr>
          <p:nvPr>
            <p:ph type="title"/>
          </p:nvPr>
        </p:nvSpPr>
        <p:spPr>
          <a:xfrm>
            <a:off x="208547" y="529388"/>
            <a:ext cx="11678653" cy="577517"/>
          </a:xfrm>
        </p:spPr>
        <p:txBody>
          <a:bodyPr>
            <a:normAutofit fontScale="90000"/>
          </a:bodyPr>
          <a:lstStyle/>
          <a:p>
            <a:r>
              <a:rPr lang="en-US" dirty="0"/>
              <a:t>1-Persistent CSMA</a:t>
            </a:r>
            <a:endParaRPr lang="en-IN" dirty="0"/>
          </a:p>
        </p:txBody>
      </p:sp>
      <p:graphicFrame>
        <p:nvGraphicFramePr>
          <p:cNvPr id="4" name="Table 3">
            <a:extLst>
              <a:ext uri="{FF2B5EF4-FFF2-40B4-BE49-F238E27FC236}">
                <a16:creationId xmlns:a16="http://schemas.microsoft.com/office/drawing/2014/main" id="{C7EF8E8B-4141-A9EC-6BF0-B3F963658A5E}"/>
              </a:ext>
            </a:extLst>
          </p:cNvPr>
          <p:cNvGraphicFramePr>
            <a:graphicFrameLocks noGrp="1"/>
          </p:cNvGraphicFramePr>
          <p:nvPr>
            <p:extLst>
              <p:ext uri="{D42A27DB-BD31-4B8C-83A1-F6EECF244321}">
                <p14:modId xmlns:p14="http://schemas.microsoft.com/office/powerpoint/2010/main" val="1009222297"/>
              </p:ext>
            </p:extLst>
          </p:nvPr>
        </p:nvGraphicFramePr>
        <p:xfrm>
          <a:off x="379663" y="1441561"/>
          <a:ext cx="5058612" cy="4577080"/>
        </p:xfrm>
        <a:graphic>
          <a:graphicData uri="http://schemas.openxmlformats.org/drawingml/2006/table">
            <a:tbl>
              <a:tblPr firstRow="1" bandRow="1">
                <a:tableStyleId>{5C22544A-7EE6-4342-B048-85BDC9FD1C3A}</a:tableStyleId>
              </a:tblPr>
              <a:tblGrid>
                <a:gridCol w="2529306">
                  <a:extLst>
                    <a:ext uri="{9D8B030D-6E8A-4147-A177-3AD203B41FA5}">
                      <a16:colId xmlns:a16="http://schemas.microsoft.com/office/drawing/2014/main" val="737008520"/>
                    </a:ext>
                  </a:extLst>
                </a:gridCol>
                <a:gridCol w="2529306">
                  <a:extLst>
                    <a:ext uri="{9D8B030D-6E8A-4147-A177-3AD203B41FA5}">
                      <a16:colId xmlns:a16="http://schemas.microsoft.com/office/drawing/2014/main" val="2970600848"/>
                    </a:ext>
                  </a:extLst>
                </a:gridCol>
              </a:tblGrid>
              <a:tr h="370840">
                <a:tc>
                  <a:txBody>
                    <a:bodyPr/>
                    <a:lstStyle/>
                    <a:p>
                      <a:pPr>
                        <a:buNone/>
                      </a:pPr>
                      <a:r>
                        <a:rPr lang="en-IN" dirty="0"/>
                        <a:t>Advantage</a:t>
                      </a:r>
                    </a:p>
                  </a:txBody>
                  <a:tcPr anchor="ctr"/>
                </a:tc>
                <a:tc>
                  <a:txBody>
                    <a:bodyPr/>
                    <a:lstStyle/>
                    <a:p>
                      <a:pPr>
                        <a:buNone/>
                      </a:pPr>
                      <a:r>
                        <a:rPr lang="en-IN"/>
                        <a:t>Explanation</a:t>
                      </a:r>
                    </a:p>
                  </a:txBody>
                  <a:tcPr anchor="ctr"/>
                </a:tc>
                <a:extLst>
                  <a:ext uri="{0D108BD9-81ED-4DB2-BD59-A6C34878D82A}">
                    <a16:rowId xmlns:a16="http://schemas.microsoft.com/office/drawing/2014/main" val="2929469423"/>
                  </a:ext>
                </a:extLst>
              </a:tr>
              <a:tr h="370840">
                <a:tc>
                  <a:txBody>
                    <a:bodyPr/>
                    <a:lstStyle/>
                    <a:p>
                      <a:pPr>
                        <a:buNone/>
                      </a:pPr>
                      <a:r>
                        <a:rPr lang="en-IN"/>
                        <a:t>Very simple</a:t>
                      </a:r>
                    </a:p>
                  </a:txBody>
                  <a:tcPr anchor="ctr"/>
                </a:tc>
                <a:tc>
                  <a:txBody>
                    <a:bodyPr/>
                    <a:lstStyle/>
                    <a:p>
                      <a:pPr>
                        <a:buNone/>
                      </a:pPr>
                      <a:r>
                        <a:rPr lang="en-IN"/>
                        <a:t>Easy to implement because devices continuously monitor the channel.</a:t>
                      </a:r>
                    </a:p>
                  </a:txBody>
                  <a:tcPr anchor="ctr"/>
                </a:tc>
                <a:extLst>
                  <a:ext uri="{0D108BD9-81ED-4DB2-BD59-A6C34878D82A}">
                    <a16:rowId xmlns:a16="http://schemas.microsoft.com/office/drawing/2014/main" val="1055705559"/>
                  </a:ext>
                </a:extLst>
              </a:tr>
              <a:tr h="370840">
                <a:tc>
                  <a:txBody>
                    <a:bodyPr/>
                    <a:lstStyle/>
                    <a:p>
                      <a:pPr>
                        <a:buNone/>
                      </a:pPr>
                      <a:r>
                        <a:rPr lang="en-IN"/>
                        <a:t>Low waiting time</a:t>
                      </a:r>
                    </a:p>
                  </a:txBody>
                  <a:tcPr anchor="ctr"/>
                </a:tc>
                <a:tc>
                  <a:txBody>
                    <a:bodyPr/>
                    <a:lstStyle/>
                    <a:p>
                      <a:pPr>
                        <a:buNone/>
                      </a:pPr>
                      <a:r>
                        <a:rPr lang="en-IN"/>
                        <a:t>As soon as the channel is free, transmission starts immediately.</a:t>
                      </a:r>
                    </a:p>
                  </a:txBody>
                  <a:tcPr anchor="ctr"/>
                </a:tc>
                <a:extLst>
                  <a:ext uri="{0D108BD9-81ED-4DB2-BD59-A6C34878D82A}">
                    <a16:rowId xmlns:a16="http://schemas.microsoft.com/office/drawing/2014/main" val="231826926"/>
                  </a:ext>
                </a:extLst>
              </a:tr>
              <a:tr h="370840">
                <a:tc>
                  <a:txBody>
                    <a:bodyPr/>
                    <a:lstStyle/>
                    <a:p>
                      <a:pPr>
                        <a:buNone/>
                      </a:pPr>
                      <a:r>
                        <a:rPr lang="en-IN"/>
                        <a:t>Better than ALOHA</a:t>
                      </a:r>
                    </a:p>
                  </a:txBody>
                  <a:tcPr anchor="ctr"/>
                </a:tc>
                <a:tc>
                  <a:txBody>
                    <a:bodyPr/>
                    <a:lstStyle/>
                    <a:p>
                      <a:pPr>
                        <a:buNone/>
                      </a:pPr>
                      <a:r>
                        <a:rPr lang="en-IN"/>
                        <a:t>Collisions are fewer because the channel is sensed before transmitting.</a:t>
                      </a:r>
                    </a:p>
                  </a:txBody>
                  <a:tcPr anchor="ctr"/>
                </a:tc>
                <a:extLst>
                  <a:ext uri="{0D108BD9-81ED-4DB2-BD59-A6C34878D82A}">
                    <a16:rowId xmlns:a16="http://schemas.microsoft.com/office/drawing/2014/main" val="1765668470"/>
                  </a:ext>
                </a:extLst>
              </a:tr>
              <a:tr h="370840">
                <a:tc>
                  <a:txBody>
                    <a:bodyPr/>
                    <a:lstStyle/>
                    <a:p>
                      <a:pPr>
                        <a:buNone/>
                      </a:pPr>
                      <a:r>
                        <a:rPr lang="en-IN"/>
                        <a:t>Good under light traffic</a:t>
                      </a:r>
                    </a:p>
                  </a:txBody>
                  <a:tcPr anchor="ctr"/>
                </a:tc>
                <a:tc>
                  <a:txBody>
                    <a:bodyPr/>
                    <a:lstStyle/>
                    <a:p>
                      <a:pPr>
                        <a:buNone/>
                      </a:pPr>
                      <a:r>
                        <a:rPr lang="en-IN" dirty="0"/>
                        <a:t>Works efficiently when only a few devices share the channel.</a:t>
                      </a:r>
                    </a:p>
                  </a:txBody>
                  <a:tcPr anchor="ctr"/>
                </a:tc>
                <a:extLst>
                  <a:ext uri="{0D108BD9-81ED-4DB2-BD59-A6C34878D82A}">
                    <a16:rowId xmlns:a16="http://schemas.microsoft.com/office/drawing/2014/main" val="2206624512"/>
                  </a:ext>
                </a:extLst>
              </a:tr>
            </a:tbl>
          </a:graphicData>
        </a:graphic>
      </p:graphicFrame>
      <p:graphicFrame>
        <p:nvGraphicFramePr>
          <p:cNvPr id="7" name="Table 6">
            <a:extLst>
              <a:ext uri="{FF2B5EF4-FFF2-40B4-BE49-F238E27FC236}">
                <a16:creationId xmlns:a16="http://schemas.microsoft.com/office/drawing/2014/main" id="{D7E2363A-68C1-0D3F-3B08-87E1EA98E38F}"/>
              </a:ext>
            </a:extLst>
          </p:cNvPr>
          <p:cNvGraphicFramePr>
            <a:graphicFrameLocks noGrp="1"/>
          </p:cNvGraphicFramePr>
          <p:nvPr>
            <p:extLst>
              <p:ext uri="{D42A27DB-BD31-4B8C-83A1-F6EECF244321}">
                <p14:modId xmlns:p14="http://schemas.microsoft.com/office/powerpoint/2010/main" val="3959885854"/>
              </p:ext>
            </p:extLst>
          </p:nvPr>
        </p:nvGraphicFramePr>
        <p:xfrm>
          <a:off x="6531811" y="1441561"/>
          <a:ext cx="5058612" cy="3662680"/>
        </p:xfrm>
        <a:graphic>
          <a:graphicData uri="http://schemas.openxmlformats.org/drawingml/2006/table">
            <a:tbl>
              <a:tblPr firstRow="1" bandRow="1">
                <a:tableStyleId>{5C22544A-7EE6-4342-B048-85BDC9FD1C3A}</a:tableStyleId>
              </a:tblPr>
              <a:tblGrid>
                <a:gridCol w="2529306">
                  <a:extLst>
                    <a:ext uri="{9D8B030D-6E8A-4147-A177-3AD203B41FA5}">
                      <a16:colId xmlns:a16="http://schemas.microsoft.com/office/drawing/2014/main" val="737008520"/>
                    </a:ext>
                  </a:extLst>
                </a:gridCol>
                <a:gridCol w="2529306">
                  <a:extLst>
                    <a:ext uri="{9D8B030D-6E8A-4147-A177-3AD203B41FA5}">
                      <a16:colId xmlns:a16="http://schemas.microsoft.com/office/drawing/2014/main" val="2970600848"/>
                    </a:ext>
                  </a:extLst>
                </a:gridCol>
              </a:tblGrid>
              <a:tr h="370840">
                <a:tc>
                  <a:txBody>
                    <a:bodyPr/>
                    <a:lstStyle/>
                    <a:p>
                      <a:pPr>
                        <a:buNone/>
                      </a:pPr>
                      <a:r>
                        <a:rPr lang="en-IN" dirty="0"/>
                        <a:t>Disadvantage</a:t>
                      </a:r>
                    </a:p>
                  </a:txBody>
                  <a:tcPr anchor="ctr"/>
                </a:tc>
                <a:tc>
                  <a:txBody>
                    <a:bodyPr/>
                    <a:lstStyle/>
                    <a:p>
                      <a:pPr>
                        <a:buNone/>
                      </a:pPr>
                      <a:r>
                        <a:rPr lang="en-IN"/>
                        <a:t>Explanation</a:t>
                      </a:r>
                    </a:p>
                  </a:txBody>
                  <a:tcPr anchor="ctr"/>
                </a:tc>
                <a:extLst>
                  <a:ext uri="{0D108BD9-81ED-4DB2-BD59-A6C34878D82A}">
                    <a16:rowId xmlns:a16="http://schemas.microsoft.com/office/drawing/2014/main" val="2929469423"/>
                  </a:ext>
                </a:extLst>
              </a:tr>
              <a:tr h="370840">
                <a:tc>
                  <a:txBody>
                    <a:bodyPr/>
                    <a:lstStyle/>
                    <a:p>
                      <a:pPr>
                        <a:buNone/>
                      </a:pPr>
                      <a:r>
                        <a:rPr lang="en-IN"/>
                        <a:t>High collision probability under heavy traffic</a:t>
                      </a:r>
                    </a:p>
                  </a:txBody>
                  <a:tcPr anchor="ctr"/>
                </a:tc>
                <a:tc>
                  <a:txBody>
                    <a:bodyPr/>
                    <a:lstStyle/>
                    <a:p>
                      <a:pPr>
                        <a:buNone/>
                      </a:pPr>
                      <a:r>
                        <a:rPr lang="en-IN"/>
                        <a:t>Multiple waiting devices transmit at the same instant when the channel becomes free.</a:t>
                      </a:r>
                    </a:p>
                  </a:txBody>
                  <a:tcPr anchor="ctr"/>
                </a:tc>
                <a:extLst>
                  <a:ext uri="{0D108BD9-81ED-4DB2-BD59-A6C34878D82A}">
                    <a16:rowId xmlns:a16="http://schemas.microsoft.com/office/drawing/2014/main" val="1055705559"/>
                  </a:ext>
                </a:extLst>
              </a:tr>
              <a:tr h="370840">
                <a:tc>
                  <a:txBody>
                    <a:bodyPr/>
                    <a:lstStyle/>
                    <a:p>
                      <a:pPr>
                        <a:buNone/>
                      </a:pPr>
                      <a:r>
                        <a:rPr lang="en-IN"/>
                        <a:t>Continuous channel sensing</a:t>
                      </a:r>
                    </a:p>
                  </a:txBody>
                  <a:tcPr anchor="ctr"/>
                </a:tc>
                <a:tc>
                  <a:txBody>
                    <a:bodyPr/>
                    <a:lstStyle/>
                    <a:p>
                      <a:pPr>
                        <a:buNone/>
                      </a:pPr>
                      <a:r>
                        <a:rPr lang="en-IN"/>
                        <a:t>Devices keep monitoring the channel, consuming resources.</a:t>
                      </a:r>
                    </a:p>
                  </a:txBody>
                  <a:tcPr anchor="ctr"/>
                </a:tc>
                <a:extLst>
                  <a:ext uri="{0D108BD9-81ED-4DB2-BD59-A6C34878D82A}">
                    <a16:rowId xmlns:a16="http://schemas.microsoft.com/office/drawing/2014/main" val="231826926"/>
                  </a:ext>
                </a:extLst>
              </a:tr>
              <a:tr h="370840">
                <a:tc>
                  <a:txBody>
                    <a:bodyPr/>
                    <a:lstStyle/>
                    <a:p>
                      <a:pPr>
                        <a:buNone/>
                      </a:pPr>
                      <a:r>
                        <a:rPr lang="en-IN"/>
                        <a:t>Not efficient for busy networks</a:t>
                      </a:r>
                    </a:p>
                  </a:txBody>
                  <a:tcPr anchor="ctr"/>
                </a:tc>
                <a:tc>
                  <a:txBody>
                    <a:bodyPr/>
                    <a:lstStyle/>
                    <a:p>
                      <a:pPr>
                        <a:buNone/>
                      </a:pPr>
                      <a:r>
                        <a:rPr lang="en-IN" dirty="0"/>
                        <a:t>Performance decreases significantly as the number of devices increases.</a:t>
                      </a:r>
                    </a:p>
                  </a:txBody>
                  <a:tcPr anchor="ctr"/>
                </a:tc>
                <a:extLst>
                  <a:ext uri="{0D108BD9-81ED-4DB2-BD59-A6C34878D82A}">
                    <a16:rowId xmlns:a16="http://schemas.microsoft.com/office/drawing/2014/main" val="1765668470"/>
                  </a:ext>
                </a:extLst>
              </a:tr>
            </a:tbl>
          </a:graphicData>
        </a:graphic>
      </p:graphicFrame>
    </p:spTree>
    <p:extLst>
      <p:ext uri="{BB962C8B-B14F-4D97-AF65-F5344CB8AC3E}">
        <p14:creationId xmlns:p14="http://schemas.microsoft.com/office/powerpoint/2010/main" val="210873275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E630A1-9189-99C4-17ED-FB5EB49E21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EA2D9E-4094-CEDD-39AD-FB2049837284}"/>
              </a:ext>
            </a:extLst>
          </p:cNvPr>
          <p:cNvSpPr>
            <a:spLocks noGrp="1"/>
          </p:cNvSpPr>
          <p:nvPr>
            <p:ph type="title"/>
          </p:nvPr>
        </p:nvSpPr>
        <p:spPr>
          <a:xfrm>
            <a:off x="208547" y="529388"/>
            <a:ext cx="11678653" cy="577517"/>
          </a:xfrm>
        </p:spPr>
        <p:txBody>
          <a:bodyPr>
            <a:normAutofit fontScale="90000"/>
          </a:bodyPr>
          <a:lstStyle/>
          <a:p>
            <a:r>
              <a:rPr lang="en-US" dirty="0"/>
              <a:t>Non-Persistent CSMA</a:t>
            </a:r>
            <a:endParaRPr lang="en-IN" dirty="0"/>
          </a:p>
        </p:txBody>
      </p:sp>
      <p:sp>
        <p:nvSpPr>
          <p:cNvPr id="3" name="Content Placeholder 2">
            <a:extLst>
              <a:ext uri="{FF2B5EF4-FFF2-40B4-BE49-F238E27FC236}">
                <a16:creationId xmlns:a16="http://schemas.microsoft.com/office/drawing/2014/main" id="{E5BCC3DD-0FCA-A782-3E9C-63FD53FE5E34}"/>
              </a:ext>
            </a:extLst>
          </p:cNvPr>
          <p:cNvSpPr>
            <a:spLocks noGrp="1"/>
          </p:cNvSpPr>
          <p:nvPr>
            <p:ph idx="1"/>
          </p:nvPr>
        </p:nvSpPr>
        <p:spPr>
          <a:xfrm>
            <a:off x="208547" y="1106905"/>
            <a:ext cx="11678653" cy="5454316"/>
          </a:xfrm>
        </p:spPr>
        <p:txBody>
          <a:bodyPr/>
          <a:lstStyle/>
          <a:p>
            <a:r>
              <a:rPr lang="en-IN" dirty="0"/>
              <a:t>Non-Persistent CSMA is a Carrier Sense Multiple Access protocol in which a station first senses the channel. If the channel is busy, it does not continuously monitor the channel. Instead, it waits for a random period of time before sensing the channel again.</a:t>
            </a:r>
          </a:p>
          <a:p>
            <a:r>
              <a:rPr lang="en-IN" dirty="0"/>
              <a:t>The word </a:t>
            </a:r>
            <a:r>
              <a:rPr lang="en-IN" b="1" dirty="0"/>
              <a:t>Non-Persistent</a:t>
            </a:r>
            <a:r>
              <a:rPr lang="en-IN" dirty="0"/>
              <a:t> means </a:t>
            </a:r>
            <a:r>
              <a:rPr lang="en-IN" b="1" dirty="0"/>
              <a:t>Do not keep continuously checking the channel.</a:t>
            </a:r>
            <a:endParaRPr lang="en-IN" dirty="0"/>
          </a:p>
          <a:p>
            <a:pPr marL="0" indent="0">
              <a:buNone/>
            </a:pPr>
            <a:r>
              <a:rPr lang="en-IN" dirty="0"/>
              <a:t>Instead,</a:t>
            </a:r>
          </a:p>
          <a:p>
            <a:r>
              <a:rPr lang="en-IN" dirty="0"/>
              <a:t>Wait </a:t>
            </a:r>
          </a:p>
          <a:p>
            <a:r>
              <a:rPr lang="en-IN" dirty="0"/>
              <a:t>Come back later </a:t>
            </a:r>
          </a:p>
          <a:p>
            <a:r>
              <a:rPr lang="en-IN" dirty="0"/>
              <a:t>Check again</a:t>
            </a:r>
          </a:p>
          <a:p>
            <a:endParaRPr lang="en-IN" dirty="0"/>
          </a:p>
        </p:txBody>
      </p:sp>
    </p:spTree>
    <p:extLst>
      <p:ext uri="{BB962C8B-B14F-4D97-AF65-F5344CB8AC3E}">
        <p14:creationId xmlns:p14="http://schemas.microsoft.com/office/powerpoint/2010/main" val="27739127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CE3981-53D6-CF45-7543-0DC5ACEFF7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DE0B68-09EE-F332-E696-DCE354617DBB}"/>
              </a:ext>
            </a:extLst>
          </p:cNvPr>
          <p:cNvSpPr>
            <a:spLocks noGrp="1"/>
          </p:cNvSpPr>
          <p:nvPr>
            <p:ph type="title"/>
          </p:nvPr>
        </p:nvSpPr>
        <p:spPr>
          <a:xfrm>
            <a:off x="208547" y="529388"/>
            <a:ext cx="11678653" cy="577517"/>
          </a:xfrm>
        </p:spPr>
        <p:txBody>
          <a:bodyPr>
            <a:normAutofit fontScale="90000"/>
          </a:bodyPr>
          <a:lstStyle/>
          <a:p>
            <a:r>
              <a:rPr lang="en-US" dirty="0"/>
              <a:t>Non-Persistent CSMA – Flow Diagram</a:t>
            </a:r>
            <a:endParaRPr lang="en-IN" dirty="0"/>
          </a:p>
        </p:txBody>
      </p:sp>
      <p:pic>
        <p:nvPicPr>
          <p:cNvPr id="7" name="Picture 6">
            <a:extLst>
              <a:ext uri="{FF2B5EF4-FFF2-40B4-BE49-F238E27FC236}">
                <a16:creationId xmlns:a16="http://schemas.microsoft.com/office/drawing/2014/main" id="{B4D16196-8FB6-C0F5-8031-24109AD82B7F}"/>
              </a:ext>
            </a:extLst>
          </p:cNvPr>
          <p:cNvPicPr>
            <a:picLocks noChangeAspect="1"/>
          </p:cNvPicPr>
          <p:nvPr/>
        </p:nvPicPr>
        <p:blipFill>
          <a:blip r:embed="rId2"/>
          <a:stretch>
            <a:fillRect/>
          </a:stretch>
        </p:blipFill>
        <p:spPr>
          <a:xfrm>
            <a:off x="852804" y="1748591"/>
            <a:ext cx="3943786" cy="4219072"/>
          </a:xfrm>
          <a:prstGeom prst="rect">
            <a:avLst/>
          </a:prstGeom>
        </p:spPr>
      </p:pic>
    </p:spTree>
    <p:extLst>
      <p:ext uri="{BB962C8B-B14F-4D97-AF65-F5344CB8AC3E}">
        <p14:creationId xmlns:p14="http://schemas.microsoft.com/office/powerpoint/2010/main" val="315039507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67DAF7-BC19-D261-9F19-2E25E05E8A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549142-18CF-2F74-023A-A100B8B6C6B1}"/>
              </a:ext>
            </a:extLst>
          </p:cNvPr>
          <p:cNvSpPr>
            <a:spLocks noGrp="1"/>
          </p:cNvSpPr>
          <p:nvPr>
            <p:ph type="title"/>
          </p:nvPr>
        </p:nvSpPr>
        <p:spPr>
          <a:xfrm>
            <a:off x="208547" y="529388"/>
            <a:ext cx="11678653" cy="577517"/>
          </a:xfrm>
        </p:spPr>
        <p:txBody>
          <a:bodyPr>
            <a:normAutofit fontScale="90000"/>
          </a:bodyPr>
          <a:lstStyle/>
          <a:p>
            <a:r>
              <a:rPr lang="en-US" dirty="0"/>
              <a:t>Non-Persistent CSMA</a:t>
            </a:r>
            <a:endParaRPr lang="en-IN" dirty="0"/>
          </a:p>
        </p:txBody>
      </p:sp>
      <p:graphicFrame>
        <p:nvGraphicFramePr>
          <p:cNvPr id="4" name="Table 3">
            <a:extLst>
              <a:ext uri="{FF2B5EF4-FFF2-40B4-BE49-F238E27FC236}">
                <a16:creationId xmlns:a16="http://schemas.microsoft.com/office/drawing/2014/main" id="{69C9195B-49C4-B2DA-21EB-FF2CAD8C0C44}"/>
              </a:ext>
            </a:extLst>
          </p:cNvPr>
          <p:cNvGraphicFramePr>
            <a:graphicFrameLocks noGrp="1"/>
          </p:cNvGraphicFramePr>
          <p:nvPr>
            <p:extLst>
              <p:ext uri="{D42A27DB-BD31-4B8C-83A1-F6EECF244321}">
                <p14:modId xmlns:p14="http://schemas.microsoft.com/office/powerpoint/2010/main" val="1303659434"/>
              </p:ext>
            </p:extLst>
          </p:nvPr>
        </p:nvGraphicFramePr>
        <p:xfrm>
          <a:off x="379663" y="1441561"/>
          <a:ext cx="5058612" cy="4577080"/>
        </p:xfrm>
        <a:graphic>
          <a:graphicData uri="http://schemas.openxmlformats.org/drawingml/2006/table">
            <a:tbl>
              <a:tblPr firstRow="1" bandRow="1">
                <a:tableStyleId>{5C22544A-7EE6-4342-B048-85BDC9FD1C3A}</a:tableStyleId>
              </a:tblPr>
              <a:tblGrid>
                <a:gridCol w="2529306">
                  <a:extLst>
                    <a:ext uri="{9D8B030D-6E8A-4147-A177-3AD203B41FA5}">
                      <a16:colId xmlns:a16="http://schemas.microsoft.com/office/drawing/2014/main" val="737008520"/>
                    </a:ext>
                  </a:extLst>
                </a:gridCol>
                <a:gridCol w="2529306">
                  <a:extLst>
                    <a:ext uri="{9D8B030D-6E8A-4147-A177-3AD203B41FA5}">
                      <a16:colId xmlns:a16="http://schemas.microsoft.com/office/drawing/2014/main" val="2970600848"/>
                    </a:ext>
                  </a:extLst>
                </a:gridCol>
              </a:tblGrid>
              <a:tr h="370840">
                <a:tc>
                  <a:txBody>
                    <a:bodyPr/>
                    <a:lstStyle/>
                    <a:p>
                      <a:pPr>
                        <a:buNone/>
                      </a:pPr>
                      <a:r>
                        <a:rPr lang="en-IN" dirty="0"/>
                        <a:t>Advantage</a:t>
                      </a:r>
                    </a:p>
                  </a:txBody>
                  <a:tcPr anchor="ctr"/>
                </a:tc>
                <a:tc>
                  <a:txBody>
                    <a:bodyPr/>
                    <a:lstStyle/>
                    <a:p>
                      <a:pPr>
                        <a:buNone/>
                      </a:pPr>
                      <a:r>
                        <a:rPr lang="en-IN"/>
                        <a:t>Explanation</a:t>
                      </a:r>
                    </a:p>
                  </a:txBody>
                  <a:tcPr anchor="ctr"/>
                </a:tc>
                <a:extLst>
                  <a:ext uri="{0D108BD9-81ED-4DB2-BD59-A6C34878D82A}">
                    <a16:rowId xmlns:a16="http://schemas.microsoft.com/office/drawing/2014/main" val="2929469423"/>
                  </a:ext>
                </a:extLst>
              </a:tr>
              <a:tr h="370840">
                <a:tc>
                  <a:txBody>
                    <a:bodyPr/>
                    <a:lstStyle/>
                    <a:p>
                      <a:pPr>
                        <a:buNone/>
                      </a:pPr>
                      <a:r>
                        <a:rPr lang="en-IN"/>
                        <a:t>Much fewer collisions</a:t>
                      </a:r>
                    </a:p>
                  </a:txBody>
                  <a:tcPr anchor="ctr"/>
                </a:tc>
                <a:tc>
                  <a:txBody>
                    <a:bodyPr/>
                    <a:lstStyle/>
                    <a:p>
                      <a:pPr>
                        <a:buNone/>
                      </a:pPr>
                      <a:r>
                        <a:rPr lang="en-IN"/>
                        <a:t>Random waiting prevents many devices from transmitting simultaneously.</a:t>
                      </a:r>
                    </a:p>
                  </a:txBody>
                  <a:tcPr anchor="ctr"/>
                </a:tc>
                <a:extLst>
                  <a:ext uri="{0D108BD9-81ED-4DB2-BD59-A6C34878D82A}">
                    <a16:rowId xmlns:a16="http://schemas.microsoft.com/office/drawing/2014/main" val="1055705559"/>
                  </a:ext>
                </a:extLst>
              </a:tr>
              <a:tr h="370840">
                <a:tc>
                  <a:txBody>
                    <a:bodyPr/>
                    <a:lstStyle/>
                    <a:p>
                      <a:pPr>
                        <a:buNone/>
                      </a:pPr>
                      <a:r>
                        <a:rPr lang="en-IN"/>
                        <a:t>Better bandwidth utilization</a:t>
                      </a:r>
                    </a:p>
                  </a:txBody>
                  <a:tcPr anchor="ctr"/>
                </a:tc>
                <a:tc>
                  <a:txBody>
                    <a:bodyPr/>
                    <a:lstStyle/>
                    <a:p>
                      <a:pPr>
                        <a:buNone/>
                      </a:pPr>
                      <a:r>
                        <a:rPr lang="en-IN"/>
                        <a:t>Less bandwidth is wasted because fewer packets collide.</a:t>
                      </a:r>
                    </a:p>
                  </a:txBody>
                  <a:tcPr anchor="ctr"/>
                </a:tc>
                <a:extLst>
                  <a:ext uri="{0D108BD9-81ED-4DB2-BD59-A6C34878D82A}">
                    <a16:rowId xmlns:a16="http://schemas.microsoft.com/office/drawing/2014/main" val="231826926"/>
                  </a:ext>
                </a:extLst>
              </a:tr>
              <a:tr h="370840">
                <a:tc>
                  <a:txBody>
                    <a:bodyPr/>
                    <a:lstStyle/>
                    <a:p>
                      <a:pPr>
                        <a:buNone/>
                      </a:pPr>
                      <a:r>
                        <a:rPr lang="en-IN"/>
                        <a:t>Better performance under heavy traffic</a:t>
                      </a:r>
                    </a:p>
                  </a:txBody>
                  <a:tcPr anchor="ctr"/>
                </a:tc>
                <a:tc>
                  <a:txBody>
                    <a:bodyPr/>
                    <a:lstStyle/>
                    <a:p>
                      <a:pPr>
                        <a:buNone/>
                      </a:pPr>
                      <a:r>
                        <a:rPr lang="en-IN"/>
                        <a:t>Performs better than 1-Persistent CSMA when many devices are sharing the channel.</a:t>
                      </a:r>
                    </a:p>
                  </a:txBody>
                  <a:tcPr anchor="ctr"/>
                </a:tc>
                <a:extLst>
                  <a:ext uri="{0D108BD9-81ED-4DB2-BD59-A6C34878D82A}">
                    <a16:rowId xmlns:a16="http://schemas.microsoft.com/office/drawing/2014/main" val="1765668470"/>
                  </a:ext>
                </a:extLst>
              </a:tr>
              <a:tr h="370840">
                <a:tc>
                  <a:txBody>
                    <a:bodyPr/>
                    <a:lstStyle/>
                    <a:p>
                      <a:pPr>
                        <a:buNone/>
                      </a:pPr>
                      <a:r>
                        <a:rPr lang="en-IN"/>
                        <a:t>No continuous monitoring</a:t>
                      </a:r>
                    </a:p>
                  </a:txBody>
                  <a:tcPr anchor="ctr"/>
                </a:tc>
                <a:tc>
                  <a:txBody>
                    <a:bodyPr/>
                    <a:lstStyle/>
                    <a:p>
                      <a:pPr>
                        <a:buNone/>
                      </a:pPr>
                      <a:r>
                        <a:rPr lang="en-IN" dirty="0"/>
                        <a:t>Devices do not waste resources by constantly sensing the channel.</a:t>
                      </a:r>
                    </a:p>
                  </a:txBody>
                  <a:tcPr anchor="ctr"/>
                </a:tc>
                <a:extLst>
                  <a:ext uri="{0D108BD9-81ED-4DB2-BD59-A6C34878D82A}">
                    <a16:rowId xmlns:a16="http://schemas.microsoft.com/office/drawing/2014/main" val="2206624512"/>
                  </a:ext>
                </a:extLst>
              </a:tr>
            </a:tbl>
          </a:graphicData>
        </a:graphic>
      </p:graphicFrame>
      <p:graphicFrame>
        <p:nvGraphicFramePr>
          <p:cNvPr id="7" name="Table 6">
            <a:extLst>
              <a:ext uri="{FF2B5EF4-FFF2-40B4-BE49-F238E27FC236}">
                <a16:creationId xmlns:a16="http://schemas.microsoft.com/office/drawing/2014/main" id="{24D3DBD0-3E68-50B4-EFD6-61B58965F06D}"/>
              </a:ext>
            </a:extLst>
          </p:cNvPr>
          <p:cNvGraphicFramePr>
            <a:graphicFrameLocks noGrp="1"/>
          </p:cNvGraphicFramePr>
          <p:nvPr>
            <p:extLst>
              <p:ext uri="{D42A27DB-BD31-4B8C-83A1-F6EECF244321}">
                <p14:modId xmlns:p14="http://schemas.microsoft.com/office/powerpoint/2010/main" val="4173885777"/>
              </p:ext>
            </p:extLst>
          </p:nvPr>
        </p:nvGraphicFramePr>
        <p:xfrm>
          <a:off x="6531811" y="1441561"/>
          <a:ext cx="5058612" cy="2839720"/>
        </p:xfrm>
        <a:graphic>
          <a:graphicData uri="http://schemas.openxmlformats.org/drawingml/2006/table">
            <a:tbl>
              <a:tblPr firstRow="1" bandRow="1">
                <a:tableStyleId>{5C22544A-7EE6-4342-B048-85BDC9FD1C3A}</a:tableStyleId>
              </a:tblPr>
              <a:tblGrid>
                <a:gridCol w="2529306">
                  <a:extLst>
                    <a:ext uri="{9D8B030D-6E8A-4147-A177-3AD203B41FA5}">
                      <a16:colId xmlns:a16="http://schemas.microsoft.com/office/drawing/2014/main" val="737008520"/>
                    </a:ext>
                  </a:extLst>
                </a:gridCol>
                <a:gridCol w="2529306">
                  <a:extLst>
                    <a:ext uri="{9D8B030D-6E8A-4147-A177-3AD203B41FA5}">
                      <a16:colId xmlns:a16="http://schemas.microsoft.com/office/drawing/2014/main" val="2970600848"/>
                    </a:ext>
                  </a:extLst>
                </a:gridCol>
              </a:tblGrid>
              <a:tr h="370840">
                <a:tc>
                  <a:txBody>
                    <a:bodyPr/>
                    <a:lstStyle/>
                    <a:p>
                      <a:pPr>
                        <a:buNone/>
                      </a:pPr>
                      <a:r>
                        <a:rPr lang="en-IN" dirty="0"/>
                        <a:t>Disadvantage</a:t>
                      </a:r>
                    </a:p>
                  </a:txBody>
                  <a:tcPr anchor="ctr"/>
                </a:tc>
                <a:tc>
                  <a:txBody>
                    <a:bodyPr/>
                    <a:lstStyle/>
                    <a:p>
                      <a:pPr>
                        <a:buNone/>
                      </a:pPr>
                      <a:r>
                        <a:rPr lang="en-IN"/>
                        <a:t>Explanation</a:t>
                      </a:r>
                    </a:p>
                  </a:txBody>
                  <a:tcPr anchor="ctr"/>
                </a:tc>
                <a:extLst>
                  <a:ext uri="{0D108BD9-81ED-4DB2-BD59-A6C34878D82A}">
                    <a16:rowId xmlns:a16="http://schemas.microsoft.com/office/drawing/2014/main" val="2929469423"/>
                  </a:ext>
                </a:extLst>
              </a:tr>
              <a:tr h="370840">
                <a:tc>
                  <a:txBody>
                    <a:bodyPr/>
                    <a:lstStyle/>
                    <a:p>
                      <a:pPr>
                        <a:buNone/>
                      </a:pPr>
                      <a:r>
                        <a:rPr lang="en-IN"/>
                        <a:t>Higher waiting time</a:t>
                      </a:r>
                    </a:p>
                  </a:txBody>
                  <a:tcPr anchor="ctr"/>
                </a:tc>
                <a:tc>
                  <a:txBody>
                    <a:bodyPr/>
                    <a:lstStyle/>
                    <a:p>
                      <a:pPr>
                        <a:buNone/>
                      </a:pPr>
                      <a:r>
                        <a:rPr lang="en-IN"/>
                        <a:t>A device may wait even after the channel becomes free.</a:t>
                      </a:r>
                    </a:p>
                  </a:txBody>
                  <a:tcPr anchor="ctr"/>
                </a:tc>
                <a:extLst>
                  <a:ext uri="{0D108BD9-81ED-4DB2-BD59-A6C34878D82A}">
                    <a16:rowId xmlns:a16="http://schemas.microsoft.com/office/drawing/2014/main" val="1055705559"/>
                  </a:ext>
                </a:extLst>
              </a:tr>
              <a:tr h="370840">
                <a:tc>
                  <a:txBody>
                    <a:bodyPr/>
                    <a:lstStyle/>
                    <a:p>
                      <a:pPr>
                        <a:buNone/>
                      </a:pPr>
                      <a:r>
                        <a:rPr lang="en-IN"/>
                        <a:t>Increased transmission delay</a:t>
                      </a:r>
                    </a:p>
                  </a:txBody>
                  <a:tcPr anchor="ctr"/>
                </a:tc>
                <a:tc>
                  <a:txBody>
                    <a:bodyPr/>
                    <a:lstStyle/>
                    <a:p>
                      <a:pPr>
                        <a:buNone/>
                      </a:pPr>
                      <a:r>
                        <a:rPr lang="en-IN"/>
                        <a:t>Random waiting introduces additional delay before data is sent.</a:t>
                      </a:r>
                    </a:p>
                  </a:txBody>
                  <a:tcPr anchor="ctr"/>
                </a:tc>
                <a:extLst>
                  <a:ext uri="{0D108BD9-81ED-4DB2-BD59-A6C34878D82A}">
                    <a16:rowId xmlns:a16="http://schemas.microsoft.com/office/drawing/2014/main" val="231826926"/>
                  </a:ext>
                </a:extLst>
              </a:tr>
              <a:tr h="370840">
                <a:tc>
                  <a:txBody>
                    <a:bodyPr/>
                    <a:lstStyle/>
                    <a:p>
                      <a:pPr>
                        <a:buNone/>
                      </a:pPr>
                      <a:r>
                        <a:rPr lang="en-IN"/>
                        <a:t>Slightly more complex</a:t>
                      </a:r>
                    </a:p>
                  </a:txBody>
                  <a:tcPr anchor="ctr"/>
                </a:tc>
                <a:tc>
                  <a:txBody>
                    <a:bodyPr/>
                    <a:lstStyle/>
                    <a:p>
                      <a:pPr>
                        <a:buNone/>
                      </a:pPr>
                      <a:r>
                        <a:rPr lang="en-IN" dirty="0"/>
                        <a:t>Requires random backoff timing.</a:t>
                      </a:r>
                    </a:p>
                  </a:txBody>
                  <a:tcPr anchor="ctr"/>
                </a:tc>
                <a:extLst>
                  <a:ext uri="{0D108BD9-81ED-4DB2-BD59-A6C34878D82A}">
                    <a16:rowId xmlns:a16="http://schemas.microsoft.com/office/drawing/2014/main" val="1765668470"/>
                  </a:ext>
                </a:extLst>
              </a:tr>
            </a:tbl>
          </a:graphicData>
        </a:graphic>
      </p:graphicFrame>
      <p:sp>
        <p:nvSpPr>
          <p:cNvPr id="5" name="TextBox 4">
            <a:extLst>
              <a:ext uri="{FF2B5EF4-FFF2-40B4-BE49-F238E27FC236}">
                <a16:creationId xmlns:a16="http://schemas.microsoft.com/office/drawing/2014/main" id="{FA85A8DF-79D6-95B0-BDF9-E63CA26DAF77}"/>
              </a:ext>
            </a:extLst>
          </p:cNvPr>
          <p:cNvSpPr txBox="1"/>
          <p:nvPr/>
        </p:nvSpPr>
        <p:spPr>
          <a:xfrm>
            <a:off x="7042484" y="4778310"/>
            <a:ext cx="3316704" cy="1477328"/>
          </a:xfrm>
          <a:prstGeom prst="rect">
            <a:avLst/>
          </a:prstGeom>
          <a:noFill/>
        </p:spPr>
        <p:txBody>
          <a:bodyPr wrap="square">
            <a:spAutoFit/>
          </a:bodyPr>
          <a:lstStyle/>
          <a:p>
            <a:pPr>
              <a:buNone/>
            </a:pPr>
            <a:r>
              <a:rPr lang="en-IN" b="1" dirty="0"/>
              <a:t>"Can we create a protocol that reduces collisions like Non-Persistent CSMA but also reduces the waiting time?“</a:t>
            </a:r>
          </a:p>
          <a:p>
            <a:pPr>
              <a:buNone/>
            </a:pPr>
            <a:endParaRPr lang="en-IN" dirty="0"/>
          </a:p>
        </p:txBody>
      </p:sp>
    </p:spTree>
    <p:extLst>
      <p:ext uri="{BB962C8B-B14F-4D97-AF65-F5344CB8AC3E}">
        <p14:creationId xmlns:p14="http://schemas.microsoft.com/office/powerpoint/2010/main" val="217782366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62D388-C60D-1D9E-4369-21FE4842DE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739E78-86D4-1E46-ABEE-A13DA81D8DEE}"/>
              </a:ext>
            </a:extLst>
          </p:cNvPr>
          <p:cNvSpPr>
            <a:spLocks noGrp="1"/>
          </p:cNvSpPr>
          <p:nvPr>
            <p:ph type="title"/>
          </p:nvPr>
        </p:nvSpPr>
        <p:spPr>
          <a:xfrm>
            <a:off x="208547" y="529388"/>
            <a:ext cx="11678653" cy="577517"/>
          </a:xfrm>
        </p:spPr>
        <p:txBody>
          <a:bodyPr>
            <a:normAutofit fontScale="90000"/>
          </a:bodyPr>
          <a:lstStyle/>
          <a:p>
            <a:r>
              <a:rPr lang="en-US" dirty="0"/>
              <a:t>P-Persistent CSMA (0 + 1 CSMA)</a:t>
            </a:r>
            <a:endParaRPr lang="en-IN" dirty="0"/>
          </a:p>
        </p:txBody>
      </p:sp>
      <p:sp>
        <p:nvSpPr>
          <p:cNvPr id="3" name="Content Placeholder 2">
            <a:extLst>
              <a:ext uri="{FF2B5EF4-FFF2-40B4-BE49-F238E27FC236}">
                <a16:creationId xmlns:a16="http://schemas.microsoft.com/office/drawing/2014/main" id="{BB385590-15F8-60B1-5982-EB69770445D7}"/>
              </a:ext>
            </a:extLst>
          </p:cNvPr>
          <p:cNvSpPr>
            <a:spLocks noGrp="1"/>
          </p:cNvSpPr>
          <p:nvPr>
            <p:ph idx="1"/>
          </p:nvPr>
        </p:nvSpPr>
        <p:spPr>
          <a:xfrm>
            <a:off x="208547" y="1106905"/>
            <a:ext cx="11678653" cy="5454316"/>
          </a:xfrm>
        </p:spPr>
        <p:txBody>
          <a:bodyPr>
            <a:normAutofit/>
          </a:bodyPr>
          <a:lstStyle/>
          <a:p>
            <a:r>
              <a:rPr lang="en-IN" dirty="0"/>
              <a:t>P-Persistent CSMA is a Carrier Sense Multiple Access protocol in which a station senses the channel. When the channel becomes free, it transmits with probability P and waits until the next time slot with probability (1 − P).</a:t>
            </a:r>
          </a:p>
          <a:p>
            <a:r>
              <a:rPr lang="en-IN" dirty="0"/>
              <a:t>The word </a:t>
            </a:r>
            <a:r>
              <a:rPr lang="en-IN" b="1" dirty="0"/>
              <a:t>P</a:t>
            </a:r>
            <a:r>
              <a:rPr lang="en-IN" dirty="0"/>
              <a:t> means </a:t>
            </a:r>
            <a:r>
              <a:rPr lang="en-IN" b="1" dirty="0"/>
              <a:t>Probability of Transmission</a:t>
            </a:r>
          </a:p>
          <a:p>
            <a:pPr marL="0" indent="0">
              <a:buNone/>
            </a:pPr>
            <a:r>
              <a:rPr lang="en-US" dirty="0"/>
              <a:t>P = 0.5</a:t>
            </a:r>
          </a:p>
          <a:p>
            <a:pPr marL="0" indent="0">
              <a:buNone/>
            </a:pPr>
            <a:endParaRPr lang="en-US" dirty="0"/>
          </a:p>
          <a:p>
            <a:pPr marL="0" indent="0">
              <a:buNone/>
            </a:pPr>
            <a:r>
              <a:rPr lang="en-US" dirty="0"/>
              <a:t>means</a:t>
            </a:r>
          </a:p>
          <a:p>
            <a:pPr marL="0" indent="0">
              <a:buNone/>
            </a:pPr>
            <a:endParaRPr lang="en-US" dirty="0"/>
          </a:p>
          <a:p>
            <a:pPr marL="0" indent="0">
              <a:buNone/>
            </a:pPr>
            <a:r>
              <a:rPr lang="en-US" dirty="0"/>
              <a:t>50% chance of transmitting</a:t>
            </a:r>
          </a:p>
          <a:p>
            <a:pPr marL="0" indent="0">
              <a:buNone/>
            </a:pPr>
            <a:endParaRPr lang="en-US" dirty="0"/>
          </a:p>
          <a:p>
            <a:pPr marL="0" indent="0">
              <a:buNone/>
            </a:pPr>
            <a:r>
              <a:rPr lang="en-US" dirty="0"/>
              <a:t>50% chance of waiting</a:t>
            </a:r>
            <a:endParaRPr lang="en-IN" dirty="0"/>
          </a:p>
          <a:p>
            <a:endParaRPr lang="en-IN" dirty="0"/>
          </a:p>
        </p:txBody>
      </p:sp>
      <p:sp>
        <p:nvSpPr>
          <p:cNvPr id="5" name="TextBox 4">
            <a:extLst>
              <a:ext uri="{FF2B5EF4-FFF2-40B4-BE49-F238E27FC236}">
                <a16:creationId xmlns:a16="http://schemas.microsoft.com/office/drawing/2014/main" id="{F3037F4D-9474-1D5B-5895-3F81FDB7F4F3}"/>
              </a:ext>
            </a:extLst>
          </p:cNvPr>
          <p:cNvSpPr txBox="1"/>
          <p:nvPr/>
        </p:nvSpPr>
        <p:spPr>
          <a:xfrm>
            <a:off x="5426243" y="3429000"/>
            <a:ext cx="6104020" cy="3046988"/>
          </a:xfrm>
          <a:prstGeom prst="rect">
            <a:avLst/>
          </a:prstGeom>
          <a:noFill/>
        </p:spPr>
        <p:txBody>
          <a:bodyPr wrap="square">
            <a:spAutoFit/>
          </a:bodyPr>
          <a:lstStyle/>
          <a:p>
            <a:pPr>
              <a:buNone/>
            </a:pPr>
            <a:r>
              <a:rPr lang="en-IN" sz="2400" dirty="0"/>
              <a:t>Unlike 1-Persistent and Non-Persistent CSMA,</a:t>
            </a:r>
          </a:p>
          <a:p>
            <a:pPr>
              <a:buNone/>
            </a:pPr>
            <a:r>
              <a:rPr lang="en-IN" sz="2400" dirty="0"/>
              <a:t>P-Persistent works in </a:t>
            </a:r>
            <a:r>
              <a:rPr lang="en-IN" sz="2400" b="1" dirty="0"/>
              <a:t>Slotted Channels</a:t>
            </a:r>
            <a:r>
              <a:rPr lang="en-IN" sz="2400" dirty="0"/>
              <a:t>.</a:t>
            </a:r>
          </a:p>
          <a:p>
            <a:pPr>
              <a:buNone/>
            </a:pPr>
            <a:r>
              <a:rPr lang="en-IN" sz="2400" dirty="0"/>
              <a:t>That means</a:t>
            </a:r>
          </a:p>
          <a:p>
            <a:pPr rtl="0">
              <a:buNone/>
            </a:pPr>
            <a:r>
              <a:rPr lang="en-IN" sz="2400" dirty="0">
                <a:latin typeface="Courier New" panose="02070309020205020404" pitchFamily="49" charset="0"/>
              </a:rPr>
              <a:t>|-----|-----|-----|-----|-----|</a:t>
            </a:r>
          </a:p>
          <a:p>
            <a:pPr rtl="0">
              <a:buNone/>
            </a:pPr>
            <a:endParaRPr lang="en-IN" sz="2400" dirty="0">
              <a:latin typeface="Courier New" panose="02070309020205020404" pitchFamily="49" charset="0"/>
            </a:endParaRPr>
          </a:p>
          <a:p>
            <a:pPr rtl="0">
              <a:buNone/>
            </a:pPr>
            <a:r>
              <a:rPr lang="en-IN" sz="2400" dirty="0">
                <a:latin typeface="Courier New" panose="02070309020205020404" pitchFamily="49" charset="0"/>
              </a:rPr>
              <a:t>Slot1 Slot2 Slot3 Slot4 Slot5</a:t>
            </a:r>
          </a:p>
          <a:p>
            <a:pPr>
              <a:buNone/>
            </a:pPr>
            <a:r>
              <a:rPr lang="en-IN" sz="2400" dirty="0"/>
              <a:t>Transmission can begin only at the start of a slot.</a:t>
            </a:r>
          </a:p>
        </p:txBody>
      </p:sp>
    </p:spTree>
    <p:extLst>
      <p:ext uri="{BB962C8B-B14F-4D97-AF65-F5344CB8AC3E}">
        <p14:creationId xmlns:p14="http://schemas.microsoft.com/office/powerpoint/2010/main" val="56226364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BF1C43-B20B-387D-7C7A-5D9D6A801E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1C195D-94C2-9274-5AD8-11A145C1B9ED}"/>
              </a:ext>
            </a:extLst>
          </p:cNvPr>
          <p:cNvSpPr>
            <a:spLocks noGrp="1"/>
          </p:cNvSpPr>
          <p:nvPr>
            <p:ph type="title"/>
          </p:nvPr>
        </p:nvSpPr>
        <p:spPr>
          <a:xfrm>
            <a:off x="208547" y="529388"/>
            <a:ext cx="11678653" cy="577517"/>
          </a:xfrm>
        </p:spPr>
        <p:txBody>
          <a:bodyPr>
            <a:normAutofit fontScale="90000"/>
          </a:bodyPr>
          <a:lstStyle/>
          <a:p>
            <a:r>
              <a:rPr lang="en-US" dirty="0"/>
              <a:t>P-Persistent CSMA (0 + 1 CSMA)</a:t>
            </a:r>
            <a:endParaRPr lang="en-IN" dirty="0"/>
          </a:p>
        </p:txBody>
      </p:sp>
      <p:sp>
        <p:nvSpPr>
          <p:cNvPr id="3" name="Content Placeholder 2">
            <a:extLst>
              <a:ext uri="{FF2B5EF4-FFF2-40B4-BE49-F238E27FC236}">
                <a16:creationId xmlns:a16="http://schemas.microsoft.com/office/drawing/2014/main" id="{98AEDC3A-1A05-DDBD-749E-A0E906DEBBE0}"/>
              </a:ext>
            </a:extLst>
          </p:cNvPr>
          <p:cNvSpPr>
            <a:spLocks noGrp="1"/>
          </p:cNvSpPr>
          <p:nvPr>
            <p:ph idx="1"/>
          </p:nvPr>
        </p:nvSpPr>
        <p:spPr>
          <a:xfrm>
            <a:off x="208547" y="1106905"/>
            <a:ext cx="11678653" cy="5454316"/>
          </a:xfrm>
        </p:spPr>
        <p:txBody>
          <a:bodyPr>
            <a:normAutofit lnSpcReduction="10000"/>
          </a:bodyPr>
          <a:lstStyle/>
          <a:p>
            <a:r>
              <a:rPr lang="en-US" dirty="0"/>
              <a:t>It applies to slotted channels.</a:t>
            </a:r>
          </a:p>
          <a:p>
            <a:r>
              <a:rPr lang="en-US" dirty="0"/>
              <a:t>When a station becomes ready to send, it senses the channel.</a:t>
            </a:r>
          </a:p>
          <a:p>
            <a:r>
              <a:rPr lang="en-US" dirty="0"/>
              <a:t>If it is idle, it transmits with a probability P.</a:t>
            </a:r>
          </a:p>
          <a:p>
            <a:r>
              <a:rPr lang="en-US" dirty="0"/>
              <a:t>With a probability Q=1-P, it defers until the next slot.</a:t>
            </a:r>
          </a:p>
          <a:p>
            <a:r>
              <a:rPr lang="en-US" dirty="0"/>
              <a:t>If that slot is also idle, it either transmits or defers again, with probabilities P and Q.</a:t>
            </a:r>
          </a:p>
          <a:p>
            <a:r>
              <a:rPr lang="en-US" dirty="0"/>
              <a:t>This process is repeated until either the frame has been transmitted or another station has begun transmitting.</a:t>
            </a:r>
          </a:p>
          <a:p>
            <a:r>
              <a:rPr lang="en-US" dirty="0"/>
              <a:t>In the latter case, the unlucky station acts as if there had been a collision (i.e., it waits a random time and starts again).</a:t>
            </a:r>
          </a:p>
          <a:p>
            <a:r>
              <a:rPr lang="en-US" dirty="0"/>
              <a:t>If the station initially senses the channel busy, it waits until the next slot and applies the above algorithm.</a:t>
            </a:r>
            <a:endParaRPr lang="en-IN" dirty="0"/>
          </a:p>
        </p:txBody>
      </p:sp>
    </p:spTree>
    <p:extLst>
      <p:ext uri="{BB962C8B-B14F-4D97-AF65-F5344CB8AC3E}">
        <p14:creationId xmlns:p14="http://schemas.microsoft.com/office/powerpoint/2010/main" val="290939974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722A02-16B1-B272-D55A-63A662910F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440093-78A6-A20D-C9D4-104D789E6911}"/>
              </a:ext>
            </a:extLst>
          </p:cNvPr>
          <p:cNvSpPr>
            <a:spLocks noGrp="1"/>
          </p:cNvSpPr>
          <p:nvPr>
            <p:ph type="title"/>
          </p:nvPr>
        </p:nvSpPr>
        <p:spPr>
          <a:xfrm>
            <a:off x="208547" y="529388"/>
            <a:ext cx="11678653" cy="577517"/>
          </a:xfrm>
        </p:spPr>
        <p:txBody>
          <a:bodyPr>
            <a:normAutofit fontScale="90000"/>
          </a:bodyPr>
          <a:lstStyle/>
          <a:p>
            <a:r>
              <a:rPr lang="en-US" dirty="0"/>
              <a:t>P-Persistent CSMA (0 + 1 CSMA) Eg:</a:t>
            </a:r>
            <a:endParaRPr lang="en-IN" dirty="0"/>
          </a:p>
        </p:txBody>
      </p:sp>
      <p:sp>
        <p:nvSpPr>
          <p:cNvPr id="3" name="Content Placeholder 2">
            <a:extLst>
              <a:ext uri="{FF2B5EF4-FFF2-40B4-BE49-F238E27FC236}">
                <a16:creationId xmlns:a16="http://schemas.microsoft.com/office/drawing/2014/main" id="{E768388F-A171-F68D-18EA-C86E9FD76114}"/>
              </a:ext>
            </a:extLst>
          </p:cNvPr>
          <p:cNvSpPr>
            <a:spLocks noGrp="1"/>
          </p:cNvSpPr>
          <p:nvPr>
            <p:ph idx="1"/>
          </p:nvPr>
        </p:nvSpPr>
        <p:spPr>
          <a:xfrm>
            <a:off x="208547" y="1106905"/>
            <a:ext cx="11678653" cy="5454316"/>
          </a:xfrm>
        </p:spPr>
        <p:txBody>
          <a:bodyPr>
            <a:normAutofit/>
          </a:bodyPr>
          <a:lstStyle/>
          <a:p>
            <a:r>
              <a:rPr lang="en-IN" dirty="0"/>
              <a:t>Imagine A classroom has one microphone. Three students want to ask questions. Instead of rushing, the teacher says:</a:t>
            </a:r>
          </a:p>
          <a:p>
            <a:r>
              <a:rPr lang="en-IN" dirty="0"/>
              <a:t>"When the microphone becomes free, toss a coin.“</a:t>
            </a:r>
          </a:p>
          <a:p>
            <a:r>
              <a:rPr lang="en-IN" dirty="0"/>
              <a:t>Rule: If head -&gt; then Speak | Tails -&gt; then wait for next turn (with this collisions are reduced)</a:t>
            </a:r>
          </a:p>
          <a:p>
            <a:endParaRPr lang="en-IN" dirty="0"/>
          </a:p>
        </p:txBody>
      </p:sp>
    </p:spTree>
    <p:extLst>
      <p:ext uri="{BB962C8B-B14F-4D97-AF65-F5344CB8AC3E}">
        <p14:creationId xmlns:p14="http://schemas.microsoft.com/office/powerpoint/2010/main" val="157161362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6FA830-E3B3-EC97-3AEB-68234F1817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1D99F6-630D-8C18-5E40-ECFE387F1EAD}"/>
              </a:ext>
            </a:extLst>
          </p:cNvPr>
          <p:cNvSpPr>
            <a:spLocks noGrp="1"/>
          </p:cNvSpPr>
          <p:nvPr>
            <p:ph type="title"/>
          </p:nvPr>
        </p:nvSpPr>
        <p:spPr>
          <a:xfrm>
            <a:off x="208547" y="529388"/>
            <a:ext cx="11678653" cy="577517"/>
          </a:xfrm>
        </p:spPr>
        <p:txBody>
          <a:bodyPr>
            <a:normAutofit fontScale="90000"/>
          </a:bodyPr>
          <a:lstStyle/>
          <a:p>
            <a:r>
              <a:rPr lang="en-US" dirty="0"/>
              <a:t>P-Persistent CSMA</a:t>
            </a:r>
            <a:endParaRPr lang="en-IN" dirty="0"/>
          </a:p>
        </p:txBody>
      </p:sp>
      <p:graphicFrame>
        <p:nvGraphicFramePr>
          <p:cNvPr id="4" name="Table 3">
            <a:extLst>
              <a:ext uri="{FF2B5EF4-FFF2-40B4-BE49-F238E27FC236}">
                <a16:creationId xmlns:a16="http://schemas.microsoft.com/office/drawing/2014/main" id="{4B7342F7-E47F-2436-E653-C358FDB5EDAA}"/>
              </a:ext>
            </a:extLst>
          </p:cNvPr>
          <p:cNvGraphicFramePr>
            <a:graphicFrameLocks noGrp="1"/>
          </p:cNvGraphicFramePr>
          <p:nvPr>
            <p:extLst>
              <p:ext uri="{D42A27DB-BD31-4B8C-83A1-F6EECF244321}">
                <p14:modId xmlns:p14="http://schemas.microsoft.com/office/powerpoint/2010/main" val="3917607670"/>
              </p:ext>
            </p:extLst>
          </p:nvPr>
        </p:nvGraphicFramePr>
        <p:xfrm>
          <a:off x="379663" y="1441561"/>
          <a:ext cx="5058612" cy="4028440"/>
        </p:xfrm>
        <a:graphic>
          <a:graphicData uri="http://schemas.openxmlformats.org/drawingml/2006/table">
            <a:tbl>
              <a:tblPr firstRow="1" bandRow="1">
                <a:tableStyleId>{5C22544A-7EE6-4342-B048-85BDC9FD1C3A}</a:tableStyleId>
              </a:tblPr>
              <a:tblGrid>
                <a:gridCol w="2529306">
                  <a:extLst>
                    <a:ext uri="{9D8B030D-6E8A-4147-A177-3AD203B41FA5}">
                      <a16:colId xmlns:a16="http://schemas.microsoft.com/office/drawing/2014/main" val="737008520"/>
                    </a:ext>
                  </a:extLst>
                </a:gridCol>
                <a:gridCol w="2529306">
                  <a:extLst>
                    <a:ext uri="{9D8B030D-6E8A-4147-A177-3AD203B41FA5}">
                      <a16:colId xmlns:a16="http://schemas.microsoft.com/office/drawing/2014/main" val="2970600848"/>
                    </a:ext>
                  </a:extLst>
                </a:gridCol>
              </a:tblGrid>
              <a:tr h="370840">
                <a:tc>
                  <a:txBody>
                    <a:bodyPr/>
                    <a:lstStyle/>
                    <a:p>
                      <a:pPr>
                        <a:buNone/>
                      </a:pPr>
                      <a:r>
                        <a:rPr lang="en-IN" dirty="0"/>
                        <a:t>Advantage</a:t>
                      </a:r>
                    </a:p>
                  </a:txBody>
                  <a:tcPr anchor="ctr"/>
                </a:tc>
                <a:tc>
                  <a:txBody>
                    <a:bodyPr/>
                    <a:lstStyle/>
                    <a:p>
                      <a:pPr>
                        <a:buNone/>
                      </a:pPr>
                      <a:r>
                        <a:rPr lang="en-IN"/>
                        <a:t>Explanation</a:t>
                      </a:r>
                    </a:p>
                  </a:txBody>
                  <a:tcPr anchor="ctr"/>
                </a:tc>
                <a:extLst>
                  <a:ext uri="{0D108BD9-81ED-4DB2-BD59-A6C34878D82A}">
                    <a16:rowId xmlns:a16="http://schemas.microsoft.com/office/drawing/2014/main" val="2929469423"/>
                  </a:ext>
                </a:extLst>
              </a:tr>
              <a:tr h="370840">
                <a:tc>
                  <a:txBody>
                    <a:bodyPr/>
                    <a:lstStyle/>
                    <a:p>
                      <a:pPr>
                        <a:buNone/>
                      </a:pPr>
                      <a:r>
                        <a:rPr lang="en-IN"/>
                        <a:t>Fewer collisions</a:t>
                      </a:r>
                    </a:p>
                  </a:txBody>
                  <a:tcPr anchor="ctr"/>
                </a:tc>
                <a:tc>
                  <a:txBody>
                    <a:bodyPr/>
                    <a:lstStyle/>
                    <a:p>
                      <a:pPr>
                        <a:buNone/>
                      </a:pPr>
                      <a:r>
                        <a:rPr lang="en-IN"/>
                        <a:t>Not all devices transmit immediately after the channel becomes free.</a:t>
                      </a:r>
                    </a:p>
                  </a:txBody>
                  <a:tcPr anchor="ctr"/>
                </a:tc>
                <a:extLst>
                  <a:ext uri="{0D108BD9-81ED-4DB2-BD59-A6C34878D82A}">
                    <a16:rowId xmlns:a16="http://schemas.microsoft.com/office/drawing/2014/main" val="1055705559"/>
                  </a:ext>
                </a:extLst>
              </a:tr>
              <a:tr h="370840">
                <a:tc>
                  <a:txBody>
                    <a:bodyPr/>
                    <a:lstStyle/>
                    <a:p>
                      <a:pPr>
                        <a:buNone/>
                      </a:pPr>
                      <a:r>
                        <a:rPr lang="en-IN"/>
                        <a:t>Better efficiency</a:t>
                      </a:r>
                    </a:p>
                  </a:txBody>
                  <a:tcPr anchor="ctr"/>
                </a:tc>
                <a:tc>
                  <a:txBody>
                    <a:bodyPr/>
                    <a:lstStyle/>
                    <a:p>
                      <a:pPr>
                        <a:buNone/>
                      </a:pPr>
                      <a:r>
                        <a:rPr lang="en-IN"/>
                        <a:t>Balances collision probability and waiting time.</a:t>
                      </a:r>
                    </a:p>
                  </a:txBody>
                  <a:tcPr anchor="ctr"/>
                </a:tc>
                <a:extLst>
                  <a:ext uri="{0D108BD9-81ED-4DB2-BD59-A6C34878D82A}">
                    <a16:rowId xmlns:a16="http://schemas.microsoft.com/office/drawing/2014/main" val="231826926"/>
                  </a:ext>
                </a:extLst>
              </a:tr>
              <a:tr h="370840">
                <a:tc>
                  <a:txBody>
                    <a:bodyPr/>
                    <a:lstStyle/>
                    <a:p>
                      <a:pPr>
                        <a:buNone/>
                      </a:pPr>
                      <a:r>
                        <a:rPr lang="en-IN"/>
                        <a:t>Better bandwidth utilization</a:t>
                      </a:r>
                    </a:p>
                  </a:txBody>
                  <a:tcPr anchor="ctr"/>
                </a:tc>
                <a:tc>
                  <a:txBody>
                    <a:bodyPr/>
                    <a:lstStyle/>
                    <a:p>
                      <a:pPr>
                        <a:buNone/>
                      </a:pPr>
                      <a:r>
                        <a:rPr lang="en-IN"/>
                        <a:t>Less bandwidth is wasted due to fewer collisions.</a:t>
                      </a:r>
                    </a:p>
                  </a:txBody>
                  <a:tcPr anchor="ctr"/>
                </a:tc>
                <a:extLst>
                  <a:ext uri="{0D108BD9-81ED-4DB2-BD59-A6C34878D82A}">
                    <a16:rowId xmlns:a16="http://schemas.microsoft.com/office/drawing/2014/main" val="1765668470"/>
                  </a:ext>
                </a:extLst>
              </a:tr>
              <a:tr h="370840">
                <a:tc>
                  <a:txBody>
                    <a:bodyPr/>
                    <a:lstStyle/>
                    <a:p>
                      <a:pPr>
                        <a:buNone/>
                      </a:pPr>
                      <a:r>
                        <a:rPr lang="en-IN"/>
                        <a:t>Flexible</a:t>
                      </a:r>
                    </a:p>
                  </a:txBody>
                  <a:tcPr anchor="ctr"/>
                </a:tc>
                <a:tc>
                  <a:txBody>
                    <a:bodyPr/>
                    <a:lstStyle/>
                    <a:p>
                      <a:pPr>
                        <a:buNone/>
                      </a:pPr>
                      <a:r>
                        <a:rPr lang="en-IN" dirty="0"/>
                        <a:t>The value of </a:t>
                      </a:r>
                      <a:r>
                        <a:rPr lang="en-IN" b="1" dirty="0"/>
                        <a:t>P</a:t>
                      </a:r>
                      <a:r>
                        <a:rPr lang="en-IN" dirty="0"/>
                        <a:t> can be adjusted according to network traffic.</a:t>
                      </a:r>
                    </a:p>
                  </a:txBody>
                  <a:tcPr anchor="ctr"/>
                </a:tc>
                <a:extLst>
                  <a:ext uri="{0D108BD9-81ED-4DB2-BD59-A6C34878D82A}">
                    <a16:rowId xmlns:a16="http://schemas.microsoft.com/office/drawing/2014/main" val="2206624512"/>
                  </a:ext>
                </a:extLst>
              </a:tr>
            </a:tbl>
          </a:graphicData>
        </a:graphic>
      </p:graphicFrame>
      <p:graphicFrame>
        <p:nvGraphicFramePr>
          <p:cNvPr id="7" name="Table 6">
            <a:extLst>
              <a:ext uri="{FF2B5EF4-FFF2-40B4-BE49-F238E27FC236}">
                <a16:creationId xmlns:a16="http://schemas.microsoft.com/office/drawing/2014/main" id="{9153292B-3543-1EA3-B069-774677C3DDE3}"/>
              </a:ext>
            </a:extLst>
          </p:cNvPr>
          <p:cNvGraphicFramePr>
            <a:graphicFrameLocks noGrp="1"/>
          </p:cNvGraphicFramePr>
          <p:nvPr>
            <p:extLst>
              <p:ext uri="{D42A27DB-BD31-4B8C-83A1-F6EECF244321}">
                <p14:modId xmlns:p14="http://schemas.microsoft.com/office/powerpoint/2010/main" val="1166338037"/>
              </p:ext>
            </p:extLst>
          </p:nvPr>
        </p:nvGraphicFramePr>
        <p:xfrm>
          <a:off x="6531811" y="1441561"/>
          <a:ext cx="5058612" cy="3114040"/>
        </p:xfrm>
        <a:graphic>
          <a:graphicData uri="http://schemas.openxmlformats.org/drawingml/2006/table">
            <a:tbl>
              <a:tblPr firstRow="1" bandRow="1">
                <a:tableStyleId>{5C22544A-7EE6-4342-B048-85BDC9FD1C3A}</a:tableStyleId>
              </a:tblPr>
              <a:tblGrid>
                <a:gridCol w="2529306">
                  <a:extLst>
                    <a:ext uri="{9D8B030D-6E8A-4147-A177-3AD203B41FA5}">
                      <a16:colId xmlns:a16="http://schemas.microsoft.com/office/drawing/2014/main" val="737008520"/>
                    </a:ext>
                  </a:extLst>
                </a:gridCol>
                <a:gridCol w="2529306">
                  <a:extLst>
                    <a:ext uri="{9D8B030D-6E8A-4147-A177-3AD203B41FA5}">
                      <a16:colId xmlns:a16="http://schemas.microsoft.com/office/drawing/2014/main" val="2970600848"/>
                    </a:ext>
                  </a:extLst>
                </a:gridCol>
              </a:tblGrid>
              <a:tr h="370840">
                <a:tc>
                  <a:txBody>
                    <a:bodyPr/>
                    <a:lstStyle/>
                    <a:p>
                      <a:pPr>
                        <a:buNone/>
                      </a:pPr>
                      <a:r>
                        <a:rPr lang="en-IN" dirty="0"/>
                        <a:t>Disadvantage</a:t>
                      </a:r>
                    </a:p>
                  </a:txBody>
                  <a:tcPr anchor="ctr"/>
                </a:tc>
                <a:tc>
                  <a:txBody>
                    <a:bodyPr/>
                    <a:lstStyle/>
                    <a:p>
                      <a:pPr>
                        <a:buNone/>
                      </a:pPr>
                      <a:r>
                        <a:rPr lang="en-IN"/>
                        <a:t>Explanation</a:t>
                      </a:r>
                    </a:p>
                  </a:txBody>
                  <a:tcPr anchor="ctr"/>
                </a:tc>
                <a:extLst>
                  <a:ext uri="{0D108BD9-81ED-4DB2-BD59-A6C34878D82A}">
                    <a16:rowId xmlns:a16="http://schemas.microsoft.com/office/drawing/2014/main" val="2929469423"/>
                  </a:ext>
                </a:extLst>
              </a:tr>
              <a:tr h="370840">
                <a:tc>
                  <a:txBody>
                    <a:bodyPr/>
                    <a:lstStyle/>
                    <a:p>
                      <a:pPr>
                        <a:buNone/>
                      </a:pPr>
                      <a:r>
                        <a:rPr lang="en-IN"/>
                        <a:t>Requires synchronization</a:t>
                      </a:r>
                    </a:p>
                  </a:txBody>
                  <a:tcPr anchor="ctr"/>
                </a:tc>
                <a:tc>
                  <a:txBody>
                    <a:bodyPr/>
                    <a:lstStyle/>
                    <a:p>
                      <a:pPr>
                        <a:buNone/>
                      </a:pPr>
                      <a:r>
                        <a:rPr lang="en-IN"/>
                        <a:t>Works with slotted channels, so all devices must follow the same time slots.</a:t>
                      </a:r>
                    </a:p>
                  </a:txBody>
                  <a:tcPr anchor="ctr"/>
                </a:tc>
                <a:extLst>
                  <a:ext uri="{0D108BD9-81ED-4DB2-BD59-A6C34878D82A}">
                    <a16:rowId xmlns:a16="http://schemas.microsoft.com/office/drawing/2014/main" val="1055705559"/>
                  </a:ext>
                </a:extLst>
              </a:tr>
              <a:tr h="370840">
                <a:tc>
                  <a:txBody>
                    <a:bodyPr/>
                    <a:lstStyle/>
                    <a:p>
                      <a:pPr>
                        <a:buNone/>
                      </a:pPr>
                      <a:r>
                        <a:rPr lang="en-IN"/>
                        <a:t>More complex</a:t>
                      </a:r>
                    </a:p>
                  </a:txBody>
                  <a:tcPr anchor="ctr"/>
                </a:tc>
                <a:tc>
                  <a:txBody>
                    <a:bodyPr/>
                    <a:lstStyle/>
                    <a:p>
                      <a:pPr>
                        <a:buNone/>
                      </a:pPr>
                      <a:r>
                        <a:rPr lang="en-IN"/>
                        <a:t>Requires probability calculations.</a:t>
                      </a:r>
                    </a:p>
                  </a:txBody>
                  <a:tcPr anchor="ctr"/>
                </a:tc>
                <a:extLst>
                  <a:ext uri="{0D108BD9-81ED-4DB2-BD59-A6C34878D82A}">
                    <a16:rowId xmlns:a16="http://schemas.microsoft.com/office/drawing/2014/main" val="231826926"/>
                  </a:ext>
                </a:extLst>
              </a:tr>
              <a:tr h="370840">
                <a:tc>
                  <a:txBody>
                    <a:bodyPr/>
                    <a:lstStyle/>
                    <a:p>
                      <a:pPr>
                        <a:buNone/>
                      </a:pPr>
                      <a:r>
                        <a:rPr lang="en-IN"/>
                        <a:t>Choosing the correct P value is difficult</a:t>
                      </a:r>
                    </a:p>
                  </a:txBody>
                  <a:tcPr anchor="ctr"/>
                </a:tc>
                <a:tc>
                  <a:txBody>
                    <a:bodyPr/>
                    <a:lstStyle/>
                    <a:p>
                      <a:pPr>
                        <a:buNone/>
                      </a:pPr>
                      <a:r>
                        <a:rPr lang="en-IN" dirty="0"/>
                        <a:t>A very high P increases collisions, while a very low P increases delay.</a:t>
                      </a:r>
                    </a:p>
                  </a:txBody>
                  <a:tcPr anchor="ctr"/>
                </a:tc>
                <a:extLst>
                  <a:ext uri="{0D108BD9-81ED-4DB2-BD59-A6C34878D82A}">
                    <a16:rowId xmlns:a16="http://schemas.microsoft.com/office/drawing/2014/main" val="1765668470"/>
                  </a:ext>
                </a:extLst>
              </a:tr>
            </a:tbl>
          </a:graphicData>
        </a:graphic>
      </p:graphicFrame>
    </p:spTree>
    <p:extLst>
      <p:ext uri="{BB962C8B-B14F-4D97-AF65-F5344CB8AC3E}">
        <p14:creationId xmlns:p14="http://schemas.microsoft.com/office/powerpoint/2010/main" val="288632855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A6FDB9-F747-57B9-9695-204C9B3DCE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3EF835-4BDB-2916-34EA-A292F33193E5}"/>
              </a:ext>
            </a:extLst>
          </p:cNvPr>
          <p:cNvSpPr>
            <a:spLocks noGrp="1"/>
          </p:cNvSpPr>
          <p:nvPr>
            <p:ph type="title"/>
          </p:nvPr>
        </p:nvSpPr>
        <p:spPr>
          <a:xfrm>
            <a:off x="208547" y="529388"/>
            <a:ext cx="11678653" cy="577517"/>
          </a:xfrm>
        </p:spPr>
        <p:txBody>
          <a:bodyPr>
            <a:normAutofit fontScale="90000"/>
          </a:bodyPr>
          <a:lstStyle/>
          <a:p>
            <a:r>
              <a:rPr lang="en-US" dirty="0"/>
              <a:t>Comparison</a:t>
            </a:r>
            <a:endParaRPr lang="en-IN" dirty="0"/>
          </a:p>
        </p:txBody>
      </p:sp>
      <p:graphicFrame>
        <p:nvGraphicFramePr>
          <p:cNvPr id="6" name="Table 5">
            <a:extLst>
              <a:ext uri="{FF2B5EF4-FFF2-40B4-BE49-F238E27FC236}">
                <a16:creationId xmlns:a16="http://schemas.microsoft.com/office/drawing/2014/main" id="{72181ED5-A5C2-8B00-7276-6A8CAF9DFD23}"/>
              </a:ext>
            </a:extLst>
          </p:cNvPr>
          <p:cNvGraphicFramePr>
            <a:graphicFrameLocks noGrp="1"/>
          </p:cNvGraphicFramePr>
          <p:nvPr>
            <p:extLst>
              <p:ext uri="{D42A27DB-BD31-4B8C-83A1-F6EECF244321}">
                <p14:modId xmlns:p14="http://schemas.microsoft.com/office/powerpoint/2010/main" val="4160171042"/>
              </p:ext>
            </p:extLst>
          </p:nvPr>
        </p:nvGraphicFramePr>
        <p:xfrm>
          <a:off x="620295" y="1590040"/>
          <a:ext cx="8128000" cy="367792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4004906392"/>
                    </a:ext>
                  </a:extLst>
                </a:gridCol>
                <a:gridCol w="2032000">
                  <a:extLst>
                    <a:ext uri="{9D8B030D-6E8A-4147-A177-3AD203B41FA5}">
                      <a16:colId xmlns:a16="http://schemas.microsoft.com/office/drawing/2014/main" val="529032797"/>
                    </a:ext>
                  </a:extLst>
                </a:gridCol>
                <a:gridCol w="2032000">
                  <a:extLst>
                    <a:ext uri="{9D8B030D-6E8A-4147-A177-3AD203B41FA5}">
                      <a16:colId xmlns:a16="http://schemas.microsoft.com/office/drawing/2014/main" val="1099211232"/>
                    </a:ext>
                  </a:extLst>
                </a:gridCol>
                <a:gridCol w="2032000">
                  <a:extLst>
                    <a:ext uri="{9D8B030D-6E8A-4147-A177-3AD203B41FA5}">
                      <a16:colId xmlns:a16="http://schemas.microsoft.com/office/drawing/2014/main" val="3282297737"/>
                    </a:ext>
                  </a:extLst>
                </a:gridCol>
              </a:tblGrid>
              <a:tr h="370840">
                <a:tc>
                  <a:txBody>
                    <a:bodyPr/>
                    <a:lstStyle/>
                    <a:p>
                      <a:pPr>
                        <a:buNone/>
                      </a:pPr>
                      <a:r>
                        <a:rPr lang="en-IN" dirty="0"/>
                        <a:t>Feature</a:t>
                      </a:r>
                    </a:p>
                  </a:txBody>
                  <a:tcPr anchor="ctr"/>
                </a:tc>
                <a:tc>
                  <a:txBody>
                    <a:bodyPr/>
                    <a:lstStyle/>
                    <a:p>
                      <a:pPr>
                        <a:buNone/>
                      </a:pPr>
                      <a:r>
                        <a:rPr lang="en-IN"/>
                        <a:t>1-Persistent</a:t>
                      </a:r>
                    </a:p>
                  </a:txBody>
                  <a:tcPr anchor="ctr"/>
                </a:tc>
                <a:tc>
                  <a:txBody>
                    <a:bodyPr/>
                    <a:lstStyle/>
                    <a:p>
                      <a:pPr>
                        <a:buNone/>
                      </a:pPr>
                      <a:r>
                        <a:rPr lang="en-IN"/>
                        <a:t>Non-Persistent</a:t>
                      </a:r>
                    </a:p>
                  </a:txBody>
                  <a:tcPr anchor="ctr"/>
                </a:tc>
                <a:tc>
                  <a:txBody>
                    <a:bodyPr/>
                    <a:lstStyle/>
                    <a:p>
                      <a:pPr>
                        <a:buNone/>
                      </a:pPr>
                      <a:r>
                        <a:rPr lang="en-IN"/>
                        <a:t>P-Persistent</a:t>
                      </a:r>
                    </a:p>
                  </a:txBody>
                  <a:tcPr anchor="ctr"/>
                </a:tc>
                <a:extLst>
                  <a:ext uri="{0D108BD9-81ED-4DB2-BD59-A6C34878D82A}">
                    <a16:rowId xmlns:a16="http://schemas.microsoft.com/office/drawing/2014/main" val="3073541987"/>
                  </a:ext>
                </a:extLst>
              </a:tr>
              <a:tr h="370840">
                <a:tc>
                  <a:txBody>
                    <a:bodyPr/>
                    <a:lstStyle/>
                    <a:p>
                      <a:pPr>
                        <a:buNone/>
                      </a:pPr>
                      <a:r>
                        <a:rPr lang="en-IN"/>
                        <a:t>Channel Busy</a:t>
                      </a:r>
                    </a:p>
                  </a:txBody>
                  <a:tcPr anchor="ctr"/>
                </a:tc>
                <a:tc>
                  <a:txBody>
                    <a:bodyPr/>
                    <a:lstStyle/>
                    <a:p>
                      <a:pPr>
                        <a:buNone/>
                      </a:pPr>
                      <a:r>
                        <a:rPr lang="en-IN"/>
                        <a:t>Keep listening</a:t>
                      </a:r>
                    </a:p>
                  </a:txBody>
                  <a:tcPr anchor="ctr"/>
                </a:tc>
                <a:tc>
                  <a:txBody>
                    <a:bodyPr/>
                    <a:lstStyle/>
                    <a:p>
                      <a:pPr>
                        <a:buNone/>
                      </a:pPr>
                      <a:r>
                        <a:rPr lang="en-IN"/>
                        <a:t>Wait random time</a:t>
                      </a:r>
                    </a:p>
                  </a:txBody>
                  <a:tcPr anchor="ctr"/>
                </a:tc>
                <a:tc>
                  <a:txBody>
                    <a:bodyPr/>
                    <a:lstStyle/>
                    <a:p>
                      <a:pPr>
                        <a:buNone/>
                      </a:pPr>
                      <a:r>
                        <a:rPr lang="en-IN"/>
                        <a:t>Wait until free</a:t>
                      </a:r>
                    </a:p>
                  </a:txBody>
                  <a:tcPr anchor="ctr"/>
                </a:tc>
                <a:extLst>
                  <a:ext uri="{0D108BD9-81ED-4DB2-BD59-A6C34878D82A}">
                    <a16:rowId xmlns:a16="http://schemas.microsoft.com/office/drawing/2014/main" val="323820186"/>
                  </a:ext>
                </a:extLst>
              </a:tr>
              <a:tr h="370840">
                <a:tc>
                  <a:txBody>
                    <a:bodyPr/>
                    <a:lstStyle/>
                    <a:p>
                      <a:pPr>
                        <a:buNone/>
                      </a:pPr>
                      <a:r>
                        <a:rPr lang="en-IN"/>
                        <a:t>Channel Free</a:t>
                      </a:r>
                    </a:p>
                  </a:txBody>
                  <a:tcPr anchor="ctr"/>
                </a:tc>
                <a:tc>
                  <a:txBody>
                    <a:bodyPr/>
                    <a:lstStyle/>
                    <a:p>
                      <a:pPr>
                        <a:buNone/>
                      </a:pPr>
                      <a:r>
                        <a:rPr lang="en-IN"/>
                        <a:t>Send immediately</a:t>
                      </a:r>
                    </a:p>
                  </a:txBody>
                  <a:tcPr anchor="ctr"/>
                </a:tc>
                <a:tc>
                  <a:txBody>
                    <a:bodyPr/>
                    <a:lstStyle/>
                    <a:p>
                      <a:pPr>
                        <a:buNone/>
                      </a:pPr>
                      <a:r>
                        <a:rPr lang="en-IN"/>
                        <a:t>Sense again after waiting</a:t>
                      </a:r>
                    </a:p>
                  </a:txBody>
                  <a:tcPr anchor="ctr"/>
                </a:tc>
                <a:tc>
                  <a:txBody>
                    <a:bodyPr/>
                    <a:lstStyle/>
                    <a:p>
                      <a:pPr>
                        <a:buNone/>
                      </a:pPr>
                      <a:r>
                        <a:rPr lang="en-IN"/>
                        <a:t>Send with probability </a:t>
                      </a:r>
                      <a:r>
                        <a:rPr lang="en-IN" b="1"/>
                        <a:t>P</a:t>
                      </a:r>
                      <a:endParaRPr lang="en-IN"/>
                    </a:p>
                  </a:txBody>
                  <a:tcPr anchor="ctr"/>
                </a:tc>
                <a:extLst>
                  <a:ext uri="{0D108BD9-81ED-4DB2-BD59-A6C34878D82A}">
                    <a16:rowId xmlns:a16="http://schemas.microsoft.com/office/drawing/2014/main" val="3332312194"/>
                  </a:ext>
                </a:extLst>
              </a:tr>
              <a:tr h="370840">
                <a:tc>
                  <a:txBody>
                    <a:bodyPr/>
                    <a:lstStyle/>
                    <a:p>
                      <a:pPr>
                        <a:buNone/>
                      </a:pPr>
                      <a:r>
                        <a:rPr lang="en-IN"/>
                        <a:t>Collision Probability</a:t>
                      </a:r>
                    </a:p>
                  </a:txBody>
                  <a:tcPr anchor="ctr"/>
                </a:tc>
                <a:tc>
                  <a:txBody>
                    <a:bodyPr/>
                    <a:lstStyle/>
                    <a:p>
                      <a:pPr>
                        <a:buNone/>
                      </a:pPr>
                      <a:r>
                        <a:rPr lang="en-IN"/>
                        <a:t>High</a:t>
                      </a:r>
                    </a:p>
                  </a:txBody>
                  <a:tcPr anchor="ctr"/>
                </a:tc>
                <a:tc>
                  <a:txBody>
                    <a:bodyPr/>
                    <a:lstStyle/>
                    <a:p>
                      <a:pPr>
                        <a:buNone/>
                      </a:pPr>
                      <a:r>
                        <a:rPr lang="en-IN"/>
                        <a:t>Low</a:t>
                      </a:r>
                    </a:p>
                  </a:txBody>
                  <a:tcPr anchor="ctr"/>
                </a:tc>
                <a:tc>
                  <a:txBody>
                    <a:bodyPr/>
                    <a:lstStyle/>
                    <a:p>
                      <a:pPr>
                        <a:buNone/>
                      </a:pPr>
                      <a:r>
                        <a:rPr lang="en-IN"/>
                        <a:t>Medium to Low</a:t>
                      </a:r>
                    </a:p>
                  </a:txBody>
                  <a:tcPr anchor="ctr"/>
                </a:tc>
                <a:extLst>
                  <a:ext uri="{0D108BD9-81ED-4DB2-BD59-A6C34878D82A}">
                    <a16:rowId xmlns:a16="http://schemas.microsoft.com/office/drawing/2014/main" val="2619160968"/>
                  </a:ext>
                </a:extLst>
              </a:tr>
              <a:tr h="370840">
                <a:tc>
                  <a:txBody>
                    <a:bodyPr/>
                    <a:lstStyle/>
                    <a:p>
                      <a:pPr>
                        <a:buNone/>
                      </a:pPr>
                      <a:r>
                        <a:rPr lang="en-IN"/>
                        <a:t>Delay</a:t>
                      </a:r>
                    </a:p>
                  </a:txBody>
                  <a:tcPr anchor="ctr"/>
                </a:tc>
                <a:tc>
                  <a:txBody>
                    <a:bodyPr/>
                    <a:lstStyle/>
                    <a:p>
                      <a:pPr>
                        <a:buNone/>
                      </a:pPr>
                      <a:r>
                        <a:rPr lang="en-IN"/>
                        <a:t>Low</a:t>
                      </a:r>
                    </a:p>
                  </a:txBody>
                  <a:tcPr anchor="ctr"/>
                </a:tc>
                <a:tc>
                  <a:txBody>
                    <a:bodyPr/>
                    <a:lstStyle/>
                    <a:p>
                      <a:pPr>
                        <a:buNone/>
                      </a:pPr>
                      <a:r>
                        <a:rPr lang="en-IN"/>
                        <a:t>High</a:t>
                      </a:r>
                    </a:p>
                  </a:txBody>
                  <a:tcPr anchor="ctr"/>
                </a:tc>
                <a:tc>
                  <a:txBody>
                    <a:bodyPr/>
                    <a:lstStyle/>
                    <a:p>
                      <a:pPr>
                        <a:buNone/>
                      </a:pPr>
                      <a:r>
                        <a:rPr lang="en-IN"/>
                        <a:t>Medium</a:t>
                      </a:r>
                    </a:p>
                  </a:txBody>
                  <a:tcPr anchor="ctr"/>
                </a:tc>
                <a:extLst>
                  <a:ext uri="{0D108BD9-81ED-4DB2-BD59-A6C34878D82A}">
                    <a16:rowId xmlns:a16="http://schemas.microsoft.com/office/drawing/2014/main" val="942675802"/>
                  </a:ext>
                </a:extLst>
              </a:tr>
              <a:tr h="370840">
                <a:tc>
                  <a:txBody>
                    <a:bodyPr/>
                    <a:lstStyle/>
                    <a:p>
                      <a:pPr>
                        <a:buNone/>
                      </a:pPr>
                      <a:r>
                        <a:rPr lang="en-IN"/>
                        <a:t>Synchronization Required</a:t>
                      </a:r>
                    </a:p>
                  </a:txBody>
                  <a:tcPr anchor="ctr"/>
                </a:tc>
                <a:tc>
                  <a:txBody>
                    <a:bodyPr/>
                    <a:lstStyle/>
                    <a:p>
                      <a:pPr>
                        <a:buNone/>
                      </a:pPr>
                      <a:r>
                        <a:rPr lang="en-IN"/>
                        <a:t>No</a:t>
                      </a:r>
                    </a:p>
                  </a:txBody>
                  <a:tcPr anchor="ctr"/>
                </a:tc>
                <a:tc>
                  <a:txBody>
                    <a:bodyPr/>
                    <a:lstStyle/>
                    <a:p>
                      <a:pPr>
                        <a:buNone/>
                      </a:pPr>
                      <a:r>
                        <a:rPr lang="en-IN"/>
                        <a:t>No</a:t>
                      </a:r>
                    </a:p>
                  </a:txBody>
                  <a:tcPr anchor="ctr"/>
                </a:tc>
                <a:tc>
                  <a:txBody>
                    <a:bodyPr/>
                    <a:lstStyle/>
                    <a:p>
                      <a:pPr>
                        <a:buNone/>
                      </a:pPr>
                      <a:r>
                        <a:rPr lang="en-IN"/>
                        <a:t>Yes</a:t>
                      </a:r>
                    </a:p>
                  </a:txBody>
                  <a:tcPr anchor="ctr"/>
                </a:tc>
                <a:extLst>
                  <a:ext uri="{0D108BD9-81ED-4DB2-BD59-A6C34878D82A}">
                    <a16:rowId xmlns:a16="http://schemas.microsoft.com/office/drawing/2014/main" val="1131747317"/>
                  </a:ext>
                </a:extLst>
              </a:tr>
              <a:tr h="370840">
                <a:tc>
                  <a:txBody>
                    <a:bodyPr/>
                    <a:lstStyle/>
                    <a:p>
                      <a:pPr>
                        <a:buNone/>
                      </a:pPr>
                      <a:r>
                        <a:rPr lang="en-IN"/>
                        <a:t>Best For</a:t>
                      </a:r>
                    </a:p>
                  </a:txBody>
                  <a:tcPr anchor="ctr"/>
                </a:tc>
                <a:tc>
                  <a:txBody>
                    <a:bodyPr/>
                    <a:lstStyle/>
                    <a:p>
                      <a:pPr>
                        <a:buNone/>
                      </a:pPr>
                      <a:r>
                        <a:rPr lang="en-IN"/>
                        <a:t>Light traffic</a:t>
                      </a:r>
                    </a:p>
                  </a:txBody>
                  <a:tcPr anchor="ctr"/>
                </a:tc>
                <a:tc>
                  <a:txBody>
                    <a:bodyPr/>
                    <a:lstStyle/>
                    <a:p>
                      <a:pPr>
                        <a:buNone/>
                      </a:pPr>
                      <a:r>
                        <a:rPr lang="en-IN"/>
                        <a:t>Heavy traffic</a:t>
                      </a:r>
                    </a:p>
                  </a:txBody>
                  <a:tcPr anchor="ctr"/>
                </a:tc>
                <a:tc>
                  <a:txBody>
                    <a:bodyPr/>
                    <a:lstStyle/>
                    <a:p>
                      <a:pPr>
                        <a:buNone/>
                      </a:pPr>
                      <a:r>
                        <a:rPr lang="en-IN" dirty="0"/>
                        <a:t>Moderate traffic with slotted systems</a:t>
                      </a:r>
                    </a:p>
                  </a:txBody>
                  <a:tcPr anchor="ctr"/>
                </a:tc>
                <a:extLst>
                  <a:ext uri="{0D108BD9-81ED-4DB2-BD59-A6C34878D82A}">
                    <a16:rowId xmlns:a16="http://schemas.microsoft.com/office/drawing/2014/main" val="2219060632"/>
                  </a:ext>
                </a:extLst>
              </a:tr>
            </a:tbl>
          </a:graphicData>
        </a:graphic>
      </p:graphicFrame>
    </p:spTree>
    <p:extLst>
      <p:ext uri="{BB962C8B-B14F-4D97-AF65-F5344CB8AC3E}">
        <p14:creationId xmlns:p14="http://schemas.microsoft.com/office/powerpoint/2010/main" val="417180700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C2BD66-F79E-FB3B-A08A-CFAEE74723BE}"/>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D4E6ED1C-7718-F91C-DE11-15902D25B51B}"/>
              </a:ext>
            </a:extLst>
          </p:cNvPr>
          <p:cNvPicPr>
            <a:picLocks noChangeAspect="1"/>
          </p:cNvPicPr>
          <p:nvPr/>
        </p:nvPicPr>
        <p:blipFill>
          <a:blip r:embed="rId2"/>
          <a:stretch>
            <a:fillRect/>
          </a:stretch>
        </p:blipFill>
        <p:spPr>
          <a:xfrm>
            <a:off x="3261917" y="553532"/>
            <a:ext cx="5668166" cy="6039693"/>
          </a:xfrm>
          <a:prstGeom prst="rect">
            <a:avLst/>
          </a:prstGeom>
        </p:spPr>
      </p:pic>
    </p:spTree>
    <p:extLst>
      <p:ext uri="{BB962C8B-B14F-4D97-AF65-F5344CB8AC3E}">
        <p14:creationId xmlns:p14="http://schemas.microsoft.com/office/powerpoint/2010/main" val="353022516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F74BA9-1782-563B-AE77-62D2071D82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94B880-F316-26A2-6055-ECD5C676AD74}"/>
              </a:ext>
            </a:extLst>
          </p:cNvPr>
          <p:cNvSpPr>
            <a:spLocks noGrp="1"/>
          </p:cNvSpPr>
          <p:nvPr>
            <p:ph type="title"/>
          </p:nvPr>
        </p:nvSpPr>
        <p:spPr>
          <a:xfrm>
            <a:off x="208547" y="529388"/>
            <a:ext cx="11678653" cy="577517"/>
          </a:xfrm>
        </p:spPr>
        <p:txBody>
          <a:bodyPr>
            <a:normAutofit fontScale="90000"/>
          </a:bodyPr>
          <a:lstStyle/>
          <a:p>
            <a:r>
              <a:rPr lang="en-US" dirty="0"/>
              <a:t>Need for CSMA/CD &amp; CSMA/CA?</a:t>
            </a:r>
            <a:endParaRPr lang="en-IN" dirty="0"/>
          </a:p>
        </p:txBody>
      </p:sp>
      <p:sp>
        <p:nvSpPr>
          <p:cNvPr id="3" name="Content Placeholder 2">
            <a:extLst>
              <a:ext uri="{FF2B5EF4-FFF2-40B4-BE49-F238E27FC236}">
                <a16:creationId xmlns:a16="http://schemas.microsoft.com/office/drawing/2014/main" id="{EC3EDA10-756F-4F94-7202-B7CC4DCFAC93}"/>
              </a:ext>
            </a:extLst>
          </p:cNvPr>
          <p:cNvSpPr>
            <a:spLocks noGrp="1"/>
          </p:cNvSpPr>
          <p:nvPr>
            <p:ph idx="1"/>
          </p:nvPr>
        </p:nvSpPr>
        <p:spPr>
          <a:xfrm>
            <a:off x="208547" y="1459831"/>
            <a:ext cx="11678653" cy="5101389"/>
          </a:xfrm>
        </p:spPr>
        <p:txBody>
          <a:bodyPr/>
          <a:lstStyle/>
          <a:p>
            <a:pPr marL="514350" indent="-514350">
              <a:buFont typeface="+mj-lt"/>
              <a:buAutoNum type="arabicPeriod"/>
            </a:pPr>
            <a:r>
              <a:rPr lang="en-IN" dirty="0"/>
              <a:t>CSMA Cannot Completely Prevent Collisions</a:t>
            </a:r>
          </a:p>
          <a:p>
            <a:pPr marL="514350" indent="-514350">
              <a:buFont typeface="+mj-lt"/>
              <a:buAutoNum type="arabicPeriod"/>
            </a:pPr>
            <a:r>
              <a:rPr lang="en-IN" dirty="0"/>
              <a:t>After Collision, CSMA Gives No Solution</a:t>
            </a:r>
          </a:p>
          <a:p>
            <a:pPr marL="514350" indent="-514350">
              <a:buFont typeface="+mj-lt"/>
              <a:buAutoNum type="arabicPeriod"/>
            </a:pPr>
            <a:r>
              <a:rPr lang="en-IN" dirty="0"/>
              <a:t>Wired and Wireless Networks Behave Differently</a:t>
            </a:r>
          </a:p>
          <a:p>
            <a:pPr marL="514350" indent="-514350">
              <a:buFont typeface="+mj-lt"/>
              <a:buAutoNum type="arabicPeriod"/>
            </a:pPr>
            <a:r>
              <a:rPr lang="en-IN" dirty="0"/>
              <a:t>Efficient Use of Bandwidth</a:t>
            </a:r>
          </a:p>
        </p:txBody>
      </p:sp>
      <p:pic>
        <p:nvPicPr>
          <p:cNvPr id="5" name="Picture 4">
            <a:extLst>
              <a:ext uri="{FF2B5EF4-FFF2-40B4-BE49-F238E27FC236}">
                <a16:creationId xmlns:a16="http://schemas.microsoft.com/office/drawing/2014/main" id="{07FEFE54-6BD6-6835-452F-35AA4A2D2DDB}"/>
              </a:ext>
            </a:extLst>
          </p:cNvPr>
          <p:cNvPicPr>
            <a:picLocks noChangeAspect="1"/>
          </p:cNvPicPr>
          <p:nvPr/>
        </p:nvPicPr>
        <p:blipFill>
          <a:blip r:embed="rId2"/>
          <a:stretch>
            <a:fillRect/>
          </a:stretch>
        </p:blipFill>
        <p:spPr>
          <a:xfrm>
            <a:off x="1289543" y="4010525"/>
            <a:ext cx="8143214" cy="2309771"/>
          </a:xfrm>
          <a:prstGeom prst="rect">
            <a:avLst/>
          </a:prstGeom>
        </p:spPr>
      </p:pic>
    </p:spTree>
    <p:extLst>
      <p:ext uri="{BB962C8B-B14F-4D97-AF65-F5344CB8AC3E}">
        <p14:creationId xmlns:p14="http://schemas.microsoft.com/office/powerpoint/2010/main" val="254574845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D08AAC-DC4B-9DC2-9EB9-16D81EF323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C46D3E-DD8D-77B1-CA52-82A9B6D24100}"/>
              </a:ext>
            </a:extLst>
          </p:cNvPr>
          <p:cNvSpPr>
            <a:spLocks noGrp="1"/>
          </p:cNvSpPr>
          <p:nvPr>
            <p:ph type="title"/>
          </p:nvPr>
        </p:nvSpPr>
        <p:spPr>
          <a:xfrm>
            <a:off x="208547" y="529388"/>
            <a:ext cx="11678653" cy="577517"/>
          </a:xfrm>
        </p:spPr>
        <p:txBody>
          <a:bodyPr>
            <a:normAutofit fontScale="90000"/>
          </a:bodyPr>
          <a:lstStyle/>
          <a:p>
            <a:r>
              <a:rPr lang="en-US" dirty="0"/>
              <a:t>Need for CSMA/CD &amp; CSMA/CA?</a:t>
            </a:r>
            <a:endParaRPr lang="en-IN" dirty="0"/>
          </a:p>
        </p:txBody>
      </p:sp>
      <p:sp>
        <p:nvSpPr>
          <p:cNvPr id="3" name="Content Placeholder 2">
            <a:extLst>
              <a:ext uri="{FF2B5EF4-FFF2-40B4-BE49-F238E27FC236}">
                <a16:creationId xmlns:a16="http://schemas.microsoft.com/office/drawing/2014/main" id="{40A47ADD-1E7B-CCF0-2473-43498646EADE}"/>
              </a:ext>
            </a:extLst>
          </p:cNvPr>
          <p:cNvSpPr>
            <a:spLocks noGrp="1"/>
          </p:cNvSpPr>
          <p:nvPr>
            <p:ph idx="1"/>
          </p:nvPr>
        </p:nvSpPr>
        <p:spPr>
          <a:xfrm>
            <a:off x="208547" y="1459831"/>
            <a:ext cx="11678653" cy="5101389"/>
          </a:xfrm>
        </p:spPr>
        <p:txBody>
          <a:bodyPr/>
          <a:lstStyle/>
          <a:p>
            <a:pPr marL="0" indent="0">
              <a:buNone/>
            </a:pPr>
            <a:r>
              <a:rPr lang="en-IN" dirty="0"/>
              <a:t>All of them have </a:t>
            </a:r>
            <a:r>
              <a:rPr lang="en-IN" b="1" dirty="0"/>
              <a:t>one common problem</a:t>
            </a:r>
            <a:r>
              <a:rPr lang="en-IN" dirty="0"/>
              <a:t>:</a:t>
            </a:r>
          </a:p>
          <a:p>
            <a:r>
              <a:rPr lang="en-IN" b="1" dirty="0"/>
              <a:t>They try to reduce collisions, but they cannot detect a collision after it occurs.</a:t>
            </a:r>
            <a:endParaRPr lang="en-IN" dirty="0"/>
          </a:p>
          <a:p>
            <a:pPr marL="0" indent="0">
              <a:buNone/>
            </a:pPr>
            <a:r>
              <a:rPr lang="en-IN" dirty="0"/>
              <a:t>Engineers thought,</a:t>
            </a:r>
          </a:p>
          <a:p>
            <a:r>
              <a:rPr lang="en-IN" b="1" dirty="0"/>
              <a:t>"If a collision happens while transmitting, why continue sending the entire frame? Why not stop immediately?"</a:t>
            </a:r>
            <a:endParaRPr lang="en-IN" dirty="0"/>
          </a:p>
          <a:p>
            <a:pPr marL="0" indent="0">
              <a:buNone/>
            </a:pPr>
            <a:endParaRPr lang="en-IN" dirty="0"/>
          </a:p>
        </p:txBody>
      </p:sp>
    </p:spTree>
    <p:extLst>
      <p:ext uri="{BB962C8B-B14F-4D97-AF65-F5344CB8AC3E}">
        <p14:creationId xmlns:p14="http://schemas.microsoft.com/office/powerpoint/2010/main" val="393263481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C53220-3A4E-F095-8C09-20FF862942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A8FF8E-1351-FB0E-31E4-FAB3AD3ACF84}"/>
              </a:ext>
            </a:extLst>
          </p:cNvPr>
          <p:cNvSpPr>
            <a:spLocks noGrp="1"/>
          </p:cNvSpPr>
          <p:nvPr>
            <p:ph type="title"/>
          </p:nvPr>
        </p:nvSpPr>
        <p:spPr>
          <a:xfrm>
            <a:off x="208547" y="529388"/>
            <a:ext cx="11678653" cy="577517"/>
          </a:xfrm>
        </p:spPr>
        <p:txBody>
          <a:bodyPr>
            <a:normAutofit fontScale="90000"/>
          </a:bodyPr>
          <a:lstStyle/>
          <a:p>
            <a:r>
              <a:rPr lang="en-US" dirty="0"/>
              <a:t>CSMA/CD</a:t>
            </a:r>
            <a:endParaRPr lang="en-IN" dirty="0"/>
          </a:p>
        </p:txBody>
      </p:sp>
      <p:sp>
        <p:nvSpPr>
          <p:cNvPr id="3" name="Content Placeholder 2">
            <a:extLst>
              <a:ext uri="{FF2B5EF4-FFF2-40B4-BE49-F238E27FC236}">
                <a16:creationId xmlns:a16="http://schemas.microsoft.com/office/drawing/2014/main" id="{FA1E385A-9642-A46C-0A8F-016865832506}"/>
              </a:ext>
            </a:extLst>
          </p:cNvPr>
          <p:cNvSpPr>
            <a:spLocks noGrp="1"/>
          </p:cNvSpPr>
          <p:nvPr>
            <p:ph idx="1"/>
          </p:nvPr>
        </p:nvSpPr>
        <p:spPr>
          <a:xfrm>
            <a:off x="208547" y="1106905"/>
            <a:ext cx="11678653" cy="5454316"/>
          </a:xfrm>
        </p:spPr>
        <p:txBody>
          <a:bodyPr>
            <a:normAutofit lnSpcReduction="10000"/>
          </a:bodyPr>
          <a:lstStyle/>
          <a:p>
            <a:r>
              <a:rPr lang="en-IN" dirty="0"/>
              <a:t>Carrier Sense Multiple Access with Collision Detection.</a:t>
            </a:r>
          </a:p>
          <a:p>
            <a:r>
              <a:rPr lang="en-IN" dirty="0"/>
              <a:t>Even after transmitting data -&gt; it still listens to the carrier.</a:t>
            </a:r>
          </a:p>
          <a:p>
            <a:r>
              <a:rPr lang="en-IN" dirty="0"/>
              <a:t>If a collision occurs, detect it immediately and stop transmitting to save bandwidth.</a:t>
            </a:r>
          </a:p>
          <a:p>
            <a:r>
              <a:rPr lang="en-IN" dirty="0"/>
              <a:t>CSMA/CD is only used in tradition wired ethernet. Eg: Hub-based LAN etc.</a:t>
            </a:r>
          </a:p>
          <a:p>
            <a:r>
              <a:rPr lang="en-IN" dirty="0"/>
              <a:t>Modern switched Ethernet (Full Duplex) </a:t>
            </a:r>
            <a:r>
              <a:rPr lang="en-IN" b="1" dirty="0"/>
              <a:t>does not use CSMA/CD</a:t>
            </a:r>
            <a:r>
              <a:rPr lang="en-IN" dirty="0"/>
              <a:t> because there are no collisions. [Separate carrier for sending and receiving].</a:t>
            </a:r>
          </a:p>
          <a:p>
            <a:r>
              <a:rPr lang="en-IN" dirty="0"/>
              <a:t>In Short, </a:t>
            </a:r>
            <a:r>
              <a:rPr lang="en-IN" dirty="0">
                <a:highlight>
                  <a:srgbClr val="FFFF00"/>
                </a:highlight>
              </a:rPr>
              <a:t>CSMA/CD (Carrier Sense Multiple Access with Collision Detection) is a medium access protocol in which a device first senses the communication channel before transmitting. While transmitting, it continuously monitors the channel. If a collision is detected, the device immediately stops transmission, sends a Jam Signal, waits for a random backoff time, and then retransmits the frame.</a:t>
            </a:r>
          </a:p>
          <a:p>
            <a:endParaRPr lang="en-IN" dirty="0"/>
          </a:p>
          <a:p>
            <a:endParaRPr lang="en-IN" dirty="0"/>
          </a:p>
        </p:txBody>
      </p:sp>
      <p:sp>
        <p:nvSpPr>
          <p:cNvPr id="5" name="TextBox 4">
            <a:extLst>
              <a:ext uri="{FF2B5EF4-FFF2-40B4-BE49-F238E27FC236}">
                <a16:creationId xmlns:a16="http://schemas.microsoft.com/office/drawing/2014/main" id="{A521FC6D-18BD-3848-95AF-D3F77BBC3C28}"/>
              </a:ext>
            </a:extLst>
          </p:cNvPr>
          <p:cNvSpPr txBox="1"/>
          <p:nvPr/>
        </p:nvSpPr>
        <p:spPr>
          <a:xfrm>
            <a:off x="3420980" y="6328612"/>
            <a:ext cx="6104020" cy="369332"/>
          </a:xfrm>
          <a:prstGeom prst="rect">
            <a:avLst/>
          </a:prstGeom>
          <a:noFill/>
        </p:spPr>
        <p:txBody>
          <a:bodyPr wrap="square">
            <a:spAutoFit/>
          </a:bodyPr>
          <a:lstStyle/>
          <a:p>
            <a:r>
              <a:rPr lang="en-IN" dirty="0"/>
              <a:t>Listen Before Sending + Listen While Sending</a:t>
            </a:r>
          </a:p>
        </p:txBody>
      </p:sp>
    </p:spTree>
    <p:extLst>
      <p:ext uri="{BB962C8B-B14F-4D97-AF65-F5344CB8AC3E}">
        <p14:creationId xmlns:p14="http://schemas.microsoft.com/office/powerpoint/2010/main" val="60541248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2069B5-622E-BF6D-0C52-07940C0839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93DC6F-A841-7B1E-9A0E-335DB7029F7F}"/>
              </a:ext>
            </a:extLst>
          </p:cNvPr>
          <p:cNvSpPr>
            <a:spLocks noGrp="1"/>
          </p:cNvSpPr>
          <p:nvPr>
            <p:ph type="title"/>
          </p:nvPr>
        </p:nvSpPr>
        <p:spPr>
          <a:xfrm>
            <a:off x="208547" y="529388"/>
            <a:ext cx="11678653" cy="577517"/>
          </a:xfrm>
        </p:spPr>
        <p:txBody>
          <a:bodyPr>
            <a:normAutofit fontScale="90000"/>
          </a:bodyPr>
          <a:lstStyle/>
          <a:p>
            <a:r>
              <a:rPr lang="en-US" dirty="0"/>
              <a:t>CSMA/CD</a:t>
            </a:r>
            <a:endParaRPr lang="en-IN" dirty="0"/>
          </a:p>
        </p:txBody>
      </p:sp>
      <p:pic>
        <p:nvPicPr>
          <p:cNvPr id="8" name="Picture 7">
            <a:extLst>
              <a:ext uri="{FF2B5EF4-FFF2-40B4-BE49-F238E27FC236}">
                <a16:creationId xmlns:a16="http://schemas.microsoft.com/office/drawing/2014/main" id="{BA5645BE-F79A-5624-09F2-77E45E6E76EB}"/>
              </a:ext>
            </a:extLst>
          </p:cNvPr>
          <p:cNvPicPr>
            <a:picLocks noChangeAspect="1"/>
          </p:cNvPicPr>
          <p:nvPr/>
        </p:nvPicPr>
        <p:blipFill>
          <a:blip r:embed="rId2"/>
          <a:stretch>
            <a:fillRect/>
          </a:stretch>
        </p:blipFill>
        <p:spPr>
          <a:xfrm>
            <a:off x="433376" y="1345165"/>
            <a:ext cx="4635930" cy="5258534"/>
          </a:xfrm>
          <a:prstGeom prst="rect">
            <a:avLst/>
          </a:prstGeom>
        </p:spPr>
      </p:pic>
      <p:sp>
        <p:nvSpPr>
          <p:cNvPr id="10" name="TextBox 9">
            <a:extLst>
              <a:ext uri="{FF2B5EF4-FFF2-40B4-BE49-F238E27FC236}">
                <a16:creationId xmlns:a16="http://schemas.microsoft.com/office/drawing/2014/main" id="{F66B3E95-0B9F-8151-A758-D6EFB9BA9498}"/>
              </a:ext>
            </a:extLst>
          </p:cNvPr>
          <p:cNvSpPr txBox="1"/>
          <p:nvPr/>
        </p:nvSpPr>
        <p:spPr>
          <a:xfrm>
            <a:off x="5201654" y="818146"/>
            <a:ext cx="2514600" cy="1477328"/>
          </a:xfrm>
          <a:prstGeom prst="rect">
            <a:avLst/>
          </a:prstGeom>
          <a:noFill/>
        </p:spPr>
        <p:txBody>
          <a:bodyPr wrap="square">
            <a:spAutoFit/>
          </a:bodyPr>
          <a:lstStyle/>
          <a:p>
            <a:pPr>
              <a:buNone/>
            </a:pPr>
            <a:r>
              <a:rPr lang="en-IN" dirty="0"/>
              <a:t>Suppose</a:t>
            </a:r>
          </a:p>
          <a:p>
            <a:pPr>
              <a:buNone/>
            </a:pPr>
            <a:r>
              <a:rPr lang="en-IN" dirty="0"/>
              <a:t>PC-A</a:t>
            </a:r>
          </a:p>
          <a:p>
            <a:pPr>
              <a:buNone/>
            </a:pPr>
            <a:r>
              <a:rPr lang="en-IN" dirty="0"/>
              <a:t>and</a:t>
            </a:r>
          </a:p>
          <a:p>
            <a:pPr>
              <a:buNone/>
            </a:pPr>
            <a:r>
              <a:rPr lang="en-IN" dirty="0"/>
              <a:t>PC-B</a:t>
            </a:r>
          </a:p>
          <a:p>
            <a:pPr>
              <a:buNone/>
            </a:pPr>
            <a:r>
              <a:rPr lang="en-IN" dirty="0"/>
              <a:t>both start transmitting.</a:t>
            </a:r>
          </a:p>
        </p:txBody>
      </p:sp>
      <p:sp>
        <p:nvSpPr>
          <p:cNvPr id="12" name="TextBox 11">
            <a:extLst>
              <a:ext uri="{FF2B5EF4-FFF2-40B4-BE49-F238E27FC236}">
                <a16:creationId xmlns:a16="http://schemas.microsoft.com/office/drawing/2014/main" id="{AE61F02D-1E1E-1463-A4A1-1B606B4E424E}"/>
              </a:ext>
            </a:extLst>
          </p:cNvPr>
          <p:cNvSpPr txBox="1"/>
          <p:nvPr/>
        </p:nvSpPr>
        <p:spPr>
          <a:xfrm>
            <a:off x="5201654" y="2584232"/>
            <a:ext cx="2322094" cy="923330"/>
          </a:xfrm>
          <a:prstGeom prst="rect">
            <a:avLst/>
          </a:prstGeom>
          <a:noFill/>
        </p:spPr>
        <p:txBody>
          <a:bodyPr wrap="square">
            <a:spAutoFit/>
          </a:bodyPr>
          <a:lstStyle/>
          <a:p>
            <a:r>
              <a:rPr lang="en-IN" dirty="0"/>
              <a:t>PC A ========&gt;</a:t>
            </a:r>
          </a:p>
          <a:p>
            <a:endParaRPr lang="en-IN" dirty="0"/>
          </a:p>
          <a:p>
            <a:r>
              <a:rPr lang="en-IN" dirty="0"/>
              <a:t>PC B &lt;========</a:t>
            </a:r>
          </a:p>
        </p:txBody>
      </p:sp>
      <p:sp>
        <p:nvSpPr>
          <p:cNvPr id="14" name="TextBox 13">
            <a:extLst>
              <a:ext uri="{FF2B5EF4-FFF2-40B4-BE49-F238E27FC236}">
                <a16:creationId xmlns:a16="http://schemas.microsoft.com/office/drawing/2014/main" id="{D55ADA85-C939-C2A8-9BB2-9FF292F1DC88}"/>
              </a:ext>
            </a:extLst>
          </p:cNvPr>
          <p:cNvSpPr txBox="1"/>
          <p:nvPr/>
        </p:nvSpPr>
        <p:spPr>
          <a:xfrm>
            <a:off x="5201654" y="3796320"/>
            <a:ext cx="2033337" cy="923330"/>
          </a:xfrm>
          <a:prstGeom prst="rect">
            <a:avLst/>
          </a:prstGeom>
          <a:noFill/>
        </p:spPr>
        <p:txBody>
          <a:bodyPr wrap="square">
            <a:spAutoFit/>
          </a:bodyPr>
          <a:lstStyle/>
          <a:p>
            <a:pPr>
              <a:buNone/>
            </a:pPr>
            <a:r>
              <a:rPr lang="en-IN" dirty="0"/>
              <a:t>Signals collide.</a:t>
            </a:r>
          </a:p>
          <a:p>
            <a:pPr>
              <a:buNone/>
            </a:pPr>
            <a:r>
              <a:rPr lang="en-IN" dirty="0"/>
              <a:t>Immediately,</a:t>
            </a:r>
          </a:p>
          <a:p>
            <a:pPr>
              <a:buNone/>
            </a:pPr>
            <a:r>
              <a:rPr lang="en-IN" dirty="0"/>
              <a:t>both detect</a:t>
            </a:r>
          </a:p>
        </p:txBody>
      </p:sp>
      <p:sp>
        <p:nvSpPr>
          <p:cNvPr id="16" name="TextBox 15">
            <a:extLst>
              <a:ext uri="{FF2B5EF4-FFF2-40B4-BE49-F238E27FC236}">
                <a16:creationId xmlns:a16="http://schemas.microsoft.com/office/drawing/2014/main" id="{891EDCE1-3C40-A91F-8C10-BCCD06A82F43}"/>
              </a:ext>
            </a:extLst>
          </p:cNvPr>
          <p:cNvSpPr txBox="1"/>
          <p:nvPr/>
        </p:nvSpPr>
        <p:spPr>
          <a:xfrm>
            <a:off x="5201654" y="4823742"/>
            <a:ext cx="1391652" cy="369332"/>
          </a:xfrm>
          <a:prstGeom prst="rect">
            <a:avLst/>
          </a:prstGeom>
          <a:noFill/>
        </p:spPr>
        <p:txBody>
          <a:bodyPr wrap="square">
            <a:spAutoFit/>
          </a:bodyPr>
          <a:lstStyle/>
          <a:p>
            <a:r>
              <a:rPr lang="en-IN" dirty="0"/>
              <a:t>Collision!</a:t>
            </a:r>
          </a:p>
        </p:txBody>
      </p:sp>
      <p:sp>
        <p:nvSpPr>
          <p:cNvPr id="18" name="TextBox 17">
            <a:extLst>
              <a:ext uri="{FF2B5EF4-FFF2-40B4-BE49-F238E27FC236}">
                <a16:creationId xmlns:a16="http://schemas.microsoft.com/office/drawing/2014/main" id="{32493D67-F513-C68B-8866-5A3283C1614F}"/>
              </a:ext>
            </a:extLst>
          </p:cNvPr>
          <p:cNvSpPr txBox="1"/>
          <p:nvPr/>
        </p:nvSpPr>
        <p:spPr>
          <a:xfrm>
            <a:off x="9163814" y="1487995"/>
            <a:ext cx="2322094" cy="1477328"/>
          </a:xfrm>
          <a:prstGeom prst="rect">
            <a:avLst/>
          </a:prstGeom>
          <a:noFill/>
        </p:spPr>
        <p:txBody>
          <a:bodyPr wrap="square">
            <a:spAutoFit/>
          </a:bodyPr>
          <a:lstStyle/>
          <a:p>
            <a:pPr>
              <a:buNone/>
            </a:pPr>
            <a:r>
              <a:rPr lang="en-IN"/>
              <a:t>Instead of sending</a:t>
            </a:r>
          </a:p>
          <a:p>
            <a:pPr>
              <a:buNone/>
            </a:pPr>
            <a:r>
              <a:rPr lang="en-IN"/>
              <a:t>the remaining</a:t>
            </a:r>
          </a:p>
          <a:p>
            <a:pPr>
              <a:buNone/>
            </a:pPr>
            <a:r>
              <a:rPr lang="en-IN"/>
              <a:t>1500 bytes,</a:t>
            </a:r>
          </a:p>
          <a:p>
            <a:pPr>
              <a:buNone/>
            </a:pPr>
            <a:r>
              <a:rPr lang="en-IN"/>
              <a:t>they stop.</a:t>
            </a:r>
          </a:p>
          <a:p>
            <a:pPr>
              <a:buNone/>
            </a:pPr>
            <a:r>
              <a:rPr lang="en-IN"/>
              <a:t>Bandwidth is saved.</a:t>
            </a:r>
            <a:endParaRPr lang="en-IN" dirty="0"/>
          </a:p>
        </p:txBody>
      </p:sp>
      <p:sp>
        <p:nvSpPr>
          <p:cNvPr id="20" name="TextBox 19">
            <a:extLst>
              <a:ext uri="{FF2B5EF4-FFF2-40B4-BE49-F238E27FC236}">
                <a16:creationId xmlns:a16="http://schemas.microsoft.com/office/drawing/2014/main" id="{73F05126-4892-F785-2674-1501C05AA77A}"/>
              </a:ext>
            </a:extLst>
          </p:cNvPr>
          <p:cNvSpPr txBox="1"/>
          <p:nvPr/>
        </p:nvSpPr>
        <p:spPr>
          <a:xfrm>
            <a:off x="7882452" y="3374267"/>
            <a:ext cx="3603456" cy="1200329"/>
          </a:xfrm>
          <a:prstGeom prst="rect">
            <a:avLst/>
          </a:prstGeom>
          <a:noFill/>
        </p:spPr>
        <p:txBody>
          <a:bodyPr wrap="square">
            <a:spAutoFit/>
          </a:bodyPr>
          <a:lstStyle/>
          <a:p>
            <a:pPr>
              <a:buNone/>
            </a:pPr>
            <a:r>
              <a:rPr lang="en-IN" b="1" dirty="0"/>
              <a:t>What is a Jam Signal?</a:t>
            </a:r>
          </a:p>
          <a:p>
            <a:pPr>
              <a:buNone/>
            </a:pPr>
            <a:r>
              <a:rPr lang="en-IN" dirty="0"/>
              <a:t>After detecting a collision,</a:t>
            </a:r>
          </a:p>
          <a:p>
            <a:pPr>
              <a:buNone/>
            </a:pPr>
            <a:r>
              <a:rPr lang="en-IN" dirty="0"/>
              <a:t>the sender transmits a special signal called a</a:t>
            </a:r>
          </a:p>
        </p:txBody>
      </p:sp>
      <p:sp>
        <p:nvSpPr>
          <p:cNvPr id="22" name="TextBox 21">
            <a:extLst>
              <a:ext uri="{FF2B5EF4-FFF2-40B4-BE49-F238E27FC236}">
                <a16:creationId xmlns:a16="http://schemas.microsoft.com/office/drawing/2014/main" id="{C9331D59-D3C3-4CCB-0A61-137F69D2205B}"/>
              </a:ext>
            </a:extLst>
          </p:cNvPr>
          <p:cNvSpPr txBox="1"/>
          <p:nvPr/>
        </p:nvSpPr>
        <p:spPr>
          <a:xfrm>
            <a:off x="7882452" y="4823742"/>
            <a:ext cx="3060031" cy="923330"/>
          </a:xfrm>
          <a:prstGeom prst="rect">
            <a:avLst/>
          </a:prstGeom>
          <a:noFill/>
        </p:spPr>
        <p:txBody>
          <a:bodyPr wrap="square">
            <a:spAutoFit/>
          </a:bodyPr>
          <a:lstStyle/>
          <a:p>
            <a:pPr>
              <a:buNone/>
            </a:pPr>
            <a:r>
              <a:rPr lang="en-IN" dirty="0"/>
              <a:t>It informs every device</a:t>
            </a:r>
          </a:p>
          <a:p>
            <a:pPr>
              <a:buNone/>
            </a:pPr>
            <a:r>
              <a:rPr lang="en-IN" dirty="0"/>
              <a:t>on the shared network that:</a:t>
            </a:r>
            <a:br>
              <a:rPr lang="en-IN" dirty="0"/>
            </a:br>
            <a:r>
              <a:rPr lang="en-IN" dirty="0"/>
              <a:t>Collision Has Occurred</a:t>
            </a:r>
          </a:p>
        </p:txBody>
      </p:sp>
      <p:sp>
        <p:nvSpPr>
          <p:cNvPr id="24" name="TextBox 23">
            <a:extLst>
              <a:ext uri="{FF2B5EF4-FFF2-40B4-BE49-F238E27FC236}">
                <a16:creationId xmlns:a16="http://schemas.microsoft.com/office/drawing/2014/main" id="{FC8DD800-16CE-F404-1F26-9025BB075FDA}"/>
              </a:ext>
            </a:extLst>
          </p:cNvPr>
          <p:cNvSpPr txBox="1"/>
          <p:nvPr/>
        </p:nvSpPr>
        <p:spPr>
          <a:xfrm>
            <a:off x="7882452" y="5866947"/>
            <a:ext cx="3316705" cy="923330"/>
          </a:xfrm>
          <a:prstGeom prst="rect">
            <a:avLst/>
          </a:prstGeom>
          <a:noFill/>
        </p:spPr>
        <p:txBody>
          <a:bodyPr wrap="square">
            <a:spAutoFit/>
          </a:bodyPr>
          <a:lstStyle/>
          <a:p>
            <a:pPr>
              <a:buNone/>
            </a:pPr>
            <a:r>
              <a:rPr lang="en-IN" dirty="0"/>
              <a:t>so that</a:t>
            </a:r>
          </a:p>
          <a:p>
            <a:pPr>
              <a:buNone/>
            </a:pPr>
            <a:r>
              <a:rPr lang="en-IN" dirty="0"/>
              <a:t>all devices discard the corrupted frame.</a:t>
            </a:r>
          </a:p>
        </p:txBody>
      </p:sp>
    </p:spTree>
    <p:extLst>
      <p:ext uri="{BB962C8B-B14F-4D97-AF65-F5344CB8AC3E}">
        <p14:creationId xmlns:p14="http://schemas.microsoft.com/office/powerpoint/2010/main" val="205391697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F8C999-173D-2196-0C2A-964417FDAC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8F14A0-7534-6E73-3328-E930E1913400}"/>
              </a:ext>
            </a:extLst>
          </p:cNvPr>
          <p:cNvSpPr>
            <a:spLocks noGrp="1"/>
          </p:cNvSpPr>
          <p:nvPr>
            <p:ph type="title"/>
          </p:nvPr>
        </p:nvSpPr>
        <p:spPr>
          <a:xfrm>
            <a:off x="208547" y="529388"/>
            <a:ext cx="11678653" cy="577517"/>
          </a:xfrm>
        </p:spPr>
        <p:txBody>
          <a:bodyPr>
            <a:normAutofit fontScale="90000"/>
          </a:bodyPr>
          <a:lstStyle/>
          <a:p>
            <a:r>
              <a:rPr lang="en-US" dirty="0"/>
              <a:t>CSMA/CD</a:t>
            </a:r>
            <a:endParaRPr lang="en-IN" dirty="0"/>
          </a:p>
        </p:txBody>
      </p:sp>
      <p:graphicFrame>
        <p:nvGraphicFramePr>
          <p:cNvPr id="4" name="Table 3">
            <a:extLst>
              <a:ext uri="{FF2B5EF4-FFF2-40B4-BE49-F238E27FC236}">
                <a16:creationId xmlns:a16="http://schemas.microsoft.com/office/drawing/2014/main" id="{C682805C-AA65-F426-49FD-9CD3D740DEA9}"/>
              </a:ext>
            </a:extLst>
          </p:cNvPr>
          <p:cNvGraphicFramePr>
            <a:graphicFrameLocks noGrp="1"/>
          </p:cNvGraphicFramePr>
          <p:nvPr>
            <p:extLst>
              <p:ext uri="{D42A27DB-BD31-4B8C-83A1-F6EECF244321}">
                <p14:modId xmlns:p14="http://schemas.microsoft.com/office/powerpoint/2010/main" val="649350802"/>
              </p:ext>
            </p:extLst>
          </p:nvPr>
        </p:nvGraphicFramePr>
        <p:xfrm>
          <a:off x="379663" y="1441561"/>
          <a:ext cx="5058612" cy="3754120"/>
        </p:xfrm>
        <a:graphic>
          <a:graphicData uri="http://schemas.openxmlformats.org/drawingml/2006/table">
            <a:tbl>
              <a:tblPr firstRow="1" bandRow="1">
                <a:tableStyleId>{5C22544A-7EE6-4342-B048-85BDC9FD1C3A}</a:tableStyleId>
              </a:tblPr>
              <a:tblGrid>
                <a:gridCol w="2529306">
                  <a:extLst>
                    <a:ext uri="{9D8B030D-6E8A-4147-A177-3AD203B41FA5}">
                      <a16:colId xmlns:a16="http://schemas.microsoft.com/office/drawing/2014/main" val="737008520"/>
                    </a:ext>
                  </a:extLst>
                </a:gridCol>
                <a:gridCol w="2529306">
                  <a:extLst>
                    <a:ext uri="{9D8B030D-6E8A-4147-A177-3AD203B41FA5}">
                      <a16:colId xmlns:a16="http://schemas.microsoft.com/office/drawing/2014/main" val="2970600848"/>
                    </a:ext>
                  </a:extLst>
                </a:gridCol>
              </a:tblGrid>
              <a:tr h="370840">
                <a:tc>
                  <a:txBody>
                    <a:bodyPr/>
                    <a:lstStyle/>
                    <a:p>
                      <a:pPr>
                        <a:buNone/>
                      </a:pPr>
                      <a:r>
                        <a:rPr lang="en-IN" dirty="0"/>
                        <a:t>Advantage</a:t>
                      </a:r>
                    </a:p>
                  </a:txBody>
                  <a:tcPr anchor="ctr"/>
                </a:tc>
                <a:tc>
                  <a:txBody>
                    <a:bodyPr/>
                    <a:lstStyle/>
                    <a:p>
                      <a:pPr>
                        <a:buNone/>
                      </a:pPr>
                      <a:r>
                        <a:rPr lang="en-IN"/>
                        <a:t>Explanation</a:t>
                      </a:r>
                    </a:p>
                  </a:txBody>
                  <a:tcPr anchor="ctr"/>
                </a:tc>
                <a:extLst>
                  <a:ext uri="{0D108BD9-81ED-4DB2-BD59-A6C34878D82A}">
                    <a16:rowId xmlns:a16="http://schemas.microsoft.com/office/drawing/2014/main" val="2929469423"/>
                  </a:ext>
                </a:extLst>
              </a:tr>
              <a:tr h="370840">
                <a:tc>
                  <a:txBody>
                    <a:bodyPr/>
                    <a:lstStyle/>
                    <a:p>
                      <a:pPr>
                        <a:buNone/>
                      </a:pPr>
                      <a:r>
                        <a:rPr lang="en-IN"/>
                        <a:t>Detects collisions immediately</a:t>
                      </a:r>
                    </a:p>
                  </a:txBody>
                  <a:tcPr anchor="ctr"/>
                </a:tc>
                <a:tc>
                  <a:txBody>
                    <a:bodyPr/>
                    <a:lstStyle/>
                    <a:p>
                      <a:pPr>
                        <a:buNone/>
                      </a:pPr>
                      <a:r>
                        <a:rPr lang="en-IN"/>
                        <a:t>Stops transmission as soon as a collision is detected.</a:t>
                      </a:r>
                    </a:p>
                  </a:txBody>
                  <a:tcPr anchor="ctr"/>
                </a:tc>
                <a:extLst>
                  <a:ext uri="{0D108BD9-81ED-4DB2-BD59-A6C34878D82A}">
                    <a16:rowId xmlns:a16="http://schemas.microsoft.com/office/drawing/2014/main" val="1055705559"/>
                  </a:ext>
                </a:extLst>
              </a:tr>
              <a:tr h="370840">
                <a:tc>
                  <a:txBody>
                    <a:bodyPr/>
                    <a:lstStyle/>
                    <a:p>
                      <a:pPr>
                        <a:buNone/>
                      </a:pPr>
                      <a:r>
                        <a:rPr lang="en-IN"/>
                        <a:t>Saves bandwidth</a:t>
                      </a:r>
                    </a:p>
                  </a:txBody>
                  <a:tcPr anchor="ctr"/>
                </a:tc>
                <a:tc>
                  <a:txBody>
                    <a:bodyPr/>
                    <a:lstStyle/>
                    <a:p>
                      <a:pPr>
                        <a:buNone/>
                      </a:pPr>
                      <a:r>
                        <a:rPr lang="en-IN"/>
                        <a:t>Does not waste time sending an entire corrupted frame.</a:t>
                      </a:r>
                    </a:p>
                  </a:txBody>
                  <a:tcPr anchor="ctr"/>
                </a:tc>
                <a:extLst>
                  <a:ext uri="{0D108BD9-81ED-4DB2-BD59-A6C34878D82A}">
                    <a16:rowId xmlns:a16="http://schemas.microsoft.com/office/drawing/2014/main" val="231826926"/>
                  </a:ext>
                </a:extLst>
              </a:tr>
              <a:tr h="370840">
                <a:tc>
                  <a:txBody>
                    <a:bodyPr/>
                    <a:lstStyle/>
                    <a:p>
                      <a:pPr>
                        <a:buNone/>
                      </a:pPr>
                      <a:r>
                        <a:rPr lang="en-IN"/>
                        <a:t>Better efficiency</a:t>
                      </a:r>
                    </a:p>
                  </a:txBody>
                  <a:tcPr anchor="ctr"/>
                </a:tc>
                <a:tc>
                  <a:txBody>
                    <a:bodyPr/>
                    <a:lstStyle/>
                    <a:p>
                      <a:pPr>
                        <a:buNone/>
                      </a:pPr>
                      <a:r>
                        <a:rPr lang="en-IN"/>
                        <a:t>Performs much better than ALOHA protocols.</a:t>
                      </a:r>
                    </a:p>
                  </a:txBody>
                  <a:tcPr anchor="ctr"/>
                </a:tc>
                <a:extLst>
                  <a:ext uri="{0D108BD9-81ED-4DB2-BD59-A6C34878D82A}">
                    <a16:rowId xmlns:a16="http://schemas.microsoft.com/office/drawing/2014/main" val="1765668470"/>
                  </a:ext>
                </a:extLst>
              </a:tr>
              <a:tr h="370840">
                <a:tc>
                  <a:txBody>
                    <a:bodyPr/>
                    <a:lstStyle/>
                    <a:p>
                      <a:pPr>
                        <a:buNone/>
                      </a:pPr>
                      <a:r>
                        <a:rPr lang="en-IN"/>
                        <a:t>Simple for wired shared networks</a:t>
                      </a:r>
                    </a:p>
                  </a:txBody>
                  <a:tcPr anchor="ctr"/>
                </a:tc>
                <a:tc>
                  <a:txBody>
                    <a:bodyPr/>
                    <a:lstStyle/>
                    <a:p>
                      <a:pPr>
                        <a:buNone/>
                      </a:pPr>
                      <a:r>
                        <a:rPr lang="en-IN" dirty="0"/>
                        <a:t>Widely used in traditional Ethernet (hub-based networks).</a:t>
                      </a:r>
                    </a:p>
                  </a:txBody>
                  <a:tcPr anchor="ctr"/>
                </a:tc>
                <a:extLst>
                  <a:ext uri="{0D108BD9-81ED-4DB2-BD59-A6C34878D82A}">
                    <a16:rowId xmlns:a16="http://schemas.microsoft.com/office/drawing/2014/main" val="2206624512"/>
                  </a:ext>
                </a:extLst>
              </a:tr>
            </a:tbl>
          </a:graphicData>
        </a:graphic>
      </p:graphicFrame>
      <p:graphicFrame>
        <p:nvGraphicFramePr>
          <p:cNvPr id="7" name="Table 6">
            <a:extLst>
              <a:ext uri="{FF2B5EF4-FFF2-40B4-BE49-F238E27FC236}">
                <a16:creationId xmlns:a16="http://schemas.microsoft.com/office/drawing/2014/main" id="{25C9B5E2-4919-30E0-788D-0AA3D48AEA10}"/>
              </a:ext>
            </a:extLst>
          </p:cNvPr>
          <p:cNvGraphicFramePr>
            <a:graphicFrameLocks noGrp="1"/>
          </p:cNvGraphicFramePr>
          <p:nvPr>
            <p:extLst>
              <p:ext uri="{D42A27DB-BD31-4B8C-83A1-F6EECF244321}">
                <p14:modId xmlns:p14="http://schemas.microsoft.com/office/powerpoint/2010/main" val="3389816520"/>
              </p:ext>
            </p:extLst>
          </p:nvPr>
        </p:nvGraphicFramePr>
        <p:xfrm>
          <a:off x="6531811" y="1441561"/>
          <a:ext cx="5058612" cy="3662680"/>
        </p:xfrm>
        <a:graphic>
          <a:graphicData uri="http://schemas.openxmlformats.org/drawingml/2006/table">
            <a:tbl>
              <a:tblPr firstRow="1" bandRow="1">
                <a:tableStyleId>{5C22544A-7EE6-4342-B048-85BDC9FD1C3A}</a:tableStyleId>
              </a:tblPr>
              <a:tblGrid>
                <a:gridCol w="2529306">
                  <a:extLst>
                    <a:ext uri="{9D8B030D-6E8A-4147-A177-3AD203B41FA5}">
                      <a16:colId xmlns:a16="http://schemas.microsoft.com/office/drawing/2014/main" val="737008520"/>
                    </a:ext>
                  </a:extLst>
                </a:gridCol>
                <a:gridCol w="2529306">
                  <a:extLst>
                    <a:ext uri="{9D8B030D-6E8A-4147-A177-3AD203B41FA5}">
                      <a16:colId xmlns:a16="http://schemas.microsoft.com/office/drawing/2014/main" val="2970600848"/>
                    </a:ext>
                  </a:extLst>
                </a:gridCol>
              </a:tblGrid>
              <a:tr h="370840">
                <a:tc>
                  <a:txBody>
                    <a:bodyPr/>
                    <a:lstStyle/>
                    <a:p>
                      <a:pPr>
                        <a:buNone/>
                      </a:pPr>
                      <a:r>
                        <a:rPr lang="en-IN" dirty="0"/>
                        <a:t>Disadvantage</a:t>
                      </a:r>
                    </a:p>
                  </a:txBody>
                  <a:tcPr anchor="ctr"/>
                </a:tc>
                <a:tc>
                  <a:txBody>
                    <a:bodyPr/>
                    <a:lstStyle/>
                    <a:p>
                      <a:pPr>
                        <a:buNone/>
                      </a:pPr>
                      <a:r>
                        <a:rPr lang="en-IN"/>
                        <a:t>Explanation</a:t>
                      </a:r>
                    </a:p>
                  </a:txBody>
                  <a:tcPr anchor="ctr"/>
                </a:tc>
                <a:extLst>
                  <a:ext uri="{0D108BD9-81ED-4DB2-BD59-A6C34878D82A}">
                    <a16:rowId xmlns:a16="http://schemas.microsoft.com/office/drawing/2014/main" val="2929469423"/>
                  </a:ext>
                </a:extLst>
              </a:tr>
              <a:tr h="370840">
                <a:tc>
                  <a:txBody>
                    <a:bodyPr/>
                    <a:lstStyle/>
                    <a:p>
                      <a:pPr>
                        <a:buNone/>
                      </a:pPr>
                      <a:r>
                        <a:rPr lang="en-IN"/>
                        <a:t>Works only in shared wired networks</a:t>
                      </a:r>
                    </a:p>
                  </a:txBody>
                  <a:tcPr anchor="ctr"/>
                </a:tc>
                <a:tc>
                  <a:txBody>
                    <a:bodyPr/>
                    <a:lstStyle/>
                    <a:p>
                      <a:pPr>
                        <a:buNone/>
                      </a:pPr>
                      <a:r>
                        <a:rPr lang="en-IN"/>
                        <a:t>Requires devices to hear collisions on the medium.</a:t>
                      </a:r>
                    </a:p>
                  </a:txBody>
                  <a:tcPr anchor="ctr"/>
                </a:tc>
                <a:extLst>
                  <a:ext uri="{0D108BD9-81ED-4DB2-BD59-A6C34878D82A}">
                    <a16:rowId xmlns:a16="http://schemas.microsoft.com/office/drawing/2014/main" val="1055705559"/>
                  </a:ext>
                </a:extLst>
              </a:tr>
              <a:tr h="370840">
                <a:tc>
                  <a:txBody>
                    <a:bodyPr/>
                    <a:lstStyle/>
                    <a:p>
                      <a:pPr>
                        <a:buNone/>
                      </a:pPr>
                      <a:r>
                        <a:rPr lang="en-IN"/>
                        <a:t>Cannot be used in wireless networks</a:t>
                      </a:r>
                    </a:p>
                  </a:txBody>
                  <a:tcPr anchor="ctr"/>
                </a:tc>
                <a:tc>
                  <a:txBody>
                    <a:bodyPr/>
                    <a:lstStyle/>
                    <a:p>
                      <a:pPr>
                        <a:buNone/>
                      </a:pPr>
                      <a:r>
                        <a:rPr lang="en-IN"/>
                        <a:t>Wireless devices cannot reliably detect collisions while transmitting.</a:t>
                      </a:r>
                    </a:p>
                  </a:txBody>
                  <a:tcPr anchor="ctr"/>
                </a:tc>
                <a:extLst>
                  <a:ext uri="{0D108BD9-81ED-4DB2-BD59-A6C34878D82A}">
                    <a16:rowId xmlns:a16="http://schemas.microsoft.com/office/drawing/2014/main" val="231826926"/>
                  </a:ext>
                </a:extLst>
              </a:tr>
              <a:tr h="370840">
                <a:tc>
                  <a:txBody>
                    <a:bodyPr/>
                    <a:lstStyle/>
                    <a:p>
                      <a:pPr>
                        <a:buNone/>
                      </a:pPr>
                      <a:r>
                        <a:rPr lang="en-IN"/>
                        <a:t>Less useful with switches</a:t>
                      </a:r>
                    </a:p>
                  </a:txBody>
                  <a:tcPr anchor="ctr"/>
                </a:tc>
                <a:tc>
                  <a:txBody>
                    <a:bodyPr/>
                    <a:lstStyle/>
                    <a:p>
                      <a:pPr>
                        <a:buNone/>
                      </a:pPr>
                      <a:r>
                        <a:rPr lang="en-IN" dirty="0"/>
                        <a:t>Modern switched Ethernet provides each device with a dedicated link, so collisions are eliminated.</a:t>
                      </a:r>
                    </a:p>
                  </a:txBody>
                  <a:tcPr anchor="ctr"/>
                </a:tc>
                <a:extLst>
                  <a:ext uri="{0D108BD9-81ED-4DB2-BD59-A6C34878D82A}">
                    <a16:rowId xmlns:a16="http://schemas.microsoft.com/office/drawing/2014/main" val="1765668470"/>
                  </a:ext>
                </a:extLst>
              </a:tr>
            </a:tbl>
          </a:graphicData>
        </a:graphic>
      </p:graphicFrame>
    </p:spTree>
    <p:extLst>
      <p:ext uri="{BB962C8B-B14F-4D97-AF65-F5344CB8AC3E}">
        <p14:creationId xmlns:p14="http://schemas.microsoft.com/office/powerpoint/2010/main" val="211989409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DE536B-F8DC-A787-02DD-1AA10D9D6D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1FD69C-1471-4C92-2D86-91ED0ADFEEAD}"/>
              </a:ext>
            </a:extLst>
          </p:cNvPr>
          <p:cNvSpPr>
            <a:spLocks noGrp="1"/>
          </p:cNvSpPr>
          <p:nvPr>
            <p:ph type="title"/>
          </p:nvPr>
        </p:nvSpPr>
        <p:spPr>
          <a:xfrm>
            <a:off x="208547" y="529388"/>
            <a:ext cx="11678653" cy="577517"/>
          </a:xfrm>
        </p:spPr>
        <p:txBody>
          <a:bodyPr>
            <a:normAutofit fontScale="90000"/>
          </a:bodyPr>
          <a:lstStyle/>
          <a:p>
            <a:r>
              <a:rPr lang="en-US" dirty="0"/>
              <a:t>Where CSMA/CD is used?</a:t>
            </a:r>
            <a:endParaRPr lang="en-IN" dirty="0"/>
          </a:p>
        </p:txBody>
      </p:sp>
      <p:graphicFrame>
        <p:nvGraphicFramePr>
          <p:cNvPr id="3" name="Table 2">
            <a:extLst>
              <a:ext uri="{FF2B5EF4-FFF2-40B4-BE49-F238E27FC236}">
                <a16:creationId xmlns:a16="http://schemas.microsoft.com/office/drawing/2014/main" id="{F2CF52E4-76EB-9D21-A556-7CA20F06C6D1}"/>
              </a:ext>
            </a:extLst>
          </p:cNvPr>
          <p:cNvGraphicFramePr>
            <a:graphicFrameLocks noGrp="1"/>
          </p:cNvGraphicFramePr>
          <p:nvPr>
            <p:extLst>
              <p:ext uri="{D42A27DB-BD31-4B8C-83A1-F6EECF244321}">
                <p14:modId xmlns:p14="http://schemas.microsoft.com/office/powerpoint/2010/main" val="3133158007"/>
              </p:ext>
            </p:extLst>
          </p:nvPr>
        </p:nvGraphicFramePr>
        <p:xfrm>
          <a:off x="443832" y="1414780"/>
          <a:ext cx="9935409" cy="2936240"/>
        </p:xfrm>
        <a:graphic>
          <a:graphicData uri="http://schemas.openxmlformats.org/drawingml/2006/table">
            <a:tbl>
              <a:tblPr firstRow="1" bandRow="1">
                <a:tableStyleId>{5C22544A-7EE6-4342-B048-85BDC9FD1C3A}</a:tableStyleId>
              </a:tblPr>
              <a:tblGrid>
                <a:gridCol w="3311803">
                  <a:extLst>
                    <a:ext uri="{9D8B030D-6E8A-4147-A177-3AD203B41FA5}">
                      <a16:colId xmlns:a16="http://schemas.microsoft.com/office/drawing/2014/main" val="443268710"/>
                    </a:ext>
                  </a:extLst>
                </a:gridCol>
                <a:gridCol w="3311803">
                  <a:extLst>
                    <a:ext uri="{9D8B030D-6E8A-4147-A177-3AD203B41FA5}">
                      <a16:colId xmlns:a16="http://schemas.microsoft.com/office/drawing/2014/main" val="1777252193"/>
                    </a:ext>
                  </a:extLst>
                </a:gridCol>
                <a:gridCol w="3311803">
                  <a:extLst>
                    <a:ext uri="{9D8B030D-6E8A-4147-A177-3AD203B41FA5}">
                      <a16:colId xmlns:a16="http://schemas.microsoft.com/office/drawing/2014/main" val="956060758"/>
                    </a:ext>
                  </a:extLst>
                </a:gridCol>
              </a:tblGrid>
              <a:tr h="370840">
                <a:tc>
                  <a:txBody>
                    <a:bodyPr/>
                    <a:lstStyle/>
                    <a:p>
                      <a:pPr>
                        <a:buNone/>
                      </a:pPr>
                      <a:r>
                        <a:rPr lang="en-IN" dirty="0"/>
                        <a:t>Network Type</a:t>
                      </a:r>
                    </a:p>
                  </a:txBody>
                  <a:tcPr anchor="ctr"/>
                </a:tc>
                <a:tc>
                  <a:txBody>
                    <a:bodyPr/>
                    <a:lstStyle/>
                    <a:p>
                      <a:pPr>
                        <a:buNone/>
                      </a:pPr>
                      <a:r>
                        <a:rPr lang="en-IN"/>
                        <a:t>CSMA/CD Used?</a:t>
                      </a:r>
                    </a:p>
                  </a:txBody>
                  <a:tcPr anchor="ctr"/>
                </a:tc>
                <a:tc>
                  <a:txBody>
                    <a:bodyPr/>
                    <a:lstStyle/>
                    <a:p>
                      <a:pPr>
                        <a:buNone/>
                      </a:pPr>
                      <a:r>
                        <a:rPr lang="en-IN"/>
                        <a:t>Reason</a:t>
                      </a:r>
                    </a:p>
                  </a:txBody>
                  <a:tcPr anchor="ctr"/>
                </a:tc>
                <a:extLst>
                  <a:ext uri="{0D108BD9-81ED-4DB2-BD59-A6C34878D82A}">
                    <a16:rowId xmlns:a16="http://schemas.microsoft.com/office/drawing/2014/main" val="2620120369"/>
                  </a:ext>
                </a:extLst>
              </a:tr>
              <a:tr h="370840">
                <a:tc>
                  <a:txBody>
                    <a:bodyPr/>
                    <a:lstStyle/>
                    <a:p>
                      <a:pPr>
                        <a:buNone/>
                      </a:pPr>
                      <a:r>
                        <a:rPr lang="en-IN"/>
                        <a:t>Hub-Based Ethernet</a:t>
                      </a:r>
                    </a:p>
                  </a:txBody>
                  <a:tcPr anchor="ctr"/>
                </a:tc>
                <a:tc>
                  <a:txBody>
                    <a:bodyPr/>
                    <a:lstStyle/>
                    <a:p>
                      <a:pPr>
                        <a:buNone/>
                      </a:pPr>
                      <a:r>
                        <a:rPr lang="en-IN" dirty="0"/>
                        <a:t>Yes</a:t>
                      </a:r>
                    </a:p>
                  </a:txBody>
                  <a:tcPr anchor="ctr"/>
                </a:tc>
                <a:tc>
                  <a:txBody>
                    <a:bodyPr/>
                    <a:lstStyle/>
                    <a:p>
                      <a:pPr>
                        <a:buNone/>
                      </a:pPr>
                      <a:r>
                        <a:rPr lang="en-IN"/>
                        <a:t>All devices share the same cable, so collisions are possible.</a:t>
                      </a:r>
                    </a:p>
                  </a:txBody>
                  <a:tcPr anchor="ctr"/>
                </a:tc>
                <a:extLst>
                  <a:ext uri="{0D108BD9-81ED-4DB2-BD59-A6C34878D82A}">
                    <a16:rowId xmlns:a16="http://schemas.microsoft.com/office/drawing/2014/main" val="317332491"/>
                  </a:ext>
                </a:extLst>
              </a:tr>
              <a:tr h="370840">
                <a:tc>
                  <a:txBody>
                    <a:bodyPr/>
                    <a:lstStyle/>
                    <a:p>
                      <a:pPr>
                        <a:buNone/>
                      </a:pPr>
                      <a:r>
                        <a:rPr lang="en-IN"/>
                        <a:t>Bus Topology</a:t>
                      </a:r>
                    </a:p>
                  </a:txBody>
                  <a:tcPr anchor="ctr"/>
                </a:tc>
                <a:tc>
                  <a:txBody>
                    <a:bodyPr/>
                    <a:lstStyle/>
                    <a:p>
                      <a:pPr>
                        <a:buNone/>
                      </a:pPr>
                      <a:r>
                        <a:rPr lang="en-IN" dirty="0"/>
                        <a:t>Yes</a:t>
                      </a:r>
                    </a:p>
                  </a:txBody>
                  <a:tcPr anchor="ctr"/>
                </a:tc>
                <a:tc>
                  <a:txBody>
                    <a:bodyPr/>
                    <a:lstStyle/>
                    <a:p>
                      <a:pPr>
                        <a:buNone/>
                      </a:pPr>
                      <a:r>
                        <a:rPr lang="en-IN" dirty="0"/>
                        <a:t>Shared communication medium.</a:t>
                      </a:r>
                    </a:p>
                  </a:txBody>
                  <a:tcPr anchor="ctr"/>
                </a:tc>
                <a:extLst>
                  <a:ext uri="{0D108BD9-81ED-4DB2-BD59-A6C34878D82A}">
                    <a16:rowId xmlns:a16="http://schemas.microsoft.com/office/drawing/2014/main" val="2954305177"/>
                  </a:ext>
                </a:extLst>
              </a:tr>
              <a:tr h="370840">
                <a:tc>
                  <a:txBody>
                    <a:bodyPr/>
                    <a:lstStyle/>
                    <a:p>
                      <a:pPr>
                        <a:buNone/>
                      </a:pPr>
                      <a:r>
                        <a:rPr lang="en-IN"/>
                        <a:t>Switched Ethernet</a:t>
                      </a:r>
                    </a:p>
                  </a:txBody>
                  <a:tcPr anchor="ctr"/>
                </a:tc>
                <a:tc>
                  <a:txBody>
                    <a:bodyPr/>
                    <a:lstStyle/>
                    <a:p>
                      <a:pPr>
                        <a:buNone/>
                      </a:pPr>
                      <a:r>
                        <a:rPr lang="en-IN" dirty="0"/>
                        <a:t>No</a:t>
                      </a:r>
                    </a:p>
                  </a:txBody>
                  <a:tcPr anchor="ctr"/>
                </a:tc>
                <a:tc>
                  <a:txBody>
                    <a:bodyPr/>
                    <a:lstStyle/>
                    <a:p>
                      <a:pPr>
                        <a:buNone/>
                      </a:pPr>
                      <a:r>
                        <a:rPr lang="en-IN"/>
                        <a:t>Each device has a dedicated link; collisions do not occur.</a:t>
                      </a:r>
                    </a:p>
                  </a:txBody>
                  <a:tcPr anchor="ctr"/>
                </a:tc>
                <a:extLst>
                  <a:ext uri="{0D108BD9-81ED-4DB2-BD59-A6C34878D82A}">
                    <a16:rowId xmlns:a16="http://schemas.microsoft.com/office/drawing/2014/main" val="3014919801"/>
                  </a:ext>
                </a:extLst>
              </a:tr>
              <a:tr h="370840">
                <a:tc>
                  <a:txBody>
                    <a:bodyPr/>
                    <a:lstStyle/>
                    <a:p>
                      <a:pPr>
                        <a:buNone/>
                      </a:pPr>
                      <a:r>
                        <a:rPr lang="en-IN"/>
                        <a:t>Wi-Fi</a:t>
                      </a:r>
                    </a:p>
                  </a:txBody>
                  <a:tcPr anchor="ctr"/>
                </a:tc>
                <a:tc>
                  <a:txBody>
                    <a:bodyPr/>
                    <a:lstStyle/>
                    <a:p>
                      <a:pPr>
                        <a:buNone/>
                      </a:pPr>
                      <a:r>
                        <a:rPr lang="en-IN" dirty="0"/>
                        <a:t>No</a:t>
                      </a:r>
                    </a:p>
                  </a:txBody>
                  <a:tcPr anchor="ctr"/>
                </a:tc>
                <a:tc>
                  <a:txBody>
                    <a:bodyPr/>
                    <a:lstStyle/>
                    <a:p>
                      <a:pPr>
                        <a:buNone/>
                      </a:pPr>
                      <a:r>
                        <a:rPr lang="en-IN" dirty="0"/>
                        <a:t>Wireless devices cannot detect collisions while transmitting. Wi-Fi uses CSMA/CA instead.</a:t>
                      </a:r>
                    </a:p>
                  </a:txBody>
                  <a:tcPr anchor="ctr"/>
                </a:tc>
                <a:extLst>
                  <a:ext uri="{0D108BD9-81ED-4DB2-BD59-A6C34878D82A}">
                    <a16:rowId xmlns:a16="http://schemas.microsoft.com/office/drawing/2014/main" val="3151010519"/>
                  </a:ext>
                </a:extLst>
              </a:tr>
            </a:tbl>
          </a:graphicData>
        </a:graphic>
      </p:graphicFrame>
    </p:spTree>
    <p:extLst>
      <p:ext uri="{BB962C8B-B14F-4D97-AF65-F5344CB8AC3E}">
        <p14:creationId xmlns:p14="http://schemas.microsoft.com/office/powerpoint/2010/main" val="2674865951"/>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207F88-28AD-41CC-EB5D-09DDD8C032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D51E21-9D45-34D4-82E3-89C52129BAB9}"/>
              </a:ext>
            </a:extLst>
          </p:cNvPr>
          <p:cNvSpPr>
            <a:spLocks noGrp="1"/>
          </p:cNvSpPr>
          <p:nvPr>
            <p:ph type="title"/>
          </p:nvPr>
        </p:nvSpPr>
        <p:spPr>
          <a:xfrm>
            <a:off x="208547" y="529388"/>
            <a:ext cx="11678653" cy="577517"/>
          </a:xfrm>
        </p:spPr>
        <p:txBody>
          <a:bodyPr>
            <a:normAutofit fontScale="90000"/>
          </a:bodyPr>
          <a:lstStyle/>
          <a:p>
            <a:r>
              <a:rPr lang="en-US" dirty="0"/>
              <a:t>CSMA/CA</a:t>
            </a:r>
            <a:endParaRPr lang="en-IN" dirty="0"/>
          </a:p>
        </p:txBody>
      </p:sp>
      <p:sp>
        <p:nvSpPr>
          <p:cNvPr id="3" name="Content Placeholder 2">
            <a:extLst>
              <a:ext uri="{FF2B5EF4-FFF2-40B4-BE49-F238E27FC236}">
                <a16:creationId xmlns:a16="http://schemas.microsoft.com/office/drawing/2014/main" id="{47F269A9-D34A-2D72-79C4-3EF1993083E2}"/>
              </a:ext>
            </a:extLst>
          </p:cNvPr>
          <p:cNvSpPr>
            <a:spLocks noGrp="1"/>
          </p:cNvSpPr>
          <p:nvPr>
            <p:ph idx="1"/>
          </p:nvPr>
        </p:nvSpPr>
        <p:spPr>
          <a:xfrm>
            <a:off x="208547" y="1106905"/>
            <a:ext cx="11678653" cy="5454316"/>
          </a:xfrm>
        </p:spPr>
        <p:txBody>
          <a:bodyPr>
            <a:normAutofit/>
          </a:bodyPr>
          <a:lstStyle/>
          <a:p>
            <a:r>
              <a:rPr lang="en-IN" dirty="0"/>
              <a:t>Until now, every protocol that we studied was mainly designed for </a:t>
            </a:r>
            <a:r>
              <a:rPr lang="en-IN" b="1" dirty="0"/>
              <a:t>wired networks</a:t>
            </a:r>
            <a:r>
              <a:rPr lang="en-IN" dirty="0"/>
              <a:t>.</a:t>
            </a:r>
          </a:p>
          <a:p>
            <a:r>
              <a:rPr lang="en-IN" dirty="0"/>
              <a:t>But when wireless networks (Wi-Fi) became popular, engineers faced a new problem.</a:t>
            </a:r>
          </a:p>
          <a:p>
            <a:r>
              <a:rPr lang="en-IN" dirty="0"/>
              <a:t>They asked, </a:t>
            </a:r>
            <a:r>
              <a:rPr lang="en-IN" b="1" dirty="0"/>
              <a:t>"How can we detect a collision if two laptops are transmitting wirelessly?"</a:t>
            </a:r>
            <a:endParaRPr lang="en-IN" dirty="0"/>
          </a:p>
          <a:p>
            <a:r>
              <a:rPr lang="en-IN" dirty="0"/>
              <a:t>The answer was</a:t>
            </a:r>
          </a:p>
          <a:p>
            <a:r>
              <a:rPr lang="en-IN" b="1" dirty="0"/>
              <a:t>You can't detect it reliably.</a:t>
            </a:r>
            <a:endParaRPr lang="en-IN" dirty="0"/>
          </a:p>
          <a:p>
            <a:r>
              <a:rPr lang="en-IN" dirty="0"/>
              <a:t>So instead of </a:t>
            </a:r>
            <a:r>
              <a:rPr lang="en-IN" b="1" dirty="0"/>
              <a:t>Collision Detection (CD)</a:t>
            </a:r>
            <a:r>
              <a:rPr lang="en-IN" dirty="0"/>
              <a:t>, wireless networks use CSMA/CA.</a:t>
            </a:r>
          </a:p>
          <a:p>
            <a:endParaRPr lang="en-IN" dirty="0"/>
          </a:p>
        </p:txBody>
      </p:sp>
      <p:sp>
        <p:nvSpPr>
          <p:cNvPr id="6" name="TextBox 5">
            <a:extLst>
              <a:ext uri="{FF2B5EF4-FFF2-40B4-BE49-F238E27FC236}">
                <a16:creationId xmlns:a16="http://schemas.microsoft.com/office/drawing/2014/main" id="{DFB05B3C-327B-5D85-FDF2-37E797DDF705}"/>
              </a:ext>
            </a:extLst>
          </p:cNvPr>
          <p:cNvSpPr txBox="1"/>
          <p:nvPr/>
        </p:nvSpPr>
        <p:spPr>
          <a:xfrm>
            <a:off x="3043990" y="5751095"/>
            <a:ext cx="6104020" cy="646331"/>
          </a:xfrm>
          <a:prstGeom prst="rect">
            <a:avLst/>
          </a:prstGeom>
          <a:noFill/>
        </p:spPr>
        <p:txBody>
          <a:bodyPr wrap="square">
            <a:spAutoFit/>
          </a:bodyPr>
          <a:lstStyle/>
          <a:p>
            <a:pPr>
              <a:buNone/>
            </a:pPr>
            <a:r>
              <a:rPr lang="en-IN" dirty="0"/>
              <a:t>One </a:t>
            </a:r>
            <a:r>
              <a:rPr lang="en-IN" b="1" dirty="0"/>
              <a:t>detects</a:t>
            </a:r>
            <a:r>
              <a:rPr lang="en-IN" dirty="0"/>
              <a:t> collision after it happens.</a:t>
            </a:r>
          </a:p>
          <a:p>
            <a:pPr>
              <a:buNone/>
            </a:pPr>
            <a:r>
              <a:rPr lang="en-IN" dirty="0"/>
              <a:t>The other </a:t>
            </a:r>
            <a:r>
              <a:rPr lang="en-IN" b="1" dirty="0"/>
              <a:t>tries to avoid</a:t>
            </a:r>
            <a:r>
              <a:rPr lang="en-IN" dirty="0"/>
              <a:t> collision before it happens.</a:t>
            </a:r>
          </a:p>
        </p:txBody>
      </p:sp>
    </p:spTree>
    <p:extLst>
      <p:ext uri="{BB962C8B-B14F-4D97-AF65-F5344CB8AC3E}">
        <p14:creationId xmlns:p14="http://schemas.microsoft.com/office/powerpoint/2010/main" val="114906377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1251D0-E606-0EEE-A8F5-1BE35502C9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2FA59F-1042-1756-81E5-F25BB33FA1CF}"/>
              </a:ext>
            </a:extLst>
          </p:cNvPr>
          <p:cNvSpPr>
            <a:spLocks noGrp="1"/>
          </p:cNvSpPr>
          <p:nvPr>
            <p:ph type="title"/>
          </p:nvPr>
        </p:nvSpPr>
        <p:spPr>
          <a:xfrm>
            <a:off x="208547" y="529388"/>
            <a:ext cx="11678653" cy="577517"/>
          </a:xfrm>
        </p:spPr>
        <p:txBody>
          <a:bodyPr>
            <a:normAutofit fontScale="90000"/>
          </a:bodyPr>
          <a:lstStyle/>
          <a:p>
            <a:r>
              <a:rPr lang="en-US" dirty="0"/>
              <a:t>CSMA/CA</a:t>
            </a:r>
            <a:endParaRPr lang="en-IN" dirty="0"/>
          </a:p>
        </p:txBody>
      </p:sp>
      <p:sp>
        <p:nvSpPr>
          <p:cNvPr id="3" name="Content Placeholder 2">
            <a:extLst>
              <a:ext uri="{FF2B5EF4-FFF2-40B4-BE49-F238E27FC236}">
                <a16:creationId xmlns:a16="http://schemas.microsoft.com/office/drawing/2014/main" id="{9F1B508B-E6DC-0DCD-EF48-2AFA3F43034D}"/>
              </a:ext>
            </a:extLst>
          </p:cNvPr>
          <p:cNvSpPr>
            <a:spLocks noGrp="1"/>
          </p:cNvSpPr>
          <p:nvPr>
            <p:ph idx="1"/>
          </p:nvPr>
        </p:nvSpPr>
        <p:spPr>
          <a:xfrm>
            <a:off x="208547" y="1106905"/>
            <a:ext cx="11678653" cy="5454316"/>
          </a:xfrm>
        </p:spPr>
        <p:txBody>
          <a:bodyPr>
            <a:normAutofit/>
          </a:bodyPr>
          <a:lstStyle/>
          <a:p>
            <a:r>
              <a:rPr lang="en-IN" dirty="0"/>
              <a:t>CSMA/CA (Carrier Sense Multiple Access with Collision Avoidance) is a medium access protocol used in wireless networks in which a station first senses the communication channel before transmitting. If the channel is busy, it waits. If the channel is free, it waits for a short period, performs a random backoff, and then transmits to minimize the possibility of collisions.</a:t>
            </a:r>
          </a:p>
          <a:p>
            <a:r>
              <a:rPr lang="en-IN" dirty="0"/>
              <a:t>In simple words, </a:t>
            </a:r>
            <a:r>
              <a:rPr lang="en-IN" b="1" dirty="0"/>
              <a:t>Don't wait for a collision to happen. Try to prevent it.</a:t>
            </a:r>
          </a:p>
          <a:p>
            <a:r>
              <a:rPr lang="en-IN" dirty="0"/>
              <a:t>Over here, the career is (Wireless Medium)</a:t>
            </a:r>
          </a:p>
          <a:p>
            <a:endParaRPr lang="en-IN" dirty="0"/>
          </a:p>
        </p:txBody>
      </p:sp>
    </p:spTree>
    <p:extLst>
      <p:ext uri="{BB962C8B-B14F-4D97-AF65-F5344CB8AC3E}">
        <p14:creationId xmlns:p14="http://schemas.microsoft.com/office/powerpoint/2010/main" val="275774927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4A1D2D-15F5-84A0-CABC-B25AE2BBE5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D3324E-7CBC-1AFA-7103-04525CF14DF0}"/>
              </a:ext>
            </a:extLst>
          </p:cNvPr>
          <p:cNvSpPr>
            <a:spLocks noGrp="1"/>
          </p:cNvSpPr>
          <p:nvPr>
            <p:ph type="title"/>
          </p:nvPr>
        </p:nvSpPr>
        <p:spPr>
          <a:xfrm>
            <a:off x="208547" y="529388"/>
            <a:ext cx="11678653" cy="577517"/>
          </a:xfrm>
        </p:spPr>
        <p:txBody>
          <a:bodyPr>
            <a:normAutofit fontScale="90000"/>
          </a:bodyPr>
          <a:lstStyle/>
          <a:p>
            <a:r>
              <a:rPr lang="en-US" dirty="0"/>
              <a:t>CSMA/CA - Working</a:t>
            </a:r>
            <a:endParaRPr lang="en-IN" dirty="0"/>
          </a:p>
        </p:txBody>
      </p:sp>
      <p:sp>
        <p:nvSpPr>
          <p:cNvPr id="5" name="TextBox 4">
            <a:extLst>
              <a:ext uri="{FF2B5EF4-FFF2-40B4-BE49-F238E27FC236}">
                <a16:creationId xmlns:a16="http://schemas.microsoft.com/office/drawing/2014/main" id="{8AABC4FE-853C-CC82-6698-F08AF39EBE75}"/>
              </a:ext>
            </a:extLst>
          </p:cNvPr>
          <p:cNvSpPr txBox="1"/>
          <p:nvPr/>
        </p:nvSpPr>
        <p:spPr>
          <a:xfrm>
            <a:off x="356938" y="1367134"/>
            <a:ext cx="2803357" cy="923330"/>
          </a:xfrm>
          <a:prstGeom prst="rect">
            <a:avLst/>
          </a:prstGeom>
          <a:noFill/>
        </p:spPr>
        <p:txBody>
          <a:bodyPr wrap="square">
            <a:spAutoFit/>
          </a:bodyPr>
          <a:lstStyle/>
          <a:p>
            <a:pPr>
              <a:buNone/>
            </a:pPr>
            <a:r>
              <a:rPr lang="en-IN" b="1" dirty="0"/>
              <a:t>Step 1</a:t>
            </a:r>
          </a:p>
          <a:p>
            <a:pPr>
              <a:buNone/>
            </a:pPr>
            <a:r>
              <a:rPr lang="en-IN" dirty="0"/>
              <a:t>Computer has data.</a:t>
            </a:r>
          </a:p>
          <a:p>
            <a:pPr rtl="0">
              <a:buNone/>
            </a:pPr>
            <a:r>
              <a:rPr lang="en-IN" dirty="0">
                <a:latin typeface="Courier New" panose="02070309020205020404" pitchFamily="49" charset="0"/>
              </a:rPr>
              <a:t>Data Ready</a:t>
            </a:r>
          </a:p>
        </p:txBody>
      </p:sp>
      <p:sp>
        <p:nvSpPr>
          <p:cNvPr id="7" name="TextBox 6">
            <a:extLst>
              <a:ext uri="{FF2B5EF4-FFF2-40B4-BE49-F238E27FC236}">
                <a16:creationId xmlns:a16="http://schemas.microsoft.com/office/drawing/2014/main" id="{790D337B-7FA2-2BBC-4710-3332191BA2B5}"/>
              </a:ext>
            </a:extLst>
          </p:cNvPr>
          <p:cNvSpPr txBox="1"/>
          <p:nvPr/>
        </p:nvSpPr>
        <p:spPr>
          <a:xfrm>
            <a:off x="356938" y="2550693"/>
            <a:ext cx="2803357" cy="2585323"/>
          </a:xfrm>
          <a:prstGeom prst="rect">
            <a:avLst/>
          </a:prstGeom>
          <a:noFill/>
        </p:spPr>
        <p:txBody>
          <a:bodyPr wrap="square">
            <a:spAutoFit/>
          </a:bodyPr>
          <a:lstStyle/>
          <a:p>
            <a:pPr>
              <a:buNone/>
            </a:pPr>
            <a:r>
              <a:rPr lang="en-IN" b="1" dirty="0"/>
              <a:t>Step 2</a:t>
            </a:r>
          </a:p>
          <a:p>
            <a:pPr>
              <a:buNone/>
            </a:pPr>
            <a:r>
              <a:rPr lang="en-IN" dirty="0"/>
              <a:t>Sense the wireless channel.</a:t>
            </a:r>
          </a:p>
          <a:p>
            <a:pPr rtl="0">
              <a:buNone/>
            </a:pPr>
            <a:r>
              <a:rPr lang="en-IN" dirty="0">
                <a:latin typeface="Courier New" panose="02070309020205020404" pitchFamily="49" charset="0"/>
              </a:rPr>
              <a:t>Busy?</a:t>
            </a:r>
          </a:p>
          <a:p>
            <a:pPr rtl="0">
              <a:buNone/>
            </a:pPr>
            <a:endParaRPr lang="en-IN" dirty="0">
              <a:latin typeface="Courier New" panose="02070309020205020404" pitchFamily="49" charset="0"/>
            </a:endParaRPr>
          </a:p>
          <a:p>
            <a:pPr rtl="0">
              <a:buNone/>
            </a:pPr>
            <a:r>
              <a:rPr lang="en-IN" dirty="0">
                <a:latin typeface="Courier New" panose="02070309020205020404" pitchFamily="49" charset="0"/>
              </a:rPr>
              <a:t>↓</a:t>
            </a:r>
          </a:p>
          <a:p>
            <a:pPr rtl="0">
              <a:buNone/>
            </a:pPr>
            <a:endParaRPr lang="en-IN" dirty="0">
              <a:latin typeface="Courier New" panose="02070309020205020404" pitchFamily="49" charset="0"/>
            </a:endParaRPr>
          </a:p>
          <a:p>
            <a:pPr rtl="0">
              <a:buNone/>
            </a:pPr>
            <a:r>
              <a:rPr lang="en-IN" dirty="0">
                <a:latin typeface="Courier New" panose="02070309020205020404" pitchFamily="49" charset="0"/>
              </a:rPr>
              <a:t>Wait</a:t>
            </a:r>
          </a:p>
          <a:p>
            <a:pPr>
              <a:buNone/>
            </a:pPr>
            <a:r>
              <a:rPr lang="en-IN" dirty="0"/>
              <a:t>If busy,</a:t>
            </a:r>
          </a:p>
          <a:p>
            <a:pPr>
              <a:buNone/>
            </a:pPr>
            <a:r>
              <a:rPr lang="en-IN" dirty="0"/>
              <a:t>keep waiting.</a:t>
            </a:r>
          </a:p>
        </p:txBody>
      </p:sp>
      <p:sp>
        <p:nvSpPr>
          <p:cNvPr id="9" name="TextBox 8">
            <a:extLst>
              <a:ext uri="{FF2B5EF4-FFF2-40B4-BE49-F238E27FC236}">
                <a16:creationId xmlns:a16="http://schemas.microsoft.com/office/drawing/2014/main" id="{AF223D32-B1EE-1D2C-3507-5248A65D41F3}"/>
              </a:ext>
            </a:extLst>
          </p:cNvPr>
          <p:cNvSpPr txBox="1"/>
          <p:nvPr/>
        </p:nvSpPr>
        <p:spPr>
          <a:xfrm>
            <a:off x="3372854" y="1367134"/>
            <a:ext cx="3060031" cy="2862322"/>
          </a:xfrm>
          <a:prstGeom prst="rect">
            <a:avLst/>
          </a:prstGeom>
          <a:noFill/>
        </p:spPr>
        <p:txBody>
          <a:bodyPr wrap="square">
            <a:spAutoFit/>
          </a:bodyPr>
          <a:lstStyle/>
          <a:p>
            <a:pPr>
              <a:buNone/>
            </a:pPr>
            <a:r>
              <a:rPr lang="en-IN" b="1" dirty="0"/>
              <a:t>Step 3</a:t>
            </a:r>
          </a:p>
          <a:p>
            <a:pPr>
              <a:buNone/>
            </a:pPr>
            <a:r>
              <a:rPr lang="en-IN" dirty="0"/>
              <a:t>When channel becomes free,</a:t>
            </a:r>
          </a:p>
          <a:p>
            <a:pPr>
              <a:buNone/>
            </a:pPr>
            <a:r>
              <a:rPr lang="en-IN" dirty="0"/>
              <a:t>DO NOT transmit immediately.</a:t>
            </a:r>
          </a:p>
          <a:p>
            <a:pPr>
              <a:buNone/>
            </a:pPr>
            <a:r>
              <a:rPr lang="en-IN" dirty="0"/>
              <a:t>Instead,</a:t>
            </a:r>
          </a:p>
          <a:p>
            <a:pPr>
              <a:buNone/>
            </a:pPr>
            <a:r>
              <a:rPr lang="en-IN" dirty="0"/>
              <a:t>wait for a short time.</a:t>
            </a:r>
          </a:p>
          <a:p>
            <a:pPr>
              <a:buNone/>
            </a:pPr>
            <a:r>
              <a:rPr lang="en-IN" dirty="0"/>
              <a:t>This short waiting time is called</a:t>
            </a:r>
          </a:p>
          <a:p>
            <a:pPr rtl="0">
              <a:buNone/>
            </a:pPr>
            <a:r>
              <a:rPr lang="en-IN" dirty="0">
                <a:latin typeface="Courier New" panose="02070309020205020404" pitchFamily="49" charset="0"/>
              </a:rPr>
              <a:t>IFS</a:t>
            </a:r>
          </a:p>
          <a:p>
            <a:pPr rtl="0">
              <a:buNone/>
            </a:pPr>
            <a:endParaRPr lang="en-IN" dirty="0">
              <a:latin typeface="Courier New" panose="02070309020205020404" pitchFamily="49" charset="0"/>
            </a:endParaRPr>
          </a:p>
          <a:p>
            <a:pPr rtl="0">
              <a:buNone/>
            </a:pPr>
            <a:r>
              <a:rPr lang="en-IN" dirty="0">
                <a:latin typeface="Courier New" panose="02070309020205020404" pitchFamily="49" charset="0"/>
              </a:rPr>
              <a:t>(Inter Frame Space)</a:t>
            </a:r>
          </a:p>
        </p:txBody>
      </p:sp>
      <p:sp>
        <p:nvSpPr>
          <p:cNvPr id="11" name="TextBox 10">
            <a:extLst>
              <a:ext uri="{FF2B5EF4-FFF2-40B4-BE49-F238E27FC236}">
                <a16:creationId xmlns:a16="http://schemas.microsoft.com/office/drawing/2014/main" id="{65B0DA14-34F6-253C-0C46-3490D8DD4AA2}"/>
              </a:ext>
            </a:extLst>
          </p:cNvPr>
          <p:cNvSpPr txBox="1"/>
          <p:nvPr/>
        </p:nvSpPr>
        <p:spPr>
          <a:xfrm>
            <a:off x="7253039" y="1518340"/>
            <a:ext cx="3557335" cy="2862322"/>
          </a:xfrm>
          <a:prstGeom prst="rect">
            <a:avLst/>
          </a:prstGeom>
          <a:noFill/>
        </p:spPr>
        <p:txBody>
          <a:bodyPr wrap="square">
            <a:spAutoFit/>
          </a:bodyPr>
          <a:lstStyle/>
          <a:p>
            <a:pPr>
              <a:buNone/>
            </a:pPr>
            <a:r>
              <a:rPr lang="en-IN" b="1" dirty="0"/>
              <a:t>Step 4</a:t>
            </a:r>
          </a:p>
          <a:p>
            <a:pPr>
              <a:buNone/>
            </a:pPr>
            <a:r>
              <a:rPr lang="en-IN" dirty="0"/>
              <a:t>Generate a random Backoff Timer.</a:t>
            </a:r>
          </a:p>
          <a:p>
            <a:pPr>
              <a:buNone/>
            </a:pPr>
            <a:r>
              <a:rPr lang="en-IN" dirty="0"/>
              <a:t>Example</a:t>
            </a:r>
          </a:p>
          <a:p>
            <a:pPr rtl="0">
              <a:buNone/>
            </a:pPr>
            <a:r>
              <a:rPr lang="en-IN" dirty="0">
                <a:latin typeface="Courier New" panose="02070309020205020404" pitchFamily="49" charset="0"/>
              </a:rPr>
              <a:t>Laptop A</a:t>
            </a:r>
          </a:p>
          <a:p>
            <a:pPr rtl="0">
              <a:buNone/>
            </a:pPr>
            <a:endParaRPr lang="en-IN" dirty="0">
              <a:latin typeface="Courier New" panose="02070309020205020404" pitchFamily="49" charset="0"/>
            </a:endParaRPr>
          </a:p>
          <a:p>
            <a:pPr rtl="0">
              <a:buNone/>
            </a:pPr>
            <a:r>
              <a:rPr lang="en-IN" dirty="0">
                <a:latin typeface="Courier New" panose="02070309020205020404" pitchFamily="49" charset="0"/>
              </a:rPr>
              <a:t>Backoff = 2</a:t>
            </a:r>
          </a:p>
          <a:p>
            <a:pPr rtl="0">
              <a:buNone/>
            </a:pPr>
            <a:endParaRPr lang="en-IN" dirty="0">
              <a:latin typeface="Courier New" panose="02070309020205020404" pitchFamily="49" charset="0"/>
            </a:endParaRPr>
          </a:p>
          <a:p>
            <a:pPr rtl="0">
              <a:buNone/>
            </a:pPr>
            <a:r>
              <a:rPr lang="en-IN" dirty="0">
                <a:latin typeface="Courier New" panose="02070309020205020404" pitchFamily="49" charset="0"/>
              </a:rPr>
              <a:t>Laptop B</a:t>
            </a:r>
          </a:p>
          <a:p>
            <a:pPr rtl="0">
              <a:buNone/>
            </a:pPr>
            <a:endParaRPr lang="en-IN" dirty="0">
              <a:latin typeface="Courier New" panose="02070309020205020404" pitchFamily="49" charset="0"/>
            </a:endParaRPr>
          </a:p>
          <a:p>
            <a:pPr rtl="0">
              <a:buNone/>
            </a:pPr>
            <a:r>
              <a:rPr lang="en-IN" dirty="0">
                <a:latin typeface="Courier New" panose="02070309020205020404" pitchFamily="49" charset="0"/>
              </a:rPr>
              <a:t>Backoff = 6</a:t>
            </a:r>
          </a:p>
        </p:txBody>
      </p:sp>
      <p:sp>
        <p:nvSpPr>
          <p:cNvPr id="13" name="TextBox 12">
            <a:extLst>
              <a:ext uri="{FF2B5EF4-FFF2-40B4-BE49-F238E27FC236}">
                <a16:creationId xmlns:a16="http://schemas.microsoft.com/office/drawing/2014/main" id="{FFCE8951-752E-2188-00A5-E9C7FD8622BF}"/>
              </a:ext>
            </a:extLst>
          </p:cNvPr>
          <p:cNvSpPr txBox="1"/>
          <p:nvPr/>
        </p:nvSpPr>
        <p:spPr>
          <a:xfrm>
            <a:off x="2765258" y="4683358"/>
            <a:ext cx="6661484" cy="1754326"/>
          </a:xfrm>
          <a:prstGeom prst="rect">
            <a:avLst/>
          </a:prstGeom>
          <a:noFill/>
        </p:spPr>
        <p:txBody>
          <a:bodyPr wrap="square">
            <a:spAutoFit/>
          </a:bodyPr>
          <a:lstStyle/>
          <a:p>
            <a:pPr>
              <a:buNone/>
            </a:pPr>
            <a:r>
              <a:rPr lang="en-IN" dirty="0"/>
              <a:t>It is a small waiting period before transmission.</a:t>
            </a:r>
          </a:p>
          <a:p>
            <a:pPr>
              <a:buNone/>
            </a:pPr>
            <a:endParaRPr lang="en-IN" dirty="0"/>
          </a:p>
          <a:p>
            <a:pPr>
              <a:buNone/>
            </a:pPr>
            <a:r>
              <a:rPr lang="en-IN" b="1" dirty="0"/>
              <a:t>Purpose</a:t>
            </a:r>
          </a:p>
          <a:p>
            <a:pPr>
              <a:buNone/>
            </a:pPr>
            <a:r>
              <a:rPr lang="en-IN" dirty="0"/>
              <a:t>To give higher-priority frames</a:t>
            </a:r>
          </a:p>
          <a:p>
            <a:pPr>
              <a:buNone/>
            </a:pPr>
            <a:r>
              <a:rPr lang="en-IN" dirty="0"/>
              <a:t>a chance to transmit first.</a:t>
            </a:r>
          </a:p>
          <a:p>
            <a:pPr>
              <a:buNone/>
            </a:pPr>
            <a:r>
              <a:rPr lang="en-IN" dirty="0"/>
              <a:t>Think of it as a </a:t>
            </a:r>
            <a:r>
              <a:rPr lang="en-IN" b="1" dirty="0"/>
              <a:t>small pause</a:t>
            </a:r>
            <a:r>
              <a:rPr lang="en-IN" dirty="0"/>
              <a:t> before speaking.</a:t>
            </a:r>
          </a:p>
        </p:txBody>
      </p:sp>
    </p:spTree>
    <p:extLst>
      <p:ext uri="{BB962C8B-B14F-4D97-AF65-F5344CB8AC3E}">
        <p14:creationId xmlns:p14="http://schemas.microsoft.com/office/powerpoint/2010/main" val="2449019251"/>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7F4AD7-04D8-2EA7-4655-4BF3F3E751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D02885-8D33-6FE3-F210-1D17218DEC14}"/>
              </a:ext>
            </a:extLst>
          </p:cNvPr>
          <p:cNvSpPr>
            <a:spLocks noGrp="1"/>
          </p:cNvSpPr>
          <p:nvPr>
            <p:ph type="title"/>
          </p:nvPr>
        </p:nvSpPr>
        <p:spPr>
          <a:xfrm>
            <a:off x="208547" y="529388"/>
            <a:ext cx="11678653" cy="577517"/>
          </a:xfrm>
        </p:spPr>
        <p:txBody>
          <a:bodyPr>
            <a:normAutofit fontScale="90000"/>
          </a:bodyPr>
          <a:lstStyle/>
          <a:p>
            <a:r>
              <a:rPr lang="en-US" dirty="0"/>
              <a:t>CSMA/CA - Working</a:t>
            </a:r>
            <a:endParaRPr lang="en-IN" dirty="0"/>
          </a:p>
        </p:txBody>
      </p:sp>
      <p:sp>
        <p:nvSpPr>
          <p:cNvPr id="4" name="TextBox 3">
            <a:extLst>
              <a:ext uri="{FF2B5EF4-FFF2-40B4-BE49-F238E27FC236}">
                <a16:creationId xmlns:a16="http://schemas.microsoft.com/office/drawing/2014/main" id="{690A3A39-5791-261A-B291-89FD64A20403}"/>
              </a:ext>
            </a:extLst>
          </p:cNvPr>
          <p:cNvSpPr txBox="1"/>
          <p:nvPr/>
        </p:nvSpPr>
        <p:spPr>
          <a:xfrm>
            <a:off x="453190" y="1463893"/>
            <a:ext cx="5001126" cy="4247317"/>
          </a:xfrm>
          <a:prstGeom prst="rect">
            <a:avLst/>
          </a:prstGeom>
          <a:noFill/>
        </p:spPr>
        <p:txBody>
          <a:bodyPr wrap="square">
            <a:spAutoFit/>
          </a:bodyPr>
          <a:lstStyle/>
          <a:p>
            <a:pPr>
              <a:buNone/>
            </a:pPr>
            <a:r>
              <a:rPr lang="en-IN" b="1" dirty="0"/>
              <a:t>Step 5</a:t>
            </a:r>
          </a:p>
          <a:p>
            <a:pPr>
              <a:buNone/>
            </a:pPr>
            <a:r>
              <a:rPr lang="en-IN" dirty="0"/>
              <a:t>Countdown begins.</a:t>
            </a:r>
          </a:p>
          <a:p>
            <a:pPr rtl="0">
              <a:buNone/>
            </a:pPr>
            <a:r>
              <a:rPr lang="en-IN" dirty="0">
                <a:latin typeface="Courier New" panose="02070309020205020404" pitchFamily="49" charset="0"/>
              </a:rPr>
              <a:t>2</a:t>
            </a:r>
          </a:p>
          <a:p>
            <a:pPr rtl="0">
              <a:buNone/>
            </a:pPr>
            <a:endParaRPr lang="en-IN" dirty="0">
              <a:latin typeface="Courier New" panose="02070309020205020404" pitchFamily="49" charset="0"/>
            </a:endParaRPr>
          </a:p>
          <a:p>
            <a:pPr rtl="0">
              <a:buNone/>
            </a:pPr>
            <a:r>
              <a:rPr lang="en-IN" dirty="0">
                <a:latin typeface="Courier New" panose="02070309020205020404" pitchFamily="49" charset="0"/>
              </a:rPr>
              <a:t>1</a:t>
            </a:r>
          </a:p>
          <a:p>
            <a:pPr rtl="0">
              <a:buNone/>
            </a:pPr>
            <a:endParaRPr lang="en-IN" dirty="0">
              <a:latin typeface="Courier New" panose="02070309020205020404" pitchFamily="49" charset="0"/>
            </a:endParaRPr>
          </a:p>
          <a:p>
            <a:pPr rtl="0">
              <a:buNone/>
            </a:pPr>
            <a:r>
              <a:rPr lang="en-IN" dirty="0">
                <a:latin typeface="Courier New" panose="02070309020205020404" pitchFamily="49" charset="0"/>
              </a:rPr>
              <a:t>0</a:t>
            </a:r>
          </a:p>
          <a:p>
            <a:pPr rtl="0">
              <a:buNone/>
            </a:pPr>
            <a:endParaRPr lang="en-IN" dirty="0">
              <a:latin typeface="Courier New" panose="02070309020205020404" pitchFamily="49" charset="0"/>
            </a:endParaRPr>
          </a:p>
          <a:p>
            <a:pPr rtl="0">
              <a:buNone/>
            </a:pPr>
            <a:r>
              <a:rPr lang="en-IN" dirty="0">
                <a:latin typeface="Courier New" panose="02070309020205020404" pitchFamily="49" charset="0"/>
              </a:rPr>
              <a:t>↓</a:t>
            </a:r>
          </a:p>
          <a:p>
            <a:pPr rtl="0">
              <a:buNone/>
            </a:pPr>
            <a:endParaRPr lang="en-IN" dirty="0">
              <a:latin typeface="Courier New" panose="02070309020205020404" pitchFamily="49" charset="0"/>
            </a:endParaRPr>
          </a:p>
          <a:p>
            <a:pPr rtl="0">
              <a:buNone/>
            </a:pPr>
            <a:r>
              <a:rPr lang="en-IN" dirty="0">
                <a:latin typeface="Courier New" panose="02070309020205020404" pitchFamily="49" charset="0"/>
              </a:rPr>
              <a:t>Transmit</a:t>
            </a:r>
          </a:p>
          <a:p>
            <a:pPr>
              <a:buNone/>
            </a:pPr>
            <a:r>
              <a:rPr lang="en-IN" dirty="0"/>
              <a:t>Only the computer whose timer reaches zero first transmits.</a:t>
            </a:r>
          </a:p>
          <a:p>
            <a:pPr>
              <a:buNone/>
            </a:pPr>
            <a:r>
              <a:rPr lang="en-IN" dirty="0"/>
              <a:t>The others stop their countdown and wait.</a:t>
            </a:r>
          </a:p>
          <a:p>
            <a:pPr>
              <a:buNone/>
            </a:pPr>
            <a:r>
              <a:rPr lang="en-IN" dirty="0"/>
              <a:t>Collision is avoided.</a:t>
            </a:r>
          </a:p>
        </p:txBody>
      </p:sp>
    </p:spTree>
    <p:extLst>
      <p:ext uri="{BB962C8B-B14F-4D97-AF65-F5344CB8AC3E}">
        <p14:creationId xmlns:p14="http://schemas.microsoft.com/office/powerpoint/2010/main" val="1279778485"/>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508FE8-B4BF-15A6-1568-FB3B81A019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6E71AD-FB0A-6EDB-C1E2-23432C4B6678}"/>
              </a:ext>
            </a:extLst>
          </p:cNvPr>
          <p:cNvSpPr>
            <a:spLocks noGrp="1"/>
          </p:cNvSpPr>
          <p:nvPr>
            <p:ph type="title"/>
          </p:nvPr>
        </p:nvSpPr>
        <p:spPr>
          <a:xfrm>
            <a:off x="208547" y="529388"/>
            <a:ext cx="11678653" cy="577517"/>
          </a:xfrm>
        </p:spPr>
        <p:txBody>
          <a:bodyPr>
            <a:normAutofit fontScale="90000"/>
          </a:bodyPr>
          <a:lstStyle/>
          <a:p>
            <a:r>
              <a:rPr lang="en-US" dirty="0"/>
              <a:t>CSMA/CA</a:t>
            </a:r>
            <a:endParaRPr lang="en-IN" dirty="0"/>
          </a:p>
        </p:txBody>
      </p:sp>
      <p:pic>
        <p:nvPicPr>
          <p:cNvPr id="5" name="Picture 4">
            <a:extLst>
              <a:ext uri="{FF2B5EF4-FFF2-40B4-BE49-F238E27FC236}">
                <a16:creationId xmlns:a16="http://schemas.microsoft.com/office/drawing/2014/main" id="{0C2DAA67-197F-3022-69ED-3582859C4869}"/>
              </a:ext>
            </a:extLst>
          </p:cNvPr>
          <p:cNvPicPr>
            <a:picLocks noChangeAspect="1"/>
          </p:cNvPicPr>
          <p:nvPr/>
        </p:nvPicPr>
        <p:blipFill>
          <a:blip r:embed="rId2"/>
          <a:stretch>
            <a:fillRect/>
          </a:stretch>
        </p:blipFill>
        <p:spPr>
          <a:xfrm>
            <a:off x="342380" y="1258236"/>
            <a:ext cx="4229620" cy="5070376"/>
          </a:xfrm>
          <a:prstGeom prst="rect">
            <a:avLst/>
          </a:prstGeom>
        </p:spPr>
      </p:pic>
    </p:spTree>
    <p:extLst>
      <p:ext uri="{BB962C8B-B14F-4D97-AF65-F5344CB8AC3E}">
        <p14:creationId xmlns:p14="http://schemas.microsoft.com/office/powerpoint/2010/main" val="156021789"/>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988409-200A-9933-FE36-927AD4D4B7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108E04-F27A-E8C1-A781-7AF942660CD3}"/>
              </a:ext>
            </a:extLst>
          </p:cNvPr>
          <p:cNvSpPr>
            <a:spLocks noGrp="1"/>
          </p:cNvSpPr>
          <p:nvPr>
            <p:ph type="title"/>
          </p:nvPr>
        </p:nvSpPr>
        <p:spPr>
          <a:xfrm>
            <a:off x="208547" y="529388"/>
            <a:ext cx="11678653" cy="577517"/>
          </a:xfrm>
        </p:spPr>
        <p:txBody>
          <a:bodyPr>
            <a:normAutofit fontScale="90000"/>
          </a:bodyPr>
          <a:lstStyle/>
          <a:p>
            <a:r>
              <a:rPr lang="en-US" dirty="0"/>
              <a:t>CSMA/CA: </a:t>
            </a:r>
            <a:r>
              <a:rPr lang="en-IN" dirty="0"/>
              <a:t>RTS and CTS</a:t>
            </a:r>
          </a:p>
        </p:txBody>
      </p:sp>
      <p:sp>
        <p:nvSpPr>
          <p:cNvPr id="3" name="Content Placeholder 2">
            <a:extLst>
              <a:ext uri="{FF2B5EF4-FFF2-40B4-BE49-F238E27FC236}">
                <a16:creationId xmlns:a16="http://schemas.microsoft.com/office/drawing/2014/main" id="{C65E28D3-541D-AD80-EA0E-7810B66B71AD}"/>
              </a:ext>
            </a:extLst>
          </p:cNvPr>
          <p:cNvSpPr>
            <a:spLocks noGrp="1"/>
          </p:cNvSpPr>
          <p:nvPr>
            <p:ph idx="1"/>
          </p:nvPr>
        </p:nvSpPr>
        <p:spPr>
          <a:xfrm>
            <a:off x="208547" y="1106905"/>
            <a:ext cx="11678653" cy="5454316"/>
          </a:xfrm>
        </p:spPr>
        <p:txBody>
          <a:bodyPr>
            <a:normAutofit/>
          </a:bodyPr>
          <a:lstStyle/>
          <a:p>
            <a:r>
              <a:rPr lang="en-IN" dirty="0"/>
              <a:t>To reduce collisions even further,</a:t>
            </a:r>
          </a:p>
          <a:p>
            <a:r>
              <a:rPr lang="en-IN" dirty="0"/>
              <a:t>Wi-Fi can use</a:t>
            </a:r>
          </a:p>
          <a:p>
            <a:r>
              <a:rPr lang="en-IN" dirty="0"/>
              <a:t>two special control frames.</a:t>
            </a:r>
          </a:p>
          <a:p>
            <a:r>
              <a:rPr lang="en-IN" dirty="0"/>
              <a:t>RTS(REQUEST TO SEND): The sender asks “Can I send my data”?</a:t>
            </a:r>
          </a:p>
          <a:p>
            <a:r>
              <a:rPr lang="en-IN" dirty="0"/>
              <a:t>CTS(CLEAR TO SEND): The receiver replies, "Yes, the channel is reserved for you. Go ahead.“</a:t>
            </a:r>
          </a:p>
          <a:p>
            <a:r>
              <a:rPr lang="en-IN"/>
              <a:t>All </a:t>
            </a:r>
            <a:r>
              <a:rPr lang="en-IN" dirty="0"/>
              <a:t>other devices hearing the CTS remain silent, greatly reducing collisions.</a:t>
            </a:r>
          </a:p>
          <a:p>
            <a:endParaRPr lang="en-IN" dirty="0"/>
          </a:p>
          <a:p>
            <a:endParaRPr lang="en-IN" dirty="0"/>
          </a:p>
          <a:p>
            <a:endParaRPr lang="en-IN" dirty="0"/>
          </a:p>
          <a:p>
            <a:endParaRPr lang="en-IN" dirty="0"/>
          </a:p>
        </p:txBody>
      </p:sp>
    </p:spTree>
    <p:extLst>
      <p:ext uri="{BB962C8B-B14F-4D97-AF65-F5344CB8AC3E}">
        <p14:creationId xmlns:p14="http://schemas.microsoft.com/office/powerpoint/2010/main" val="2045365636"/>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962F91-73E0-261D-420C-F8610A9D9B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21F05D-2EAE-13B8-B738-C2CAE86C3F47}"/>
              </a:ext>
            </a:extLst>
          </p:cNvPr>
          <p:cNvSpPr>
            <a:spLocks noGrp="1"/>
          </p:cNvSpPr>
          <p:nvPr>
            <p:ph type="title"/>
          </p:nvPr>
        </p:nvSpPr>
        <p:spPr>
          <a:xfrm>
            <a:off x="208547" y="529388"/>
            <a:ext cx="11678653" cy="577517"/>
          </a:xfrm>
        </p:spPr>
        <p:txBody>
          <a:bodyPr>
            <a:normAutofit fontScale="90000"/>
          </a:bodyPr>
          <a:lstStyle/>
          <a:p>
            <a:r>
              <a:rPr lang="en-US" dirty="0"/>
              <a:t>CSMA/CD</a:t>
            </a:r>
            <a:endParaRPr lang="en-IN" dirty="0"/>
          </a:p>
        </p:txBody>
      </p:sp>
      <p:graphicFrame>
        <p:nvGraphicFramePr>
          <p:cNvPr id="4" name="Table 3">
            <a:extLst>
              <a:ext uri="{FF2B5EF4-FFF2-40B4-BE49-F238E27FC236}">
                <a16:creationId xmlns:a16="http://schemas.microsoft.com/office/drawing/2014/main" id="{950AE07E-4877-BBC2-CFCE-BD06FBFFBA7C}"/>
              </a:ext>
            </a:extLst>
          </p:cNvPr>
          <p:cNvGraphicFramePr>
            <a:graphicFrameLocks noGrp="1"/>
          </p:cNvGraphicFramePr>
          <p:nvPr>
            <p:extLst>
              <p:ext uri="{D42A27DB-BD31-4B8C-83A1-F6EECF244321}">
                <p14:modId xmlns:p14="http://schemas.microsoft.com/office/powerpoint/2010/main" val="2170710287"/>
              </p:ext>
            </p:extLst>
          </p:nvPr>
        </p:nvGraphicFramePr>
        <p:xfrm>
          <a:off x="379663" y="1441561"/>
          <a:ext cx="5058612" cy="4577080"/>
        </p:xfrm>
        <a:graphic>
          <a:graphicData uri="http://schemas.openxmlformats.org/drawingml/2006/table">
            <a:tbl>
              <a:tblPr firstRow="1" bandRow="1">
                <a:tableStyleId>{5C22544A-7EE6-4342-B048-85BDC9FD1C3A}</a:tableStyleId>
              </a:tblPr>
              <a:tblGrid>
                <a:gridCol w="2529306">
                  <a:extLst>
                    <a:ext uri="{9D8B030D-6E8A-4147-A177-3AD203B41FA5}">
                      <a16:colId xmlns:a16="http://schemas.microsoft.com/office/drawing/2014/main" val="737008520"/>
                    </a:ext>
                  </a:extLst>
                </a:gridCol>
                <a:gridCol w="2529306">
                  <a:extLst>
                    <a:ext uri="{9D8B030D-6E8A-4147-A177-3AD203B41FA5}">
                      <a16:colId xmlns:a16="http://schemas.microsoft.com/office/drawing/2014/main" val="2970600848"/>
                    </a:ext>
                  </a:extLst>
                </a:gridCol>
              </a:tblGrid>
              <a:tr h="370840">
                <a:tc>
                  <a:txBody>
                    <a:bodyPr/>
                    <a:lstStyle/>
                    <a:p>
                      <a:pPr>
                        <a:buNone/>
                      </a:pPr>
                      <a:r>
                        <a:rPr lang="en-IN" dirty="0"/>
                        <a:t>Advantage</a:t>
                      </a:r>
                    </a:p>
                  </a:txBody>
                  <a:tcPr anchor="ctr"/>
                </a:tc>
                <a:tc>
                  <a:txBody>
                    <a:bodyPr/>
                    <a:lstStyle/>
                    <a:p>
                      <a:pPr>
                        <a:buNone/>
                      </a:pPr>
                      <a:r>
                        <a:rPr lang="en-IN"/>
                        <a:t>Explanation</a:t>
                      </a:r>
                    </a:p>
                  </a:txBody>
                  <a:tcPr anchor="ctr"/>
                </a:tc>
                <a:extLst>
                  <a:ext uri="{0D108BD9-81ED-4DB2-BD59-A6C34878D82A}">
                    <a16:rowId xmlns:a16="http://schemas.microsoft.com/office/drawing/2014/main" val="2929469423"/>
                  </a:ext>
                </a:extLst>
              </a:tr>
              <a:tr h="370840">
                <a:tc>
                  <a:txBody>
                    <a:bodyPr/>
                    <a:lstStyle/>
                    <a:p>
                      <a:pPr>
                        <a:buNone/>
                      </a:pPr>
                      <a:r>
                        <a:rPr lang="en-IN"/>
                        <a:t>Reduces collisions</a:t>
                      </a:r>
                    </a:p>
                  </a:txBody>
                  <a:tcPr anchor="ctr"/>
                </a:tc>
                <a:tc>
                  <a:txBody>
                    <a:bodyPr/>
                    <a:lstStyle/>
                    <a:p>
                      <a:pPr>
                        <a:buNone/>
                      </a:pPr>
                      <a:r>
                        <a:rPr lang="en-IN"/>
                        <a:t>Uses IFS, random backoff, and optionally RTS/CTS to avoid simultaneous transmissions.</a:t>
                      </a:r>
                    </a:p>
                  </a:txBody>
                  <a:tcPr anchor="ctr"/>
                </a:tc>
                <a:extLst>
                  <a:ext uri="{0D108BD9-81ED-4DB2-BD59-A6C34878D82A}">
                    <a16:rowId xmlns:a16="http://schemas.microsoft.com/office/drawing/2014/main" val="1055705559"/>
                  </a:ext>
                </a:extLst>
              </a:tr>
              <a:tr h="370840">
                <a:tc>
                  <a:txBody>
                    <a:bodyPr/>
                    <a:lstStyle/>
                    <a:p>
                      <a:pPr>
                        <a:buNone/>
                      </a:pPr>
                      <a:r>
                        <a:rPr lang="en-IN"/>
                        <a:t>Suitable for wireless networks</a:t>
                      </a:r>
                    </a:p>
                  </a:txBody>
                  <a:tcPr anchor="ctr"/>
                </a:tc>
                <a:tc>
                  <a:txBody>
                    <a:bodyPr/>
                    <a:lstStyle/>
                    <a:p>
                      <a:pPr>
                        <a:buNone/>
                      </a:pPr>
                      <a:r>
                        <a:rPr lang="en-IN"/>
                        <a:t>Works well where collision detection is not practical.</a:t>
                      </a:r>
                    </a:p>
                  </a:txBody>
                  <a:tcPr anchor="ctr"/>
                </a:tc>
                <a:extLst>
                  <a:ext uri="{0D108BD9-81ED-4DB2-BD59-A6C34878D82A}">
                    <a16:rowId xmlns:a16="http://schemas.microsoft.com/office/drawing/2014/main" val="231826926"/>
                  </a:ext>
                </a:extLst>
              </a:tr>
              <a:tr h="370840">
                <a:tc>
                  <a:txBody>
                    <a:bodyPr/>
                    <a:lstStyle/>
                    <a:p>
                      <a:pPr>
                        <a:buNone/>
                      </a:pPr>
                      <a:r>
                        <a:rPr lang="en-IN"/>
                        <a:t>Better bandwidth utilization</a:t>
                      </a:r>
                    </a:p>
                  </a:txBody>
                  <a:tcPr anchor="ctr"/>
                </a:tc>
                <a:tc>
                  <a:txBody>
                    <a:bodyPr/>
                    <a:lstStyle/>
                    <a:p>
                      <a:pPr>
                        <a:buNone/>
                      </a:pPr>
                      <a:r>
                        <a:rPr lang="en-IN"/>
                        <a:t>Fewer retransmissions mean more efficient use of the wireless channel.</a:t>
                      </a:r>
                    </a:p>
                  </a:txBody>
                  <a:tcPr anchor="ctr"/>
                </a:tc>
                <a:extLst>
                  <a:ext uri="{0D108BD9-81ED-4DB2-BD59-A6C34878D82A}">
                    <a16:rowId xmlns:a16="http://schemas.microsoft.com/office/drawing/2014/main" val="1765668470"/>
                  </a:ext>
                </a:extLst>
              </a:tr>
              <a:tr h="370840">
                <a:tc>
                  <a:txBody>
                    <a:bodyPr/>
                    <a:lstStyle/>
                    <a:p>
                      <a:pPr>
                        <a:buNone/>
                      </a:pPr>
                      <a:r>
                        <a:rPr lang="en-IN"/>
                        <a:t>Reliable communication</a:t>
                      </a:r>
                    </a:p>
                  </a:txBody>
                  <a:tcPr anchor="ctr"/>
                </a:tc>
                <a:tc>
                  <a:txBody>
                    <a:bodyPr/>
                    <a:lstStyle/>
                    <a:p>
                      <a:pPr>
                        <a:buNone/>
                      </a:pPr>
                      <a:r>
                        <a:rPr lang="en-IN" dirty="0"/>
                        <a:t>Improves successful frame delivery in Wi-Fi networks.</a:t>
                      </a:r>
                    </a:p>
                  </a:txBody>
                  <a:tcPr anchor="ctr"/>
                </a:tc>
                <a:extLst>
                  <a:ext uri="{0D108BD9-81ED-4DB2-BD59-A6C34878D82A}">
                    <a16:rowId xmlns:a16="http://schemas.microsoft.com/office/drawing/2014/main" val="2206624512"/>
                  </a:ext>
                </a:extLst>
              </a:tr>
            </a:tbl>
          </a:graphicData>
        </a:graphic>
      </p:graphicFrame>
      <p:graphicFrame>
        <p:nvGraphicFramePr>
          <p:cNvPr id="7" name="Table 6">
            <a:extLst>
              <a:ext uri="{FF2B5EF4-FFF2-40B4-BE49-F238E27FC236}">
                <a16:creationId xmlns:a16="http://schemas.microsoft.com/office/drawing/2014/main" id="{8AD7490F-50A7-06AE-858B-5A0E34DB3FD9}"/>
              </a:ext>
            </a:extLst>
          </p:cNvPr>
          <p:cNvGraphicFramePr>
            <a:graphicFrameLocks noGrp="1"/>
          </p:cNvGraphicFramePr>
          <p:nvPr>
            <p:extLst>
              <p:ext uri="{D42A27DB-BD31-4B8C-83A1-F6EECF244321}">
                <p14:modId xmlns:p14="http://schemas.microsoft.com/office/powerpoint/2010/main" val="1071625588"/>
              </p:ext>
            </p:extLst>
          </p:nvPr>
        </p:nvGraphicFramePr>
        <p:xfrm>
          <a:off x="6531811" y="1441561"/>
          <a:ext cx="5058612" cy="3114040"/>
        </p:xfrm>
        <a:graphic>
          <a:graphicData uri="http://schemas.openxmlformats.org/drawingml/2006/table">
            <a:tbl>
              <a:tblPr firstRow="1" bandRow="1">
                <a:tableStyleId>{5C22544A-7EE6-4342-B048-85BDC9FD1C3A}</a:tableStyleId>
              </a:tblPr>
              <a:tblGrid>
                <a:gridCol w="2529306">
                  <a:extLst>
                    <a:ext uri="{9D8B030D-6E8A-4147-A177-3AD203B41FA5}">
                      <a16:colId xmlns:a16="http://schemas.microsoft.com/office/drawing/2014/main" val="737008520"/>
                    </a:ext>
                  </a:extLst>
                </a:gridCol>
                <a:gridCol w="2529306">
                  <a:extLst>
                    <a:ext uri="{9D8B030D-6E8A-4147-A177-3AD203B41FA5}">
                      <a16:colId xmlns:a16="http://schemas.microsoft.com/office/drawing/2014/main" val="2970600848"/>
                    </a:ext>
                  </a:extLst>
                </a:gridCol>
              </a:tblGrid>
              <a:tr h="370840">
                <a:tc>
                  <a:txBody>
                    <a:bodyPr/>
                    <a:lstStyle/>
                    <a:p>
                      <a:pPr>
                        <a:buNone/>
                      </a:pPr>
                      <a:r>
                        <a:rPr lang="en-IN" dirty="0"/>
                        <a:t>Disadvantage</a:t>
                      </a:r>
                    </a:p>
                  </a:txBody>
                  <a:tcPr anchor="ctr"/>
                </a:tc>
                <a:tc>
                  <a:txBody>
                    <a:bodyPr/>
                    <a:lstStyle/>
                    <a:p>
                      <a:pPr>
                        <a:buNone/>
                      </a:pPr>
                      <a:r>
                        <a:rPr lang="en-IN"/>
                        <a:t>Explanation</a:t>
                      </a:r>
                    </a:p>
                  </a:txBody>
                  <a:tcPr anchor="ctr"/>
                </a:tc>
                <a:extLst>
                  <a:ext uri="{0D108BD9-81ED-4DB2-BD59-A6C34878D82A}">
                    <a16:rowId xmlns:a16="http://schemas.microsoft.com/office/drawing/2014/main" val="2929469423"/>
                  </a:ext>
                </a:extLst>
              </a:tr>
              <a:tr h="370840">
                <a:tc>
                  <a:txBody>
                    <a:bodyPr/>
                    <a:lstStyle/>
                    <a:p>
                      <a:pPr>
                        <a:buNone/>
                      </a:pPr>
                      <a:r>
                        <a:rPr lang="en-IN"/>
                        <a:t>More delay</a:t>
                      </a:r>
                    </a:p>
                  </a:txBody>
                  <a:tcPr anchor="ctr"/>
                </a:tc>
                <a:tc>
                  <a:txBody>
                    <a:bodyPr/>
                    <a:lstStyle/>
                    <a:p>
                      <a:pPr>
                        <a:buNone/>
                      </a:pPr>
                      <a:r>
                        <a:rPr lang="en-IN"/>
                        <a:t>Waiting for IFS and backoff increases transmission time.</a:t>
                      </a:r>
                    </a:p>
                  </a:txBody>
                  <a:tcPr anchor="ctr"/>
                </a:tc>
                <a:extLst>
                  <a:ext uri="{0D108BD9-81ED-4DB2-BD59-A6C34878D82A}">
                    <a16:rowId xmlns:a16="http://schemas.microsoft.com/office/drawing/2014/main" val="1055705559"/>
                  </a:ext>
                </a:extLst>
              </a:tr>
              <a:tr h="370840">
                <a:tc>
                  <a:txBody>
                    <a:bodyPr/>
                    <a:lstStyle/>
                    <a:p>
                      <a:pPr>
                        <a:buNone/>
                      </a:pPr>
                      <a:r>
                        <a:rPr lang="en-IN"/>
                        <a:t>More overhead</a:t>
                      </a:r>
                    </a:p>
                  </a:txBody>
                  <a:tcPr anchor="ctr"/>
                </a:tc>
                <a:tc>
                  <a:txBody>
                    <a:bodyPr/>
                    <a:lstStyle/>
                    <a:p>
                      <a:pPr>
                        <a:buNone/>
                      </a:pPr>
                      <a:r>
                        <a:rPr lang="en-IN"/>
                        <a:t>RTS, CTS, and ACK frames consume additional bandwidth.</a:t>
                      </a:r>
                    </a:p>
                  </a:txBody>
                  <a:tcPr anchor="ctr"/>
                </a:tc>
                <a:extLst>
                  <a:ext uri="{0D108BD9-81ED-4DB2-BD59-A6C34878D82A}">
                    <a16:rowId xmlns:a16="http://schemas.microsoft.com/office/drawing/2014/main" val="231826926"/>
                  </a:ext>
                </a:extLst>
              </a:tr>
              <a:tr h="370840">
                <a:tc>
                  <a:txBody>
                    <a:bodyPr/>
                    <a:lstStyle/>
                    <a:p>
                      <a:pPr>
                        <a:buNone/>
                      </a:pPr>
                      <a:r>
                        <a:rPr lang="en-IN"/>
                        <a:t>More complex</a:t>
                      </a:r>
                    </a:p>
                  </a:txBody>
                  <a:tcPr anchor="ctr"/>
                </a:tc>
                <a:tc>
                  <a:txBody>
                    <a:bodyPr/>
                    <a:lstStyle/>
                    <a:p>
                      <a:pPr>
                        <a:buNone/>
                      </a:pPr>
                      <a:r>
                        <a:rPr lang="en-IN" dirty="0"/>
                        <a:t>Requires extra coordination compared to CSMA/CD.</a:t>
                      </a:r>
                    </a:p>
                  </a:txBody>
                  <a:tcPr anchor="ctr"/>
                </a:tc>
                <a:extLst>
                  <a:ext uri="{0D108BD9-81ED-4DB2-BD59-A6C34878D82A}">
                    <a16:rowId xmlns:a16="http://schemas.microsoft.com/office/drawing/2014/main" val="1765668470"/>
                  </a:ext>
                </a:extLst>
              </a:tr>
            </a:tbl>
          </a:graphicData>
        </a:graphic>
      </p:graphicFrame>
    </p:spTree>
    <p:extLst>
      <p:ext uri="{BB962C8B-B14F-4D97-AF65-F5344CB8AC3E}">
        <p14:creationId xmlns:p14="http://schemas.microsoft.com/office/powerpoint/2010/main" val="3107002672"/>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F2F9A8-FE75-11CC-3528-95D282B1CC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4FA168-9F38-C929-C00E-3E7D276B7B3D}"/>
              </a:ext>
            </a:extLst>
          </p:cNvPr>
          <p:cNvSpPr>
            <a:spLocks noGrp="1"/>
          </p:cNvSpPr>
          <p:nvPr>
            <p:ph type="title"/>
          </p:nvPr>
        </p:nvSpPr>
        <p:spPr>
          <a:xfrm>
            <a:off x="208547" y="529388"/>
            <a:ext cx="11678653" cy="577517"/>
          </a:xfrm>
        </p:spPr>
        <p:txBody>
          <a:bodyPr>
            <a:normAutofit fontScale="90000"/>
          </a:bodyPr>
          <a:lstStyle/>
          <a:p>
            <a:r>
              <a:rPr lang="en-US" dirty="0"/>
              <a:t>CSMA/CD  VS CSMA/CA</a:t>
            </a:r>
            <a:endParaRPr lang="en-IN" dirty="0"/>
          </a:p>
        </p:txBody>
      </p:sp>
      <p:graphicFrame>
        <p:nvGraphicFramePr>
          <p:cNvPr id="4" name="Table 3">
            <a:extLst>
              <a:ext uri="{FF2B5EF4-FFF2-40B4-BE49-F238E27FC236}">
                <a16:creationId xmlns:a16="http://schemas.microsoft.com/office/drawing/2014/main" id="{3798F9CC-2848-B5A1-1CDD-0B37E6786317}"/>
              </a:ext>
            </a:extLst>
          </p:cNvPr>
          <p:cNvGraphicFramePr>
            <a:graphicFrameLocks noGrp="1"/>
          </p:cNvGraphicFramePr>
          <p:nvPr>
            <p:extLst>
              <p:ext uri="{D42A27DB-BD31-4B8C-83A1-F6EECF244321}">
                <p14:modId xmlns:p14="http://schemas.microsoft.com/office/powerpoint/2010/main" val="2958195569"/>
              </p:ext>
            </p:extLst>
          </p:nvPr>
        </p:nvGraphicFramePr>
        <p:xfrm>
          <a:off x="1037390" y="1106905"/>
          <a:ext cx="8748294" cy="5059680"/>
        </p:xfrm>
        <a:graphic>
          <a:graphicData uri="http://schemas.openxmlformats.org/drawingml/2006/table">
            <a:tbl>
              <a:tblPr firstRow="1" bandRow="1">
                <a:tableStyleId>{5C22544A-7EE6-4342-B048-85BDC9FD1C3A}</a:tableStyleId>
              </a:tblPr>
              <a:tblGrid>
                <a:gridCol w="2916098">
                  <a:extLst>
                    <a:ext uri="{9D8B030D-6E8A-4147-A177-3AD203B41FA5}">
                      <a16:colId xmlns:a16="http://schemas.microsoft.com/office/drawing/2014/main" val="181925419"/>
                    </a:ext>
                  </a:extLst>
                </a:gridCol>
                <a:gridCol w="2916098">
                  <a:extLst>
                    <a:ext uri="{9D8B030D-6E8A-4147-A177-3AD203B41FA5}">
                      <a16:colId xmlns:a16="http://schemas.microsoft.com/office/drawing/2014/main" val="2664767843"/>
                    </a:ext>
                  </a:extLst>
                </a:gridCol>
                <a:gridCol w="2916098">
                  <a:extLst>
                    <a:ext uri="{9D8B030D-6E8A-4147-A177-3AD203B41FA5}">
                      <a16:colId xmlns:a16="http://schemas.microsoft.com/office/drawing/2014/main" val="1040144661"/>
                    </a:ext>
                  </a:extLst>
                </a:gridCol>
              </a:tblGrid>
              <a:tr h="370840">
                <a:tc>
                  <a:txBody>
                    <a:bodyPr/>
                    <a:lstStyle/>
                    <a:p>
                      <a:pPr>
                        <a:buNone/>
                      </a:pPr>
                      <a:r>
                        <a:rPr lang="en-IN" dirty="0"/>
                        <a:t>Feature</a:t>
                      </a:r>
                    </a:p>
                  </a:txBody>
                  <a:tcPr anchor="ctr"/>
                </a:tc>
                <a:tc>
                  <a:txBody>
                    <a:bodyPr/>
                    <a:lstStyle/>
                    <a:p>
                      <a:pPr>
                        <a:buNone/>
                      </a:pPr>
                      <a:r>
                        <a:rPr lang="en-IN"/>
                        <a:t>CSMA/CD</a:t>
                      </a:r>
                    </a:p>
                  </a:txBody>
                  <a:tcPr anchor="ctr"/>
                </a:tc>
                <a:tc>
                  <a:txBody>
                    <a:bodyPr/>
                    <a:lstStyle/>
                    <a:p>
                      <a:pPr>
                        <a:buNone/>
                      </a:pPr>
                      <a:r>
                        <a:rPr lang="en-IN"/>
                        <a:t>CSMA/CA</a:t>
                      </a:r>
                    </a:p>
                  </a:txBody>
                  <a:tcPr anchor="ctr"/>
                </a:tc>
                <a:extLst>
                  <a:ext uri="{0D108BD9-81ED-4DB2-BD59-A6C34878D82A}">
                    <a16:rowId xmlns:a16="http://schemas.microsoft.com/office/drawing/2014/main" val="1413037864"/>
                  </a:ext>
                </a:extLst>
              </a:tr>
              <a:tr h="370840">
                <a:tc>
                  <a:txBody>
                    <a:bodyPr/>
                    <a:lstStyle/>
                    <a:p>
                      <a:pPr>
                        <a:buNone/>
                      </a:pPr>
                      <a:r>
                        <a:rPr lang="en-IN"/>
                        <a:t>Full Form</a:t>
                      </a:r>
                    </a:p>
                  </a:txBody>
                  <a:tcPr anchor="ctr"/>
                </a:tc>
                <a:tc>
                  <a:txBody>
                    <a:bodyPr/>
                    <a:lstStyle/>
                    <a:p>
                      <a:pPr>
                        <a:buNone/>
                      </a:pPr>
                      <a:r>
                        <a:rPr lang="en-IN"/>
                        <a:t>Carrier Sense Multiple Access with Collision Detection</a:t>
                      </a:r>
                    </a:p>
                  </a:txBody>
                  <a:tcPr anchor="ctr"/>
                </a:tc>
                <a:tc>
                  <a:txBody>
                    <a:bodyPr/>
                    <a:lstStyle/>
                    <a:p>
                      <a:pPr>
                        <a:buNone/>
                      </a:pPr>
                      <a:r>
                        <a:rPr lang="en-IN"/>
                        <a:t>Carrier Sense Multiple Access with Collision Avoidance</a:t>
                      </a:r>
                    </a:p>
                  </a:txBody>
                  <a:tcPr anchor="ctr"/>
                </a:tc>
                <a:extLst>
                  <a:ext uri="{0D108BD9-81ED-4DB2-BD59-A6C34878D82A}">
                    <a16:rowId xmlns:a16="http://schemas.microsoft.com/office/drawing/2014/main" val="2971800746"/>
                  </a:ext>
                </a:extLst>
              </a:tr>
              <a:tr h="370840">
                <a:tc>
                  <a:txBody>
                    <a:bodyPr/>
                    <a:lstStyle/>
                    <a:p>
                      <a:pPr>
                        <a:buNone/>
                      </a:pPr>
                      <a:r>
                        <a:rPr lang="en-IN"/>
                        <a:t>Used In</a:t>
                      </a:r>
                    </a:p>
                  </a:txBody>
                  <a:tcPr anchor="ctr"/>
                </a:tc>
                <a:tc>
                  <a:txBody>
                    <a:bodyPr/>
                    <a:lstStyle/>
                    <a:p>
                      <a:pPr>
                        <a:buNone/>
                      </a:pPr>
                      <a:r>
                        <a:rPr lang="en-IN"/>
                        <a:t>Wired Ethernet (Hub/Bus)</a:t>
                      </a:r>
                    </a:p>
                  </a:txBody>
                  <a:tcPr anchor="ctr"/>
                </a:tc>
                <a:tc>
                  <a:txBody>
                    <a:bodyPr/>
                    <a:lstStyle/>
                    <a:p>
                      <a:pPr>
                        <a:buNone/>
                      </a:pPr>
                      <a:r>
                        <a:rPr lang="en-IN"/>
                        <a:t>Wireless Networks (Wi-Fi)</a:t>
                      </a:r>
                    </a:p>
                  </a:txBody>
                  <a:tcPr anchor="ctr"/>
                </a:tc>
                <a:extLst>
                  <a:ext uri="{0D108BD9-81ED-4DB2-BD59-A6C34878D82A}">
                    <a16:rowId xmlns:a16="http://schemas.microsoft.com/office/drawing/2014/main" val="1109433613"/>
                  </a:ext>
                </a:extLst>
              </a:tr>
              <a:tr h="370840">
                <a:tc>
                  <a:txBody>
                    <a:bodyPr/>
                    <a:lstStyle/>
                    <a:p>
                      <a:pPr>
                        <a:buNone/>
                      </a:pPr>
                      <a:r>
                        <a:rPr lang="en-IN"/>
                        <a:t>Collision Handling</a:t>
                      </a:r>
                    </a:p>
                  </a:txBody>
                  <a:tcPr anchor="ctr"/>
                </a:tc>
                <a:tc>
                  <a:txBody>
                    <a:bodyPr/>
                    <a:lstStyle/>
                    <a:p>
                      <a:pPr>
                        <a:buNone/>
                      </a:pPr>
                      <a:r>
                        <a:rPr lang="en-IN"/>
                        <a:t>Detects collision after it occurs</a:t>
                      </a:r>
                    </a:p>
                  </a:txBody>
                  <a:tcPr anchor="ctr"/>
                </a:tc>
                <a:tc>
                  <a:txBody>
                    <a:bodyPr/>
                    <a:lstStyle/>
                    <a:p>
                      <a:pPr>
                        <a:buNone/>
                      </a:pPr>
                      <a:r>
                        <a:rPr lang="en-IN"/>
                        <a:t>Tries to avoid collision before it occurs</a:t>
                      </a:r>
                    </a:p>
                  </a:txBody>
                  <a:tcPr anchor="ctr"/>
                </a:tc>
                <a:extLst>
                  <a:ext uri="{0D108BD9-81ED-4DB2-BD59-A6C34878D82A}">
                    <a16:rowId xmlns:a16="http://schemas.microsoft.com/office/drawing/2014/main" val="2975572757"/>
                  </a:ext>
                </a:extLst>
              </a:tr>
              <a:tr h="370840">
                <a:tc>
                  <a:txBody>
                    <a:bodyPr/>
                    <a:lstStyle/>
                    <a:p>
                      <a:pPr>
                        <a:buNone/>
                      </a:pPr>
                      <a:r>
                        <a:rPr lang="en-IN"/>
                        <a:t>Collision Detection</a:t>
                      </a:r>
                    </a:p>
                  </a:txBody>
                  <a:tcPr anchor="ctr"/>
                </a:tc>
                <a:tc>
                  <a:txBody>
                    <a:bodyPr/>
                    <a:lstStyle/>
                    <a:p>
                      <a:pPr>
                        <a:buNone/>
                      </a:pPr>
                      <a:r>
                        <a:rPr lang="en-IN" dirty="0"/>
                        <a:t>Yes</a:t>
                      </a:r>
                    </a:p>
                  </a:txBody>
                  <a:tcPr anchor="ctr"/>
                </a:tc>
                <a:tc>
                  <a:txBody>
                    <a:bodyPr/>
                    <a:lstStyle/>
                    <a:p>
                      <a:pPr>
                        <a:buNone/>
                      </a:pPr>
                      <a:r>
                        <a:rPr lang="en-IN" dirty="0"/>
                        <a:t>No</a:t>
                      </a:r>
                    </a:p>
                  </a:txBody>
                  <a:tcPr anchor="ctr"/>
                </a:tc>
                <a:extLst>
                  <a:ext uri="{0D108BD9-81ED-4DB2-BD59-A6C34878D82A}">
                    <a16:rowId xmlns:a16="http://schemas.microsoft.com/office/drawing/2014/main" val="8994167"/>
                  </a:ext>
                </a:extLst>
              </a:tr>
              <a:tr h="370840">
                <a:tc>
                  <a:txBody>
                    <a:bodyPr/>
                    <a:lstStyle/>
                    <a:p>
                      <a:pPr>
                        <a:buNone/>
                      </a:pPr>
                      <a:r>
                        <a:rPr lang="en-IN"/>
                        <a:t>IFS</a:t>
                      </a:r>
                    </a:p>
                  </a:txBody>
                  <a:tcPr anchor="ctr"/>
                </a:tc>
                <a:tc>
                  <a:txBody>
                    <a:bodyPr/>
                    <a:lstStyle/>
                    <a:p>
                      <a:pPr>
                        <a:buNone/>
                      </a:pPr>
                      <a:r>
                        <a:rPr lang="en-IN" dirty="0"/>
                        <a:t> No</a:t>
                      </a:r>
                    </a:p>
                  </a:txBody>
                  <a:tcPr anchor="ctr"/>
                </a:tc>
                <a:tc>
                  <a:txBody>
                    <a:bodyPr/>
                    <a:lstStyle/>
                    <a:p>
                      <a:pPr>
                        <a:buNone/>
                      </a:pPr>
                      <a:r>
                        <a:rPr lang="en-IN" dirty="0"/>
                        <a:t> Yes</a:t>
                      </a:r>
                    </a:p>
                  </a:txBody>
                  <a:tcPr anchor="ctr"/>
                </a:tc>
                <a:extLst>
                  <a:ext uri="{0D108BD9-81ED-4DB2-BD59-A6C34878D82A}">
                    <a16:rowId xmlns:a16="http://schemas.microsoft.com/office/drawing/2014/main" val="815878703"/>
                  </a:ext>
                </a:extLst>
              </a:tr>
              <a:tr h="370840">
                <a:tc>
                  <a:txBody>
                    <a:bodyPr/>
                    <a:lstStyle/>
                    <a:p>
                      <a:pPr>
                        <a:buNone/>
                      </a:pPr>
                      <a:r>
                        <a:rPr lang="en-IN"/>
                        <a:t>Random Backoff</a:t>
                      </a:r>
                    </a:p>
                  </a:txBody>
                  <a:tcPr anchor="ctr"/>
                </a:tc>
                <a:tc>
                  <a:txBody>
                    <a:bodyPr/>
                    <a:lstStyle/>
                    <a:p>
                      <a:pPr>
                        <a:buNone/>
                      </a:pPr>
                      <a:r>
                        <a:rPr lang="en-IN" dirty="0"/>
                        <a:t>Yes (after collision)</a:t>
                      </a:r>
                    </a:p>
                  </a:txBody>
                  <a:tcPr anchor="ctr"/>
                </a:tc>
                <a:tc>
                  <a:txBody>
                    <a:bodyPr/>
                    <a:lstStyle/>
                    <a:p>
                      <a:pPr>
                        <a:buNone/>
                      </a:pPr>
                      <a:r>
                        <a:rPr lang="en-IN" dirty="0"/>
                        <a:t>Yes (before transmission)</a:t>
                      </a:r>
                    </a:p>
                  </a:txBody>
                  <a:tcPr anchor="ctr"/>
                </a:tc>
                <a:extLst>
                  <a:ext uri="{0D108BD9-81ED-4DB2-BD59-A6C34878D82A}">
                    <a16:rowId xmlns:a16="http://schemas.microsoft.com/office/drawing/2014/main" val="4077821360"/>
                  </a:ext>
                </a:extLst>
              </a:tr>
              <a:tr h="370840">
                <a:tc>
                  <a:txBody>
                    <a:bodyPr/>
                    <a:lstStyle/>
                    <a:p>
                      <a:pPr>
                        <a:buNone/>
                      </a:pPr>
                      <a:r>
                        <a:rPr lang="en-IN"/>
                        <a:t>RTS/CTS</a:t>
                      </a:r>
                    </a:p>
                  </a:txBody>
                  <a:tcPr anchor="ctr"/>
                </a:tc>
                <a:tc>
                  <a:txBody>
                    <a:bodyPr/>
                    <a:lstStyle/>
                    <a:p>
                      <a:pPr>
                        <a:buNone/>
                      </a:pPr>
                      <a:r>
                        <a:rPr lang="en-IN" dirty="0"/>
                        <a:t>No</a:t>
                      </a:r>
                    </a:p>
                  </a:txBody>
                  <a:tcPr anchor="ctr"/>
                </a:tc>
                <a:tc>
                  <a:txBody>
                    <a:bodyPr/>
                    <a:lstStyle/>
                    <a:p>
                      <a:pPr>
                        <a:buNone/>
                      </a:pPr>
                      <a:r>
                        <a:rPr lang="en-IN" dirty="0"/>
                        <a:t>Yes</a:t>
                      </a:r>
                    </a:p>
                  </a:txBody>
                  <a:tcPr anchor="ctr"/>
                </a:tc>
                <a:extLst>
                  <a:ext uri="{0D108BD9-81ED-4DB2-BD59-A6C34878D82A}">
                    <a16:rowId xmlns:a16="http://schemas.microsoft.com/office/drawing/2014/main" val="976257123"/>
                  </a:ext>
                </a:extLst>
              </a:tr>
              <a:tr h="370840">
                <a:tc>
                  <a:txBody>
                    <a:bodyPr/>
                    <a:lstStyle/>
                    <a:p>
                      <a:pPr>
                        <a:buNone/>
                      </a:pPr>
                      <a:r>
                        <a:rPr lang="en-IN"/>
                        <a:t>ACK</a:t>
                      </a:r>
                    </a:p>
                  </a:txBody>
                  <a:tcPr anchor="ctr"/>
                </a:tc>
                <a:tc>
                  <a:txBody>
                    <a:bodyPr/>
                    <a:lstStyle/>
                    <a:p>
                      <a:pPr>
                        <a:buNone/>
                      </a:pPr>
                      <a:r>
                        <a:rPr lang="en-IN"/>
                        <a:t>Not mandatory for Ethernet</a:t>
                      </a:r>
                    </a:p>
                  </a:txBody>
                  <a:tcPr anchor="ctr"/>
                </a:tc>
                <a:tc>
                  <a:txBody>
                    <a:bodyPr/>
                    <a:lstStyle/>
                    <a:p>
                      <a:pPr>
                        <a:buNone/>
                      </a:pPr>
                      <a:r>
                        <a:rPr lang="en-IN" dirty="0"/>
                        <a:t>Used to confirm successful reception</a:t>
                      </a:r>
                    </a:p>
                  </a:txBody>
                  <a:tcPr anchor="ctr"/>
                </a:tc>
                <a:extLst>
                  <a:ext uri="{0D108BD9-81ED-4DB2-BD59-A6C34878D82A}">
                    <a16:rowId xmlns:a16="http://schemas.microsoft.com/office/drawing/2014/main" val="90669123"/>
                  </a:ext>
                </a:extLst>
              </a:tr>
              <a:tr h="370840">
                <a:tc>
                  <a:txBody>
                    <a:bodyPr/>
                    <a:lstStyle/>
                    <a:p>
                      <a:pPr>
                        <a:buNone/>
                      </a:pPr>
                      <a:r>
                        <a:rPr lang="en-IN"/>
                        <a:t>Efficiency</a:t>
                      </a:r>
                    </a:p>
                  </a:txBody>
                  <a:tcPr anchor="ctr"/>
                </a:tc>
                <a:tc>
                  <a:txBody>
                    <a:bodyPr/>
                    <a:lstStyle/>
                    <a:p>
                      <a:pPr>
                        <a:buNone/>
                      </a:pPr>
                      <a:r>
                        <a:rPr lang="en-IN"/>
                        <a:t>High in shared wired networks</a:t>
                      </a:r>
                    </a:p>
                  </a:txBody>
                  <a:tcPr anchor="ctr"/>
                </a:tc>
                <a:tc>
                  <a:txBody>
                    <a:bodyPr/>
                    <a:lstStyle/>
                    <a:p>
                      <a:pPr>
                        <a:buNone/>
                      </a:pPr>
                      <a:r>
                        <a:rPr lang="en-IN" dirty="0"/>
                        <a:t>Optimized for wireless environments</a:t>
                      </a:r>
                    </a:p>
                  </a:txBody>
                  <a:tcPr anchor="ctr"/>
                </a:tc>
                <a:extLst>
                  <a:ext uri="{0D108BD9-81ED-4DB2-BD59-A6C34878D82A}">
                    <a16:rowId xmlns:a16="http://schemas.microsoft.com/office/drawing/2014/main" val="1058062100"/>
                  </a:ext>
                </a:extLst>
              </a:tr>
            </a:tbl>
          </a:graphicData>
        </a:graphic>
      </p:graphicFrame>
    </p:spTree>
    <p:extLst>
      <p:ext uri="{BB962C8B-B14F-4D97-AF65-F5344CB8AC3E}">
        <p14:creationId xmlns:p14="http://schemas.microsoft.com/office/powerpoint/2010/main" val="19721846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12468</TotalTime>
  <Words>9480</Words>
  <Application>Microsoft Office PowerPoint</Application>
  <PresentationFormat>Widescreen</PresentationFormat>
  <Paragraphs>802</Paragraphs>
  <Slides>86</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86</vt:i4>
      </vt:variant>
    </vt:vector>
  </HeadingPairs>
  <TitlesOfParts>
    <vt:vector size="92" baseType="lpstr">
      <vt:lpstr>Arial</vt:lpstr>
      <vt:lpstr>Calibri</vt:lpstr>
      <vt:lpstr>Calibri Light</vt:lpstr>
      <vt:lpstr>Courier New</vt:lpstr>
      <vt:lpstr>Google Sans Text</vt:lpstr>
      <vt:lpstr>Office Theme</vt:lpstr>
      <vt:lpstr>Computer Networks</vt:lpstr>
      <vt:lpstr>Contents</vt:lpstr>
      <vt:lpstr>Data Link Layer – NEED?</vt:lpstr>
      <vt:lpstr>Data Link Layer</vt:lpstr>
      <vt:lpstr>Data Link Layer</vt:lpstr>
      <vt:lpstr>The Data Link Layer: Functionalities</vt:lpstr>
      <vt:lpstr>The Data Link Layer: Protocols</vt:lpstr>
      <vt:lpstr>The Data Link Layer: Sub-Layers</vt:lpstr>
      <vt:lpstr>The Data Link Layer: Sub-Layers</vt:lpstr>
      <vt:lpstr>Data Link Layer</vt:lpstr>
      <vt:lpstr>Key Functionalities of DLL / Design Issues</vt:lpstr>
      <vt:lpstr>PowerPoint Presentation</vt:lpstr>
      <vt:lpstr>PowerPoint Presentation</vt:lpstr>
      <vt:lpstr>PowerPoint Presentation</vt:lpstr>
      <vt:lpstr>PowerPoint Presentation</vt:lpstr>
      <vt:lpstr>PowerPoint Presentation</vt:lpstr>
      <vt:lpstr>PowerPoint Presentation</vt:lpstr>
      <vt:lpstr>Error Detection – Parity Check</vt:lpstr>
      <vt:lpstr>Even Parity System</vt:lpstr>
      <vt:lpstr>Odd Parity System</vt:lpstr>
      <vt:lpstr>Example 1</vt:lpstr>
      <vt:lpstr>Even Parity with a Two-Bit Error (The System Fails)</vt:lpstr>
      <vt:lpstr>PowerPoint Presentation</vt:lpstr>
      <vt:lpstr>Error Detection - Checksum</vt:lpstr>
      <vt:lpstr>PowerPoint Presentation</vt:lpstr>
      <vt:lpstr>Example</vt:lpstr>
      <vt:lpstr>Example: Receiver Side Validation Steps</vt:lpstr>
      <vt:lpstr>Example 2: Checksum Detection with a Carry-Over and Transmission Error</vt:lpstr>
      <vt:lpstr>PowerPoint Presentation</vt:lpstr>
      <vt:lpstr>PowerPoint Presentation</vt:lpstr>
      <vt:lpstr>Cyclic Redundancy Check (CRC)</vt:lpstr>
      <vt:lpstr>PowerPoint Presentation</vt:lpstr>
      <vt:lpstr>Example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Layer 2 – Switch - Working</vt:lpstr>
      <vt:lpstr>PowerPoint Presentation</vt:lpstr>
      <vt:lpstr>PowerPoint Presentation</vt:lpstr>
      <vt:lpstr>PowerPoint Presentation</vt:lpstr>
      <vt:lpstr>Sub-Layers of Data Link Layer: LLC &amp; MAC</vt:lpstr>
      <vt:lpstr>The Solution</vt:lpstr>
      <vt:lpstr>LLC and MAC</vt:lpstr>
      <vt:lpstr>LLC and MAC</vt:lpstr>
      <vt:lpstr>MAC Layer Need</vt:lpstr>
      <vt:lpstr>MAC Layer Need</vt:lpstr>
      <vt:lpstr>Random Access Protocols</vt:lpstr>
      <vt:lpstr>PowerPoint Presentation</vt:lpstr>
      <vt:lpstr>Aloha</vt:lpstr>
      <vt:lpstr>Pure Aloha</vt:lpstr>
      <vt:lpstr>Pure Aloha</vt:lpstr>
      <vt:lpstr>Pure Aloha</vt:lpstr>
      <vt:lpstr>Slotted Aloha</vt:lpstr>
      <vt:lpstr>Slotted Aloha</vt:lpstr>
      <vt:lpstr>Slotted Aloha</vt:lpstr>
      <vt:lpstr>Pure aloha vs Slotted Aloha</vt:lpstr>
      <vt:lpstr>Carrier Sense Multiple Access (CSMA)</vt:lpstr>
      <vt:lpstr>1-Persistent CSMA</vt:lpstr>
      <vt:lpstr>1-Persistent CSMA</vt:lpstr>
      <vt:lpstr>Non-Persistent CSMA</vt:lpstr>
      <vt:lpstr>Non-Persistent CSMA – Flow Diagram</vt:lpstr>
      <vt:lpstr>Non-Persistent CSMA</vt:lpstr>
      <vt:lpstr>P-Persistent CSMA (0 + 1 CSMA)</vt:lpstr>
      <vt:lpstr>P-Persistent CSMA (0 + 1 CSMA)</vt:lpstr>
      <vt:lpstr>P-Persistent CSMA (0 + 1 CSMA) Eg:</vt:lpstr>
      <vt:lpstr>P-Persistent CSMA</vt:lpstr>
      <vt:lpstr>Comparison</vt:lpstr>
      <vt:lpstr>PowerPoint Presentation</vt:lpstr>
      <vt:lpstr>Need for CSMA/CD &amp; CSMA/CA?</vt:lpstr>
      <vt:lpstr>Need for CSMA/CD &amp; CSMA/CA?</vt:lpstr>
      <vt:lpstr>CSMA/CD</vt:lpstr>
      <vt:lpstr>CSMA/CD</vt:lpstr>
      <vt:lpstr>CSMA/CD</vt:lpstr>
      <vt:lpstr>Where CSMA/CD is used?</vt:lpstr>
      <vt:lpstr>CSMA/CA</vt:lpstr>
      <vt:lpstr>CSMA/CA</vt:lpstr>
      <vt:lpstr>CSMA/CA - Working</vt:lpstr>
      <vt:lpstr>CSMA/CA - Working</vt:lpstr>
      <vt:lpstr>CSMA/CA</vt:lpstr>
      <vt:lpstr>CSMA/CA: RTS and CTS</vt:lpstr>
      <vt:lpstr>CSMA/CD</vt:lpstr>
      <vt:lpstr>CSMA/CD  VS CSMA/CA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Alok Singh Rathore</dc:creator>
  <cp:lastModifiedBy>Deven goyal</cp:lastModifiedBy>
  <cp:revision>88</cp:revision>
  <dcterms:created xsi:type="dcterms:W3CDTF">2026-06-17T09:11:57Z</dcterms:created>
  <dcterms:modified xsi:type="dcterms:W3CDTF">2026-08-25T02:08:14Z</dcterms:modified>
</cp:coreProperties>
</file>