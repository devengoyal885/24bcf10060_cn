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96" r:id="rId5"/>
    <p:sldId id="369" r:id="rId6"/>
    <p:sldId id="370" r:id="rId7"/>
    <p:sldId id="371" r:id="rId8"/>
    <p:sldId id="372" r:id="rId9"/>
    <p:sldId id="373" r:id="rId10"/>
    <p:sldId id="374" r:id="rId11"/>
    <p:sldId id="375" r:id="rId12"/>
    <p:sldId id="376" r:id="rId13"/>
    <p:sldId id="377" r:id="rId14"/>
    <p:sldId id="378" r:id="rId15"/>
    <p:sldId id="379" r:id="rId16"/>
    <p:sldId id="380" r:id="rId17"/>
    <p:sldId id="381" r:id="rId18"/>
    <p:sldId id="382" r:id="rId19"/>
    <p:sldId id="383" r:id="rId20"/>
    <p:sldId id="384" r:id="rId21"/>
    <p:sldId id="385" r:id="rId22"/>
    <p:sldId id="386" r:id="rId23"/>
    <p:sldId id="387" r:id="rId24"/>
    <p:sldId id="388" r:id="rId25"/>
    <p:sldId id="389" r:id="rId26"/>
    <p:sldId id="390" r:id="rId27"/>
    <p:sldId id="391" r:id="rId28"/>
    <p:sldId id="392" r:id="rId29"/>
    <p:sldId id="393" r:id="rId30"/>
    <p:sldId id="394" r:id="rId31"/>
    <p:sldId id="395" r:id="rId32"/>
    <p:sldId id="396" r:id="rId33"/>
    <p:sldId id="397" r:id="rId34"/>
    <p:sldId id="398" r:id="rId35"/>
    <p:sldId id="399" r:id="rId36"/>
    <p:sldId id="400" r:id="rId37"/>
    <p:sldId id="401" r:id="rId38"/>
    <p:sldId id="402" r:id="rId39"/>
    <p:sldId id="403" r:id="rId40"/>
    <p:sldId id="404" r:id="rId41"/>
    <p:sldId id="405" r:id="rId42"/>
    <p:sldId id="406" r:id="rId43"/>
    <p:sldId id="305" r:id="rId44"/>
    <p:sldId id="306" r:id="rId45"/>
    <p:sldId id="307" r:id="rId46"/>
    <p:sldId id="259" r:id="rId47"/>
    <p:sldId id="308" r:id="rId48"/>
    <p:sldId id="309" r:id="rId49"/>
    <p:sldId id="310" r:id="rId50"/>
    <p:sldId id="311" r:id="rId51"/>
    <p:sldId id="312" r:id="rId52"/>
    <p:sldId id="313" r:id="rId53"/>
    <p:sldId id="314" r:id="rId54"/>
    <p:sldId id="315" r:id="rId55"/>
    <p:sldId id="316" r:id="rId56"/>
    <p:sldId id="317" r:id="rId57"/>
    <p:sldId id="318" r:id="rId58"/>
    <p:sldId id="319" r:id="rId59"/>
    <p:sldId id="320" r:id="rId60"/>
    <p:sldId id="321" r:id="rId61"/>
    <p:sldId id="260" r:id="rId62"/>
    <p:sldId id="261" r:id="rId63"/>
    <p:sldId id="322" r:id="rId64"/>
    <p:sldId id="262" r:id="rId65"/>
    <p:sldId id="263" r:id="rId66"/>
    <p:sldId id="323" r:id="rId67"/>
    <p:sldId id="324" r:id="rId68"/>
    <p:sldId id="325" r:id="rId69"/>
    <p:sldId id="326" r:id="rId70"/>
    <p:sldId id="355" r:id="rId71"/>
    <p:sldId id="356" r:id="rId72"/>
    <p:sldId id="357" r:id="rId73"/>
    <p:sldId id="327" r:id="rId74"/>
    <p:sldId id="360" r:id="rId75"/>
    <p:sldId id="361" r:id="rId76"/>
    <p:sldId id="362" r:id="rId77"/>
    <p:sldId id="358" r:id="rId78"/>
    <p:sldId id="359" r:id="rId79"/>
    <p:sldId id="363" r:id="rId80"/>
    <p:sldId id="364" r:id="rId81"/>
    <p:sldId id="365" r:id="rId82"/>
    <p:sldId id="328" r:id="rId83"/>
    <p:sldId id="366" r:id="rId84"/>
    <p:sldId id="367" r:id="rId85"/>
    <p:sldId id="329" r:id="rId86"/>
    <p:sldId id="368" r:id="rId8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6102" autoAdjust="0"/>
    <p:restoredTop sz="94660"/>
  </p:normalViewPr>
  <p:slideViewPr>
    <p:cSldViewPr snapToGrid="0">
      <p:cViewPr varScale="1">
        <p:scale>
          <a:sx n="74" d="100"/>
          <a:sy n="74" d="100"/>
        </p:scale>
        <p:origin x="72" y="15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viewProps" Target="viewProps.xml"/><Relationship Id="rId16" Type="http://schemas.openxmlformats.org/officeDocument/2006/relationships/slide" Target="slides/slide15.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5" Type="http://schemas.openxmlformats.org/officeDocument/2006/relationships/slide" Target="slides/slide4.xml"/><Relationship Id="rId90" Type="http://schemas.openxmlformats.org/officeDocument/2006/relationships/theme" Target="theme/theme1.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presProps" Target="presProps.xml"/><Relationship Id="rId91"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1F35B0-2E11-C739-69DB-364B50BC44A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E787A682-50E1-D718-98BB-0C03CDEB42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54E5C3F3-5A4E-2CA7-F0D3-1E368F1325BC}"/>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E74371E8-D93E-C2FF-CFBA-894890D4DF4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D6CFCED8-5C15-079E-5683-4F4A63796AA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5282360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C9165B-2DD9-C21D-9E4B-088A359845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142A5AD-2FF5-E1F8-9931-4285120FCE8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18FA393-9C5E-1CAD-F178-46E249C77534}"/>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FCDED7A9-F787-B9BD-5A26-DB0D5849DEBD}"/>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51438EA-0CBA-3E52-9115-778AD438944B}"/>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4382106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2D6E5D-98F1-37C7-FC25-CCB699F9B09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E62DC34-E631-12FA-549C-E52BEBBD9917}"/>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7553A9A-7129-18CF-AAB2-D839585474A6}"/>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08DE5574-9C57-B457-E05A-77C66C67398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ECA17AD6-B667-E2B4-D2E5-710323E5AEC6}"/>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3105820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CBC63-7456-D1F9-A162-78594A30AA1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E9CC7F6-A474-AC27-613F-B48A7AAD8F5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7A7829F0-327A-2F26-9F9B-0B312F1A95A6}"/>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8DF87326-1987-B189-28DE-A090D08D8D14}"/>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3DDD356B-9C9E-BDC0-DAEC-E972AE53984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22B52F5-53DD-D223-CE59-66255741BC52}"/>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22683088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A0C4C7-14EC-4BB0-E0DC-AB13AD28605B}"/>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79C2B95-E867-D870-7C7F-CA0903AB748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645D53E-3BA6-8B31-AFF3-D0EDE9D705FD}"/>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BD6DBE8-84D2-5E9A-371C-AB768F4E2D2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9B7287E-4DA7-20FD-B7C1-37509F0F72F6}"/>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CCBF527-5D51-4795-2713-056103C2ED9B}"/>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8" name="Footer Placeholder 7">
            <a:extLst>
              <a:ext uri="{FF2B5EF4-FFF2-40B4-BE49-F238E27FC236}">
                <a16:creationId xmlns:a16="http://schemas.microsoft.com/office/drawing/2014/main" id="{E037B607-5F54-9092-0C4D-CCD410446EF0}"/>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F3AE7A-0B5F-B4FC-70F0-1E87A92E206A}"/>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381486929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DA4A22-D351-DF7C-00FF-B94A6EFDD706}"/>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079F6709-02AC-CA33-E808-586F5E8529EA}"/>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4" name="Footer Placeholder 3">
            <a:extLst>
              <a:ext uri="{FF2B5EF4-FFF2-40B4-BE49-F238E27FC236}">
                <a16:creationId xmlns:a16="http://schemas.microsoft.com/office/drawing/2014/main" id="{A0A60254-780D-7B92-0902-421F461CCF09}"/>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8FCDF8FF-41B4-3716-C394-EE0159FDDABC}"/>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060589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2A47B3BD-D617-3C35-1AB6-6C6A4E44E2EF}"/>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3" name="Footer Placeholder 2">
            <a:extLst>
              <a:ext uri="{FF2B5EF4-FFF2-40B4-BE49-F238E27FC236}">
                <a16:creationId xmlns:a16="http://schemas.microsoft.com/office/drawing/2014/main" id="{8F060D8F-3B0A-6713-FDD1-2537105CB9F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259A2E4-0DFD-D51C-6B82-6C14A169EC23}"/>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6620827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70D0AE-FA26-BFCE-5B03-7D92BD27D93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DB1E4246-2740-AF92-4924-2AC4B2FE1BB9}"/>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5560E825-8180-0E22-1F76-6C71A0ED950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B81EF12-4D15-0E18-B33E-F1E50CB2D729}"/>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00060264-ABCF-9739-E5C5-6FC0E4A1A14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D71ADC3-C221-91B1-DF01-C4839B44A944}"/>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79333848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0DA673-9EFF-961A-B81C-4BEB57BE70D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E1A5C82A-3DD1-B7D0-C4FB-6E2E9CBCC48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2B84FB1-2EE9-7A86-3114-329876C2840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F3A6D42-E88E-3A27-5384-50319FAD310A}"/>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6" name="Footer Placeholder 5">
            <a:extLst>
              <a:ext uri="{FF2B5EF4-FFF2-40B4-BE49-F238E27FC236}">
                <a16:creationId xmlns:a16="http://schemas.microsoft.com/office/drawing/2014/main" id="{5BB7F436-1513-6D61-E222-645EFA478AE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A31E9D6-0990-5804-1808-BD85CFEC903D}"/>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8162075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622D2B-210E-8CCD-C1B7-690B8B07879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0AE3B0-5D83-7159-2547-F9770F73D100}"/>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C52A936-1387-088C-2B2E-6C9C7D3A85F3}"/>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D06F6D25-0002-D4B1-11BD-6EB85C6CEF6C}"/>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575D986-C532-24B9-4B76-4466D0DD4547}"/>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28605524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7013FA5-C7CD-0413-1726-170EBEC241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F87AB966-7617-A5E8-BE31-2072AB8075A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FD02B28-064F-861F-B8F9-E8ABDFB9C1E6}"/>
              </a:ext>
            </a:extLst>
          </p:cNvPr>
          <p:cNvSpPr>
            <a:spLocks noGrp="1"/>
          </p:cNvSpPr>
          <p:nvPr>
            <p:ph type="dt" sz="half" idx="10"/>
          </p:nvPr>
        </p:nvSpPr>
        <p:spPr/>
        <p:txBody>
          <a:body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5F301644-CEEF-85C2-108C-FDD7804D32A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9C0FC37-4F38-9433-D755-3B53E82279A1}"/>
              </a:ext>
            </a:extLst>
          </p:cNvPr>
          <p:cNvSpPr>
            <a:spLocks noGrp="1"/>
          </p:cNvSpPr>
          <p:nvPr>
            <p:ph type="sldNum" sz="quarter" idx="12"/>
          </p:nvPr>
        </p:nvSpPr>
        <p:spPr/>
        <p:txBody>
          <a:bodyPr/>
          <a:lstStyle/>
          <a:p>
            <a:fld id="{25F51036-C248-445B-92C7-3B36FDACE25D}" type="slidenum">
              <a:rPr lang="en-IN" smtClean="0"/>
              <a:t>‹#›</a:t>
            </a:fld>
            <a:endParaRPr lang="en-IN"/>
          </a:p>
        </p:txBody>
      </p:sp>
    </p:spTree>
    <p:extLst>
      <p:ext uri="{BB962C8B-B14F-4D97-AF65-F5344CB8AC3E}">
        <p14:creationId xmlns:p14="http://schemas.microsoft.com/office/powerpoint/2010/main" val="187340492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3E2FEC6-FDE4-5248-150B-C0D1D84B9C8A}"/>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21ED9D89-6AD7-5F4F-E83D-1D646A846D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2FC4029-7543-0447-F921-F3883716338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76D1D44E-AB28-4CBC-A39C-24E65F43CAF0}" type="datetimeFigureOut">
              <a:rPr lang="en-IN" smtClean="0"/>
              <a:t>24-08-2026</a:t>
            </a:fld>
            <a:endParaRPr lang="en-IN"/>
          </a:p>
        </p:txBody>
      </p:sp>
      <p:sp>
        <p:nvSpPr>
          <p:cNvPr id="5" name="Footer Placeholder 4">
            <a:extLst>
              <a:ext uri="{FF2B5EF4-FFF2-40B4-BE49-F238E27FC236}">
                <a16:creationId xmlns:a16="http://schemas.microsoft.com/office/drawing/2014/main" id="{84A3F134-11C7-5AA3-F3BB-52B4D224B75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E1FDA509-422C-EE10-B291-6D7B469A505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5F51036-C248-445B-92C7-3B36FDACE25D}" type="slidenum">
              <a:rPr lang="en-IN" smtClean="0"/>
              <a:t>‹#›</a:t>
            </a:fld>
            <a:endParaRPr lang="en-IN"/>
          </a:p>
        </p:txBody>
      </p:sp>
      <p:pic>
        <p:nvPicPr>
          <p:cNvPr id="8" name="Picture 7">
            <a:extLst>
              <a:ext uri="{FF2B5EF4-FFF2-40B4-BE49-F238E27FC236}">
                <a16:creationId xmlns:a16="http://schemas.microsoft.com/office/drawing/2014/main" id="{BC7FC92D-6EC7-3DCB-B94C-619543D8C54E}"/>
              </a:ext>
            </a:extLst>
          </p:cNvPr>
          <p:cNvPicPr>
            <a:picLocks noChangeAspect="1"/>
          </p:cNvPicPr>
          <p:nvPr userDrawn="1"/>
        </p:nvPicPr>
        <p:blipFill>
          <a:blip r:embed="rId13"/>
          <a:stretch>
            <a:fillRect/>
          </a:stretch>
        </p:blipFill>
        <p:spPr>
          <a:xfrm>
            <a:off x="120770" y="60385"/>
            <a:ext cx="11904453" cy="500332"/>
          </a:xfrm>
          <a:prstGeom prst="rect">
            <a:avLst/>
          </a:prstGeom>
        </p:spPr>
      </p:pic>
    </p:spTree>
    <p:extLst>
      <p:ext uri="{BB962C8B-B14F-4D97-AF65-F5344CB8AC3E}">
        <p14:creationId xmlns:p14="http://schemas.microsoft.com/office/powerpoint/2010/main" val="305129748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4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218BC5-2CDF-002D-43CC-10F2FB6378A5}"/>
              </a:ext>
            </a:extLst>
          </p:cNvPr>
          <p:cNvSpPr>
            <a:spLocks noGrp="1"/>
          </p:cNvSpPr>
          <p:nvPr>
            <p:ph type="ctrTitle"/>
          </p:nvPr>
        </p:nvSpPr>
        <p:spPr/>
        <p:txBody>
          <a:bodyPr/>
          <a:lstStyle/>
          <a:p>
            <a:r>
              <a:rPr lang="en-US" dirty="0"/>
              <a:t>Computer Networks</a:t>
            </a:r>
            <a:endParaRPr lang="en-IN" dirty="0"/>
          </a:p>
        </p:txBody>
      </p:sp>
      <p:sp>
        <p:nvSpPr>
          <p:cNvPr id="3" name="Subtitle 2">
            <a:extLst>
              <a:ext uri="{FF2B5EF4-FFF2-40B4-BE49-F238E27FC236}">
                <a16:creationId xmlns:a16="http://schemas.microsoft.com/office/drawing/2014/main" id="{39C0DBBC-FF82-56F1-2B4E-AF7B9BF0BFF7}"/>
              </a:ext>
            </a:extLst>
          </p:cNvPr>
          <p:cNvSpPr>
            <a:spLocks noGrp="1"/>
          </p:cNvSpPr>
          <p:nvPr>
            <p:ph type="subTitle" idx="1"/>
          </p:nvPr>
        </p:nvSpPr>
        <p:spPr/>
        <p:txBody>
          <a:bodyPr/>
          <a:lstStyle/>
          <a:p>
            <a:r>
              <a:rPr lang="en-US" dirty="0"/>
              <a:t>Chapter 1.2</a:t>
            </a:r>
            <a:endParaRPr lang="en-IN" dirty="0"/>
          </a:p>
        </p:txBody>
      </p:sp>
      <p:sp>
        <p:nvSpPr>
          <p:cNvPr id="4" name="TextBox 3">
            <a:extLst>
              <a:ext uri="{FF2B5EF4-FFF2-40B4-BE49-F238E27FC236}">
                <a16:creationId xmlns:a16="http://schemas.microsoft.com/office/drawing/2014/main" id="{D17E4571-81D3-3F2E-A57B-5EBD74A8A0B7}"/>
              </a:ext>
            </a:extLst>
          </p:cNvPr>
          <p:cNvSpPr txBox="1"/>
          <p:nvPr/>
        </p:nvSpPr>
        <p:spPr>
          <a:xfrm>
            <a:off x="2385883" y="6092518"/>
            <a:ext cx="7735171" cy="646331"/>
          </a:xfrm>
          <a:prstGeom prst="rect">
            <a:avLst/>
          </a:prstGeom>
          <a:noFill/>
        </p:spPr>
        <p:txBody>
          <a:bodyPr wrap="square" rtlCol="0">
            <a:spAutoFit/>
          </a:bodyPr>
          <a:lstStyle/>
          <a:p>
            <a:pPr algn="ctr"/>
            <a:r>
              <a:rPr lang="en-US" dirty="0"/>
              <a:t>ALOK KUMAR – ASSISTANT PROFESSOR &amp; KARGIL TECHINCAL TRAINER (DCPD) </a:t>
            </a:r>
            <a:br>
              <a:rPr lang="en-US" dirty="0"/>
            </a:br>
            <a:r>
              <a:rPr lang="en-US" dirty="0"/>
              <a:t>EMAIL: DCPD.KARGILT1@CUMAIL.IN</a:t>
            </a:r>
            <a:endParaRPr lang="en-IN" dirty="0"/>
          </a:p>
        </p:txBody>
      </p:sp>
    </p:spTree>
    <p:extLst>
      <p:ext uri="{BB962C8B-B14F-4D97-AF65-F5344CB8AC3E}">
        <p14:creationId xmlns:p14="http://schemas.microsoft.com/office/powerpoint/2010/main" val="28664820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F6EA74-A973-F2A5-CD14-1B7EFD8F2811}"/>
              </a:ext>
            </a:extLst>
          </p:cNvPr>
          <p:cNvSpPr>
            <a:spLocks noGrp="1"/>
          </p:cNvSpPr>
          <p:nvPr>
            <p:ph type="title"/>
          </p:nvPr>
        </p:nvSpPr>
        <p:spPr>
          <a:xfrm>
            <a:off x="838200" y="365125"/>
            <a:ext cx="10515600" cy="796163"/>
          </a:xfrm>
        </p:spPr>
        <p:txBody>
          <a:bodyPr>
            <a:normAutofit/>
          </a:bodyPr>
          <a:lstStyle/>
          <a:p>
            <a:r>
              <a:rPr lang="en-US" dirty="0"/>
              <a:t>Contents</a:t>
            </a:r>
            <a:endParaRPr lang="en-IN" dirty="0"/>
          </a:p>
        </p:txBody>
      </p:sp>
      <p:sp>
        <p:nvSpPr>
          <p:cNvPr id="3" name="Content Placeholder 2">
            <a:extLst>
              <a:ext uri="{FF2B5EF4-FFF2-40B4-BE49-F238E27FC236}">
                <a16:creationId xmlns:a16="http://schemas.microsoft.com/office/drawing/2014/main" id="{9529EDEE-0AED-5107-CD8E-199C43709E6A}"/>
              </a:ext>
            </a:extLst>
          </p:cNvPr>
          <p:cNvSpPr>
            <a:spLocks noGrp="1"/>
          </p:cNvSpPr>
          <p:nvPr>
            <p:ph idx="1"/>
          </p:nvPr>
        </p:nvSpPr>
        <p:spPr>
          <a:xfrm>
            <a:off x="838200" y="1316736"/>
            <a:ext cx="10515600" cy="4860227"/>
          </a:xfrm>
        </p:spPr>
        <p:txBody>
          <a:bodyPr>
            <a:normAutofit/>
          </a:bodyPr>
          <a:lstStyle/>
          <a:p>
            <a:r>
              <a:rPr lang="en-US" dirty="0"/>
              <a:t>Network Reference Models: OSI Model &amp; TCP IP</a:t>
            </a:r>
          </a:p>
          <a:p>
            <a:r>
              <a:rPr lang="en-US" dirty="0"/>
              <a:t>TCP protocol suite.</a:t>
            </a:r>
          </a:p>
          <a:p>
            <a:r>
              <a:rPr lang="en-US" dirty="0"/>
              <a:t>Basics of communication &amp; modes.</a:t>
            </a:r>
          </a:p>
          <a:p>
            <a:r>
              <a:rPr lang="en-US" dirty="0"/>
              <a:t>Transmission modes: Guided &amp; Unguided media</a:t>
            </a:r>
          </a:p>
          <a:p>
            <a:r>
              <a:rPr lang="en-US" dirty="0"/>
              <a:t>Physical layer: Introduction to physical layer devices, Transmission modes.</a:t>
            </a:r>
          </a:p>
          <a:p>
            <a:r>
              <a:rPr lang="en-US" dirty="0"/>
              <a:t>Introduction to multiplexing</a:t>
            </a:r>
          </a:p>
          <a:p>
            <a:r>
              <a:rPr lang="en-US" dirty="0"/>
              <a:t>Introduction to Modem</a:t>
            </a:r>
          </a:p>
        </p:txBody>
      </p:sp>
    </p:spTree>
    <p:extLst>
      <p:ext uri="{BB962C8B-B14F-4D97-AF65-F5344CB8AC3E}">
        <p14:creationId xmlns:p14="http://schemas.microsoft.com/office/powerpoint/2010/main" val="27902430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5B6A49-899A-6AE8-51E6-FC326E058E24}"/>
              </a:ext>
            </a:extLst>
          </p:cNvPr>
          <p:cNvSpPr>
            <a:spLocks noGrp="1"/>
          </p:cNvSpPr>
          <p:nvPr>
            <p:ph type="title"/>
          </p:nvPr>
        </p:nvSpPr>
        <p:spPr>
          <a:xfrm>
            <a:off x="256674" y="365125"/>
            <a:ext cx="11550315" cy="597401"/>
          </a:xfrm>
        </p:spPr>
        <p:txBody>
          <a:bodyPr>
            <a:normAutofit fontScale="90000"/>
          </a:bodyPr>
          <a:lstStyle/>
          <a:p>
            <a:r>
              <a:rPr lang="en-IN" dirty="0"/>
              <a:t>Network Reference Models</a:t>
            </a:r>
          </a:p>
        </p:txBody>
      </p:sp>
      <p:sp>
        <p:nvSpPr>
          <p:cNvPr id="3" name="Content Placeholder 2">
            <a:extLst>
              <a:ext uri="{FF2B5EF4-FFF2-40B4-BE49-F238E27FC236}">
                <a16:creationId xmlns:a16="http://schemas.microsoft.com/office/drawing/2014/main" id="{C08D6E34-ADD8-6897-6BD8-24A7E17FD7EA}"/>
              </a:ext>
            </a:extLst>
          </p:cNvPr>
          <p:cNvSpPr>
            <a:spLocks noGrp="1"/>
          </p:cNvSpPr>
          <p:nvPr>
            <p:ph idx="1"/>
          </p:nvPr>
        </p:nvSpPr>
        <p:spPr>
          <a:xfrm>
            <a:off x="256673" y="1251284"/>
            <a:ext cx="11550315" cy="4925679"/>
          </a:xfrm>
        </p:spPr>
        <p:txBody>
          <a:bodyPr>
            <a:normAutofit fontScale="92500" lnSpcReduction="20000"/>
          </a:bodyPr>
          <a:lstStyle/>
          <a:p>
            <a:r>
              <a:rPr lang="en-IN" dirty="0"/>
              <a:t>In the early days of computing, different hardware manufacturers built networks using their own proprietary rules. A computer built by Company A could not exchange data packets with a computer built by Company B because they formatted data, managed addresses, and controlled transmission speeds differently. This closed ecosystem prevented global communication.</a:t>
            </a:r>
          </a:p>
          <a:p>
            <a:r>
              <a:rPr lang="en-IN" dirty="0"/>
              <a:t>To solve this, the computing industry needed a standardized, universal blueprint that breaks down the complex process of network communication into independent, manageable layers. Understanding </a:t>
            </a:r>
            <a:r>
              <a:rPr lang="en-IN" b="1" dirty="0"/>
              <a:t>Network Reference Models</a:t>
            </a:r>
            <a:r>
              <a:rPr lang="en-IN" dirty="0"/>
              <a:t> allows computer science engineers to develop hardware components and software applications that are universally compatible, ensuring that a web browser running on any operating system can communicate flawlessly with any web server across the globe.</a:t>
            </a:r>
          </a:p>
          <a:p>
            <a:r>
              <a:rPr lang="en-IN" dirty="0">
                <a:highlight>
                  <a:srgbClr val="FFFF00"/>
                </a:highlight>
              </a:rPr>
              <a:t>Network communications are managed using structured layer architectures. Each layer has a specific job and communicates directly with the layers immediately above and below it.</a:t>
            </a:r>
          </a:p>
          <a:p>
            <a:endParaRPr lang="en-IN" dirty="0"/>
          </a:p>
        </p:txBody>
      </p:sp>
    </p:spTree>
    <p:extLst>
      <p:ext uri="{BB962C8B-B14F-4D97-AF65-F5344CB8AC3E}">
        <p14:creationId xmlns:p14="http://schemas.microsoft.com/office/powerpoint/2010/main" val="214357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457272-86EB-BFB0-53F7-11BB922DEBA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07F5E6B-E028-6371-B820-6718B9B42EDE}"/>
              </a:ext>
            </a:extLst>
          </p:cNvPr>
          <p:cNvSpPr>
            <a:spLocks noGrp="1"/>
          </p:cNvSpPr>
          <p:nvPr>
            <p:ph type="title"/>
          </p:nvPr>
        </p:nvSpPr>
        <p:spPr>
          <a:xfrm>
            <a:off x="838200" y="577516"/>
            <a:ext cx="10515600" cy="737938"/>
          </a:xfrm>
        </p:spPr>
        <p:txBody>
          <a:bodyPr/>
          <a:lstStyle/>
          <a:p>
            <a:r>
              <a:rPr lang="en-US" dirty="0"/>
              <a:t>OSI - Layers</a:t>
            </a:r>
            <a:endParaRPr lang="en-IN" dirty="0"/>
          </a:p>
        </p:txBody>
      </p:sp>
      <p:pic>
        <p:nvPicPr>
          <p:cNvPr id="5" name="Picture 4">
            <a:extLst>
              <a:ext uri="{FF2B5EF4-FFF2-40B4-BE49-F238E27FC236}">
                <a16:creationId xmlns:a16="http://schemas.microsoft.com/office/drawing/2014/main" id="{E66E4AE9-6614-D73E-3701-232A182C8619}"/>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13221" y="577516"/>
            <a:ext cx="7603958" cy="6280484"/>
          </a:xfrm>
          <a:prstGeom prst="rect">
            <a:avLst/>
          </a:prstGeom>
        </p:spPr>
      </p:pic>
    </p:spTree>
    <p:extLst>
      <p:ext uri="{BB962C8B-B14F-4D97-AF65-F5344CB8AC3E}">
        <p14:creationId xmlns:p14="http://schemas.microsoft.com/office/powerpoint/2010/main" val="328878247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50427F-19D9-8C4F-8AF4-F4D7E6DFED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5BD58E-59B5-C658-A43E-65CF84A3384B}"/>
              </a:ext>
            </a:extLst>
          </p:cNvPr>
          <p:cNvSpPr>
            <a:spLocks noGrp="1"/>
          </p:cNvSpPr>
          <p:nvPr>
            <p:ph type="title"/>
          </p:nvPr>
        </p:nvSpPr>
        <p:spPr>
          <a:xfrm>
            <a:off x="838200" y="577516"/>
            <a:ext cx="10515600" cy="737938"/>
          </a:xfrm>
        </p:spPr>
        <p:txBody>
          <a:bodyPr/>
          <a:lstStyle/>
          <a:p>
            <a:r>
              <a:rPr lang="en-IN" dirty="0"/>
              <a:t>Layer 7: The Application Layer</a:t>
            </a:r>
          </a:p>
        </p:txBody>
      </p:sp>
      <p:sp>
        <p:nvSpPr>
          <p:cNvPr id="3" name="Content Placeholder 2">
            <a:extLst>
              <a:ext uri="{FF2B5EF4-FFF2-40B4-BE49-F238E27FC236}">
                <a16:creationId xmlns:a16="http://schemas.microsoft.com/office/drawing/2014/main" id="{C3FBA6CB-7167-5A63-A02E-837BF404E4BB}"/>
              </a:ext>
            </a:extLst>
          </p:cNvPr>
          <p:cNvSpPr>
            <a:spLocks noGrp="1"/>
          </p:cNvSpPr>
          <p:nvPr>
            <p:ph idx="1"/>
          </p:nvPr>
        </p:nvSpPr>
        <p:spPr>
          <a:xfrm>
            <a:off x="240632" y="1315454"/>
            <a:ext cx="11678652" cy="5293893"/>
          </a:xfrm>
        </p:spPr>
        <p:txBody>
          <a:bodyPr/>
          <a:lstStyle/>
          <a:p>
            <a:r>
              <a:rPr lang="en-IN" dirty="0"/>
              <a:t>The </a:t>
            </a:r>
            <a:r>
              <a:rPr lang="en-IN" b="1" dirty="0"/>
              <a:t>Application Layer</a:t>
            </a:r>
            <a:r>
              <a:rPr lang="en-IN" dirty="0"/>
              <a:t> is the </a:t>
            </a:r>
            <a:r>
              <a:rPr lang="en-IN" b="1" dirty="0"/>
              <a:t>topmost layer (Layer 7)</a:t>
            </a:r>
            <a:r>
              <a:rPr lang="en-IN" dirty="0"/>
              <a:t> of the OSI (Open Systems Interconnection) Model.</a:t>
            </a:r>
          </a:p>
          <a:p>
            <a:r>
              <a:rPr lang="en-IN" dirty="0"/>
              <a:t>It is the layer that </a:t>
            </a:r>
            <a:r>
              <a:rPr lang="en-IN" b="1" dirty="0"/>
              <a:t>directly interacts with the user</a:t>
            </a:r>
            <a:r>
              <a:rPr lang="en-IN" dirty="0"/>
              <a:t>. Whenever we use applications such as WhatsApp, Gmail, Chrome, Firefox, YouTube, Zoom, or Instagram, we are actually working with the </a:t>
            </a:r>
            <a:r>
              <a:rPr lang="en-IN" b="1" dirty="0"/>
              <a:t>Application Layer</a:t>
            </a:r>
            <a:r>
              <a:rPr lang="en-IN" dirty="0"/>
              <a:t>.</a:t>
            </a:r>
          </a:p>
          <a:p>
            <a:r>
              <a:rPr lang="en-IN" dirty="0"/>
              <a:t>We think that this layer is the application itself (like WhatsApp or Chrome), but that is </a:t>
            </a:r>
            <a:r>
              <a:rPr lang="en-IN" b="1" dirty="0"/>
              <a:t>not completely correct</a:t>
            </a:r>
            <a:r>
              <a:rPr lang="en-IN" dirty="0"/>
              <a:t>.</a:t>
            </a:r>
          </a:p>
          <a:p>
            <a:r>
              <a:rPr lang="en-IN" dirty="0"/>
              <a:t>The </a:t>
            </a:r>
            <a:r>
              <a:rPr lang="en-IN" b="1" dirty="0"/>
              <a:t>Application Layer is not the application</a:t>
            </a:r>
            <a:r>
              <a:rPr lang="en-IN" dirty="0"/>
              <a:t>. It is a </a:t>
            </a:r>
            <a:r>
              <a:rPr lang="en-IN" b="1" dirty="0"/>
              <a:t>set of network services</a:t>
            </a:r>
            <a:r>
              <a:rPr lang="en-IN" dirty="0"/>
              <a:t> that allows an application to communicate over the network.</a:t>
            </a:r>
          </a:p>
          <a:p>
            <a:r>
              <a:rPr lang="en-IN" dirty="0">
                <a:highlight>
                  <a:srgbClr val="FFFF00"/>
                </a:highlight>
              </a:rPr>
              <a:t>The Application Layer provides network services directly to the user applications and acts as the interface between the user and the network.</a:t>
            </a:r>
          </a:p>
        </p:txBody>
      </p:sp>
    </p:spTree>
    <p:extLst>
      <p:ext uri="{BB962C8B-B14F-4D97-AF65-F5344CB8AC3E}">
        <p14:creationId xmlns:p14="http://schemas.microsoft.com/office/powerpoint/2010/main" val="400199730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3D78D-BFAE-8912-B139-797193E9793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2D76F20-284D-8F34-2F31-3635D478CAFF}"/>
              </a:ext>
            </a:extLst>
          </p:cNvPr>
          <p:cNvSpPr>
            <a:spLocks noGrp="1"/>
          </p:cNvSpPr>
          <p:nvPr>
            <p:ph type="title"/>
          </p:nvPr>
        </p:nvSpPr>
        <p:spPr>
          <a:xfrm>
            <a:off x="613611" y="433137"/>
            <a:ext cx="10515600" cy="737938"/>
          </a:xfrm>
        </p:spPr>
        <p:txBody>
          <a:bodyPr/>
          <a:lstStyle/>
          <a:p>
            <a:r>
              <a:rPr lang="en-IN" dirty="0"/>
              <a:t>The Application Layer: Functionalities</a:t>
            </a:r>
          </a:p>
        </p:txBody>
      </p:sp>
      <p:graphicFrame>
        <p:nvGraphicFramePr>
          <p:cNvPr id="4" name="Table 3">
            <a:extLst>
              <a:ext uri="{FF2B5EF4-FFF2-40B4-BE49-F238E27FC236}">
                <a16:creationId xmlns:a16="http://schemas.microsoft.com/office/drawing/2014/main" id="{CEF15282-92F8-E9D5-5502-C69782E4A25E}"/>
              </a:ext>
            </a:extLst>
          </p:cNvPr>
          <p:cNvGraphicFramePr>
            <a:graphicFrameLocks noGrp="1"/>
          </p:cNvGraphicFramePr>
          <p:nvPr>
            <p:extLst>
              <p:ext uri="{D42A27DB-BD31-4B8C-83A1-F6EECF244321}">
                <p14:modId xmlns:p14="http://schemas.microsoft.com/office/powerpoint/2010/main" val="2246457480"/>
              </p:ext>
            </p:extLst>
          </p:nvPr>
        </p:nvGraphicFramePr>
        <p:xfrm>
          <a:off x="320842" y="1171075"/>
          <a:ext cx="11550316" cy="55981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Provides Network Services</a:t>
                      </a:r>
                      <a:endParaRPr lang="en-IN"/>
                    </a:p>
                  </a:txBody>
                  <a:tcPr anchor="ctr"/>
                </a:tc>
                <a:tc>
                  <a:txBody>
                    <a:bodyPr/>
                    <a:lstStyle/>
                    <a:p>
                      <a:pPr>
                        <a:buNone/>
                      </a:pPr>
                      <a:r>
                        <a:rPr lang="en-IN" dirty="0"/>
                        <a:t>Provides network services directly to user applications like browsers, email clients, and chat applications.</a:t>
                      </a:r>
                    </a:p>
                  </a:txBody>
                  <a:tcPr anchor="ctr"/>
                </a:tc>
                <a:extLst>
                  <a:ext uri="{0D108BD9-81ED-4DB2-BD59-A6C34878D82A}">
                    <a16:rowId xmlns:a16="http://schemas.microsoft.com/office/drawing/2014/main" val="3315618413"/>
                  </a:ext>
                </a:extLst>
              </a:tr>
              <a:tr h="370840">
                <a:tc>
                  <a:txBody>
                    <a:bodyPr/>
                    <a:lstStyle/>
                    <a:p>
                      <a:pPr>
                        <a:buNone/>
                      </a:pPr>
                      <a:r>
                        <a:rPr lang="en-IN" b="1" dirty="0"/>
                        <a:t>User Interface to the Network</a:t>
                      </a:r>
                      <a:endParaRPr lang="en-IN" dirty="0"/>
                    </a:p>
                  </a:txBody>
                  <a:tcPr anchor="ctr"/>
                </a:tc>
                <a:tc>
                  <a:txBody>
                    <a:bodyPr/>
                    <a:lstStyle/>
                    <a:p>
                      <a:pPr>
                        <a:buNone/>
                      </a:pPr>
                      <a:r>
                        <a:rPr lang="en-IN"/>
                        <a:t>Acts as the interface between the user and the network. The user communicates with the application, and the application communicates with the network through this layer.</a:t>
                      </a:r>
                    </a:p>
                  </a:txBody>
                  <a:tcPr anchor="ctr"/>
                </a:tc>
                <a:extLst>
                  <a:ext uri="{0D108BD9-81ED-4DB2-BD59-A6C34878D82A}">
                    <a16:rowId xmlns:a16="http://schemas.microsoft.com/office/drawing/2014/main" val="385594624"/>
                  </a:ext>
                </a:extLst>
              </a:tr>
              <a:tr h="370840">
                <a:tc>
                  <a:txBody>
                    <a:bodyPr/>
                    <a:lstStyle/>
                    <a:p>
                      <a:pPr>
                        <a:buNone/>
                      </a:pPr>
                      <a:r>
                        <a:rPr lang="en-IN" b="1" dirty="0"/>
                        <a:t>Message Preparation</a:t>
                      </a:r>
                      <a:endParaRPr lang="en-IN" dirty="0"/>
                    </a:p>
                  </a:txBody>
                  <a:tcPr anchor="ctr"/>
                </a:tc>
                <a:tc>
                  <a:txBody>
                    <a:bodyPr/>
                    <a:lstStyle/>
                    <a:p>
                      <a:pPr>
                        <a:buNone/>
                      </a:pPr>
                      <a:r>
                        <a:rPr lang="en-IN"/>
                        <a:t>Takes the data entered by the user (text, image, video, document) and prepares it for transmission.</a:t>
                      </a:r>
                    </a:p>
                  </a:txBody>
                  <a:tcPr anchor="ctr"/>
                </a:tc>
                <a:extLst>
                  <a:ext uri="{0D108BD9-81ED-4DB2-BD59-A6C34878D82A}">
                    <a16:rowId xmlns:a16="http://schemas.microsoft.com/office/drawing/2014/main" val="2440142686"/>
                  </a:ext>
                </a:extLst>
              </a:tr>
              <a:tr h="370840">
                <a:tc>
                  <a:txBody>
                    <a:bodyPr/>
                    <a:lstStyle/>
                    <a:p>
                      <a:pPr>
                        <a:buNone/>
                      </a:pPr>
                      <a:r>
                        <a:rPr lang="en-IN" b="1" dirty="0"/>
                        <a:t>Resource Sharing</a:t>
                      </a:r>
                      <a:endParaRPr lang="en-IN" dirty="0"/>
                    </a:p>
                  </a:txBody>
                  <a:tcPr anchor="ctr"/>
                </a:tc>
                <a:tc>
                  <a:txBody>
                    <a:bodyPr/>
                    <a:lstStyle/>
                    <a:p>
                      <a:pPr>
                        <a:buNone/>
                      </a:pPr>
                      <a:r>
                        <a:rPr lang="en-IN"/>
                        <a:t>Allows users to access shared files, printers, cloud storage, and remote resources over the network.</a:t>
                      </a:r>
                    </a:p>
                  </a:txBody>
                  <a:tcPr anchor="ctr"/>
                </a:tc>
                <a:extLst>
                  <a:ext uri="{0D108BD9-81ED-4DB2-BD59-A6C34878D82A}">
                    <a16:rowId xmlns:a16="http://schemas.microsoft.com/office/drawing/2014/main" val="2091929012"/>
                  </a:ext>
                </a:extLst>
              </a:tr>
              <a:tr h="370840">
                <a:tc>
                  <a:txBody>
                    <a:bodyPr/>
                    <a:lstStyle/>
                    <a:p>
                      <a:pPr>
                        <a:buNone/>
                      </a:pPr>
                      <a:r>
                        <a:rPr lang="en-IN" b="1" dirty="0"/>
                        <a:t>Web Communication</a:t>
                      </a:r>
                      <a:endParaRPr lang="en-IN" dirty="0"/>
                    </a:p>
                  </a:txBody>
                  <a:tcPr anchor="ctr"/>
                </a:tc>
                <a:tc>
                  <a:txBody>
                    <a:bodyPr/>
                    <a:lstStyle/>
                    <a:p>
                      <a:pPr>
                        <a:buNone/>
                      </a:pPr>
                      <a:r>
                        <a:rPr lang="en-IN"/>
                        <a:t>Supports communication between web browsers and web servers for accessing websites.</a:t>
                      </a:r>
                    </a:p>
                  </a:txBody>
                  <a:tcPr anchor="ctr"/>
                </a:tc>
                <a:extLst>
                  <a:ext uri="{0D108BD9-81ED-4DB2-BD59-A6C34878D82A}">
                    <a16:rowId xmlns:a16="http://schemas.microsoft.com/office/drawing/2014/main" val="320253377"/>
                  </a:ext>
                </a:extLst>
              </a:tr>
              <a:tr h="370840">
                <a:tc>
                  <a:txBody>
                    <a:bodyPr/>
                    <a:lstStyle/>
                    <a:p>
                      <a:pPr>
                        <a:buNone/>
                      </a:pPr>
                      <a:r>
                        <a:rPr lang="en-IN" b="1" dirty="0"/>
                        <a:t>File Transfer</a:t>
                      </a:r>
                      <a:endParaRPr lang="en-IN" dirty="0"/>
                    </a:p>
                  </a:txBody>
                  <a:tcPr anchor="ctr"/>
                </a:tc>
                <a:tc>
                  <a:txBody>
                    <a:bodyPr/>
                    <a:lstStyle/>
                    <a:p>
                      <a:pPr>
                        <a:buNone/>
                      </a:pPr>
                      <a:r>
                        <a:rPr lang="en-IN" dirty="0"/>
                        <a:t>Allows uploading and downloading files between computers.</a:t>
                      </a:r>
                    </a:p>
                  </a:txBody>
                  <a:tcPr anchor="ctr"/>
                </a:tc>
                <a:extLst>
                  <a:ext uri="{0D108BD9-81ED-4DB2-BD59-A6C34878D82A}">
                    <a16:rowId xmlns:a16="http://schemas.microsoft.com/office/drawing/2014/main" val="2414151881"/>
                  </a:ext>
                </a:extLst>
              </a:tr>
              <a:tr h="370840">
                <a:tc>
                  <a:txBody>
                    <a:bodyPr/>
                    <a:lstStyle/>
                    <a:p>
                      <a:pPr>
                        <a:buNone/>
                      </a:pPr>
                      <a:r>
                        <a:rPr lang="en-IN" b="1"/>
                        <a:t>Name Resolution Request</a:t>
                      </a:r>
                      <a:endParaRPr lang="en-IN"/>
                    </a:p>
                  </a:txBody>
                  <a:tcPr anchor="ctr"/>
                </a:tc>
                <a:tc>
                  <a:txBody>
                    <a:bodyPr/>
                    <a:lstStyle/>
                    <a:p>
                      <a:pPr>
                        <a:buNone/>
                      </a:pPr>
                      <a:r>
                        <a:rPr lang="en-IN"/>
                        <a:t>Requests domain name resolution (such as converting </a:t>
                      </a:r>
                      <a:r>
                        <a:rPr lang="en-IN">
                          <a:latin typeface="Courier New" panose="02070309020205020404" pitchFamily="49" charset="0"/>
                        </a:rPr>
                        <a:t>www.google.com</a:t>
                      </a:r>
                      <a:r>
                        <a:rPr lang="en-IN"/>
                        <a:t> into an IP address) through DNS services.</a:t>
                      </a:r>
                    </a:p>
                  </a:txBody>
                  <a:tcPr anchor="ctr"/>
                </a:tc>
                <a:extLst>
                  <a:ext uri="{0D108BD9-81ED-4DB2-BD59-A6C34878D82A}">
                    <a16:rowId xmlns:a16="http://schemas.microsoft.com/office/drawing/2014/main" val="27735260"/>
                  </a:ext>
                </a:extLst>
              </a:tr>
              <a:tr h="370840">
                <a:tc>
                  <a:txBody>
                    <a:bodyPr/>
                    <a:lstStyle/>
                    <a:p>
                      <a:pPr>
                        <a:buNone/>
                      </a:pPr>
                      <a:r>
                        <a:rPr lang="en-IN" b="1" dirty="0"/>
                        <a:t>Remote Login</a:t>
                      </a:r>
                      <a:endParaRPr lang="en-IN" dirty="0"/>
                    </a:p>
                  </a:txBody>
                  <a:tcPr anchor="ctr"/>
                </a:tc>
                <a:tc>
                  <a:txBody>
                    <a:bodyPr/>
                    <a:lstStyle/>
                    <a:p>
                      <a:pPr>
                        <a:buNone/>
                      </a:pPr>
                      <a:r>
                        <a:rPr lang="en-IN"/>
                        <a:t>Allows users to access and control remote computers over a network.</a:t>
                      </a:r>
                    </a:p>
                  </a:txBody>
                  <a:tcPr anchor="ctr"/>
                </a:tc>
                <a:extLst>
                  <a:ext uri="{0D108BD9-81ED-4DB2-BD59-A6C34878D82A}">
                    <a16:rowId xmlns:a16="http://schemas.microsoft.com/office/drawing/2014/main" val="1534943981"/>
                  </a:ext>
                </a:extLst>
              </a:tr>
              <a:tr h="370840">
                <a:tc>
                  <a:txBody>
                    <a:bodyPr/>
                    <a:lstStyle/>
                    <a:p>
                      <a:pPr>
                        <a:buNone/>
                      </a:pPr>
                      <a:r>
                        <a:rPr lang="en-IN" b="1" dirty="0"/>
                        <a:t>Network Authentication</a:t>
                      </a:r>
                      <a:endParaRPr lang="en-IN" dirty="0"/>
                    </a:p>
                  </a:txBody>
                  <a:tcPr anchor="ctr"/>
                </a:tc>
                <a:tc>
                  <a:txBody>
                    <a:bodyPr/>
                    <a:lstStyle/>
                    <a:p>
                      <a:pPr>
                        <a:buNone/>
                      </a:pPr>
                      <a:r>
                        <a:rPr lang="en-IN" dirty="0"/>
                        <a:t>Helps verify user identity before providing access to network services.</a:t>
                      </a:r>
                    </a:p>
                  </a:txBody>
                  <a:tcPr anchor="ctr"/>
                </a:tc>
                <a:extLst>
                  <a:ext uri="{0D108BD9-81ED-4DB2-BD59-A6C34878D82A}">
                    <a16:rowId xmlns:a16="http://schemas.microsoft.com/office/drawing/2014/main" val="2550150040"/>
                  </a:ext>
                </a:extLst>
              </a:tr>
            </a:tbl>
          </a:graphicData>
        </a:graphic>
      </p:graphicFrame>
    </p:spTree>
    <p:extLst>
      <p:ext uri="{BB962C8B-B14F-4D97-AF65-F5344CB8AC3E}">
        <p14:creationId xmlns:p14="http://schemas.microsoft.com/office/powerpoint/2010/main" val="4355152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257292-1795-1A61-07DD-2C5D2411AB5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055713-1E22-060C-6E9A-E79FE1E4B11D}"/>
              </a:ext>
            </a:extLst>
          </p:cNvPr>
          <p:cNvSpPr>
            <a:spLocks noGrp="1"/>
          </p:cNvSpPr>
          <p:nvPr>
            <p:ph type="title"/>
          </p:nvPr>
        </p:nvSpPr>
        <p:spPr>
          <a:xfrm>
            <a:off x="613611" y="433137"/>
            <a:ext cx="10515600" cy="737938"/>
          </a:xfrm>
        </p:spPr>
        <p:txBody>
          <a:bodyPr/>
          <a:lstStyle/>
          <a:p>
            <a:r>
              <a:rPr lang="en-IN" dirty="0"/>
              <a:t>The Application Layer: Protocols Used</a:t>
            </a:r>
          </a:p>
        </p:txBody>
      </p:sp>
      <p:graphicFrame>
        <p:nvGraphicFramePr>
          <p:cNvPr id="3" name="Table 2">
            <a:extLst>
              <a:ext uri="{FF2B5EF4-FFF2-40B4-BE49-F238E27FC236}">
                <a16:creationId xmlns:a16="http://schemas.microsoft.com/office/drawing/2014/main" id="{D32DF98D-EDD6-8599-6564-4BA1372F5497}"/>
              </a:ext>
            </a:extLst>
          </p:cNvPr>
          <p:cNvGraphicFramePr>
            <a:graphicFrameLocks noGrp="1"/>
          </p:cNvGraphicFramePr>
          <p:nvPr>
            <p:extLst>
              <p:ext uri="{D42A27DB-BD31-4B8C-83A1-F6EECF244321}">
                <p14:modId xmlns:p14="http://schemas.microsoft.com/office/powerpoint/2010/main" val="2621727870"/>
              </p:ext>
            </p:extLst>
          </p:nvPr>
        </p:nvGraphicFramePr>
        <p:xfrm>
          <a:off x="192505" y="523241"/>
          <a:ext cx="11806989" cy="6334760"/>
        </p:xfrm>
        <a:graphic>
          <a:graphicData uri="http://schemas.openxmlformats.org/drawingml/2006/table">
            <a:tbl>
              <a:tblPr firstRow="1" bandRow="1">
                <a:tableStyleId>{5C22544A-7EE6-4342-B048-85BDC9FD1C3A}</a:tableStyleId>
              </a:tblPr>
              <a:tblGrid>
                <a:gridCol w="4058651">
                  <a:extLst>
                    <a:ext uri="{9D8B030D-6E8A-4147-A177-3AD203B41FA5}">
                      <a16:colId xmlns:a16="http://schemas.microsoft.com/office/drawing/2014/main" val="1691795614"/>
                    </a:ext>
                  </a:extLst>
                </a:gridCol>
                <a:gridCol w="3812675">
                  <a:extLst>
                    <a:ext uri="{9D8B030D-6E8A-4147-A177-3AD203B41FA5}">
                      <a16:colId xmlns:a16="http://schemas.microsoft.com/office/drawing/2014/main" val="49182656"/>
                    </a:ext>
                  </a:extLst>
                </a:gridCol>
                <a:gridCol w="3935663">
                  <a:extLst>
                    <a:ext uri="{9D8B030D-6E8A-4147-A177-3AD203B41FA5}">
                      <a16:colId xmlns:a16="http://schemas.microsoft.com/office/drawing/2014/main" val="1136573246"/>
                    </a:ext>
                  </a:extLst>
                </a:gridCol>
              </a:tblGrid>
              <a:tr h="370840">
                <a:tc>
                  <a:txBody>
                    <a:bodyPr/>
                    <a:lstStyle/>
                    <a:p>
                      <a:pPr>
                        <a:buNone/>
                      </a:pPr>
                      <a:r>
                        <a:rPr lang="en-IN" b="1" dirty="0"/>
                        <a:t>Protocol</a:t>
                      </a:r>
                      <a:endParaRPr lang="en-IN" dirty="0"/>
                    </a:p>
                  </a:txBody>
                  <a:tcPr anchor="ctr"/>
                </a:tc>
                <a:tc>
                  <a:txBody>
                    <a:bodyPr/>
                    <a:lstStyle/>
                    <a:p>
                      <a:pPr>
                        <a:buNone/>
                      </a:pPr>
                      <a:r>
                        <a:rPr lang="en-IN" b="1"/>
                        <a:t>Purpose</a:t>
                      </a:r>
                      <a:endParaRPr lang="en-IN"/>
                    </a:p>
                  </a:txBody>
                  <a:tcPr anchor="ctr"/>
                </a:tc>
                <a:tc>
                  <a:txBody>
                    <a:bodyPr/>
                    <a:lstStyle/>
                    <a:p>
                      <a:pPr>
                        <a:buNone/>
                      </a:pPr>
                      <a:r>
                        <a:rPr lang="en-IN" b="1"/>
                        <a:t>Example</a:t>
                      </a:r>
                      <a:endParaRPr lang="en-IN"/>
                    </a:p>
                  </a:txBody>
                  <a:tcPr anchor="ctr"/>
                </a:tc>
                <a:extLst>
                  <a:ext uri="{0D108BD9-81ED-4DB2-BD59-A6C34878D82A}">
                    <a16:rowId xmlns:a16="http://schemas.microsoft.com/office/drawing/2014/main" val="732037228"/>
                  </a:ext>
                </a:extLst>
              </a:tr>
              <a:tr h="370840">
                <a:tc>
                  <a:txBody>
                    <a:bodyPr/>
                    <a:lstStyle/>
                    <a:p>
                      <a:pPr>
                        <a:buNone/>
                      </a:pPr>
                      <a:r>
                        <a:rPr lang="en-IN" b="1"/>
                        <a:t>HTTP (HyperText Transfer Protocol)</a:t>
                      </a:r>
                      <a:endParaRPr lang="en-IN"/>
                    </a:p>
                  </a:txBody>
                  <a:tcPr anchor="ctr"/>
                </a:tc>
                <a:tc>
                  <a:txBody>
                    <a:bodyPr/>
                    <a:lstStyle/>
                    <a:p>
                      <a:pPr>
                        <a:buNone/>
                      </a:pPr>
                      <a:r>
                        <a:rPr lang="en-IN"/>
                        <a:t>Transfers web pages between browser and server.</a:t>
                      </a:r>
                    </a:p>
                  </a:txBody>
                  <a:tcPr anchor="ctr"/>
                </a:tc>
                <a:tc>
                  <a:txBody>
                    <a:bodyPr/>
                    <a:lstStyle/>
                    <a:p>
                      <a:pPr>
                        <a:buNone/>
                      </a:pPr>
                      <a:r>
                        <a:rPr lang="en-IN"/>
                        <a:t>Opening </a:t>
                      </a:r>
                      <a:r>
                        <a:rPr lang="en-IN">
                          <a:latin typeface="Courier New" panose="02070309020205020404" pitchFamily="49" charset="0"/>
                        </a:rPr>
                        <a:t>http://example.com</a:t>
                      </a:r>
                      <a:endParaRPr lang="en-IN"/>
                    </a:p>
                  </a:txBody>
                  <a:tcPr anchor="ctr"/>
                </a:tc>
                <a:extLst>
                  <a:ext uri="{0D108BD9-81ED-4DB2-BD59-A6C34878D82A}">
                    <a16:rowId xmlns:a16="http://schemas.microsoft.com/office/drawing/2014/main" val="1016626281"/>
                  </a:ext>
                </a:extLst>
              </a:tr>
              <a:tr h="370840">
                <a:tc>
                  <a:txBody>
                    <a:bodyPr/>
                    <a:lstStyle/>
                    <a:p>
                      <a:pPr>
                        <a:buNone/>
                      </a:pPr>
                      <a:r>
                        <a:rPr lang="en-IN" b="1"/>
                        <a:t>HTTPS (HyperText Transfer Protocol Secure)</a:t>
                      </a:r>
                      <a:endParaRPr lang="en-IN"/>
                    </a:p>
                  </a:txBody>
                  <a:tcPr anchor="ctr"/>
                </a:tc>
                <a:tc>
                  <a:txBody>
                    <a:bodyPr/>
                    <a:lstStyle/>
                    <a:p>
                      <a:pPr>
                        <a:buNone/>
                      </a:pPr>
                      <a:r>
                        <a:rPr lang="en-IN"/>
                        <a:t>Secure version of HTTP using encryption.</a:t>
                      </a:r>
                    </a:p>
                  </a:txBody>
                  <a:tcPr anchor="ctr"/>
                </a:tc>
                <a:tc>
                  <a:txBody>
                    <a:bodyPr/>
                    <a:lstStyle/>
                    <a:p>
                      <a:pPr>
                        <a:buNone/>
                      </a:pPr>
                      <a:r>
                        <a:rPr lang="en-IN"/>
                        <a:t>Opening </a:t>
                      </a:r>
                      <a:r>
                        <a:rPr lang="en-IN">
                          <a:latin typeface="Courier New" panose="02070309020205020404" pitchFamily="49" charset="0"/>
                        </a:rPr>
                        <a:t>https://www.google.com</a:t>
                      </a:r>
                      <a:endParaRPr lang="en-IN"/>
                    </a:p>
                  </a:txBody>
                  <a:tcPr anchor="ctr"/>
                </a:tc>
                <a:extLst>
                  <a:ext uri="{0D108BD9-81ED-4DB2-BD59-A6C34878D82A}">
                    <a16:rowId xmlns:a16="http://schemas.microsoft.com/office/drawing/2014/main" val="2740120725"/>
                  </a:ext>
                </a:extLst>
              </a:tr>
              <a:tr h="370840">
                <a:tc>
                  <a:txBody>
                    <a:bodyPr/>
                    <a:lstStyle/>
                    <a:p>
                      <a:pPr>
                        <a:buNone/>
                      </a:pPr>
                      <a:r>
                        <a:rPr lang="en-IN" b="1"/>
                        <a:t>FTP (File Transfer Protocol)</a:t>
                      </a:r>
                      <a:endParaRPr lang="en-IN"/>
                    </a:p>
                  </a:txBody>
                  <a:tcPr anchor="ctr"/>
                </a:tc>
                <a:tc>
                  <a:txBody>
                    <a:bodyPr/>
                    <a:lstStyle/>
                    <a:p>
                      <a:pPr>
                        <a:buNone/>
                      </a:pPr>
                      <a:r>
                        <a:rPr lang="en-IN"/>
                        <a:t>Transfers files between computers.</a:t>
                      </a:r>
                    </a:p>
                  </a:txBody>
                  <a:tcPr anchor="ctr"/>
                </a:tc>
                <a:tc>
                  <a:txBody>
                    <a:bodyPr/>
                    <a:lstStyle/>
                    <a:p>
                      <a:pPr>
                        <a:buNone/>
                      </a:pPr>
                      <a:r>
                        <a:rPr lang="en-IN"/>
                        <a:t>Uploading files to a server</a:t>
                      </a:r>
                    </a:p>
                  </a:txBody>
                  <a:tcPr anchor="ctr"/>
                </a:tc>
                <a:extLst>
                  <a:ext uri="{0D108BD9-81ED-4DB2-BD59-A6C34878D82A}">
                    <a16:rowId xmlns:a16="http://schemas.microsoft.com/office/drawing/2014/main" val="2428064096"/>
                  </a:ext>
                </a:extLst>
              </a:tr>
              <a:tr h="370840">
                <a:tc>
                  <a:txBody>
                    <a:bodyPr/>
                    <a:lstStyle/>
                    <a:p>
                      <a:pPr>
                        <a:buNone/>
                      </a:pPr>
                      <a:r>
                        <a:rPr lang="en-IN" b="1"/>
                        <a:t>SFTP (SSH File Transfer Protocol)</a:t>
                      </a:r>
                      <a:endParaRPr lang="en-IN"/>
                    </a:p>
                  </a:txBody>
                  <a:tcPr anchor="ctr"/>
                </a:tc>
                <a:tc>
                  <a:txBody>
                    <a:bodyPr/>
                    <a:lstStyle/>
                    <a:p>
                      <a:pPr>
                        <a:buNone/>
                      </a:pPr>
                      <a:r>
                        <a:rPr lang="en-IN"/>
                        <a:t>Secure file transfer over SSH.</a:t>
                      </a:r>
                    </a:p>
                  </a:txBody>
                  <a:tcPr anchor="ctr"/>
                </a:tc>
                <a:tc>
                  <a:txBody>
                    <a:bodyPr/>
                    <a:lstStyle/>
                    <a:p>
                      <a:pPr>
                        <a:buNone/>
                      </a:pPr>
                      <a:r>
                        <a:rPr lang="en-IN"/>
                        <a:t>Securely transferring files</a:t>
                      </a:r>
                    </a:p>
                  </a:txBody>
                  <a:tcPr anchor="ctr"/>
                </a:tc>
                <a:extLst>
                  <a:ext uri="{0D108BD9-81ED-4DB2-BD59-A6C34878D82A}">
                    <a16:rowId xmlns:a16="http://schemas.microsoft.com/office/drawing/2014/main" val="964425014"/>
                  </a:ext>
                </a:extLst>
              </a:tr>
              <a:tr h="370840">
                <a:tc>
                  <a:txBody>
                    <a:bodyPr/>
                    <a:lstStyle/>
                    <a:p>
                      <a:pPr>
                        <a:buNone/>
                      </a:pPr>
                      <a:r>
                        <a:rPr lang="en-IN" b="1"/>
                        <a:t>SMTP (Simple Mail Transfer Protocol)</a:t>
                      </a:r>
                      <a:endParaRPr lang="en-IN"/>
                    </a:p>
                  </a:txBody>
                  <a:tcPr anchor="ctr"/>
                </a:tc>
                <a:tc>
                  <a:txBody>
                    <a:bodyPr/>
                    <a:lstStyle/>
                    <a:p>
                      <a:pPr>
                        <a:buNone/>
                      </a:pPr>
                      <a:r>
                        <a:rPr lang="en-IN"/>
                        <a:t>Sends emails.</a:t>
                      </a:r>
                    </a:p>
                  </a:txBody>
                  <a:tcPr anchor="ctr"/>
                </a:tc>
                <a:tc>
                  <a:txBody>
                    <a:bodyPr/>
                    <a:lstStyle/>
                    <a:p>
                      <a:pPr>
                        <a:buNone/>
                      </a:pPr>
                      <a:r>
                        <a:rPr lang="en-IN"/>
                        <a:t>Sending an email from Gmail</a:t>
                      </a:r>
                    </a:p>
                  </a:txBody>
                  <a:tcPr anchor="ctr"/>
                </a:tc>
                <a:extLst>
                  <a:ext uri="{0D108BD9-81ED-4DB2-BD59-A6C34878D82A}">
                    <a16:rowId xmlns:a16="http://schemas.microsoft.com/office/drawing/2014/main" val="1184079028"/>
                  </a:ext>
                </a:extLst>
              </a:tr>
              <a:tr h="370840">
                <a:tc>
                  <a:txBody>
                    <a:bodyPr/>
                    <a:lstStyle/>
                    <a:p>
                      <a:pPr>
                        <a:buNone/>
                      </a:pPr>
                      <a:r>
                        <a:rPr lang="en-IN" b="1" dirty="0"/>
                        <a:t>POP3 (Post Office Protocol Version 3)</a:t>
                      </a:r>
                      <a:endParaRPr lang="en-IN" dirty="0"/>
                    </a:p>
                  </a:txBody>
                  <a:tcPr anchor="ctr"/>
                </a:tc>
                <a:tc>
                  <a:txBody>
                    <a:bodyPr/>
                    <a:lstStyle/>
                    <a:p>
                      <a:pPr>
                        <a:buNone/>
                      </a:pPr>
                      <a:r>
                        <a:rPr lang="en-IN"/>
                        <a:t>Downloads emails from the mail server.</a:t>
                      </a:r>
                    </a:p>
                  </a:txBody>
                  <a:tcPr anchor="ctr"/>
                </a:tc>
                <a:tc>
                  <a:txBody>
                    <a:bodyPr/>
                    <a:lstStyle/>
                    <a:p>
                      <a:pPr>
                        <a:buNone/>
                      </a:pPr>
                      <a:r>
                        <a:rPr lang="en-IN"/>
                        <a:t>Reading emails on Outlook</a:t>
                      </a:r>
                    </a:p>
                  </a:txBody>
                  <a:tcPr anchor="ctr"/>
                </a:tc>
                <a:extLst>
                  <a:ext uri="{0D108BD9-81ED-4DB2-BD59-A6C34878D82A}">
                    <a16:rowId xmlns:a16="http://schemas.microsoft.com/office/drawing/2014/main" val="3140472531"/>
                  </a:ext>
                </a:extLst>
              </a:tr>
              <a:tr h="370840">
                <a:tc>
                  <a:txBody>
                    <a:bodyPr/>
                    <a:lstStyle/>
                    <a:p>
                      <a:pPr>
                        <a:buNone/>
                      </a:pPr>
                      <a:r>
                        <a:rPr lang="en-IN" b="1" dirty="0"/>
                        <a:t>IMAP (Internet Message Access Protocol)</a:t>
                      </a:r>
                      <a:endParaRPr lang="en-IN" dirty="0"/>
                    </a:p>
                  </a:txBody>
                  <a:tcPr anchor="ctr"/>
                </a:tc>
                <a:tc>
                  <a:txBody>
                    <a:bodyPr/>
                    <a:lstStyle/>
                    <a:p>
                      <a:pPr>
                        <a:buNone/>
                      </a:pPr>
                      <a:r>
                        <a:rPr lang="en-IN"/>
                        <a:t>Accesses emails while keeping them on the server.</a:t>
                      </a:r>
                    </a:p>
                  </a:txBody>
                  <a:tcPr anchor="ctr"/>
                </a:tc>
                <a:tc>
                  <a:txBody>
                    <a:bodyPr/>
                    <a:lstStyle/>
                    <a:p>
                      <a:pPr>
                        <a:buNone/>
                      </a:pPr>
                      <a:r>
                        <a:rPr lang="en-IN"/>
                        <a:t>Syncing emails across multiple devices</a:t>
                      </a:r>
                    </a:p>
                  </a:txBody>
                  <a:tcPr anchor="ctr"/>
                </a:tc>
                <a:extLst>
                  <a:ext uri="{0D108BD9-81ED-4DB2-BD59-A6C34878D82A}">
                    <a16:rowId xmlns:a16="http://schemas.microsoft.com/office/drawing/2014/main" val="508879784"/>
                  </a:ext>
                </a:extLst>
              </a:tr>
              <a:tr h="370840">
                <a:tc>
                  <a:txBody>
                    <a:bodyPr/>
                    <a:lstStyle/>
                    <a:p>
                      <a:pPr>
                        <a:buNone/>
                      </a:pPr>
                      <a:r>
                        <a:rPr lang="en-IN" b="1"/>
                        <a:t>DNS (Domain Name System)</a:t>
                      </a:r>
                      <a:endParaRPr lang="en-IN"/>
                    </a:p>
                  </a:txBody>
                  <a:tcPr anchor="ctr"/>
                </a:tc>
                <a:tc>
                  <a:txBody>
                    <a:bodyPr/>
                    <a:lstStyle/>
                    <a:p>
                      <a:pPr>
                        <a:buNone/>
                      </a:pPr>
                      <a:r>
                        <a:rPr lang="en-IN"/>
                        <a:t>Converts domain names into IP addresses.</a:t>
                      </a:r>
                    </a:p>
                  </a:txBody>
                  <a:tcPr anchor="ctr"/>
                </a:tc>
                <a:tc>
                  <a:txBody>
                    <a:bodyPr/>
                    <a:lstStyle/>
                    <a:p>
                      <a:pPr>
                        <a:buNone/>
                      </a:pPr>
                      <a:r>
                        <a:rPr lang="en-IN">
                          <a:latin typeface="Courier New" panose="02070309020205020404" pitchFamily="49" charset="0"/>
                        </a:rPr>
                        <a:t>www.google.com → 142.xxx.xxx.xxx</a:t>
                      </a:r>
                      <a:endParaRPr lang="en-IN"/>
                    </a:p>
                  </a:txBody>
                  <a:tcPr anchor="ctr"/>
                </a:tc>
                <a:extLst>
                  <a:ext uri="{0D108BD9-81ED-4DB2-BD59-A6C34878D82A}">
                    <a16:rowId xmlns:a16="http://schemas.microsoft.com/office/drawing/2014/main" val="3090015164"/>
                  </a:ext>
                </a:extLst>
              </a:tr>
              <a:tr h="370840">
                <a:tc>
                  <a:txBody>
                    <a:bodyPr/>
                    <a:lstStyle/>
                    <a:p>
                      <a:pPr>
                        <a:buNone/>
                      </a:pPr>
                      <a:r>
                        <a:rPr lang="en-IN" b="1" dirty="0"/>
                        <a:t>DHCP (Application Layer in TCP/IP)</a:t>
                      </a:r>
                      <a:endParaRPr lang="en-IN" dirty="0"/>
                    </a:p>
                  </a:txBody>
                  <a:tcPr anchor="ctr"/>
                </a:tc>
                <a:tc>
                  <a:txBody>
                    <a:bodyPr/>
                    <a:lstStyle/>
                    <a:p>
                      <a:pPr>
                        <a:buNone/>
                      </a:pPr>
                      <a:r>
                        <a:rPr lang="en-IN"/>
                        <a:t>Automatically assigns IP addresses to devices.</a:t>
                      </a:r>
                    </a:p>
                  </a:txBody>
                  <a:tcPr anchor="ctr"/>
                </a:tc>
                <a:tc>
                  <a:txBody>
                    <a:bodyPr/>
                    <a:lstStyle/>
                    <a:p>
                      <a:pPr>
                        <a:buNone/>
                      </a:pPr>
                      <a:r>
                        <a:rPr lang="en-IN"/>
                        <a:t>Laptop connecting to Wi-Fi</a:t>
                      </a:r>
                    </a:p>
                  </a:txBody>
                  <a:tcPr anchor="ctr"/>
                </a:tc>
                <a:extLst>
                  <a:ext uri="{0D108BD9-81ED-4DB2-BD59-A6C34878D82A}">
                    <a16:rowId xmlns:a16="http://schemas.microsoft.com/office/drawing/2014/main" val="2965998615"/>
                  </a:ext>
                </a:extLst>
              </a:tr>
              <a:tr h="370840">
                <a:tc>
                  <a:txBody>
                    <a:bodyPr/>
                    <a:lstStyle/>
                    <a:p>
                      <a:pPr>
                        <a:buNone/>
                      </a:pPr>
                      <a:r>
                        <a:rPr lang="en-IN" b="1" dirty="0"/>
                        <a:t>Telnet</a:t>
                      </a:r>
                      <a:endParaRPr lang="en-IN" dirty="0"/>
                    </a:p>
                  </a:txBody>
                  <a:tcPr anchor="ctr"/>
                </a:tc>
                <a:tc>
                  <a:txBody>
                    <a:bodyPr/>
                    <a:lstStyle/>
                    <a:p>
                      <a:pPr>
                        <a:buNone/>
                      </a:pPr>
                      <a:r>
                        <a:rPr lang="en-IN"/>
                        <a:t>Remote login (not secure).</a:t>
                      </a:r>
                    </a:p>
                  </a:txBody>
                  <a:tcPr anchor="ctr"/>
                </a:tc>
                <a:tc>
                  <a:txBody>
                    <a:bodyPr/>
                    <a:lstStyle/>
                    <a:p>
                      <a:pPr>
                        <a:buNone/>
                      </a:pPr>
                      <a:r>
                        <a:rPr lang="en-IN"/>
                        <a:t>Managing old network devices</a:t>
                      </a:r>
                    </a:p>
                  </a:txBody>
                  <a:tcPr anchor="ctr"/>
                </a:tc>
                <a:extLst>
                  <a:ext uri="{0D108BD9-81ED-4DB2-BD59-A6C34878D82A}">
                    <a16:rowId xmlns:a16="http://schemas.microsoft.com/office/drawing/2014/main" val="2780065512"/>
                  </a:ext>
                </a:extLst>
              </a:tr>
              <a:tr h="370840">
                <a:tc>
                  <a:txBody>
                    <a:bodyPr/>
                    <a:lstStyle/>
                    <a:p>
                      <a:pPr>
                        <a:buNone/>
                      </a:pPr>
                      <a:r>
                        <a:rPr lang="en-IN" b="1" dirty="0"/>
                        <a:t>WebSocket</a:t>
                      </a:r>
                      <a:endParaRPr lang="en-IN" dirty="0"/>
                    </a:p>
                  </a:txBody>
                  <a:tcPr anchor="ctr"/>
                </a:tc>
                <a:tc>
                  <a:txBody>
                    <a:bodyPr/>
                    <a:lstStyle/>
                    <a:p>
                      <a:pPr>
                        <a:buNone/>
                      </a:pPr>
                      <a:r>
                        <a:rPr lang="en-IN"/>
                        <a:t>Enables two-way real-time communication.</a:t>
                      </a:r>
                    </a:p>
                  </a:txBody>
                  <a:tcPr anchor="ctr"/>
                </a:tc>
                <a:tc>
                  <a:txBody>
                    <a:bodyPr/>
                    <a:lstStyle/>
                    <a:p>
                      <a:pPr>
                        <a:buNone/>
                      </a:pPr>
                      <a:r>
                        <a:rPr lang="en-IN" dirty="0"/>
                        <a:t>WhatsApp Web, live chats, online games</a:t>
                      </a:r>
                    </a:p>
                  </a:txBody>
                  <a:tcPr anchor="ctr"/>
                </a:tc>
                <a:extLst>
                  <a:ext uri="{0D108BD9-81ED-4DB2-BD59-A6C34878D82A}">
                    <a16:rowId xmlns:a16="http://schemas.microsoft.com/office/drawing/2014/main" val="2115329236"/>
                  </a:ext>
                </a:extLst>
              </a:tr>
            </a:tbl>
          </a:graphicData>
        </a:graphic>
      </p:graphicFrame>
    </p:spTree>
    <p:extLst>
      <p:ext uri="{BB962C8B-B14F-4D97-AF65-F5344CB8AC3E}">
        <p14:creationId xmlns:p14="http://schemas.microsoft.com/office/powerpoint/2010/main" val="248445184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7B61471-26AE-109C-92EB-30A13D547908}"/>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6995E065-4D2F-6989-DF83-01B3E1E82337}"/>
              </a:ext>
            </a:extLst>
          </p:cNvPr>
          <p:cNvSpPr>
            <a:spLocks noGrp="1"/>
          </p:cNvSpPr>
          <p:nvPr>
            <p:ph idx="1"/>
          </p:nvPr>
        </p:nvSpPr>
        <p:spPr>
          <a:xfrm>
            <a:off x="240631" y="1010654"/>
            <a:ext cx="11710738" cy="5662862"/>
          </a:xfrm>
        </p:spPr>
        <p:txBody>
          <a:bodyPr/>
          <a:lstStyle/>
          <a:p>
            <a:r>
              <a:rPr lang="en-IN" dirty="0"/>
              <a:t>The Application Layer does not divide the message into packets or frames.</a:t>
            </a:r>
          </a:p>
          <a:p>
            <a:r>
              <a:rPr lang="en-IN" dirty="0"/>
              <a:t>It simply passes the user's message to the lower layer (Presentation Layer).</a:t>
            </a:r>
          </a:p>
          <a:p>
            <a:endParaRPr lang="en-IN" dirty="0"/>
          </a:p>
          <a:p>
            <a:pPr marL="0" indent="0">
              <a:buNone/>
            </a:pPr>
            <a:r>
              <a:rPr lang="en-IN" b="1" dirty="0"/>
              <a:t>Header Format</a:t>
            </a:r>
          </a:p>
          <a:p>
            <a:r>
              <a:rPr lang="en-IN" dirty="0"/>
              <a:t>On application layer the header depends upon the protocol being used.</a:t>
            </a:r>
          </a:p>
          <a:p>
            <a:pPr marL="0" indent="0">
              <a:buNone/>
            </a:pPr>
            <a:r>
              <a:rPr lang="en-IN" dirty="0"/>
              <a:t>For example:</a:t>
            </a:r>
          </a:p>
          <a:p>
            <a:r>
              <a:rPr lang="en-IN" dirty="0"/>
              <a:t>HTTP adds an </a:t>
            </a:r>
            <a:r>
              <a:rPr lang="en-IN" b="1" dirty="0"/>
              <a:t>HTTP Header</a:t>
            </a:r>
            <a:r>
              <a:rPr lang="en-IN" dirty="0"/>
              <a:t>. </a:t>
            </a:r>
          </a:p>
          <a:p>
            <a:r>
              <a:rPr lang="en-IN" dirty="0"/>
              <a:t>SMTP adds an </a:t>
            </a:r>
            <a:r>
              <a:rPr lang="en-IN" b="1" dirty="0"/>
              <a:t>SMTP Header</a:t>
            </a:r>
            <a:r>
              <a:rPr lang="en-IN" dirty="0"/>
              <a:t>. </a:t>
            </a:r>
          </a:p>
          <a:p>
            <a:r>
              <a:rPr lang="en-IN" dirty="0"/>
              <a:t>FTP adds FTP command information. </a:t>
            </a:r>
          </a:p>
          <a:p>
            <a:r>
              <a:rPr lang="en-IN" dirty="0"/>
              <a:t>DNS adds a DNS message header.</a:t>
            </a:r>
          </a:p>
          <a:p>
            <a:endParaRPr lang="en-IN" dirty="0"/>
          </a:p>
        </p:txBody>
      </p:sp>
    </p:spTree>
    <p:extLst>
      <p:ext uri="{BB962C8B-B14F-4D97-AF65-F5344CB8AC3E}">
        <p14:creationId xmlns:p14="http://schemas.microsoft.com/office/powerpoint/2010/main" val="12554262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D071B6-AF08-684D-860C-F897E31AE0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9C1728-7E44-EB56-6610-8D9C6D0001FB}"/>
              </a:ext>
            </a:extLst>
          </p:cNvPr>
          <p:cNvSpPr>
            <a:spLocks noGrp="1"/>
          </p:cNvSpPr>
          <p:nvPr>
            <p:ph type="title"/>
          </p:nvPr>
        </p:nvSpPr>
        <p:spPr>
          <a:xfrm>
            <a:off x="240631" y="365126"/>
            <a:ext cx="11486147" cy="645528"/>
          </a:xfrm>
        </p:spPr>
        <p:txBody>
          <a:bodyPr>
            <a:normAutofit fontScale="90000"/>
          </a:bodyPr>
          <a:lstStyle/>
          <a:p>
            <a:r>
              <a:rPr lang="en-IN" dirty="0"/>
              <a:t>WhatsApp Chat Example</a:t>
            </a:r>
          </a:p>
        </p:txBody>
      </p:sp>
      <p:sp>
        <p:nvSpPr>
          <p:cNvPr id="3" name="Content Placeholder 2">
            <a:extLst>
              <a:ext uri="{FF2B5EF4-FFF2-40B4-BE49-F238E27FC236}">
                <a16:creationId xmlns:a16="http://schemas.microsoft.com/office/drawing/2014/main" id="{B92FEC8A-305A-6F6E-221A-DBAC44D4AA61}"/>
              </a:ext>
            </a:extLst>
          </p:cNvPr>
          <p:cNvSpPr>
            <a:spLocks noGrp="1"/>
          </p:cNvSpPr>
          <p:nvPr>
            <p:ph idx="1"/>
          </p:nvPr>
        </p:nvSpPr>
        <p:spPr>
          <a:xfrm>
            <a:off x="240631" y="1010654"/>
            <a:ext cx="11710738" cy="5662862"/>
          </a:xfrm>
        </p:spPr>
        <p:txBody>
          <a:bodyPr>
            <a:normAutofit fontScale="92500" lnSpcReduction="10000"/>
          </a:bodyPr>
          <a:lstStyle/>
          <a:p>
            <a:r>
              <a:rPr lang="en-IN" dirty="0"/>
              <a:t>Suppose you open WhatsApp and type: “Hello How Are You?”</a:t>
            </a:r>
          </a:p>
          <a:p>
            <a:pPr marL="0" indent="0">
              <a:buNone/>
            </a:pPr>
            <a:r>
              <a:rPr lang="en-IN" b="1" dirty="0"/>
              <a:t>At the Application Layer</a:t>
            </a:r>
          </a:p>
          <a:p>
            <a:pPr marL="0" indent="0">
              <a:buNone/>
            </a:pPr>
            <a:r>
              <a:rPr lang="en-IN" dirty="0"/>
              <a:t>The following happens:</a:t>
            </a:r>
          </a:p>
          <a:p>
            <a:r>
              <a:rPr lang="en-IN" dirty="0"/>
              <a:t>You type the message. </a:t>
            </a:r>
          </a:p>
          <a:p>
            <a:r>
              <a:rPr lang="en-IN" dirty="0"/>
              <a:t>WhatsApp receives the text. </a:t>
            </a:r>
          </a:p>
          <a:p>
            <a:r>
              <a:rPr lang="en-IN" dirty="0"/>
              <a:t>WhatsApp prepares the message for sending. </a:t>
            </a:r>
          </a:p>
          <a:p>
            <a:r>
              <a:rPr lang="en-IN" dirty="0"/>
              <a:t>It attaches application-related information (such as sender, receiver, and message ID). </a:t>
            </a:r>
          </a:p>
          <a:p>
            <a:r>
              <a:rPr lang="en-IN" dirty="0"/>
              <a:t>It passes the prepared message to the </a:t>
            </a:r>
            <a:r>
              <a:rPr lang="en-IN" b="1" dirty="0"/>
              <a:t>Presentation Layer</a:t>
            </a:r>
            <a:r>
              <a:rPr lang="en-IN" dirty="0"/>
              <a:t>. </a:t>
            </a:r>
          </a:p>
          <a:p>
            <a:r>
              <a:rPr lang="en-IN" b="1" dirty="0"/>
              <a:t>Important:</a:t>
            </a:r>
            <a:endParaRPr lang="en-IN" dirty="0"/>
          </a:p>
          <a:p>
            <a:r>
              <a:rPr lang="en-IN" dirty="0"/>
              <a:t>The message has </a:t>
            </a:r>
            <a:r>
              <a:rPr lang="en-IN" b="1" dirty="0"/>
              <a:t>not yet been encrypted</a:t>
            </a:r>
            <a:r>
              <a:rPr lang="en-IN" dirty="0"/>
              <a:t>, </a:t>
            </a:r>
            <a:r>
              <a:rPr lang="en-IN" b="1" dirty="0"/>
              <a:t>not divided into segments</a:t>
            </a:r>
            <a:r>
              <a:rPr lang="en-IN" dirty="0"/>
              <a:t>, and </a:t>
            </a:r>
            <a:r>
              <a:rPr lang="en-IN" b="1" dirty="0"/>
              <a:t>not converted into bits</a:t>
            </a:r>
            <a:r>
              <a:rPr lang="en-IN" dirty="0"/>
              <a:t>.</a:t>
            </a:r>
          </a:p>
          <a:p>
            <a:r>
              <a:rPr lang="en-IN" dirty="0"/>
              <a:t>Those tasks are performed by the lower layers.</a:t>
            </a:r>
          </a:p>
          <a:p>
            <a:endParaRPr lang="en-IN" dirty="0"/>
          </a:p>
        </p:txBody>
      </p:sp>
    </p:spTree>
    <p:extLst>
      <p:ext uri="{BB962C8B-B14F-4D97-AF65-F5344CB8AC3E}">
        <p14:creationId xmlns:p14="http://schemas.microsoft.com/office/powerpoint/2010/main" val="335074872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624480-4CAA-2155-6BAF-4974CA6FB1C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66FBB1-8211-5684-E456-F2FA9E700DAE}"/>
              </a:ext>
            </a:extLst>
          </p:cNvPr>
          <p:cNvSpPr>
            <a:spLocks noGrp="1"/>
          </p:cNvSpPr>
          <p:nvPr>
            <p:ph type="title"/>
          </p:nvPr>
        </p:nvSpPr>
        <p:spPr>
          <a:xfrm>
            <a:off x="240631" y="365126"/>
            <a:ext cx="11486147" cy="645528"/>
          </a:xfrm>
        </p:spPr>
        <p:txBody>
          <a:bodyPr>
            <a:normAutofit fontScale="90000"/>
          </a:bodyPr>
          <a:lstStyle/>
          <a:p>
            <a:r>
              <a:rPr lang="en-IN" dirty="0"/>
              <a:t>Presentation Layer</a:t>
            </a:r>
          </a:p>
        </p:txBody>
      </p:sp>
      <p:sp>
        <p:nvSpPr>
          <p:cNvPr id="3" name="Content Placeholder 2">
            <a:extLst>
              <a:ext uri="{FF2B5EF4-FFF2-40B4-BE49-F238E27FC236}">
                <a16:creationId xmlns:a16="http://schemas.microsoft.com/office/drawing/2014/main" id="{DA00CC15-78E3-3732-F21A-67F93B4931E3}"/>
              </a:ext>
            </a:extLst>
          </p:cNvPr>
          <p:cNvSpPr>
            <a:spLocks noGrp="1"/>
          </p:cNvSpPr>
          <p:nvPr>
            <p:ph idx="1"/>
          </p:nvPr>
        </p:nvSpPr>
        <p:spPr>
          <a:xfrm>
            <a:off x="240631" y="1010654"/>
            <a:ext cx="11710738" cy="5662862"/>
          </a:xfrm>
        </p:spPr>
        <p:txBody>
          <a:bodyPr>
            <a:normAutofit/>
          </a:bodyPr>
          <a:lstStyle/>
          <a:p>
            <a:r>
              <a:rPr lang="en-IN" dirty="0"/>
              <a:t>The </a:t>
            </a:r>
            <a:r>
              <a:rPr lang="en-IN" b="1" dirty="0"/>
              <a:t>Presentation Layer</a:t>
            </a:r>
            <a:r>
              <a:rPr lang="en-IN" dirty="0"/>
              <a:t> is the </a:t>
            </a:r>
            <a:r>
              <a:rPr lang="en-IN" b="1" dirty="0"/>
              <a:t>6th layer</a:t>
            </a:r>
            <a:r>
              <a:rPr lang="en-IN" dirty="0"/>
              <a:t> of the OSI Model.</a:t>
            </a:r>
          </a:p>
          <a:p>
            <a:r>
              <a:rPr lang="en-IN" dirty="0"/>
              <a:t>It is called the </a:t>
            </a:r>
            <a:r>
              <a:rPr lang="en-IN" b="1" dirty="0"/>
              <a:t>Translator of the OSI Model</a:t>
            </a:r>
            <a:r>
              <a:rPr lang="en-IN" dirty="0"/>
              <a:t> because it is responsible for making sure that the sender's data can be understood correctly by the receiver.</a:t>
            </a:r>
          </a:p>
          <a:p>
            <a:r>
              <a:rPr lang="en-IN" dirty="0"/>
              <a:t>This layer performs three major tasks:</a:t>
            </a:r>
          </a:p>
          <a:p>
            <a:pPr marL="514350" indent="-514350">
              <a:buFont typeface="+mj-lt"/>
              <a:buAutoNum type="arabicPeriod"/>
            </a:pPr>
            <a:r>
              <a:rPr lang="en-IN" b="1" dirty="0"/>
              <a:t>Data Translation (Format Conversion)</a:t>
            </a:r>
            <a:r>
              <a:rPr lang="en-IN" dirty="0"/>
              <a:t> </a:t>
            </a:r>
          </a:p>
          <a:p>
            <a:pPr marL="514350" indent="-514350">
              <a:buFont typeface="+mj-lt"/>
              <a:buAutoNum type="arabicPeriod"/>
            </a:pPr>
            <a:r>
              <a:rPr lang="en-IN" b="1" dirty="0"/>
              <a:t>Data Encryption and Decryption</a:t>
            </a:r>
            <a:r>
              <a:rPr lang="en-IN" dirty="0"/>
              <a:t> </a:t>
            </a:r>
          </a:p>
          <a:p>
            <a:pPr marL="514350" indent="-514350">
              <a:buFont typeface="+mj-lt"/>
              <a:buAutoNum type="arabicPeriod"/>
            </a:pPr>
            <a:r>
              <a:rPr lang="en-IN" b="1" dirty="0"/>
              <a:t>Data Compression and Decompression</a:t>
            </a:r>
            <a:endParaRPr lang="en-IN" dirty="0"/>
          </a:p>
          <a:p>
            <a:r>
              <a:rPr lang="en-IN" dirty="0">
                <a:highlight>
                  <a:srgbClr val="FFFF00"/>
                </a:highlight>
              </a:rPr>
              <a:t>The Presentation Layer is responsible for translating, encrypting, and compressing data before it is transmitted over the network.</a:t>
            </a:r>
          </a:p>
        </p:txBody>
      </p:sp>
    </p:spTree>
    <p:extLst>
      <p:ext uri="{BB962C8B-B14F-4D97-AF65-F5344CB8AC3E}">
        <p14:creationId xmlns:p14="http://schemas.microsoft.com/office/powerpoint/2010/main" val="271579618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63405-0793-860D-42AE-9C14A11EA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4D36647-CC74-1C64-5B95-30A91D721283}"/>
              </a:ext>
            </a:extLst>
          </p:cNvPr>
          <p:cNvSpPr>
            <a:spLocks noGrp="1"/>
          </p:cNvSpPr>
          <p:nvPr>
            <p:ph type="title"/>
          </p:nvPr>
        </p:nvSpPr>
        <p:spPr>
          <a:xfrm>
            <a:off x="613611" y="433137"/>
            <a:ext cx="10515600" cy="737938"/>
          </a:xfrm>
        </p:spPr>
        <p:txBody>
          <a:bodyPr/>
          <a:lstStyle/>
          <a:p>
            <a:r>
              <a:rPr lang="en-IN" dirty="0"/>
              <a:t>The Presentation Layer: Functionalities</a:t>
            </a:r>
          </a:p>
        </p:txBody>
      </p:sp>
      <p:graphicFrame>
        <p:nvGraphicFramePr>
          <p:cNvPr id="4" name="Table 3">
            <a:extLst>
              <a:ext uri="{FF2B5EF4-FFF2-40B4-BE49-F238E27FC236}">
                <a16:creationId xmlns:a16="http://schemas.microsoft.com/office/drawing/2014/main" id="{984F0A1E-8FBB-AD19-CED2-0A434C73A535}"/>
              </a:ext>
            </a:extLst>
          </p:cNvPr>
          <p:cNvGraphicFramePr>
            <a:graphicFrameLocks noGrp="1"/>
          </p:cNvGraphicFramePr>
          <p:nvPr>
            <p:extLst>
              <p:ext uri="{D42A27DB-BD31-4B8C-83A1-F6EECF244321}">
                <p14:modId xmlns:p14="http://schemas.microsoft.com/office/powerpoint/2010/main" val="3947233958"/>
              </p:ext>
            </p:extLst>
          </p:nvPr>
        </p:nvGraphicFramePr>
        <p:xfrm>
          <a:off x="320842" y="1171075"/>
          <a:ext cx="11550316" cy="479044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Data Translation</a:t>
                      </a:r>
                      <a:endParaRPr lang="en-IN"/>
                    </a:p>
                  </a:txBody>
                  <a:tcPr anchor="ctr"/>
                </a:tc>
                <a:tc>
                  <a:txBody>
                    <a:bodyPr/>
                    <a:lstStyle/>
                    <a:p>
                      <a:pPr>
                        <a:buNone/>
                      </a:pPr>
                      <a:r>
                        <a:rPr lang="en-IN" dirty="0"/>
                        <a:t>Converts data into a standard format so different devices and operating systems can understand it correctly.</a:t>
                      </a:r>
                      <a:br>
                        <a:rPr lang="en-IN" dirty="0"/>
                      </a:br>
                      <a:r>
                        <a:rPr lang="en-IN" dirty="0"/>
                        <a:t>Eg: PC-A stores data in UTF-8 format &amp; PC-B expects data in ASCII format.</a:t>
                      </a:r>
                    </a:p>
                  </a:txBody>
                  <a:tcPr anchor="ctr"/>
                </a:tc>
                <a:extLst>
                  <a:ext uri="{0D108BD9-81ED-4DB2-BD59-A6C34878D82A}">
                    <a16:rowId xmlns:a16="http://schemas.microsoft.com/office/drawing/2014/main" val="3315618413"/>
                  </a:ext>
                </a:extLst>
              </a:tr>
              <a:tr h="370840">
                <a:tc>
                  <a:txBody>
                    <a:bodyPr/>
                    <a:lstStyle/>
                    <a:p>
                      <a:pPr>
                        <a:buNone/>
                      </a:pPr>
                      <a:r>
                        <a:rPr lang="en-IN" b="1"/>
                        <a:t>Character Encoding</a:t>
                      </a:r>
                      <a:endParaRPr lang="en-IN"/>
                    </a:p>
                  </a:txBody>
                  <a:tcPr anchor="ctr"/>
                </a:tc>
                <a:tc>
                  <a:txBody>
                    <a:bodyPr/>
                    <a:lstStyle/>
                    <a:p>
                      <a:pPr>
                        <a:buNone/>
                      </a:pPr>
                      <a:r>
                        <a:rPr lang="en-IN"/>
                        <a:t>Converts characters into machine-readable formats such as ASCII or UTF-8.</a:t>
                      </a:r>
                    </a:p>
                  </a:txBody>
                  <a:tcPr anchor="ctr"/>
                </a:tc>
                <a:extLst>
                  <a:ext uri="{0D108BD9-81ED-4DB2-BD59-A6C34878D82A}">
                    <a16:rowId xmlns:a16="http://schemas.microsoft.com/office/drawing/2014/main" val="385594624"/>
                  </a:ext>
                </a:extLst>
              </a:tr>
              <a:tr h="370840">
                <a:tc>
                  <a:txBody>
                    <a:bodyPr/>
                    <a:lstStyle/>
                    <a:p>
                      <a:pPr>
                        <a:buNone/>
                      </a:pPr>
                      <a:r>
                        <a:rPr lang="en-IN" b="1"/>
                        <a:t>Data Encryption</a:t>
                      </a:r>
                      <a:endParaRPr lang="en-IN"/>
                    </a:p>
                  </a:txBody>
                  <a:tcPr anchor="ctr"/>
                </a:tc>
                <a:tc>
                  <a:txBody>
                    <a:bodyPr/>
                    <a:lstStyle/>
                    <a:p>
                      <a:pPr>
                        <a:buNone/>
                      </a:pPr>
                      <a:r>
                        <a:rPr lang="en-IN"/>
                        <a:t>Encrypts the data before transmission so unauthorized users cannot read it.</a:t>
                      </a:r>
                    </a:p>
                  </a:txBody>
                  <a:tcPr anchor="ctr"/>
                </a:tc>
                <a:extLst>
                  <a:ext uri="{0D108BD9-81ED-4DB2-BD59-A6C34878D82A}">
                    <a16:rowId xmlns:a16="http://schemas.microsoft.com/office/drawing/2014/main" val="2440142686"/>
                  </a:ext>
                </a:extLst>
              </a:tr>
              <a:tr h="370840">
                <a:tc>
                  <a:txBody>
                    <a:bodyPr/>
                    <a:lstStyle/>
                    <a:p>
                      <a:pPr>
                        <a:buNone/>
                      </a:pPr>
                      <a:r>
                        <a:rPr lang="en-IN" b="1"/>
                        <a:t>Data Decryption</a:t>
                      </a:r>
                      <a:endParaRPr lang="en-IN"/>
                    </a:p>
                  </a:txBody>
                  <a:tcPr anchor="ctr"/>
                </a:tc>
                <a:tc>
                  <a:txBody>
                    <a:bodyPr/>
                    <a:lstStyle/>
                    <a:p>
                      <a:pPr>
                        <a:buNone/>
                      </a:pPr>
                      <a:r>
                        <a:rPr lang="en-IN"/>
                        <a:t>Decrypts the received encrypted data so the original message can be read.</a:t>
                      </a:r>
                    </a:p>
                  </a:txBody>
                  <a:tcPr anchor="ctr"/>
                </a:tc>
                <a:extLst>
                  <a:ext uri="{0D108BD9-81ED-4DB2-BD59-A6C34878D82A}">
                    <a16:rowId xmlns:a16="http://schemas.microsoft.com/office/drawing/2014/main" val="2091929012"/>
                  </a:ext>
                </a:extLst>
              </a:tr>
              <a:tr h="370840">
                <a:tc>
                  <a:txBody>
                    <a:bodyPr/>
                    <a:lstStyle/>
                    <a:p>
                      <a:pPr>
                        <a:buNone/>
                      </a:pPr>
                      <a:r>
                        <a:rPr lang="en-IN" b="1"/>
                        <a:t>Data Compression</a:t>
                      </a:r>
                      <a:endParaRPr lang="en-IN"/>
                    </a:p>
                  </a:txBody>
                  <a:tcPr anchor="ctr"/>
                </a:tc>
                <a:tc>
                  <a:txBody>
                    <a:bodyPr/>
                    <a:lstStyle/>
                    <a:p>
                      <a:pPr>
                        <a:buNone/>
                      </a:pPr>
                      <a:r>
                        <a:rPr lang="en-IN"/>
                        <a:t>Compresses data to reduce its size, allowing faster transmission and reduced bandwidth usage.</a:t>
                      </a:r>
                    </a:p>
                  </a:txBody>
                  <a:tcPr anchor="ctr"/>
                </a:tc>
                <a:extLst>
                  <a:ext uri="{0D108BD9-81ED-4DB2-BD59-A6C34878D82A}">
                    <a16:rowId xmlns:a16="http://schemas.microsoft.com/office/drawing/2014/main" val="320253377"/>
                  </a:ext>
                </a:extLst>
              </a:tr>
              <a:tr h="370840">
                <a:tc>
                  <a:txBody>
                    <a:bodyPr/>
                    <a:lstStyle/>
                    <a:p>
                      <a:pPr>
                        <a:buNone/>
                      </a:pPr>
                      <a:r>
                        <a:rPr lang="en-IN" b="1"/>
                        <a:t>Data Decompression</a:t>
                      </a:r>
                      <a:endParaRPr lang="en-IN"/>
                    </a:p>
                  </a:txBody>
                  <a:tcPr anchor="ctr"/>
                </a:tc>
                <a:tc>
                  <a:txBody>
                    <a:bodyPr/>
                    <a:lstStyle/>
                    <a:p>
                      <a:pPr>
                        <a:buNone/>
                      </a:pPr>
                      <a:r>
                        <a:rPr lang="en-IN"/>
                        <a:t>Restores compressed data back to its original form after reception.</a:t>
                      </a:r>
                    </a:p>
                  </a:txBody>
                  <a:tcPr anchor="ctr"/>
                </a:tc>
                <a:extLst>
                  <a:ext uri="{0D108BD9-81ED-4DB2-BD59-A6C34878D82A}">
                    <a16:rowId xmlns:a16="http://schemas.microsoft.com/office/drawing/2014/main" val="2414151881"/>
                  </a:ext>
                </a:extLst>
              </a:tr>
              <a:tr h="370840">
                <a:tc>
                  <a:txBody>
                    <a:bodyPr/>
                    <a:lstStyle/>
                    <a:p>
                      <a:pPr>
                        <a:buNone/>
                      </a:pPr>
                      <a:r>
                        <a:rPr lang="en-IN" b="1"/>
                        <a:t>Format Conversion</a:t>
                      </a:r>
                      <a:endParaRPr lang="en-IN"/>
                    </a:p>
                  </a:txBody>
                  <a:tcPr anchor="ctr"/>
                </a:tc>
                <a:tc>
                  <a:txBody>
                    <a:bodyPr/>
                    <a:lstStyle/>
                    <a:p>
                      <a:pPr>
                        <a:buNone/>
                      </a:pPr>
                      <a:r>
                        <a:rPr lang="en-IN" dirty="0"/>
                        <a:t>Converts files, images, audio, or video into compatible formats for different devices and applications.</a:t>
                      </a:r>
                    </a:p>
                  </a:txBody>
                  <a:tcPr anchor="ctr"/>
                </a:tc>
                <a:extLst>
                  <a:ext uri="{0D108BD9-81ED-4DB2-BD59-A6C34878D82A}">
                    <a16:rowId xmlns:a16="http://schemas.microsoft.com/office/drawing/2014/main" val="27735260"/>
                  </a:ext>
                </a:extLst>
              </a:tr>
              <a:tr h="370840">
                <a:tc>
                  <a:txBody>
                    <a:bodyPr/>
                    <a:lstStyle/>
                    <a:p>
                      <a:pPr>
                        <a:buNone/>
                      </a:pPr>
                      <a:r>
                        <a:rPr lang="en-IN" b="1" dirty="0"/>
                        <a:t>Remote Login</a:t>
                      </a:r>
                      <a:endParaRPr lang="en-IN" dirty="0"/>
                    </a:p>
                  </a:txBody>
                  <a:tcPr anchor="ctr"/>
                </a:tc>
                <a:tc>
                  <a:txBody>
                    <a:bodyPr/>
                    <a:lstStyle/>
                    <a:p>
                      <a:pPr>
                        <a:buNone/>
                      </a:pPr>
                      <a:r>
                        <a:rPr lang="en-IN"/>
                        <a:t>Allows users to access and control remote computers over a network.</a:t>
                      </a:r>
                    </a:p>
                  </a:txBody>
                  <a:tcPr anchor="ctr"/>
                </a:tc>
                <a:extLst>
                  <a:ext uri="{0D108BD9-81ED-4DB2-BD59-A6C34878D82A}">
                    <a16:rowId xmlns:a16="http://schemas.microsoft.com/office/drawing/2014/main" val="1534943981"/>
                  </a:ext>
                </a:extLst>
              </a:tr>
              <a:tr h="370840">
                <a:tc>
                  <a:txBody>
                    <a:bodyPr/>
                    <a:lstStyle/>
                    <a:p>
                      <a:pPr>
                        <a:buNone/>
                      </a:pPr>
                      <a:r>
                        <a:rPr lang="en-IN" b="1" dirty="0"/>
                        <a:t>Network Authentication</a:t>
                      </a:r>
                      <a:endParaRPr lang="en-IN" dirty="0"/>
                    </a:p>
                  </a:txBody>
                  <a:tcPr anchor="ctr"/>
                </a:tc>
                <a:tc>
                  <a:txBody>
                    <a:bodyPr/>
                    <a:lstStyle/>
                    <a:p>
                      <a:pPr>
                        <a:buNone/>
                      </a:pPr>
                      <a:r>
                        <a:rPr lang="en-IN" dirty="0"/>
                        <a:t>Helps verify user identity before providing access to network services.</a:t>
                      </a:r>
                    </a:p>
                  </a:txBody>
                  <a:tcPr anchor="ctr"/>
                </a:tc>
                <a:extLst>
                  <a:ext uri="{0D108BD9-81ED-4DB2-BD59-A6C34878D82A}">
                    <a16:rowId xmlns:a16="http://schemas.microsoft.com/office/drawing/2014/main" val="2550150040"/>
                  </a:ext>
                </a:extLst>
              </a:tr>
            </a:tbl>
          </a:graphicData>
        </a:graphic>
      </p:graphicFrame>
    </p:spTree>
    <p:extLst>
      <p:ext uri="{BB962C8B-B14F-4D97-AF65-F5344CB8AC3E}">
        <p14:creationId xmlns:p14="http://schemas.microsoft.com/office/powerpoint/2010/main" val="134978638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09F7CF6-1601-5CA7-AB23-4A782386375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A035D5C-1C71-E864-2591-4D7E14443FC9}"/>
              </a:ext>
            </a:extLst>
          </p:cNvPr>
          <p:cNvSpPr>
            <a:spLocks noGrp="1"/>
          </p:cNvSpPr>
          <p:nvPr>
            <p:ph type="title"/>
          </p:nvPr>
        </p:nvSpPr>
        <p:spPr>
          <a:xfrm>
            <a:off x="613611" y="433137"/>
            <a:ext cx="10515600" cy="737938"/>
          </a:xfrm>
        </p:spPr>
        <p:txBody>
          <a:bodyPr/>
          <a:lstStyle/>
          <a:p>
            <a:r>
              <a:rPr lang="en-IN" dirty="0"/>
              <a:t>The Presentation Layer: Protocols Used</a:t>
            </a:r>
          </a:p>
        </p:txBody>
      </p:sp>
      <p:graphicFrame>
        <p:nvGraphicFramePr>
          <p:cNvPr id="3" name="Table 2">
            <a:extLst>
              <a:ext uri="{FF2B5EF4-FFF2-40B4-BE49-F238E27FC236}">
                <a16:creationId xmlns:a16="http://schemas.microsoft.com/office/drawing/2014/main" id="{AB53CF02-C0B4-0BB1-CD40-D745168AD898}"/>
              </a:ext>
            </a:extLst>
          </p:cNvPr>
          <p:cNvGraphicFramePr>
            <a:graphicFrameLocks noGrp="1"/>
          </p:cNvGraphicFramePr>
          <p:nvPr>
            <p:extLst>
              <p:ext uri="{D42A27DB-BD31-4B8C-83A1-F6EECF244321}">
                <p14:modId xmlns:p14="http://schemas.microsoft.com/office/powerpoint/2010/main" val="2072747863"/>
              </p:ext>
            </p:extLst>
          </p:nvPr>
        </p:nvGraphicFramePr>
        <p:xfrm>
          <a:off x="316832" y="1106907"/>
          <a:ext cx="10812379" cy="5527040"/>
        </p:xfrm>
        <a:graphic>
          <a:graphicData uri="http://schemas.openxmlformats.org/drawingml/2006/table">
            <a:tbl>
              <a:tblPr firstRow="1" bandRow="1">
                <a:tableStyleId>{5C22544A-7EE6-4342-B048-85BDC9FD1C3A}</a:tableStyleId>
              </a:tblPr>
              <a:tblGrid>
                <a:gridCol w="5575131">
                  <a:extLst>
                    <a:ext uri="{9D8B030D-6E8A-4147-A177-3AD203B41FA5}">
                      <a16:colId xmlns:a16="http://schemas.microsoft.com/office/drawing/2014/main" val="1691795614"/>
                    </a:ext>
                  </a:extLst>
                </a:gridCol>
                <a:gridCol w="5237248">
                  <a:extLst>
                    <a:ext uri="{9D8B030D-6E8A-4147-A177-3AD203B41FA5}">
                      <a16:colId xmlns:a16="http://schemas.microsoft.com/office/drawing/2014/main" val="49182656"/>
                    </a:ext>
                  </a:extLst>
                </a:gridCol>
              </a:tblGrid>
              <a:tr h="370840">
                <a:tc>
                  <a:txBody>
                    <a:bodyPr/>
                    <a:lstStyle/>
                    <a:p>
                      <a:pPr>
                        <a:buNone/>
                      </a:pPr>
                      <a:r>
                        <a:rPr lang="en-IN" b="1" dirty="0"/>
                        <a:t>Protocol / Technology</a:t>
                      </a:r>
                      <a:endParaRPr lang="en-IN" dirty="0"/>
                    </a:p>
                  </a:txBody>
                  <a:tcPr anchor="ctr"/>
                </a:tc>
                <a:tc>
                  <a:txBody>
                    <a:bodyPr/>
                    <a:lstStyle/>
                    <a:p>
                      <a:pPr>
                        <a:buNone/>
                      </a:pPr>
                      <a:r>
                        <a:rPr lang="en-IN" b="1"/>
                        <a:t>Purpose</a:t>
                      </a:r>
                      <a:endParaRPr lang="en-IN"/>
                    </a:p>
                  </a:txBody>
                  <a:tcPr anchor="ctr"/>
                </a:tc>
                <a:extLst>
                  <a:ext uri="{0D108BD9-81ED-4DB2-BD59-A6C34878D82A}">
                    <a16:rowId xmlns:a16="http://schemas.microsoft.com/office/drawing/2014/main" val="732037228"/>
                  </a:ext>
                </a:extLst>
              </a:tr>
              <a:tr h="370840">
                <a:tc>
                  <a:txBody>
                    <a:bodyPr/>
                    <a:lstStyle/>
                    <a:p>
                      <a:pPr>
                        <a:buNone/>
                      </a:pPr>
                      <a:r>
                        <a:rPr lang="en-IN" b="1"/>
                        <a:t>SSL (Secure Sockets Layer)</a:t>
                      </a:r>
                      <a:endParaRPr lang="en-IN"/>
                    </a:p>
                  </a:txBody>
                  <a:tcPr anchor="ctr"/>
                </a:tc>
                <a:tc>
                  <a:txBody>
                    <a:bodyPr/>
                    <a:lstStyle/>
                    <a:p>
                      <a:pPr>
                        <a:buNone/>
                      </a:pPr>
                      <a:r>
                        <a:rPr lang="en-IN"/>
                        <a:t>Encrypts communication between applications. </a:t>
                      </a:r>
                      <a:r>
                        <a:rPr lang="en-IN" i="1"/>
                        <a:t>(Older technology)</a:t>
                      </a:r>
                      <a:endParaRPr lang="en-IN"/>
                    </a:p>
                  </a:txBody>
                  <a:tcPr anchor="ctr"/>
                </a:tc>
                <a:extLst>
                  <a:ext uri="{0D108BD9-81ED-4DB2-BD59-A6C34878D82A}">
                    <a16:rowId xmlns:a16="http://schemas.microsoft.com/office/drawing/2014/main" val="1016626281"/>
                  </a:ext>
                </a:extLst>
              </a:tr>
              <a:tr h="370840">
                <a:tc>
                  <a:txBody>
                    <a:bodyPr/>
                    <a:lstStyle/>
                    <a:p>
                      <a:pPr>
                        <a:buNone/>
                      </a:pPr>
                      <a:r>
                        <a:rPr lang="en-IN" b="1"/>
                        <a:t>TLS (Transport Layer Security)</a:t>
                      </a:r>
                      <a:endParaRPr lang="en-IN"/>
                    </a:p>
                  </a:txBody>
                  <a:tcPr anchor="ctr"/>
                </a:tc>
                <a:tc>
                  <a:txBody>
                    <a:bodyPr/>
                    <a:lstStyle/>
                    <a:p>
                      <a:pPr>
                        <a:buNone/>
                      </a:pPr>
                      <a:r>
                        <a:rPr lang="en-IN"/>
                        <a:t>Modern encryption protocol used in HTTPS, WhatsApp, banking, etc.</a:t>
                      </a:r>
                    </a:p>
                  </a:txBody>
                  <a:tcPr anchor="ctr"/>
                </a:tc>
                <a:extLst>
                  <a:ext uri="{0D108BD9-81ED-4DB2-BD59-A6C34878D82A}">
                    <a16:rowId xmlns:a16="http://schemas.microsoft.com/office/drawing/2014/main" val="2740120725"/>
                  </a:ext>
                </a:extLst>
              </a:tr>
              <a:tr h="370840">
                <a:tc>
                  <a:txBody>
                    <a:bodyPr/>
                    <a:lstStyle/>
                    <a:p>
                      <a:pPr>
                        <a:buNone/>
                      </a:pPr>
                      <a:r>
                        <a:rPr lang="en-IN" b="1"/>
                        <a:t>ASCII</a:t>
                      </a:r>
                      <a:endParaRPr lang="en-IN"/>
                    </a:p>
                  </a:txBody>
                  <a:tcPr anchor="ctr"/>
                </a:tc>
                <a:tc>
                  <a:txBody>
                    <a:bodyPr/>
                    <a:lstStyle/>
                    <a:p>
                      <a:pPr>
                        <a:buNone/>
                      </a:pPr>
                      <a:r>
                        <a:rPr lang="en-IN"/>
                        <a:t>Standard character encoding for English text.</a:t>
                      </a:r>
                    </a:p>
                  </a:txBody>
                  <a:tcPr anchor="ctr"/>
                </a:tc>
                <a:extLst>
                  <a:ext uri="{0D108BD9-81ED-4DB2-BD59-A6C34878D82A}">
                    <a16:rowId xmlns:a16="http://schemas.microsoft.com/office/drawing/2014/main" val="2428064096"/>
                  </a:ext>
                </a:extLst>
              </a:tr>
              <a:tr h="370840">
                <a:tc>
                  <a:txBody>
                    <a:bodyPr/>
                    <a:lstStyle/>
                    <a:p>
                      <a:pPr>
                        <a:buNone/>
                      </a:pPr>
                      <a:r>
                        <a:rPr lang="en-IN" b="1"/>
                        <a:t>UTF-8</a:t>
                      </a:r>
                      <a:endParaRPr lang="en-IN"/>
                    </a:p>
                  </a:txBody>
                  <a:tcPr anchor="ctr"/>
                </a:tc>
                <a:tc>
                  <a:txBody>
                    <a:bodyPr/>
                    <a:lstStyle/>
                    <a:p>
                      <a:pPr>
                        <a:buNone/>
                      </a:pPr>
                      <a:r>
                        <a:rPr lang="en-IN"/>
                        <a:t>Universal character encoding supporting almost all languages.</a:t>
                      </a:r>
                    </a:p>
                  </a:txBody>
                  <a:tcPr anchor="ctr"/>
                </a:tc>
                <a:extLst>
                  <a:ext uri="{0D108BD9-81ED-4DB2-BD59-A6C34878D82A}">
                    <a16:rowId xmlns:a16="http://schemas.microsoft.com/office/drawing/2014/main" val="964425014"/>
                  </a:ext>
                </a:extLst>
              </a:tr>
              <a:tr h="370840">
                <a:tc>
                  <a:txBody>
                    <a:bodyPr/>
                    <a:lstStyle/>
                    <a:p>
                      <a:pPr>
                        <a:buNone/>
                      </a:pPr>
                      <a:r>
                        <a:rPr lang="en-IN" b="1"/>
                        <a:t>Unicode</a:t>
                      </a:r>
                      <a:endParaRPr lang="en-IN"/>
                    </a:p>
                  </a:txBody>
                  <a:tcPr anchor="ctr"/>
                </a:tc>
                <a:tc>
                  <a:txBody>
                    <a:bodyPr/>
                    <a:lstStyle/>
                    <a:p>
                      <a:pPr>
                        <a:buNone/>
                      </a:pPr>
                      <a:r>
                        <a:rPr lang="en-IN"/>
                        <a:t>Character encoding standard supporting global languages and symbols.</a:t>
                      </a:r>
                    </a:p>
                  </a:txBody>
                  <a:tcPr anchor="ctr"/>
                </a:tc>
                <a:extLst>
                  <a:ext uri="{0D108BD9-81ED-4DB2-BD59-A6C34878D82A}">
                    <a16:rowId xmlns:a16="http://schemas.microsoft.com/office/drawing/2014/main" val="1184079028"/>
                  </a:ext>
                </a:extLst>
              </a:tr>
              <a:tr h="370840">
                <a:tc>
                  <a:txBody>
                    <a:bodyPr/>
                    <a:lstStyle/>
                    <a:p>
                      <a:pPr>
                        <a:buNone/>
                      </a:pPr>
                      <a:r>
                        <a:rPr lang="en-IN" b="1"/>
                        <a:t>JPEG / JPG</a:t>
                      </a:r>
                      <a:endParaRPr lang="en-IN"/>
                    </a:p>
                  </a:txBody>
                  <a:tcPr anchor="ctr"/>
                </a:tc>
                <a:tc>
                  <a:txBody>
                    <a:bodyPr/>
                    <a:lstStyle/>
                    <a:p>
                      <a:pPr>
                        <a:buNone/>
                      </a:pPr>
                      <a:r>
                        <a:rPr lang="en-IN"/>
                        <a:t>Image compression format.</a:t>
                      </a:r>
                    </a:p>
                  </a:txBody>
                  <a:tcPr anchor="ctr"/>
                </a:tc>
                <a:extLst>
                  <a:ext uri="{0D108BD9-81ED-4DB2-BD59-A6C34878D82A}">
                    <a16:rowId xmlns:a16="http://schemas.microsoft.com/office/drawing/2014/main" val="3140472531"/>
                  </a:ext>
                </a:extLst>
              </a:tr>
              <a:tr h="370840">
                <a:tc>
                  <a:txBody>
                    <a:bodyPr/>
                    <a:lstStyle/>
                    <a:p>
                      <a:pPr>
                        <a:buNone/>
                      </a:pPr>
                      <a:r>
                        <a:rPr lang="en-IN" b="1"/>
                        <a:t>PNG</a:t>
                      </a:r>
                      <a:endParaRPr lang="en-IN"/>
                    </a:p>
                  </a:txBody>
                  <a:tcPr anchor="ctr"/>
                </a:tc>
                <a:tc>
                  <a:txBody>
                    <a:bodyPr/>
                    <a:lstStyle/>
                    <a:p>
                      <a:pPr>
                        <a:buNone/>
                      </a:pPr>
                      <a:r>
                        <a:rPr lang="en-IN"/>
                        <a:t>Lossless image format.</a:t>
                      </a:r>
                    </a:p>
                  </a:txBody>
                  <a:tcPr anchor="ctr"/>
                </a:tc>
                <a:extLst>
                  <a:ext uri="{0D108BD9-81ED-4DB2-BD59-A6C34878D82A}">
                    <a16:rowId xmlns:a16="http://schemas.microsoft.com/office/drawing/2014/main" val="508879784"/>
                  </a:ext>
                </a:extLst>
              </a:tr>
              <a:tr h="370840">
                <a:tc>
                  <a:txBody>
                    <a:bodyPr/>
                    <a:lstStyle/>
                    <a:p>
                      <a:pPr>
                        <a:buNone/>
                      </a:pPr>
                      <a:r>
                        <a:rPr lang="en-IN" b="1"/>
                        <a:t>GIF</a:t>
                      </a:r>
                      <a:endParaRPr lang="en-IN"/>
                    </a:p>
                  </a:txBody>
                  <a:tcPr anchor="ctr"/>
                </a:tc>
                <a:tc>
                  <a:txBody>
                    <a:bodyPr/>
                    <a:lstStyle/>
                    <a:p>
                      <a:pPr>
                        <a:buNone/>
                      </a:pPr>
                      <a:r>
                        <a:rPr lang="en-IN"/>
                        <a:t>Animated image format.</a:t>
                      </a:r>
                    </a:p>
                  </a:txBody>
                  <a:tcPr anchor="ctr"/>
                </a:tc>
                <a:extLst>
                  <a:ext uri="{0D108BD9-81ED-4DB2-BD59-A6C34878D82A}">
                    <a16:rowId xmlns:a16="http://schemas.microsoft.com/office/drawing/2014/main" val="3090015164"/>
                  </a:ext>
                </a:extLst>
              </a:tr>
              <a:tr h="370840">
                <a:tc>
                  <a:txBody>
                    <a:bodyPr/>
                    <a:lstStyle/>
                    <a:p>
                      <a:pPr>
                        <a:buNone/>
                      </a:pPr>
                      <a:r>
                        <a:rPr lang="en-IN" b="1"/>
                        <a:t>MPEG / MP4</a:t>
                      </a:r>
                      <a:endParaRPr lang="en-IN"/>
                    </a:p>
                  </a:txBody>
                  <a:tcPr anchor="ctr"/>
                </a:tc>
                <a:tc>
                  <a:txBody>
                    <a:bodyPr/>
                    <a:lstStyle/>
                    <a:p>
                      <a:pPr>
                        <a:buNone/>
                      </a:pPr>
                      <a:r>
                        <a:rPr lang="en-IN"/>
                        <a:t>Video compression formats.</a:t>
                      </a:r>
                    </a:p>
                  </a:txBody>
                  <a:tcPr anchor="ctr"/>
                </a:tc>
                <a:extLst>
                  <a:ext uri="{0D108BD9-81ED-4DB2-BD59-A6C34878D82A}">
                    <a16:rowId xmlns:a16="http://schemas.microsoft.com/office/drawing/2014/main" val="2965998615"/>
                  </a:ext>
                </a:extLst>
              </a:tr>
              <a:tr h="370840">
                <a:tc>
                  <a:txBody>
                    <a:bodyPr/>
                    <a:lstStyle/>
                    <a:p>
                      <a:pPr>
                        <a:buNone/>
                      </a:pPr>
                      <a:r>
                        <a:rPr lang="en-IN" b="1"/>
                        <a:t>MP3</a:t>
                      </a:r>
                      <a:endParaRPr lang="en-IN"/>
                    </a:p>
                  </a:txBody>
                  <a:tcPr anchor="ctr"/>
                </a:tc>
                <a:tc>
                  <a:txBody>
                    <a:bodyPr/>
                    <a:lstStyle/>
                    <a:p>
                      <a:pPr>
                        <a:buNone/>
                      </a:pPr>
                      <a:r>
                        <a:rPr lang="en-IN"/>
                        <a:t>Audio compression format.</a:t>
                      </a:r>
                    </a:p>
                  </a:txBody>
                  <a:tcPr anchor="ctr"/>
                </a:tc>
                <a:extLst>
                  <a:ext uri="{0D108BD9-81ED-4DB2-BD59-A6C34878D82A}">
                    <a16:rowId xmlns:a16="http://schemas.microsoft.com/office/drawing/2014/main" val="2780065512"/>
                  </a:ext>
                </a:extLst>
              </a:tr>
              <a:tr h="370840">
                <a:tc>
                  <a:txBody>
                    <a:bodyPr/>
                    <a:lstStyle/>
                    <a:p>
                      <a:pPr>
                        <a:buNone/>
                      </a:pPr>
                      <a:r>
                        <a:rPr lang="en-IN" b="1"/>
                        <a:t>AAC</a:t>
                      </a:r>
                      <a:endParaRPr lang="en-IN"/>
                    </a:p>
                  </a:txBody>
                  <a:tcPr anchor="ctr"/>
                </a:tc>
                <a:tc>
                  <a:txBody>
                    <a:bodyPr/>
                    <a:lstStyle/>
                    <a:p>
                      <a:pPr>
                        <a:buNone/>
                      </a:pPr>
                      <a:r>
                        <a:rPr lang="en-IN" dirty="0"/>
                        <a:t>Audio encoding format used in multimedia.</a:t>
                      </a:r>
                    </a:p>
                  </a:txBody>
                  <a:tcPr anchor="ctr"/>
                </a:tc>
                <a:extLst>
                  <a:ext uri="{0D108BD9-81ED-4DB2-BD59-A6C34878D82A}">
                    <a16:rowId xmlns:a16="http://schemas.microsoft.com/office/drawing/2014/main" val="2115329236"/>
                  </a:ext>
                </a:extLst>
              </a:tr>
            </a:tbl>
          </a:graphicData>
        </a:graphic>
      </p:graphicFrame>
    </p:spTree>
    <p:extLst>
      <p:ext uri="{BB962C8B-B14F-4D97-AF65-F5344CB8AC3E}">
        <p14:creationId xmlns:p14="http://schemas.microsoft.com/office/powerpoint/2010/main" val="249890918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A23FD71-BCFA-406F-6C27-FE62A10C23F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05B6D7-4AD5-C814-ACD2-0B414791F362}"/>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7B8CECB4-25C7-23F0-6161-8E30B12469DE}"/>
              </a:ext>
            </a:extLst>
          </p:cNvPr>
          <p:cNvSpPr>
            <a:spLocks noGrp="1"/>
          </p:cNvSpPr>
          <p:nvPr>
            <p:ph idx="1"/>
          </p:nvPr>
        </p:nvSpPr>
        <p:spPr>
          <a:xfrm>
            <a:off x="240631" y="1010654"/>
            <a:ext cx="11710738" cy="5662862"/>
          </a:xfrm>
        </p:spPr>
        <p:txBody>
          <a:bodyPr>
            <a:normAutofit fontScale="92500" lnSpcReduction="20000"/>
          </a:bodyPr>
          <a:lstStyle/>
          <a:p>
            <a:r>
              <a:rPr lang="en-IN" dirty="0"/>
              <a:t>The PDU at the Presentation Layer is still: </a:t>
            </a:r>
            <a:r>
              <a:rPr lang="en-IN" b="1" dirty="0"/>
              <a:t>DATA</a:t>
            </a:r>
          </a:p>
          <a:p>
            <a:r>
              <a:rPr lang="en-IN" dirty="0"/>
              <a:t>However, the data is now:</a:t>
            </a:r>
          </a:p>
          <a:p>
            <a:r>
              <a:rPr lang="en-IN" dirty="0"/>
              <a:t>Encoded </a:t>
            </a:r>
          </a:p>
          <a:p>
            <a:r>
              <a:rPr lang="en-IN" dirty="0"/>
              <a:t>Encrypted </a:t>
            </a:r>
          </a:p>
          <a:p>
            <a:r>
              <a:rPr lang="en-IN" dirty="0"/>
              <a:t>Possibly compressed</a:t>
            </a:r>
          </a:p>
          <a:p>
            <a:pPr marL="0" indent="0">
              <a:buNone/>
            </a:pPr>
            <a:endParaRPr lang="en-IN" b="1" dirty="0"/>
          </a:p>
          <a:p>
            <a:pPr marL="0" indent="0">
              <a:buNone/>
            </a:pPr>
            <a:r>
              <a:rPr lang="en-IN" b="1" dirty="0"/>
              <a:t>Header Format</a:t>
            </a:r>
          </a:p>
          <a:p>
            <a:pPr marL="0" indent="0">
              <a:buNone/>
            </a:pPr>
            <a:r>
              <a:rPr lang="en-IN" dirty="0"/>
              <a:t>The Presentation Layer does </a:t>
            </a:r>
            <a:r>
              <a:rPr lang="en-IN" b="1" dirty="0"/>
              <a:t>not add a standard OSI header</a:t>
            </a:r>
            <a:r>
              <a:rPr lang="en-IN" dirty="0"/>
              <a:t> like the Transport or Network layers.</a:t>
            </a:r>
          </a:p>
          <a:p>
            <a:r>
              <a:rPr lang="en-IN" dirty="0"/>
              <a:t>Instead, it performs </a:t>
            </a:r>
            <a:r>
              <a:rPr lang="en-IN" b="1" dirty="0"/>
              <a:t>data transformation</a:t>
            </a:r>
            <a:r>
              <a:rPr lang="en-IN" dirty="0"/>
              <a:t>.</a:t>
            </a:r>
          </a:p>
          <a:p>
            <a:pPr marL="0" indent="0">
              <a:buNone/>
            </a:pPr>
            <a:r>
              <a:rPr lang="en-IN" dirty="0">
                <a:highlight>
                  <a:srgbClr val="FFFF00"/>
                </a:highlight>
              </a:rPr>
              <a:t>Depending on the application, it may include information such as:</a:t>
            </a:r>
          </a:p>
          <a:p>
            <a:r>
              <a:rPr lang="en-IN" dirty="0"/>
              <a:t>Encryption details </a:t>
            </a:r>
          </a:p>
          <a:p>
            <a:r>
              <a:rPr lang="en-IN" dirty="0"/>
              <a:t>Character encoding information </a:t>
            </a:r>
          </a:p>
          <a:p>
            <a:r>
              <a:rPr lang="en-IN" dirty="0"/>
              <a:t>Compression information</a:t>
            </a:r>
          </a:p>
          <a:p>
            <a:endParaRPr lang="en-IN" dirty="0"/>
          </a:p>
        </p:txBody>
      </p:sp>
    </p:spTree>
    <p:extLst>
      <p:ext uri="{BB962C8B-B14F-4D97-AF65-F5344CB8AC3E}">
        <p14:creationId xmlns:p14="http://schemas.microsoft.com/office/powerpoint/2010/main" val="189129114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CDDC53-110A-22D0-B314-958DCF86F4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5816111-CD1B-7289-EF27-D9B0E9BB7263}"/>
              </a:ext>
            </a:extLst>
          </p:cNvPr>
          <p:cNvSpPr>
            <a:spLocks noGrp="1"/>
          </p:cNvSpPr>
          <p:nvPr>
            <p:ph type="title"/>
          </p:nvPr>
        </p:nvSpPr>
        <p:spPr>
          <a:xfrm>
            <a:off x="240631" y="365126"/>
            <a:ext cx="11486147" cy="645528"/>
          </a:xfrm>
        </p:spPr>
        <p:txBody>
          <a:bodyPr>
            <a:normAutofit fontScale="90000"/>
          </a:bodyPr>
          <a:lstStyle/>
          <a:p>
            <a:r>
              <a:rPr lang="en-IN" dirty="0"/>
              <a:t>Session Layer</a:t>
            </a:r>
          </a:p>
        </p:txBody>
      </p:sp>
      <p:sp>
        <p:nvSpPr>
          <p:cNvPr id="3" name="Content Placeholder 2">
            <a:extLst>
              <a:ext uri="{FF2B5EF4-FFF2-40B4-BE49-F238E27FC236}">
                <a16:creationId xmlns:a16="http://schemas.microsoft.com/office/drawing/2014/main" id="{4FCBF706-08F1-DDA5-3B48-F9FEDA8A9C1E}"/>
              </a:ext>
            </a:extLst>
          </p:cNvPr>
          <p:cNvSpPr>
            <a:spLocks noGrp="1"/>
          </p:cNvSpPr>
          <p:nvPr>
            <p:ph idx="1"/>
          </p:nvPr>
        </p:nvSpPr>
        <p:spPr>
          <a:xfrm>
            <a:off x="240631" y="1010654"/>
            <a:ext cx="11710738" cy="5662862"/>
          </a:xfrm>
        </p:spPr>
        <p:txBody>
          <a:bodyPr>
            <a:normAutofit/>
          </a:bodyPr>
          <a:lstStyle/>
          <a:p>
            <a:r>
              <a:rPr lang="en-IN" dirty="0"/>
              <a:t>The </a:t>
            </a:r>
            <a:r>
              <a:rPr lang="en-IN" b="1" dirty="0"/>
              <a:t>Session Layer</a:t>
            </a:r>
            <a:r>
              <a:rPr lang="en-IN" dirty="0"/>
              <a:t> is the </a:t>
            </a:r>
            <a:r>
              <a:rPr lang="en-IN" b="1" dirty="0"/>
              <a:t>5th layer</a:t>
            </a:r>
            <a:r>
              <a:rPr lang="en-IN" dirty="0"/>
              <a:t> of the OSI Model.</a:t>
            </a:r>
          </a:p>
          <a:p>
            <a:r>
              <a:rPr lang="en-IN" dirty="0"/>
              <a:t>Its main job is to </a:t>
            </a:r>
            <a:r>
              <a:rPr lang="en-IN" b="1" dirty="0"/>
              <a:t>establish, maintain, and terminate a communication session</a:t>
            </a:r>
            <a:r>
              <a:rPr lang="en-IN" dirty="0"/>
              <a:t> between two devices.</a:t>
            </a:r>
          </a:p>
          <a:p>
            <a:r>
              <a:rPr lang="en-IN" dirty="0"/>
              <a:t>A </a:t>
            </a:r>
            <a:r>
              <a:rPr lang="en-IN" b="1" dirty="0"/>
              <a:t>session</a:t>
            </a:r>
            <a:r>
              <a:rPr lang="en-IN" dirty="0"/>
              <a:t> is simply a communication period during which two devices exchange data.</a:t>
            </a:r>
          </a:p>
          <a:p>
            <a:endParaRPr lang="en-IN" dirty="0"/>
          </a:p>
          <a:p>
            <a:r>
              <a:rPr lang="en-IN" dirty="0">
                <a:highlight>
                  <a:srgbClr val="FFFF00"/>
                </a:highlight>
              </a:rPr>
              <a:t>The Session Layer establishes, manages, and terminates communication sessions between applications.</a:t>
            </a:r>
          </a:p>
          <a:p>
            <a:endParaRPr lang="en-IN" dirty="0">
              <a:highlight>
                <a:srgbClr val="FFFF00"/>
              </a:highlight>
            </a:endParaRPr>
          </a:p>
        </p:txBody>
      </p:sp>
    </p:spTree>
    <p:extLst>
      <p:ext uri="{BB962C8B-B14F-4D97-AF65-F5344CB8AC3E}">
        <p14:creationId xmlns:p14="http://schemas.microsoft.com/office/powerpoint/2010/main" val="40426258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B7F6CF-2E6F-ACA1-0BD6-5C4D0E8A3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4633E33-3E3B-A4BF-2AD9-21F344F518FE}"/>
              </a:ext>
            </a:extLst>
          </p:cNvPr>
          <p:cNvSpPr>
            <a:spLocks noGrp="1"/>
          </p:cNvSpPr>
          <p:nvPr>
            <p:ph type="title"/>
          </p:nvPr>
        </p:nvSpPr>
        <p:spPr>
          <a:xfrm>
            <a:off x="240631" y="365126"/>
            <a:ext cx="11486147" cy="645528"/>
          </a:xfrm>
        </p:spPr>
        <p:txBody>
          <a:bodyPr>
            <a:normAutofit fontScale="90000"/>
          </a:bodyPr>
          <a:lstStyle/>
          <a:p>
            <a:r>
              <a:rPr lang="en-IN" dirty="0"/>
              <a:t>Session Layer: Why do we even need it?</a:t>
            </a:r>
          </a:p>
        </p:txBody>
      </p:sp>
      <p:sp>
        <p:nvSpPr>
          <p:cNvPr id="3" name="Content Placeholder 2">
            <a:extLst>
              <a:ext uri="{FF2B5EF4-FFF2-40B4-BE49-F238E27FC236}">
                <a16:creationId xmlns:a16="http://schemas.microsoft.com/office/drawing/2014/main" id="{7DAA0BDD-E544-AFD2-E729-4B83577FEB8A}"/>
              </a:ext>
            </a:extLst>
          </p:cNvPr>
          <p:cNvSpPr>
            <a:spLocks noGrp="1"/>
          </p:cNvSpPr>
          <p:nvPr>
            <p:ph idx="1"/>
          </p:nvPr>
        </p:nvSpPr>
        <p:spPr>
          <a:xfrm>
            <a:off x="240631" y="1010654"/>
            <a:ext cx="11710738" cy="5662862"/>
          </a:xfrm>
        </p:spPr>
        <p:txBody>
          <a:bodyPr>
            <a:normAutofit fontScale="92500" lnSpcReduction="20000"/>
          </a:bodyPr>
          <a:lstStyle/>
          <a:p>
            <a:pPr marL="0" indent="0">
              <a:buNone/>
            </a:pPr>
            <a:r>
              <a:rPr lang="en-IN" dirty="0"/>
              <a:t>Suppose you are having a WhatsApp voice call with your friend.</a:t>
            </a:r>
          </a:p>
          <a:p>
            <a:pPr marL="0" indent="0">
              <a:buNone/>
            </a:pPr>
            <a:r>
              <a:rPr lang="en-IN" dirty="0">
                <a:highlight>
                  <a:srgbClr val="FFFF00"/>
                </a:highlight>
              </a:rPr>
              <a:t>Before talking:</a:t>
            </a:r>
          </a:p>
          <a:p>
            <a:r>
              <a:rPr lang="en-IN" dirty="0"/>
              <a:t>The call must be connected. </a:t>
            </a:r>
          </a:p>
          <a:p>
            <a:pPr marL="0" indent="0">
              <a:buNone/>
            </a:pPr>
            <a:r>
              <a:rPr lang="en-IN" dirty="0">
                <a:highlight>
                  <a:srgbClr val="FFFF00"/>
                </a:highlight>
              </a:rPr>
              <a:t>While talking:</a:t>
            </a:r>
          </a:p>
          <a:p>
            <a:r>
              <a:rPr lang="en-IN" dirty="0"/>
              <a:t>The connection must remain active. </a:t>
            </a:r>
          </a:p>
          <a:p>
            <a:r>
              <a:rPr lang="en-IN" dirty="0"/>
              <a:t>Both users should continue communicating without interruption. </a:t>
            </a:r>
          </a:p>
          <a:p>
            <a:pPr marL="0" indent="0">
              <a:buNone/>
            </a:pPr>
            <a:r>
              <a:rPr lang="en-IN" dirty="0">
                <a:highlight>
                  <a:srgbClr val="FFFF00"/>
                </a:highlight>
              </a:rPr>
              <a:t>When the conversation ends:</a:t>
            </a:r>
          </a:p>
          <a:p>
            <a:r>
              <a:rPr lang="en-IN" dirty="0"/>
              <a:t>The call must disconnect properly. </a:t>
            </a:r>
          </a:p>
          <a:p>
            <a:r>
              <a:rPr lang="en-IN" dirty="0"/>
              <a:t>This entire process is managed by the </a:t>
            </a:r>
            <a:r>
              <a:rPr lang="en-IN" b="1" dirty="0"/>
              <a:t>Session Layer</a:t>
            </a:r>
            <a:r>
              <a:rPr lang="en-IN" dirty="0"/>
              <a:t>.</a:t>
            </a:r>
          </a:p>
          <a:p>
            <a:pPr marL="0" indent="0">
              <a:buNone/>
            </a:pPr>
            <a:r>
              <a:rPr lang="en-IN" dirty="0">
                <a:highlight>
                  <a:srgbClr val="FFFF00"/>
                </a:highlight>
              </a:rPr>
              <a:t>Without it:</a:t>
            </a:r>
          </a:p>
          <a:p>
            <a:r>
              <a:rPr lang="en-IN" dirty="0"/>
              <a:t>Every message would require creating a new connection. </a:t>
            </a:r>
          </a:p>
          <a:p>
            <a:r>
              <a:rPr lang="en-IN" dirty="0"/>
              <a:t>Interrupted communication could not be resumed. </a:t>
            </a:r>
          </a:p>
          <a:p>
            <a:r>
              <a:rPr lang="en-IN" dirty="0"/>
              <a:t>Long conversations would become difficult to manage.</a:t>
            </a:r>
          </a:p>
          <a:p>
            <a:endParaRPr lang="en-IN" dirty="0"/>
          </a:p>
        </p:txBody>
      </p:sp>
    </p:spTree>
    <p:extLst>
      <p:ext uri="{BB962C8B-B14F-4D97-AF65-F5344CB8AC3E}">
        <p14:creationId xmlns:p14="http://schemas.microsoft.com/office/powerpoint/2010/main" val="302346746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8B8B3E-BD1E-A084-8129-6E81CD0141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4A6A3DC-5D1F-887C-EB43-7F63D08F2CE5}"/>
              </a:ext>
            </a:extLst>
          </p:cNvPr>
          <p:cNvSpPr>
            <a:spLocks noGrp="1"/>
          </p:cNvSpPr>
          <p:nvPr>
            <p:ph type="title"/>
          </p:nvPr>
        </p:nvSpPr>
        <p:spPr>
          <a:xfrm>
            <a:off x="613611" y="433137"/>
            <a:ext cx="10515600" cy="737938"/>
          </a:xfrm>
        </p:spPr>
        <p:txBody>
          <a:bodyPr/>
          <a:lstStyle/>
          <a:p>
            <a:r>
              <a:rPr lang="en-IN" dirty="0"/>
              <a:t>The Session Layer: Functionalities</a:t>
            </a:r>
          </a:p>
        </p:txBody>
      </p:sp>
      <p:graphicFrame>
        <p:nvGraphicFramePr>
          <p:cNvPr id="4" name="Table 3">
            <a:extLst>
              <a:ext uri="{FF2B5EF4-FFF2-40B4-BE49-F238E27FC236}">
                <a16:creationId xmlns:a16="http://schemas.microsoft.com/office/drawing/2014/main" id="{AB8CDDDB-7DF7-7D35-CCE2-484863744F7C}"/>
              </a:ext>
            </a:extLst>
          </p:cNvPr>
          <p:cNvGraphicFramePr>
            <a:graphicFrameLocks noGrp="1"/>
          </p:cNvGraphicFramePr>
          <p:nvPr>
            <p:extLst>
              <p:ext uri="{D42A27DB-BD31-4B8C-83A1-F6EECF244321}">
                <p14:modId xmlns:p14="http://schemas.microsoft.com/office/powerpoint/2010/main" val="2112156929"/>
              </p:ext>
            </p:extLst>
          </p:nvPr>
        </p:nvGraphicFramePr>
        <p:xfrm>
          <a:off x="320842" y="1407160"/>
          <a:ext cx="11550316" cy="404368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Session Establishment</a:t>
                      </a:r>
                      <a:endParaRPr lang="en-IN"/>
                    </a:p>
                  </a:txBody>
                  <a:tcPr anchor="ctr"/>
                </a:tc>
                <a:tc>
                  <a:txBody>
                    <a:bodyPr/>
                    <a:lstStyle/>
                    <a:p>
                      <a:pPr>
                        <a:buNone/>
                      </a:pPr>
                      <a:r>
                        <a:rPr lang="en-IN"/>
                        <a:t>Creates a communication session between the sender and receiver before data transfer begins.</a:t>
                      </a:r>
                    </a:p>
                  </a:txBody>
                  <a:tcPr anchor="ctr"/>
                </a:tc>
                <a:extLst>
                  <a:ext uri="{0D108BD9-81ED-4DB2-BD59-A6C34878D82A}">
                    <a16:rowId xmlns:a16="http://schemas.microsoft.com/office/drawing/2014/main" val="3315618413"/>
                  </a:ext>
                </a:extLst>
              </a:tr>
              <a:tr h="370840">
                <a:tc>
                  <a:txBody>
                    <a:bodyPr/>
                    <a:lstStyle/>
                    <a:p>
                      <a:pPr>
                        <a:buNone/>
                      </a:pPr>
                      <a:r>
                        <a:rPr lang="en-IN" b="1"/>
                        <a:t>Session Management</a:t>
                      </a:r>
                      <a:endParaRPr lang="en-IN"/>
                    </a:p>
                  </a:txBody>
                  <a:tcPr anchor="ctr"/>
                </a:tc>
                <a:tc>
                  <a:txBody>
                    <a:bodyPr/>
                    <a:lstStyle/>
                    <a:p>
                      <a:pPr>
                        <a:buNone/>
                      </a:pPr>
                      <a:r>
                        <a:rPr lang="en-IN"/>
                        <a:t>Keeps the communication active while data is being exchanged.</a:t>
                      </a:r>
                    </a:p>
                  </a:txBody>
                  <a:tcPr anchor="ctr"/>
                </a:tc>
                <a:extLst>
                  <a:ext uri="{0D108BD9-81ED-4DB2-BD59-A6C34878D82A}">
                    <a16:rowId xmlns:a16="http://schemas.microsoft.com/office/drawing/2014/main" val="385594624"/>
                  </a:ext>
                </a:extLst>
              </a:tr>
              <a:tr h="370840">
                <a:tc>
                  <a:txBody>
                    <a:bodyPr/>
                    <a:lstStyle/>
                    <a:p>
                      <a:pPr>
                        <a:buNone/>
                      </a:pPr>
                      <a:r>
                        <a:rPr lang="en-IN" b="1"/>
                        <a:t>Session Termination</a:t>
                      </a:r>
                      <a:endParaRPr lang="en-IN"/>
                    </a:p>
                  </a:txBody>
                  <a:tcPr anchor="ctr"/>
                </a:tc>
                <a:tc>
                  <a:txBody>
                    <a:bodyPr/>
                    <a:lstStyle/>
                    <a:p>
                      <a:pPr>
                        <a:buNone/>
                      </a:pPr>
                      <a:r>
                        <a:rPr lang="en-IN"/>
                        <a:t>Closes the communication session after the data transfer is complete.</a:t>
                      </a:r>
                    </a:p>
                  </a:txBody>
                  <a:tcPr anchor="ctr"/>
                </a:tc>
                <a:extLst>
                  <a:ext uri="{0D108BD9-81ED-4DB2-BD59-A6C34878D82A}">
                    <a16:rowId xmlns:a16="http://schemas.microsoft.com/office/drawing/2014/main" val="2440142686"/>
                  </a:ext>
                </a:extLst>
              </a:tr>
              <a:tr h="370840">
                <a:tc>
                  <a:txBody>
                    <a:bodyPr/>
                    <a:lstStyle/>
                    <a:p>
                      <a:pPr>
                        <a:buNone/>
                      </a:pPr>
                      <a:r>
                        <a:rPr lang="en-IN" b="1" dirty="0"/>
                        <a:t>Dialog Control</a:t>
                      </a:r>
                      <a:endParaRPr lang="en-IN" dirty="0"/>
                    </a:p>
                  </a:txBody>
                  <a:tcPr anchor="ctr"/>
                </a:tc>
                <a:tc>
                  <a:txBody>
                    <a:bodyPr/>
                    <a:lstStyle/>
                    <a:p>
                      <a:pPr>
                        <a:buNone/>
                      </a:pPr>
                      <a:r>
                        <a:rPr lang="en-IN" dirty="0"/>
                        <a:t>Controls which device can send data and when, especially in half-duplex communication.</a:t>
                      </a:r>
                    </a:p>
                  </a:txBody>
                  <a:tcPr anchor="ctr"/>
                </a:tc>
                <a:extLst>
                  <a:ext uri="{0D108BD9-81ED-4DB2-BD59-A6C34878D82A}">
                    <a16:rowId xmlns:a16="http://schemas.microsoft.com/office/drawing/2014/main" val="2091929012"/>
                  </a:ext>
                </a:extLst>
              </a:tr>
              <a:tr h="370840">
                <a:tc>
                  <a:txBody>
                    <a:bodyPr/>
                    <a:lstStyle/>
                    <a:p>
                      <a:pPr>
                        <a:buNone/>
                      </a:pPr>
                      <a:r>
                        <a:rPr lang="en-IN" b="1"/>
                        <a:t>Synchronization</a:t>
                      </a:r>
                      <a:endParaRPr lang="en-IN"/>
                    </a:p>
                  </a:txBody>
                  <a:tcPr anchor="ctr"/>
                </a:tc>
                <a:tc>
                  <a:txBody>
                    <a:bodyPr/>
                    <a:lstStyle/>
                    <a:p>
                      <a:pPr>
                        <a:buNone/>
                      </a:pPr>
                      <a:r>
                        <a:rPr lang="en-IN"/>
                        <a:t>Inserts checkpoints during long data transfers so communication can resume from the last successful point if interrupted.</a:t>
                      </a:r>
                    </a:p>
                  </a:txBody>
                  <a:tcPr anchor="ctr"/>
                </a:tc>
                <a:extLst>
                  <a:ext uri="{0D108BD9-81ED-4DB2-BD59-A6C34878D82A}">
                    <a16:rowId xmlns:a16="http://schemas.microsoft.com/office/drawing/2014/main" val="320253377"/>
                  </a:ext>
                </a:extLst>
              </a:tr>
              <a:tr h="370840">
                <a:tc>
                  <a:txBody>
                    <a:bodyPr/>
                    <a:lstStyle/>
                    <a:p>
                      <a:pPr>
                        <a:buNone/>
                      </a:pPr>
                      <a:r>
                        <a:rPr lang="en-IN" b="1"/>
                        <a:t>Session Recovery</a:t>
                      </a:r>
                      <a:endParaRPr lang="en-IN"/>
                    </a:p>
                  </a:txBody>
                  <a:tcPr anchor="ctr"/>
                </a:tc>
                <a:tc>
                  <a:txBody>
                    <a:bodyPr/>
                    <a:lstStyle/>
                    <a:p>
                      <a:pPr>
                        <a:buNone/>
                      </a:pPr>
                      <a:r>
                        <a:rPr lang="en-IN"/>
                        <a:t>Restores communication from the last checkpoint instead of restarting the entire transfer after a failure.</a:t>
                      </a:r>
                    </a:p>
                  </a:txBody>
                  <a:tcPr anchor="ctr"/>
                </a:tc>
                <a:extLst>
                  <a:ext uri="{0D108BD9-81ED-4DB2-BD59-A6C34878D82A}">
                    <a16:rowId xmlns:a16="http://schemas.microsoft.com/office/drawing/2014/main" val="2414151881"/>
                  </a:ext>
                </a:extLst>
              </a:tr>
              <a:tr h="370840">
                <a:tc>
                  <a:txBody>
                    <a:bodyPr/>
                    <a:lstStyle/>
                    <a:p>
                      <a:pPr>
                        <a:buNone/>
                      </a:pPr>
                      <a:r>
                        <a:rPr lang="en-IN" b="1"/>
                        <a:t>Authentication Support</a:t>
                      </a:r>
                      <a:endParaRPr lang="en-IN"/>
                    </a:p>
                  </a:txBody>
                  <a:tcPr anchor="ctr"/>
                </a:tc>
                <a:tc>
                  <a:txBody>
                    <a:bodyPr/>
                    <a:lstStyle/>
                    <a:p>
                      <a:pPr>
                        <a:buNone/>
                      </a:pPr>
                      <a:r>
                        <a:rPr lang="en-IN" dirty="0"/>
                        <a:t>Helps maintain authenticated sessions after a user successfully logs in.</a:t>
                      </a:r>
                    </a:p>
                  </a:txBody>
                  <a:tcPr anchor="ctr"/>
                </a:tc>
                <a:extLst>
                  <a:ext uri="{0D108BD9-81ED-4DB2-BD59-A6C34878D82A}">
                    <a16:rowId xmlns:a16="http://schemas.microsoft.com/office/drawing/2014/main" val="27735260"/>
                  </a:ext>
                </a:extLst>
              </a:tr>
            </a:tbl>
          </a:graphicData>
        </a:graphic>
      </p:graphicFrame>
    </p:spTree>
    <p:extLst>
      <p:ext uri="{BB962C8B-B14F-4D97-AF65-F5344CB8AC3E}">
        <p14:creationId xmlns:p14="http://schemas.microsoft.com/office/powerpoint/2010/main" val="166812459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7D172B-5960-0F97-F442-A3472AE81E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B3EAC1A-3445-A127-A401-0684166710FB}"/>
              </a:ext>
            </a:extLst>
          </p:cNvPr>
          <p:cNvSpPr>
            <a:spLocks noGrp="1"/>
          </p:cNvSpPr>
          <p:nvPr>
            <p:ph type="title"/>
          </p:nvPr>
        </p:nvSpPr>
        <p:spPr>
          <a:xfrm>
            <a:off x="613611" y="433137"/>
            <a:ext cx="10515600" cy="737938"/>
          </a:xfrm>
        </p:spPr>
        <p:txBody>
          <a:bodyPr/>
          <a:lstStyle/>
          <a:p>
            <a:r>
              <a:rPr lang="en-IN" dirty="0"/>
              <a:t>The Session Layer: Protocols Used</a:t>
            </a:r>
          </a:p>
        </p:txBody>
      </p:sp>
      <p:graphicFrame>
        <p:nvGraphicFramePr>
          <p:cNvPr id="3" name="Table 2">
            <a:extLst>
              <a:ext uri="{FF2B5EF4-FFF2-40B4-BE49-F238E27FC236}">
                <a16:creationId xmlns:a16="http://schemas.microsoft.com/office/drawing/2014/main" id="{CD8C7F31-CD9E-DA50-173B-219191C2ECA2}"/>
              </a:ext>
            </a:extLst>
          </p:cNvPr>
          <p:cNvGraphicFramePr>
            <a:graphicFrameLocks noGrp="1"/>
          </p:cNvGraphicFramePr>
          <p:nvPr>
            <p:extLst>
              <p:ext uri="{D42A27DB-BD31-4B8C-83A1-F6EECF244321}">
                <p14:modId xmlns:p14="http://schemas.microsoft.com/office/powerpoint/2010/main" val="354188255"/>
              </p:ext>
            </p:extLst>
          </p:nvPr>
        </p:nvGraphicFramePr>
        <p:xfrm>
          <a:off x="316833" y="1331497"/>
          <a:ext cx="10812378" cy="4668520"/>
        </p:xfrm>
        <a:graphic>
          <a:graphicData uri="http://schemas.openxmlformats.org/drawingml/2006/table">
            <a:tbl>
              <a:tblPr firstRow="1" bandRow="1">
                <a:tableStyleId>{5C22544A-7EE6-4342-B048-85BDC9FD1C3A}</a:tableStyleId>
              </a:tblPr>
              <a:tblGrid>
                <a:gridCol w="3678437">
                  <a:extLst>
                    <a:ext uri="{9D8B030D-6E8A-4147-A177-3AD203B41FA5}">
                      <a16:colId xmlns:a16="http://schemas.microsoft.com/office/drawing/2014/main" val="1691795614"/>
                    </a:ext>
                  </a:extLst>
                </a:gridCol>
                <a:gridCol w="3678437">
                  <a:extLst>
                    <a:ext uri="{9D8B030D-6E8A-4147-A177-3AD203B41FA5}">
                      <a16:colId xmlns:a16="http://schemas.microsoft.com/office/drawing/2014/main" val="1043436500"/>
                    </a:ext>
                  </a:extLst>
                </a:gridCol>
                <a:gridCol w="3455504">
                  <a:extLst>
                    <a:ext uri="{9D8B030D-6E8A-4147-A177-3AD203B41FA5}">
                      <a16:colId xmlns:a16="http://schemas.microsoft.com/office/drawing/2014/main" val="49182656"/>
                    </a:ext>
                  </a:extLst>
                </a:gridCol>
              </a:tblGrid>
              <a:tr h="370840">
                <a:tc>
                  <a:txBody>
                    <a:bodyPr/>
                    <a:lstStyle/>
                    <a:p>
                      <a:pPr>
                        <a:buNone/>
                      </a:pPr>
                      <a:r>
                        <a:rPr lang="en-IN" b="1" dirty="0"/>
                        <a:t>Protocol</a:t>
                      </a:r>
                      <a:endParaRPr lang="en-IN" dirty="0"/>
                    </a:p>
                  </a:txBody>
                  <a:tcPr anchor="ctr"/>
                </a:tc>
                <a:tc>
                  <a:txBody>
                    <a:bodyPr/>
                    <a:lstStyle/>
                    <a:p>
                      <a:pPr>
                        <a:buNone/>
                      </a:pPr>
                      <a:r>
                        <a:rPr lang="en-IN" b="1"/>
                        <a:t>Purpose</a:t>
                      </a:r>
                      <a:endParaRPr lang="en-IN"/>
                    </a:p>
                  </a:txBody>
                  <a:tcPr anchor="ctr"/>
                </a:tc>
                <a:tc>
                  <a:txBody>
                    <a:bodyPr/>
                    <a:lstStyle/>
                    <a:p>
                      <a:pPr>
                        <a:buNone/>
                      </a:pPr>
                      <a:r>
                        <a:rPr lang="en-IN" b="1"/>
                        <a:t>Example</a:t>
                      </a:r>
                      <a:endParaRPr lang="en-IN"/>
                    </a:p>
                  </a:txBody>
                  <a:tcPr anchor="ctr"/>
                </a:tc>
                <a:extLst>
                  <a:ext uri="{0D108BD9-81ED-4DB2-BD59-A6C34878D82A}">
                    <a16:rowId xmlns:a16="http://schemas.microsoft.com/office/drawing/2014/main" val="732037228"/>
                  </a:ext>
                </a:extLst>
              </a:tr>
              <a:tr h="370840">
                <a:tc>
                  <a:txBody>
                    <a:bodyPr/>
                    <a:lstStyle/>
                    <a:p>
                      <a:pPr>
                        <a:buNone/>
                      </a:pPr>
                      <a:r>
                        <a:rPr lang="en-IN" b="1"/>
                        <a:t>NetBIOS</a:t>
                      </a:r>
                      <a:endParaRPr lang="en-IN"/>
                    </a:p>
                  </a:txBody>
                  <a:tcPr anchor="ctr"/>
                </a:tc>
                <a:tc>
                  <a:txBody>
                    <a:bodyPr/>
                    <a:lstStyle/>
                    <a:p>
                      <a:pPr>
                        <a:buNone/>
                      </a:pPr>
                      <a:r>
                        <a:rPr lang="en-IN"/>
                        <a:t>Establishes and manages sessions between Windows computers on a local network.</a:t>
                      </a:r>
                    </a:p>
                  </a:txBody>
                  <a:tcPr anchor="ctr"/>
                </a:tc>
                <a:tc>
                  <a:txBody>
                    <a:bodyPr/>
                    <a:lstStyle/>
                    <a:p>
                      <a:pPr>
                        <a:buNone/>
                      </a:pPr>
                      <a:r>
                        <a:rPr lang="en-IN"/>
                        <a:t>Windows file and printer sharing</a:t>
                      </a:r>
                    </a:p>
                  </a:txBody>
                  <a:tcPr anchor="ctr"/>
                </a:tc>
                <a:extLst>
                  <a:ext uri="{0D108BD9-81ED-4DB2-BD59-A6C34878D82A}">
                    <a16:rowId xmlns:a16="http://schemas.microsoft.com/office/drawing/2014/main" val="1016626281"/>
                  </a:ext>
                </a:extLst>
              </a:tr>
              <a:tr h="370840">
                <a:tc>
                  <a:txBody>
                    <a:bodyPr/>
                    <a:lstStyle/>
                    <a:p>
                      <a:pPr>
                        <a:buNone/>
                      </a:pPr>
                      <a:r>
                        <a:rPr lang="en-IN" b="1"/>
                        <a:t>RPC (Remote Procedure Call)</a:t>
                      </a:r>
                      <a:endParaRPr lang="en-IN"/>
                    </a:p>
                  </a:txBody>
                  <a:tcPr anchor="ctr"/>
                </a:tc>
                <a:tc>
                  <a:txBody>
                    <a:bodyPr/>
                    <a:lstStyle/>
                    <a:p>
                      <a:pPr>
                        <a:buNone/>
                      </a:pPr>
                      <a:r>
                        <a:rPr lang="en-IN"/>
                        <a:t>Allows a program on one computer to execute functions on another computer.</a:t>
                      </a:r>
                    </a:p>
                  </a:txBody>
                  <a:tcPr anchor="ctr"/>
                </a:tc>
                <a:tc>
                  <a:txBody>
                    <a:bodyPr/>
                    <a:lstStyle/>
                    <a:p>
                      <a:pPr>
                        <a:buNone/>
                      </a:pPr>
                      <a:r>
                        <a:rPr lang="en-IN"/>
                        <a:t>Client-server applications</a:t>
                      </a:r>
                    </a:p>
                  </a:txBody>
                  <a:tcPr anchor="ctr"/>
                </a:tc>
                <a:extLst>
                  <a:ext uri="{0D108BD9-81ED-4DB2-BD59-A6C34878D82A}">
                    <a16:rowId xmlns:a16="http://schemas.microsoft.com/office/drawing/2014/main" val="2740120725"/>
                  </a:ext>
                </a:extLst>
              </a:tr>
              <a:tr h="370840">
                <a:tc>
                  <a:txBody>
                    <a:bodyPr/>
                    <a:lstStyle/>
                    <a:p>
                      <a:pPr>
                        <a:buNone/>
                      </a:pPr>
                      <a:r>
                        <a:rPr lang="en-IN" b="1"/>
                        <a:t>SIP (Session Initiation Protocol)</a:t>
                      </a:r>
                      <a:endParaRPr lang="en-IN"/>
                    </a:p>
                  </a:txBody>
                  <a:tcPr anchor="ctr"/>
                </a:tc>
                <a:tc>
                  <a:txBody>
                    <a:bodyPr/>
                    <a:lstStyle/>
                    <a:p>
                      <a:pPr>
                        <a:buNone/>
                      </a:pPr>
                      <a:r>
                        <a:rPr lang="en-IN"/>
                        <a:t>Establishes, manages, and terminates voice and video communication sessions.</a:t>
                      </a:r>
                    </a:p>
                  </a:txBody>
                  <a:tcPr anchor="ctr"/>
                </a:tc>
                <a:tc>
                  <a:txBody>
                    <a:bodyPr/>
                    <a:lstStyle/>
                    <a:p>
                      <a:pPr>
                        <a:buNone/>
                      </a:pPr>
                      <a:r>
                        <a:rPr lang="en-IN"/>
                        <a:t>WhatsApp Calling, VoIP, Zoom, Microsoft Teams</a:t>
                      </a:r>
                    </a:p>
                  </a:txBody>
                  <a:tcPr anchor="ctr"/>
                </a:tc>
                <a:extLst>
                  <a:ext uri="{0D108BD9-81ED-4DB2-BD59-A6C34878D82A}">
                    <a16:rowId xmlns:a16="http://schemas.microsoft.com/office/drawing/2014/main" val="2428064096"/>
                  </a:ext>
                </a:extLst>
              </a:tr>
              <a:tr h="370840">
                <a:tc>
                  <a:txBody>
                    <a:bodyPr/>
                    <a:lstStyle/>
                    <a:p>
                      <a:pPr>
                        <a:buNone/>
                      </a:pPr>
                      <a:r>
                        <a:rPr lang="en-IN" b="1"/>
                        <a:t>PPTP (Point-to-Point Tunneling Protocol)</a:t>
                      </a:r>
                      <a:endParaRPr lang="en-IN"/>
                    </a:p>
                  </a:txBody>
                  <a:tcPr anchor="ctr"/>
                </a:tc>
                <a:tc>
                  <a:txBody>
                    <a:bodyPr/>
                    <a:lstStyle/>
                    <a:p>
                      <a:pPr>
                        <a:buNone/>
                      </a:pPr>
                      <a:r>
                        <a:rPr lang="en-IN"/>
                        <a:t>Creates VPN communication sessions.</a:t>
                      </a:r>
                    </a:p>
                  </a:txBody>
                  <a:tcPr anchor="ctr"/>
                </a:tc>
                <a:tc>
                  <a:txBody>
                    <a:bodyPr/>
                    <a:lstStyle/>
                    <a:p>
                      <a:pPr>
                        <a:buNone/>
                      </a:pPr>
                      <a:r>
                        <a:rPr lang="en-IN"/>
                        <a:t>Older VPN connections</a:t>
                      </a:r>
                    </a:p>
                  </a:txBody>
                  <a:tcPr anchor="ctr"/>
                </a:tc>
                <a:extLst>
                  <a:ext uri="{0D108BD9-81ED-4DB2-BD59-A6C34878D82A}">
                    <a16:rowId xmlns:a16="http://schemas.microsoft.com/office/drawing/2014/main" val="964425014"/>
                  </a:ext>
                </a:extLst>
              </a:tr>
              <a:tr h="370840">
                <a:tc>
                  <a:txBody>
                    <a:bodyPr/>
                    <a:lstStyle/>
                    <a:p>
                      <a:pPr>
                        <a:buNone/>
                      </a:pPr>
                      <a:r>
                        <a:rPr lang="en-IN" b="1"/>
                        <a:t>SQL*Net / Oracle Net</a:t>
                      </a:r>
                      <a:endParaRPr lang="en-IN"/>
                    </a:p>
                  </a:txBody>
                  <a:tcPr anchor="ctr"/>
                </a:tc>
                <a:tc>
                  <a:txBody>
                    <a:bodyPr/>
                    <a:lstStyle/>
                    <a:p>
                      <a:pPr>
                        <a:buNone/>
                      </a:pPr>
                      <a:r>
                        <a:rPr lang="en-IN"/>
                        <a:t>Manages communication sessions between Oracle Database clients and servers.</a:t>
                      </a:r>
                    </a:p>
                  </a:txBody>
                  <a:tcPr anchor="ctr"/>
                </a:tc>
                <a:tc>
                  <a:txBody>
                    <a:bodyPr/>
                    <a:lstStyle/>
                    <a:p>
                      <a:pPr>
                        <a:buNone/>
                      </a:pPr>
                      <a:r>
                        <a:rPr lang="en-IN" dirty="0"/>
                        <a:t>Database applications</a:t>
                      </a:r>
                    </a:p>
                  </a:txBody>
                  <a:tcPr anchor="ctr"/>
                </a:tc>
                <a:extLst>
                  <a:ext uri="{0D108BD9-81ED-4DB2-BD59-A6C34878D82A}">
                    <a16:rowId xmlns:a16="http://schemas.microsoft.com/office/drawing/2014/main" val="1184079028"/>
                  </a:ext>
                </a:extLst>
              </a:tr>
            </a:tbl>
          </a:graphicData>
        </a:graphic>
      </p:graphicFrame>
    </p:spTree>
    <p:extLst>
      <p:ext uri="{BB962C8B-B14F-4D97-AF65-F5344CB8AC3E}">
        <p14:creationId xmlns:p14="http://schemas.microsoft.com/office/powerpoint/2010/main" val="28051833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6B70C-E595-F9EF-7135-F194D706F4E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E3D400-2867-7AE6-F2CB-B5C96E504E04}"/>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CA1A39FF-BE2D-E14A-8B5F-9E5BE3948D75}"/>
              </a:ext>
            </a:extLst>
          </p:cNvPr>
          <p:cNvSpPr>
            <a:spLocks noGrp="1"/>
          </p:cNvSpPr>
          <p:nvPr>
            <p:ph idx="1"/>
          </p:nvPr>
        </p:nvSpPr>
        <p:spPr>
          <a:xfrm>
            <a:off x="240631" y="1010654"/>
            <a:ext cx="11710738" cy="5662862"/>
          </a:xfrm>
        </p:spPr>
        <p:txBody>
          <a:bodyPr>
            <a:normAutofit/>
          </a:bodyPr>
          <a:lstStyle/>
          <a:p>
            <a:r>
              <a:rPr lang="en-IN" dirty="0"/>
              <a:t>The PDU at the Presentation Layer is still: </a:t>
            </a:r>
            <a:r>
              <a:rPr lang="en-IN" b="1" dirty="0"/>
              <a:t>DATA</a:t>
            </a:r>
          </a:p>
          <a:p>
            <a:pPr marL="0" indent="0">
              <a:buNone/>
            </a:pPr>
            <a:endParaRPr lang="en-IN" b="1" dirty="0"/>
          </a:p>
          <a:p>
            <a:pPr marL="0" indent="0">
              <a:buNone/>
            </a:pPr>
            <a:r>
              <a:rPr lang="en-IN" b="1" dirty="0"/>
              <a:t>Header Format</a:t>
            </a:r>
          </a:p>
          <a:p>
            <a:pPr marL="0" indent="0">
              <a:buNone/>
            </a:pPr>
            <a:r>
              <a:rPr lang="en-IN" dirty="0"/>
              <a:t>Unlike the Network or Transport layers, there is </a:t>
            </a:r>
            <a:r>
              <a:rPr lang="en-IN" b="1" dirty="0"/>
              <a:t>no universal Session Layer header</a:t>
            </a:r>
            <a:r>
              <a:rPr lang="en-IN" dirty="0"/>
              <a:t> defined in the OSI model.</a:t>
            </a:r>
          </a:p>
          <a:p>
            <a:r>
              <a:rPr lang="en-IN" dirty="0"/>
              <a:t>Instead, session-related information may include:</a:t>
            </a:r>
          </a:p>
          <a:p>
            <a:r>
              <a:rPr lang="en-IN" dirty="0"/>
              <a:t>Session ID </a:t>
            </a:r>
          </a:p>
          <a:p>
            <a:r>
              <a:rPr lang="en-IN" dirty="0"/>
              <a:t>Session Token </a:t>
            </a:r>
          </a:p>
          <a:p>
            <a:r>
              <a:rPr lang="en-IN" dirty="0"/>
              <a:t>Dialog Control Information </a:t>
            </a:r>
          </a:p>
          <a:p>
            <a:r>
              <a:rPr lang="en-IN" dirty="0"/>
              <a:t>Synchronization (Checkpoint) Information</a:t>
            </a:r>
          </a:p>
          <a:p>
            <a:endParaRPr lang="en-IN" dirty="0"/>
          </a:p>
        </p:txBody>
      </p:sp>
    </p:spTree>
    <p:extLst>
      <p:ext uri="{BB962C8B-B14F-4D97-AF65-F5344CB8AC3E}">
        <p14:creationId xmlns:p14="http://schemas.microsoft.com/office/powerpoint/2010/main" val="29929598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1AAE83-C3A8-9634-A63A-36CC4C25A7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132954-FD1A-75E3-24EC-1DBCBFB67569}"/>
              </a:ext>
            </a:extLst>
          </p:cNvPr>
          <p:cNvSpPr>
            <a:spLocks noGrp="1"/>
          </p:cNvSpPr>
          <p:nvPr>
            <p:ph type="title"/>
          </p:nvPr>
        </p:nvSpPr>
        <p:spPr>
          <a:xfrm>
            <a:off x="240631" y="365126"/>
            <a:ext cx="11486147" cy="645528"/>
          </a:xfrm>
        </p:spPr>
        <p:txBody>
          <a:bodyPr>
            <a:normAutofit fontScale="90000"/>
          </a:bodyPr>
          <a:lstStyle/>
          <a:p>
            <a:r>
              <a:rPr lang="en-IN" dirty="0"/>
              <a:t>WhatsApp Chat Example</a:t>
            </a:r>
          </a:p>
        </p:txBody>
      </p:sp>
      <p:sp>
        <p:nvSpPr>
          <p:cNvPr id="3" name="Content Placeholder 2">
            <a:extLst>
              <a:ext uri="{FF2B5EF4-FFF2-40B4-BE49-F238E27FC236}">
                <a16:creationId xmlns:a16="http://schemas.microsoft.com/office/drawing/2014/main" id="{EB8903E9-7A03-CBBD-FC8D-A69446AB794C}"/>
              </a:ext>
            </a:extLst>
          </p:cNvPr>
          <p:cNvSpPr>
            <a:spLocks noGrp="1"/>
          </p:cNvSpPr>
          <p:nvPr>
            <p:ph idx="1"/>
          </p:nvPr>
        </p:nvSpPr>
        <p:spPr>
          <a:xfrm>
            <a:off x="240631" y="1010654"/>
            <a:ext cx="11710738" cy="5662862"/>
          </a:xfrm>
        </p:spPr>
        <p:txBody>
          <a:bodyPr>
            <a:normAutofit fontScale="77500" lnSpcReduction="20000"/>
          </a:bodyPr>
          <a:lstStyle/>
          <a:p>
            <a:pPr marL="0" indent="0">
              <a:buNone/>
            </a:pPr>
            <a:r>
              <a:rPr lang="en-IN" dirty="0"/>
              <a:t>Suppose you send:</a:t>
            </a:r>
          </a:p>
          <a:p>
            <a:r>
              <a:rPr lang="en-IN" dirty="0"/>
              <a:t>Hi! How are you?</a:t>
            </a:r>
          </a:p>
          <a:p>
            <a:pPr marL="0" indent="0">
              <a:buNone/>
            </a:pPr>
            <a:r>
              <a:rPr lang="en-IN" b="1" dirty="0"/>
              <a:t>At the Application Layer</a:t>
            </a:r>
          </a:p>
          <a:p>
            <a:r>
              <a:rPr lang="en-IN" dirty="0"/>
              <a:t>You type the message.</a:t>
            </a:r>
          </a:p>
          <a:p>
            <a:r>
              <a:rPr lang="en-IN" dirty="0"/>
              <a:t>↓</a:t>
            </a:r>
          </a:p>
          <a:p>
            <a:pPr marL="0" indent="0">
              <a:buNone/>
            </a:pPr>
            <a:r>
              <a:rPr lang="en-IN" b="1" dirty="0"/>
              <a:t>Presentation Layer</a:t>
            </a:r>
          </a:p>
          <a:p>
            <a:r>
              <a:rPr lang="en-IN" dirty="0"/>
              <a:t>The message is encoded and encrypted.</a:t>
            </a:r>
          </a:p>
          <a:p>
            <a:r>
              <a:rPr lang="en-IN" dirty="0"/>
              <a:t>↓</a:t>
            </a:r>
          </a:p>
          <a:p>
            <a:pPr marL="0" indent="0">
              <a:buNone/>
            </a:pPr>
            <a:r>
              <a:rPr lang="en-IN" b="1" dirty="0"/>
              <a:t>Session Layer</a:t>
            </a:r>
          </a:p>
          <a:p>
            <a:pPr marL="0" indent="0">
              <a:buNone/>
            </a:pPr>
            <a:r>
              <a:rPr lang="en-IN" dirty="0">
                <a:highlight>
                  <a:srgbClr val="FFFF00"/>
                </a:highlight>
              </a:rPr>
              <a:t>Before the message is sent:</a:t>
            </a:r>
          </a:p>
          <a:p>
            <a:pPr marL="514350" indent="-514350">
              <a:buFont typeface="+mj-lt"/>
              <a:buAutoNum type="arabicPeriod"/>
            </a:pPr>
            <a:r>
              <a:rPr lang="en-IN" dirty="0"/>
              <a:t>A communication session between your WhatsApp and your friend's WhatsApp is established. </a:t>
            </a:r>
          </a:p>
          <a:p>
            <a:pPr marL="514350" indent="-514350">
              <a:buFont typeface="+mj-lt"/>
              <a:buAutoNum type="arabicPeriod"/>
            </a:pPr>
            <a:r>
              <a:rPr lang="en-IN" dirty="0"/>
              <a:t>The session remains active while messages are exchanged. </a:t>
            </a:r>
          </a:p>
          <a:p>
            <a:pPr marL="514350" indent="-514350">
              <a:buFont typeface="+mj-lt"/>
              <a:buAutoNum type="arabicPeriod"/>
            </a:pPr>
            <a:r>
              <a:rPr lang="en-IN" dirty="0"/>
              <a:t>Every new message ("Hi", "How are you?", "I'm fine") uses the </a:t>
            </a:r>
            <a:r>
              <a:rPr lang="en-IN" b="1" dirty="0"/>
              <a:t>same active session</a:t>
            </a:r>
            <a:r>
              <a:rPr lang="en-IN" dirty="0"/>
              <a:t>. </a:t>
            </a:r>
          </a:p>
          <a:p>
            <a:pPr marL="514350" indent="-514350">
              <a:buFont typeface="+mj-lt"/>
              <a:buAutoNum type="arabicPeriod"/>
            </a:pPr>
            <a:r>
              <a:rPr lang="en-IN" dirty="0"/>
              <a:t>When you close the chat or the communication ends, the session is terminated. </a:t>
            </a:r>
          </a:p>
          <a:p>
            <a:pPr marL="0" indent="0">
              <a:buNone/>
            </a:pPr>
            <a:r>
              <a:rPr lang="en-IN" b="1" dirty="0"/>
              <a:t>Important:</a:t>
            </a:r>
            <a:r>
              <a:rPr lang="en-IN" dirty="0"/>
              <a:t> The Session Layer does </a:t>
            </a:r>
            <a:r>
              <a:rPr lang="en-IN" b="1" dirty="0"/>
              <a:t>not</a:t>
            </a:r>
            <a:r>
              <a:rPr lang="en-IN" dirty="0"/>
              <a:t> create the message or encrypt it. It simply manages the communication session.</a:t>
            </a:r>
          </a:p>
          <a:p>
            <a:endParaRPr lang="en-IN" dirty="0"/>
          </a:p>
        </p:txBody>
      </p:sp>
    </p:spTree>
    <p:extLst>
      <p:ext uri="{BB962C8B-B14F-4D97-AF65-F5344CB8AC3E}">
        <p14:creationId xmlns:p14="http://schemas.microsoft.com/office/powerpoint/2010/main" val="300473997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E8071C-8850-0D39-2D6E-6DB74B8C4E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CC80DD-F949-45A5-E262-6DAF70FC8BCF}"/>
              </a:ext>
            </a:extLst>
          </p:cNvPr>
          <p:cNvSpPr>
            <a:spLocks noGrp="1"/>
          </p:cNvSpPr>
          <p:nvPr>
            <p:ph type="title"/>
          </p:nvPr>
        </p:nvSpPr>
        <p:spPr>
          <a:xfrm>
            <a:off x="240631" y="365126"/>
            <a:ext cx="11486147" cy="645528"/>
          </a:xfrm>
        </p:spPr>
        <p:txBody>
          <a:bodyPr>
            <a:normAutofit fontScale="90000"/>
          </a:bodyPr>
          <a:lstStyle/>
          <a:p>
            <a:r>
              <a:rPr lang="en-IN" dirty="0"/>
              <a:t>Transport Layer</a:t>
            </a:r>
          </a:p>
        </p:txBody>
      </p:sp>
      <p:sp>
        <p:nvSpPr>
          <p:cNvPr id="3" name="Content Placeholder 2">
            <a:extLst>
              <a:ext uri="{FF2B5EF4-FFF2-40B4-BE49-F238E27FC236}">
                <a16:creationId xmlns:a16="http://schemas.microsoft.com/office/drawing/2014/main" id="{546F658F-52FB-DA78-EC9D-89B0DF8CEC6F}"/>
              </a:ext>
            </a:extLst>
          </p:cNvPr>
          <p:cNvSpPr>
            <a:spLocks noGrp="1"/>
          </p:cNvSpPr>
          <p:nvPr>
            <p:ph idx="1"/>
          </p:nvPr>
        </p:nvSpPr>
        <p:spPr>
          <a:xfrm>
            <a:off x="240631" y="1010654"/>
            <a:ext cx="11710738" cy="5662862"/>
          </a:xfrm>
        </p:spPr>
        <p:txBody>
          <a:bodyPr>
            <a:normAutofit fontScale="92500" lnSpcReduction="20000"/>
          </a:bodyPr>
          <a:lstStyle/>
          <a:p>
            <a:r>
              <a:rPr lang="en-IN" dirty="0"/>
              <a:t>The </a:t>
            </a:r>
            <a:r>
              <a:rPr lang="en-IN" b="1" dirty="0"/>
              <a:t>Transport Layer</a:t>
            </a:r>
            <a:r>
              <a:rPr lang="en-IN" dirty="0"/>
              <a:t> is the </a:t>
            </a:r>
            <a:r>
              <a:rPr lang="en-IN" b="1" dirty="0"/>
              <a:t>4th layer</a:t>
            </a:r>
            <a:r>
              <a:rPr lang="en-IN" dirty="0"/>
              <a:t> of the OSI Model.</a:t>
            </a:r>
          </a:p>
          <a:p>
            <a:r>
              <a:rPr lang="en-IN" dirty="0"/>
              <a:t>Its main responsibility is to provide </a:t>
            </a:r>
            <a:r>
              <a:rPr lang="en-IN" b="1" dirty="0"/>
              <a:t>end-to-end communication</a:t>
            </a:r>
            <a:r>
              <a:rPr lang="en-IN" dirty="0"/>
              <a:t> between the sender and the receiver.</a:t>
            </a:r>
          </a:p>
          <a:p>
            <a:r>
              <a:rPr lang="en-IN" dirty="0"/>
              <a:t>Think of it as a </a:t>
            </a:r>
            <a:r>
              <a:rPr lang="en-IN" b="1" dirty="0"/>
              <a:t>delivery manager</a:t>
            </a:r>
            <a:r>
              <a:rPr lang="en-IN" dirty="0"/>
              <a:t>. It makes sure that the complete message reaches the correct application on the destination device.</a:t>
            </a:r>
          </a:p>
          <a:p>
            <a:r>
              <a:rPr lang="en-IN" dirty="0"/>
              <a:t>Unlike the lower layers, which mainly move data between devices or networks, the Transport Layer ensures that:</a:t>
            </a:r>
          </a:p>
          <a:p>
            <a:r>
              <a:rPr lang="en-IN" dirty="0"/>
              <a:t>The complete message reaches the destination. </a:t>
            </a:r>
          </a:p>
          <a:p>
            <a:r>
              <a:rPr lang="en-IN" dirty="0"/>
              <a:t>Data arrives in the correct order (when using TCP). </a:t>
            </a:r>
          </a:p>
          <a:p>
            <a:r>
              <a:rPr lang="en-IN" dirty="0"/>
              <a:t>Missing data is retransmitted if necessary. </a:t>
            </a:r>
          </a:p>
          <a:p>
            <a:r>
              <a:rPr lang="en-IN" dirty="0"/>
              <a:t>Multiple applications on the same computer receive the correct data using </a:t>
            </a:r>
            <a:r>
              <a:rPr lang="en-IN" b="1" dirty="0"/>
              <a:t>port numbers</a:t>
            </a:r>
            <a:r>
              <a:rPr lang="en-IN" dirty="0"/>
              <a:t>.</a:t>
            </a:r>
          </a:p>
          <a:p>
            <a:r>
              <a:rPr lang="en-IN" dirty="0">
                <a:highlight>
                  <a:srgbClr val="FFFF00"/>
                </a:highlight>
              </a:rPr>
              <a:t>The Transport Layer provides end-to-end communication, divides data into smaller segments, ensures reliable delivery (when required), and delivers data to the correct application using port numbers.</a:t>
            </a:r>
          </a:p>
          <a:p>
            <a:endParaRPr lang="en-IN" dirty="0"/>
          </a:p>
        </p:txBody>
      </p:sp>
    </p:spTree>
    <p:extLst>
      <p:ext uri="{BB962C8B-B14F-4D97-AF65-F5344CB8AC3E}">
        <p14:creationId xmlns:p14="http://schemas.microsoft.com/office/powerpoint/2010/main" val="175889806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7FF1B-A2B8-5BDE-8302-284867A0A4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8122414-3DA7-55FE-4B6B-EC6901F8FF8C}"/>
              </a:ext>
            </a:extLst>
          </p:cNvPr>
          <p:cNvSpPr>
            <a:spLocks noGrp="1"/>
          </p:cNvSpPr>
          <p:nvPr>
            <p:ph type="title"/>
          </p:nvPr>
        </p:nvSpPr>
        <p:spPr>
          <a:xfrm>
            <a:off x="613611" y="433137"/>
            <a:ext cx="10515600" cy="737938"/>
          </a:xfrm>
        </p:spPr>
        <p:txBody>
          <a:bodyPr/>
          <a:lstStyle/>
          <a:p>
            <a:r>
              <a:rPr lang="en-IN" dirty="0"/>
              <a:t>The Transport Layer: Functionalities</a:t>
            </a:r>
          </a:p>
        </p:txBody>
      </p:sp>
      <p:graphicFrame>
        <p:nvGraphicFramePr>
          <p:cNvPr id="4" name="Table 3">
            <a:extLst>
              <a:ext uri="{FF2B5EF4-FFF2-40B4-BE49-F238E27FC236}">
                <a16:creationId xmlns:a16="http://schemas.microsoft.com/office/drawing/2014/main" id="{2974665E-E6F2-D500-FECE-30B5A43E798E}"/>
              </a:ext>
            </a:extLst>
          </p:cNvPr>
          <p:cNvGraphicFramePr>
            <a:graphicFrameLocks noGrp="1"/>
          </p:cNvGraphicFramePr>
          <p:nvPr>
            <p:extLst>
              <p:ext uri="{D42A27DB-BD31-4B8C-83A1-F6EECF244321}">
                <p14:modId xmlns:p14="http://schemas.microsoft.com/office/powerpoint/2010/main" val="1181276776"/>
              </p:ext>
            </p:extLst>
          </p:nvPr>
        </p:nvGraphicFramePr>
        <p:xfrm>
          <a:off x="320842" y="1407160"/>
          <a:ext cx="11550316" cy="47853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End-to-End Communication</a:t>
                      </a:r>
                      <a:endParaRPr lang="en-IN"/>
                    </a:p>
                  </a:txBody>
                  <a:tcPr anchor="ctr"/>
                </a:tc>
                <a:tc>
                  <a:txBody>
                    <a:bodyPr/>
                    <a:lstStyle/>
                    <a:p>
                      <a:pPr>
                        <a:buNone/>
                      </a:pPr>
                      <a:r>
                        <a:rPr lang="en-IN"/>
                        <a:t>Provides communication between the source application and the destination application.</a:t>
                      </a:r>
                    </a:p>
                  </a:txBody>
                  <a:tcPr anchor="ctr"/>
                </a:tc>
                <a:extLst>
                  <a:ext uri="{0D108BD9-81ED-4DB2-BD59-A6C34878D82A}">
                    <a16:rowId xmlns:a16="http://schemas.microsoft.com/office/drawing/2014/main" val="953366262"/>
                  </a:ext>
                </a:extLst>
              </a:tr>
              <a:tr h="370840">
                <a:tc>
                  <a:txBody>
                    <a:bodyPr/>
                    <a:lstStyle/>
                    <a:p>
                      <a:pPr>
                        <a:buNone/>
                      </a:pPr>
                      <a:r>
                        <a:rPr lang="en-IN" b="1"/>
                        <a:t>Segmentation</a:t>
                      </a:r>
                      <a:endParaRPr lang="en-IN"/>
                    </a:p>
                  </a:txBody>
                  <a:tcPr anchor="ctr"/>
                </a:tc>
                <a:tc>
                  <a:txBody>
                    <a:bodyPr/>
                    <a:lstStyle/>
                    <a:p>
                      <a:pPr>
                        <a:buNone/>
                      </a:pPr>
                      <a:r>
                        <a:rPr lang="en-IN"/>
                        <a:t>Divides large data into smaller segments for easier transmission.</a:t>
                      </a:r>
                    </a:p>
                  </a:txBody>
                  <a:tcPr anchor="ctr"/>
                </a:tc>
                <a:extLst>
                  <a:ext uri="{0D108BD9-81ED-4DB2-BD59-A6C34878D82A}">
                    <a16:rowId xmlns:a16="http://schemas.microsoft.com/office/drawing/2014/main" val="3976189341"/>
                  </a:ext>
                </a:extLst>
              </a:tr>
              <a:tr h="370840">
                <a:tc>
                  <a:txBody>
                    <a:bodyPr/>
                    <a:lstStyle/>
                    <a:p>
                      <a:pPr>
                        <a:buNone/>
                      </a:pPr>
                      <a:r>
                        <a:rPr lang="en-IN" b="1"/>
                        <a:t>Reassembly</a:t>
                      </a:r>
                      <a:endParaRPr lang="en-IN"/>
                    </a:p>
                  </a:txBody>
                  <a:tcPr anchor="ctr"/>
                </a:tc>
                <a:tc>
                  <a:txBody>
                    <a:bodyPr/>
                    <a:lstStyle/>
                    <a:p>
                      <a:pPr>
                        <a:buNone/>
                      </a:pPr>
                      <a:r>
                        <a:rPr lang="en-IN"/>
                        <a:t>Combines all received segments back into the original message at the destination.</a:t>
                      </a:r>
                    </a:p>
                  </a:txBody>
                  <a:tcPr anchor="ctr"/>
                </a:tc>
                <a:extLst>
                  <a:ext uri="{0D108BD9-81ED-4DB2-BD59-A6C34878D82A}">
                    <a16:rowId xmlns:a16="http://schemas.microsoft.com/office/drawing/2014/main" val="3315618413"/>
                  </a:ext>
                </a:extLst>
              </a:tr>
              <a:tr h="370840">
                <a:tc>
                  <a:txBody>
                    <a:bodyPr/>
                    <a:lstStyle/>
                    <a:p>
                      <a:pPr>
                        <a:buNone/>
                      </a:pPr>
                      <a:r>
                        <a:rPr lang="en-IN" b="1"/>
                        <a:t>Port Addressing</a:t>
                      </a:r>
                      <a:endParaRPr lang="en-IN"/>
                    </a:p>
                  </a:txBody>
                  <a:tcPr anchor="ctr"/>
                </a:tc>
                <a:tc>
                  <a:txBody>
                    <a:bodyPr/>
                    <a:lstStyle/>
                    <a:p>
                      <a:pPr>
                        <a:buNone/>
                      </a:pPr>
                      <a:r>
                        <a:rPr lang="en-IN"/>
                        <a:t>Uses port numbers to deliver data to the correct application (e.g., browser, WhatsApp, email).</a:t>
                      </a:r>
                    </a:p>
                  </a:txBody>
                  <a:tcPr anchor="ctr"/>
                </a:tc>
                <a:extLst>
                  <a:ext uri="{0D108BD9-81ED-4DB2-BD59-A6C34878D82A}">
                    <a16:rowId xmlns:a16="http://schemas.microsoft.com/office/drawing/2014/main" val="385594624"/>
                  </a:ext>
                </a:extLst>
              </a:tr>
              <a:tr h="370840">
                <a:tc>
                  <a:txBody>
                    <a:bodyPr/>
                    <a:lstStyle/>
                    <a:p>
                      <a:pPr>
                        <a:buNone/>
                      </a:pPr>
                      <a:r>
                        <a:rPr lang="en-IN" b="1"/>
                        <a:t>Reliable Delivery (TCP)</a:t>
                      </a:r>
                      <a:endParaRPr lang="en-IN"/>
                    </a:p>
                  </a:txBody>
                  <a:tcPr anchor="ctr"/>
                </a:tc>
                <a:tc>
                  <a:txBody>
                    <a:bodyPr/>
                    <a:lstStyle/>
                    <a:p>
                      <a:pPr>
                        <a:buNone/>
                      </a:pPr>
                      <a:r>
                        <a:rPr lang="en-IN"/>
                        <a:t>Ensures that all data reaches the destination correctly using acknowledgments and retransmissions.</a:t>
                      </a:r>
                    </a:p>
                  </a:txBody>
                  <a:tcPr anchor="ctr"/>
                </a:tc>
                <a:extLst>
                  <a:ext uri="{0D108BD9-81ED-4DB2-BD59-A6C34878D82A}">
                    <a16:rowId xmlns:a16="http://schemas.microsoft.com/office/drawing/2014/main" val="2440142686"/>
                  </a:ext>
                </a:extLst>
              </a:tr>
              <a:tr h="370840">
                <a:tc>
                  <a:txBody>
                    <a:bodyPr/>
                    <a:lstStyle/>
                    <a:p>
                      <a:pPr>
                        <a:buNone/>
                      </a:pPr>
                      <a:r>
                        <a:rPr lang="en-IN" b="1"/>
                        <a:t>Error Recovery</a:t>
                      </a:r>
                      <a:endParaRPr lang="en-IN"/>
                    </a:p>
                  </a:txBody>
                  <a:tcPr anchor="ctr"/>
                </a:tc>
                <a:tc>
                  <a:txBody>
                    <a:bodyPr/>
                    <a:lstStyle/>
                    <a:p>
                      <a:pPr>
                        <a:buNone/>
                      </a:pPr>
                      <a:r>
                        <a:rPr lang="en-IN"/>
                        <a:t>Detects lost segments and requests retransmission.</a:t>
                      </a:r>
                    </a:p>
                  </a:txBody>
                  <a:tcPr anchor="ctr"/>
                </a:tc>
                <a:extLst>
                  <a:ext uri="{0D108BD9-81ED-4DB2-BD59-A6C34878D82A}">
                    <a16:rowId xmlns:a16="http://schemas.microsoft.com/office/drawing/2014/main" val="2091929012"/>
                  </a:ext>
                </a:extLst>
              </a:tr>
              <a:tr h="370840">
                <a:tc>
                  <a:txBody>
                    <a:bodyPr/>
                    <a:lstStyle/>
                    <a:p>
                      <a:pPr>
                        <a:buNone/>
                      </a:pPr>
                      <a:r>
                        <a:rPr lang="en-IN" b="1"/>
                        <a:t>Flow Control</a:t>
                      </a:r>
                      <a:endParaRPr lang="en-IN"/>
                    </a:p>
                  </a:txBody>
                  <a:tcPr anchor="ctr"/>
                </a:tc>
                <a:tc>
                  <a:txBody>
                    <a:bodyPr/>
                    <a:lstStyle/>
                    <a:p>
                      <a:pPr>
                        <a:buNone/>
                      </a:pPr>
                      <a:r>
                        <a:rPr lang="en-IN"/>
                        <a:t>Prevents the sender from sending data faster than the receiver can process it.</a:t>
                      </a:r>
                    </a:p>
                  </a:txBody>
                  <a:tcPr anchor="ctr"/>
                </a:tc>
                <a:extLst>
                  <a:ext uri="{0D108BD9-81ED-4DB2-BD59-A6C34878D82A}">
                    <a16:rowId xmlns:a16="http://schemas.microsoft.com/office/drawing/2014/main" val="320253377"/>
                  </a:ext>
                </a:extLst>
              </a:tr>
              <a:tr h="370840">
                <a:tc>
                  <a:txBody>
                    <a:bodyPr/>
                    <a:lstStyle/>
                    <a:p>
                      <a:pPr>
                        <a:buNone/>
                      </a:pPr>
                      <a:r>
                        <a:rPr lang="en-IN" b="1"/>
                        <a:t>Connection Management</a:t>
                      </a:r>
                      <a:endParaRPr lang="en-IN"/>
                    </a:p>
                  </a:txBody>
                  <a:tcPr anchor="ctr"/>
                </a:tc>
                <a:tc>
                  <a:txBody>
                    <a:bodyPr/>
                    <a:lstStyle/>
                    <a:p>
                      <a:pPr>
                        <a:buNone/>
                      </a:pPr>
                      <a:r>
                        <a:rPr lang="en-IN"/>
                        <a:t>Establishes and terminates connections when using TCP.</a:t>
                      </a:r>
                    </a:p>
                  </a:txBody>
                  <a:tcPr anchor="ctr"/>
                </a:tc>
                <a:extLst>
                  <a:ext uri="{0D108BD9-81ED-4DB2-BD59-A6C34878D82A}">
                    <a16:rowId xmlns:a16="http://schemas.microsoft.com/office/drawing/2014/main" val="2414151881"/>
                  </a:ext>
                </a:extLst>
              </a:tr>
              <a:tr h="370840">
                <a:tc>
                  <a:txBody>
                    <a:bodyPr/>
                    <a:lstStyle/>
                    <a:p>
                      <a:pPr>
                        <a:buNone/>
                      </a:pPr>
                      <a:r>
                        <a:rPr lang="en-IN" b="1"/>
                        <a:t>Multiplexing and Demultiplexing</a:t>
                      </a:r>
                      <a:endParaRPr lang="en-IN"/>
                    </a:p>
                  </a:txBody>
                  <a:tcPr anchor="ctr"/>
                </a:tc>
                <a:tc>
                  <a:txBody>
                    <a:bodyPr/>
                    <a:lstStyle/>
                    <a:p>
                      <a:pPr>
                        <a:buNone/>
                      </a:pPr>
                      <a:r>
                        <a:rPr lang="en-IN" dirty="0"/>
                        <a:t>Allows multiple applications to send and receive data simultaneously using different port numbers.</a:t>
                      </a:r>
                    </a:p>
                  </a:txBody>
                  <a:tcPr anchor="ctr"/>
                </a:tc>
                <a:extLst>
                  <a:ext uri="{0D108BD9-81ED-4DB2-BD59-A6C34878D82A}">
                    <a16:rowId xmlns:a16="http://schemas.microsoft.com/office/drawing/2014/main" val="27735260"/>
                  </a:ext>
                </a:extLst>
              </a:tr>
            </a:tbl>
          </a:graphicData>
        </a:graphic>
      </p:graphicFrame>
    </p:spTree>
    <p:extLst>
      <p:ext uri="{BB962C8B-B14F-4D97-AF65-F5344CB8AC3E}">
        <p14:creationId xmlns:p14="http://schemas.microsoft.com/office/powerpoint/2010/main" val="313650288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B04311-ACD8-704D-9AE9-47A1E3D18C5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8EB7C76-54F1-147A-422F-9F70C4356602}"/>
              </a:ext>
            </a:extLst>
          </p:cNvPr>
          <p:cNvSpPr>
            <a:spLocks noGrp="1"/>
          </p:cNvSpPr>
          <p:nvPr>
            <p:ph type="title"/>
          </p:nvPr>
        </p:nvSpPr>
        <p:spPr>
          <a:xfrm>
            <a:off x="613611" y="433137"/>
            <a:ext cx="10515600" cy="737938"/>
          </a:xfrm>
        </p:spPr>
        <p:txBody>
          <a:bodyPr/>
          <a:lstStyle/>
          <a:p>
            <a:r>
              <a:rPr lang="en-IN" dirty="0"/>
              <a:t>The Transport Layer: Protocols</a:t>
            </a:r>
          </a:p>
        </p:txBody>
      </p:sp>
      <p:graphicFrame>
        <p:nvGraphicFramePr>
          <p:cNvPr id="4" name="Table 3">
            <a:extLst>
              <a:ext uri="{FF2B5EF4-FFF2-40B4-BE49-F238E27FC236}">
                <a16:creationId xmlns:a16="http://schemas.microsoft.com/office/drawing/2014/main" id="{F4BE403B-B4C7-89F0-F617-E0966BA9CE2B}"/>
              </a:ext>
            </a:extLst>
          </p:cNvPr>
          <p:cNvGraphicFramePr>
            <a:graphicFrameLocks noGrp="1"/>
          </p:cNvGraphicFramePr>
          <p:nvPr>
            <p:extLst>
              <p:ext uri="{D42A27DB-BD31-4B8C-83A1-F6EECF244321}">
                <p14:modId xmlns:p14="http://schemas.microsoft.com/office/powerpoint/2010/main" val="2875684687"/>
              </p:ext>
            </p:extLst>
          </p:nvPr>
        </p:nvGraphicFramePr>
        <p:xfrm>
          <a:off x="320842" y="1407160"/>
          <a:ext cx="11550316" cy="286512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TCP</a:t>
                      </a:r>
                    </a:p>
                  </a:txBody>
                  <a:tcPr anchor="ctr"/>
                </a:tc>
                <a:tc>
                  <a:txBody>
                    <a:bodyPr/>
                    <a:lstStyle/>
                    <a:p>
                      <a:pPr>
                        <a:buNone/>
                      </a:pPr>
                      <a:r>
                        <a:rPr lang="en-IN"/>
                        <a:t>UDP</a:t>
                      </a:r>
                    </a:p>
                  </a:txBody>
                  <a:tcPr anchor="ctr"/>
                </a:tc>
                <a:extLst>
                  <a:ext uri="{0D108BD9-81ED-4DB2-BD59-A6C34878D82A}">
                    <a16:rowId xmlns:a16="http://schemas.microsoft.com/office/drawing/2014/main" val="3685672146"/>
                  </a:ext>
                </a:extLst>
              </a:tr>
              <a:tr h="370840">
                <a:tc>
                  <a:txBody>
                    <a:bodyPr/>
                    <a:lstStyle/>
                    <a:p>
                      <a:pPr>
                        <a:buNone/>
                      </a:pPr>
                      <a:r>
                        <a:rPr lang="en-IN"/>
                        <a:t>Connection-Oriented</a:t>
                      </a:r>
                    </a:p>
                  </a:txBody>
                  <a:tcPr anchor="ctr"/>
                </a:tc>
                <a:tc>
                  <a:txBody>
                    <a:bodyPr/>
                    <a:lstStyle/>
                    <a:p>
                      <a:pPr>
                        <a:buNone/>
                      </a:pPr>
                      <a:r>
                        <a:rPr lang="en-IN"/>
                        <a:t>Connectionless</a:t>
                      </a:r>
                    </a:p>
                  </a:txBody>
                  <a:tcPr anchor="ctr"/>
                </a:tc>
                <a:extLst>
                  <a:ext uri="{0D108BD9-81ED-4DB2-BD59-A6C34878D82A}">
                    <a16:rowId xmlns:a16="http://schemas.microsoft.com/office/drawing/2014/main" val="953366262"/>
                  </a:ext>
                </a:extLst>
              </a:tr>
              <a:tr h="370840">
                <a:tc>
                  <a:txBody>
                    <a:bodyPr/>
                    <a:lstStyle/>
                    <a:p>
                      <a:pPr>
                        <a:buNone/>
                      </a:pPr>
                      <a:r>
                        <a:rPr lang="en-IN"/>
                        <a:t>Reliable</a:t>
                      </a:r>
                    </a:p>
                  </a:txBody>
                  <a:tcPr anchor="ctr"/>
                </a:tc>
                <a:tc>
                  <a:txBody>
                    <a:bodyPr/>
                    <a:lstStyle/>
                    <a:p>
                      <a:pPr>
                        <a:buNone/>
                      </a:pPr>
                      <a:r>
                        <a:rPr lang="en-IN"/>
                        <a:t>Unreliable</a:t>
                      </a:r>
                    </a:p>
                  </a:txBody>
                  <a:tcPr anchor="ctr"/>
                </a:tc>
                <a:extLst>
                  <a:ext uri="{0D108BD9-81ED-4DB2-BD59-A6C34878D82A}">
                    <a16:rowId xmlns:a16="http://schemas.microsoft.com/office/drawing/2014/main" val="3976189341"/>
                  </a:ext>
                </a:extLst>
              </a:tr>
              <a:tr h="370840">
                <a:tc>
                  <a:txBody>
                    <a:bodyPr/>
                    <a:lstStyle/>
                    <a:p>
                      <a:pPr>
                        <a:buNone/>
                      </a:pPr>
                      <a:r>
                        <a:rPr lang="en-IN"/>
                        <a:t>Acknowledgment Required</a:t>
                      </a:r>
                    </a:p>
                  </a:txBody>
                  <a:tcPr anchor="ctr"/>
                </a:tc>
                <a:tc>
                  <a:txBody>
                    <a:bodyPr/>
                    <a:lstStyle/>
                    <a:p>
                      <a:pPr>
                        <a:buNone/>
                      </a:pPr>
                      <a:r>
                        <a:rPr lang="en-IN"/>
                        <a:t>No Acknowledgment</a:t>
                      </a:r>
                    </a:p>
                  </a:txBody>
                  <a:tcPr anchor="ctr"/>
                </a:tc>
                <a:extLst>
                  <a:ext uri="{0D108BD9-81ED-4DB2-BD59-A6C34878D82A}">
                    <a16:rowId xmlns:a16="http://schemas.microsoft.com/office/drawing/2014/main" val="3315618413"/>
                  </a:ext>
                </a:extLst>
              </a:tr>
              <a:tr h="370840">
                <a:tc>
                  <a:txBody>
                    <a:bodyPr/>
                    <a:lstStyle/>
                    <a:p>
                      <a:pPr>
                        <a:buNone/>
                      </a:pPr>
                      <a:r>
                        <a:rPr lang="en-IN"/>
                        <a:t>Error Recovery</a:t>
                      </a:r>
                    </a:p>
                  </a:txBody>
                  <a:tcPr anchor="ctr"/>
                </a:tc>
                <a:tc>
                  <a:txBody>
                    <a:bodyPr/>
                    <a:lstStyle/>
                    <a:p>
                      <a:pPr>
                        <a:buNone/>
                      </a:pPr>
                      <a:r>
                        <a:rPr lang="en-IN"/>
                        <a:t>No Error Recovery</a:t>
                      </a:r>
                    </a:p>
                  </a:txBody>
                  <a:tcPr anchor="ctr"/>
                </a:tc>
                <a:extLst>
                  <a:ext uri="{0D108BD9-81ED-4DB2-BD59-A6C34878D82A}">
                    <a16:rowId xmlns:a16="http://schemas.microsoft.com/office/drawing/2014/main" val="385594624"/>
                  </a:ext>
                </a:extLst>
              </a:tr>
              <a:tr h="370840">
                <a:tc>
                  <a:txBody>
                    <a:bodyPr/>
                    <a:lstStyle/>
                    <a:p>
                      <a:pPr>
                        <a:buNone/>
                      </a:pPr>
                      <a:r>
                        <a:rPr lang="en-IN"/>
                        <a:t>Slower</a:t>
                      </a:r>
                    </a:p>
                  </a:txBody>
                  <a:tcPr anchor="ctr"/>
                </a:tc>
                <a:tc>
                  <a:txBody>
                    <a:bodyPr/>
                    <a:lstStyle/>
                    <a:p>
                      <a:pPr>
                        <a:buNone/>
                      </a:pPr>
                      <a:r>
                        <a:rPr lang="en-IN"/>
                        <a:t>Faster</a:t>
                      </a:r>
                    </a:p>
                  </a:txBody>
                  <a:tcPr anchor="ctr"/>
                </a:tc>
                <a:extLst>
                  <a:ext uri="{0D108BD9-81ED-4DB2-BD59-A6C34878D82A}">
                    <a16:rowId xmlns:a16="http://schemas.microsoft.com/office/drawing/2014/main" val="2440142686"/>
                  </a:ext>
                </a:extLst>
              </a:tr>
              <a:tr h="370840">
                <a:tc>
                  <a:txBody>
                    <a:bodyPr/>
                    <a:lstStyle/>
                    <a:p>
                      <a:pPr>
                        <a:buNone/>
                      </a:pPr>
                      <a:r>
                        <a:rPr lang="en-IN"/>
                        <a:t>Used for Email, Web Browsing, Banking</a:t>
                      </a:r>
                    </a:p>
                  </a:txBody>
                  <a:tcPr anchor="ctr"/>
                </a:tc>
                <a:tc>
                  <a:txBody>
                    <a:bodyPr/>
                    <a:lstStyle/>
                    <a:p>
                      <a:pPr>
                        <a:buNone/>
                      </a:pPr>
                      <a:r>
                        <a:rPr lang="en-IN" dirty="0"/>
                        <a:t>Used for Video Streaming, Gaming, DNS, Voice Calls</a:t>
                      </a:r>
                    </a:p>
                  </a:txBody>
                  <a:tcPr anchor="ctr"/>
                </a:tc>
                <a:extLst>
                  <a:ext uri="{0D108BD9-81ED-4DB2-BD59-A6C34878D82A}">
                    <a16:rowId xmlns:a16="http://schemas.microsoft.com/office/drawing/2014/main" val="2091929012"/>
                  </a:ext>
                </a:extLst>
              </a:tr>
            </a:tbl>
          </a:graphicData>
        </a:graphic>
      </p:graphicFrame>
    </p:spTree>
    <p:extLst>
      <p:ext uri="{BB962C8B-B14F-4D97-AF65-F5344CB8AC3E}">
        <p14:creationId xmlns:p14="http://schemas.microsoft.com/office/powerpoint/2010/main" val="400647581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4D80ED-1B29-FBC0-6081-78BEB23CFF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2A4A9E-6CCB-CAB2-FAFC-72B917105378}"/>
              </a:ext>
            </a:extLst>
          </p:cNvPr>
          <p:cNvSpPr>
            <a:spLocks noGrp="1"/>
          </p:cNvSpPr>
          <p:nvPr>
            <p:ph type="title"/>
          </p:nvPr>
        </p:nvSpPr>
        <p:spPr>
          <a:xfrm>
            <a:off x="613610" y="433137"/>
            <a:ext cx="11578389" cy="737938"/>
          </a:xfrm>
        </p:spPr>
        <p:txBody>
          <a:bodyPr>
            <a:normAutofit fontScale="90000"/>
          </a:bodyPr>
          <a:lstStyle/>
          <a:p>
            <a:r>
              <a:rPr lang="en-IN" dirty="0"/>
              <a:t>The Transport Layer: Data Format (Protocol Data Unit)</a:t>
            </a:r>
          </a:p>
        </p:txBody>
      </p:sp>
      <p:sp>
        <p:nvSpPr>
          <p:cNvPr id="5" name="TextBox 4">
            <a:extLst>
              <a:ext uri="{FF2B5EF4-FFF2-40B4-BE49-F238E27FC236}">
                <a16:creationId xmlns:a16="http://schemas.microsoft.com/office/drawing/2014/main" id="{7D52257C-AC82-08B7-0E5F-F413EF246462}"/>
              </a:ext>
            </a:extLst>
          </p:cNvPr>
          <p:cNvSpPr txBox="1"/>
          <p:nvPr/>
        </p:nvSpPr>
        <p:spPr>
          <a:xfrm>
            <a:off x="834190" y="1378893"/>
            <a:ext cx="2999873" cy="1631216"/>
          </a:xfrm>
          <a:prstGeom prst="rect">
            <a:avLst/>
          </a:prstGeom>
          <a:noFill/>
        </p:spPr>
        <p:txBody>
          <a:bodyPr wrap="square">
            <a:spAutoFit/>
          </a:bodyPr>
          <a:lstStyle/>
          <a:p>
            <a:pPr>
              <a:buNone/>
            </a:pPr>
            <a:r>
              <a:rPr lang="en-IN" sz="2000" dirty="0"/>
              <a:t>At the Transport Layer,</a:t>
            </a:r>
          </a:p>
          <a:p>
            <a:pPr>
              <a:buNone/>
            </a:pPr>
            <a:r>
              <a:rPr lang="en-IN" sz="2000" dirty="0"/>
              <a:t>the data is divided into:</a:t>
            </a:r>
          </a:p>
          <a:p>
            <a:pPr>
              <a:buNone/>
            </a:pPr>
            <a:r>
              <a:rPr lang="en-IN" sz="2000" b="1" dirty="0"/>
              <a:t>Segments (TCP)</a:t>
            </a:r>
            <a:endParaRPr lang="en-IN" sz="2000" dirty="0"/>
          </a:p>
          <a:p>
            <a:pPr>
              <a:buNone/>
            </a:pPr>
            <a:r>
              <a:rPr lang="en-IN" sz="2000" dirty="0"/>
              <a:t>or</a:t>
            </a:r>
          </a:p>
          <a:p>
            <a:pPr>
              <a:buNone/>
            </a:pPr>
            <a:r>
              <a:rPr lang="en-IN" sz="2000" b="1" dirty="0"/>
              <a:t>Datagrams (UDP)</a:t>
            </a:r>
            <a:endParaRPr lang="en-IN" sz="2000" dirty="0"/>
          </a:p>
        </p:txBody>
      </p:sp>
      <p:pic>
        <p:nvPicPr>
          <p:cNvPr id="7" name="Picture 6">
            <a:extLst>
              <a:ext uri="{FF2B5EF4-FFF2-40B4-BE49-F238E27FC236}">
                <a16:creationId xmlns:a16="http://schemas.microsoft.com/office/drawing/2014/main" id="{4701683F-194F-02F1-B1FD-C029BAE6967E}"/>
              </a:ext>
            </a:extLst>
          </p:cNvPr>
          <p:cNvPicPr>
            <a:picLocks noChangeAspect="1"/>
          </p:cNvPicPr>
          <p:nvPr/>
        </p:nvPicPr>
        <p:blipFill>
          <a:blip r:embed="rId2"/>
          <a:stretch>
            <a:fillRect/>
          </a:stretch>
        </p:blipFill>
        <p:spPr>
          <a:xfrm>
            <a:off x="4417076" y="1504625"/>
            <a:ext cx="5801745" cy="1619575"/>
          </a:xfrm>
          <a:prstGeom prst="rect">
            <a:avLst/>
          </a:prstGeom>
        </p:spPr>
      </p:pic>
    </p:spTree>
    <p:extLst>
      <p:ext uri="{BB962C8B-B14F-4D97-AF65-F5344CB8AC3E}">
        <p14:creationId xmlns:p14="http://schemas.microsoft.com/office/powerpoint/2010/main" val="107728721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9735FF-0D06-794E-D661-126A3D5E06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5A19E7-66E2-DD80-D837-BDF84B6B9DCF}"/>
              </a:ext>
            </a:extLst>
          </p:cNvPr>
          <p:cNvSpPr>
            <a:spLocks noGrp="1"/>
          </p:cNvSpPr>
          <p:nvPr>
            <p:ph type="title"/>
          </p:nvPr>
        </p:nvSpPr>
        <p:spPr>
          <a:xfrm>
            <a:off x="613610" y="433137"/>
            <a:ext cx="11578389" cy="737938"/>
          </a:xfrm>
        </p:spPr>
        <p:txBody>
          <a:bodyPr>
            <a:normAutofit/>
          </a:bodyPr>
          <a:lstStyle/>
          <a:p>
            <a:r>
              <a:rPr lang="en-IN" dirty="0"/>
              <a:t>The Transport Layer: Header Format (TCP)</a:t>
            </a:r>
          </a:p>
        </p:txBody>
      </p:sp>
      <p:pic>
        <p:nvPicPr>
          <p:cNvPr id="4" name="Picture 3">
            <a:extLst>
              <a:ext uri="{FF2B5EF4-FFF2-40B4-BE49-F238E27FC236}">
                <a16:creationId xmlns:a16="http://schemas.microsoft.com/office/drawing/2014/main" id="{FE90E293-2222-6675-A8B7-D77DD1D85A9D}"/>
              </a:ext>
            </a:extLst>
          </p:cNvPr>
          <p:cNvPicPr>
            <a:picLocks noChangeAspect="1"/>
          </p:cNvPicPr>
          <p:nvPr/>
        </p:nvPicPr>
        <p:blipFill>
          <a:blip r:embed="rId2"/>
          <a:stretch>
            <a:fillRect/>
          </a:stretch>
        </p:blipFill>
        <p:spPr>
          <a:xfrm>
            <a:off x="240632" y="1957664"/>
            <a:ext cx="5855368" cy="3528736"/>
          </a:xfrm>
          <a:prstGeom prst="rect">
            <a:avLst/>
          </a:prstGeom>
        </p:spPr>
      </p:pic>
      <p:graphicFrame>
        <p:nvGraphicFramePr>
          <p:cNvPr id="6" name="Table 5">
            <a:extLst>
              <a:ext uri="{FF2B5EF4-FFF2-40B4-BE49-F238E27FC236}">
                <a16:creationId xmlns:a16="http://schemas.microsoft.com/office/drawing/2014/main" id="{EAFF6D4B-A905-67F3-8E0E-BF451707C099}"/>
              </a:ext>
            </a:extLst>
          </p:cNvPr>
          <p:cNvGraphicFramePr>
            <a:graphicFrameLocks noGrp="1"/>
          </p:cNvGraphicFramePr>
          <p:nvPr>
            <p:extLst>
              <p:ext uri="{D42A27DB-BD31-4B8C-83A1-F6EECF244321}">
                <p14:modId xmlns:p14="http://schemas.microsoft.com/office/powerpoint/2010/main" val="1254549288"/>
              </p:ext>
            </p:extLst>
          </p:nvPr>
        </p:nvGraphicFramePr>
        <p:xfrm>
          <a:off x="6593305" y="1618023"/>
          <a:ext cx="5138822" cy="4582160"/>
        </p:xfrm>
        <a:graphic>
          <a:graphicData uri="http://schemas.openxmlformats.org/drawingml/2006/table">
            <a:tbl>
              <a:tblPr firstRow="1" bandRow="1">
                <a:tableStyleId>{5C22544A-7EE6-4342-B048-85BDC9FD1C3A}</a:tableStyleId>
              </a:tblPr>
              <a:tblGrid>
                <a:gridCol w="2569411">
                  <a:extLst>
                    <a:ext uri="{9D8B030D-6E8A-4147-A177-3AD203B41FA5}">
                      <a16:colId xmlns:a16="http://schemas.microsoft.com/office/drawing/2014/main" val="4123824671"/>
                    </a:ext>
                  </a:extLst>
                </a:gridCol>
                <a:gridCol w="2569411">
                  <a:extLst>
                    <a:ext uri="{9D8B030D-6E8A-4147-A177-3AD203B41FA5}">
                      <a16:colId xmlns:a16="http://schemas.microsoft.com/office/drawing/2014/main" val="3852051962"/>
                    </a:ext>
                  </a:extLst>
                </a:gridCol>
              </a:tblGrid>
              <a:tr h="370840">
                <a:tc>
                  <a:txBody>
                    <a:bodyPr/>
                    <a:lstStyle/>
                    <a:p>
                      <a:pPr>
                        <a:buNone/>
                      </a:pPr>
                      <a:r>
                        <a:rPr lang="en-IN" dirty="0"/>
                        <a:t>Field</a:t>
                      </a:r>
                    </a:p>
                  </a:txBody>
                  <a:tcPr anchor="ctr"/>
                </a:tc>
                <a:tc>
                  <a:txBody>
                    <a:bodyPr/>
                    <a:lstStyle/>
                    <a:p>
                      <a:pPr>
                        <a:buNone/>
                      </a:pPr>
                      <a:r>
                        <a:rPr lang="en-IN"/>
                        <a:t>Purpose</a:t>
                      </a:r>
                    </a:p>
                  </a:txBody>
                  <a:tcPr anchor="ctr"/>
                </a:tc>
                <a:extLst>
                  <a:ext uri="{0D108BD9-81ED-4DB2-BD59-A6C34878D82A}">
                    <a16:rowId xmlns:a16="http://schemas.microsoft.com/office/drawing/2014/main" val="2594392437"/>
                  </a:ext>
                </a:extLst>
              </a:tr>
              <a:tr h="370840">
                <a:tc>
                  <a:txBody>
                    <a:bodyPr/>
                    <a:lstStyle/>
                    <a:p>
                      <a:pPr>
                        <a:buNone/>
                      </a:pPr>
                      <a:r>
                        <a:rPr lang="en-IN"/>
                        <a:t>Source Port</a:t>
                      </a:r>
                    </a:p>
                  </a:txBody>
                  <a:tcPr anchor="ctr"/>
                </a:tc>
                <a:tc>
                  <a:txBody>
                    <a:bodyPr/>
                    <a:lstStyle/>
                    <a:p>
                      <a:pPr>
                        <a:buNone/>
                      </a:pPr>
                      <a:r>
                        <a:rPr lang="en-IN"/>
                        <a:t>Port number of sender application</a:t>
                      </a:r>
                    </a:p>
                  </a:txBody>
                  <a:tcPr anchor="ctr"/>
                </a:tc>
                <a:extLst>
                  <a:ext uri="{0D108BD9-81ED-4DB2-BD59-A6C34878D82A}">
                    <a16:rowId xmlns:a16="http://schemas.microsoft.com/office/drawing/2014/main" val="2015557527"/>
                  </a:ext>
                </a:extLst>
              </a:tr>
              <a:tr h="370840">
                <a:tc>
                  <a:txBody>
                    <a:bodyPr/>
                    <a:lstStyle/>
                    <a:p>
                      <a:pPr>
                        <a:buNone/>
                      </a:pPr>
                      <a:r>
                        <a:rPr lang="en-IN"/>
                        <a:t>Destination Port</a:t>
                      </a:r>
                    </a:p>
                  </a:txBody>
                  <a:tcPr anchor="ctr"/>
                </a:tc>
                <a:tc>
                  <a:txBody>
                    <a:bodyPr/>
                    <a:lstStyle/>
                    <a:p>
                      <a:pPr>
                        <a:buNone/>
                      </a:pPr>
                      <a:r>
                        <a:rPr lang="en-IN"/>
                        <a:t>Port number of receiver application</a:t>
                      </a:r>
                    </a:p>
                  </a:txBody>
                  <a:tcPr anchor="ctr"/>
                </a:tc>
                <a:extLst>
                  <a:ext uri="{0D108BD9-81ED-4DB2-BD59-A6C34878D82A}">
                    <a16:rowId xmlns:a16="http://schemas.microsoft.com/office/drawing/2014/main" val="1023758939"/>
                  </a:ext>
                </a:extLst>
              </a:tr>
              <a:tr h="370840">
                <a:tc>
                  <a:txBody>
                    <a:bodyPr/>
                    <a:lstStyle/>
                    <a:p>
                      <a:pPr>
                        <a:buNone/>
                      </a:pPr>
                      <a:r>
                        <a:rPr lang="en-IN"/>
                        <a:t>Sequence Number</a:t>
                      </a:r>
                    </a:p>
                  </a:txBody>
                  <a:tcPr anchor="ctr"/>
                </a:tc>
                <a:tc>
                  <a:txBody>
                    <a:bodyPr/>
                    <a:lstStyle/>
                    <a:p>
                      <a:pPr>
                        <a:buNone/>
                      </a:pPr>
                      <a:r>
                        <a:rPr lang="en-IN"/>
                        <a:t>Keeps segments in the correct order</a:t>
                      </a:r>
                    </a:p>
                  </a:txBody>
                  <a:tcPr anchor="ctr"/>
                </a:tc>
                <a:extLst>
                  <a:ext uri="{0D108BD9-81ED-4DB2-BD59-A6C34878D82A}">
                    <a16:rowId xmlns:a16="http://schemas.microsoft.com/office/drawing/2014/main" val="3132659323"/>
                  </a:ext>
                </a:extLst>
              </a:tr>
              <a:tr h="370840">
                <a:tc>
                  <a:txBody>
                    <a:bodyPr/>
                    <a:lstStyle/>
                    <a:p>
                      <a:pPr>
                        <a:buNone/>
                      </a:pPr>
                      <a:r>
                        <a:rPr lang="en-IN"/>
                        <a:t>Acknowledgment Number</a:t>
                      </a:r>
                    </a:p>
                  </a:txBody>
                  <a:tcPr anchor="ctr"/>
                </a:tc>
                <a:tc>
                  <a:txBody>
                    <a:bodyPr/>
                    <a:lstStyle/>
                    <a:p>
                      <a:pPr>
                        <a:buNone/>
                      </a:pPr>
                      <a:r>
                        <a:rPr lang="en-IN"/>
                        <a:t>Confirms successful receipt</a:t>
                      </a:r>
                    </a:p>
                  </a:txBody>
                  <a:tcPr anchor="ctr"/>
                </a:tc>
                <a:extLst>
                  <a:ext uri="{0D108BD9-81ED-4DB2-BD59-A6C34878D82A}">
                    <a16:rowId xmlns:a16="http://schemas.microsoft.com/office/drawing/2014/main" val="2733799494"/>
                  </a:ext>
                </a:extLst>
              </a:tr>
              <a:tr h="370840">
                <a:tc>
                  <a:txBody>
                    <a:bodyPr/>
                    <a:lstStyle/>
                    <a:p>
                      <a:pPr>
                        <a:buNone/>
                      </a:pPr>
                      <a:r>
                        <a:rPr lang="en-IN"/>
                        <a:t>Flags</a:t>
                      </a:r>
                    </a:p>
                  </a:txBody>
                  <a:tcPr anchor="ctr"/>
                </a:tc>
                <a:tc>
                  <a:txBody>
                    <a:bodyPr/>
                    <a:lstStyle/>
                    <a:p>
                      <a:pPr>
                        <a:buNone/>
                      </a:pPr>
                      <a:r>
                        <a:rPr lang="en-IN"/>
                        <a:t>Controls connection (SYN, ACK, FIN, etc.)</a:t>
                      </a:r>
                    </a:p>
                  </a:txBody>
                  <a:tcPr anchor="ctr"/>
                </a:tc>
                <a:extLst>
                  <a:ext uri="{0D108BD9-81ED-4DB2-BD59-A6C34878D82A}">
                    <a16:rowId xmlns:a16="http://schemas.microsoft.com/office/drawing/2014/main" val="2430875376"/>
                  </a:ext>
                </a:extLst>
              </a:tr>
              <a:tr h="370840">
                <a:tc>
                  <a:txBody>
                    <a:bodyPr/>
                    <a:lstStyle/>
                    <a:p>
                      <a:pPr>
                        <a:buNone/>
                      </a:pPr>
                      <a:r>
                        <a:rPr lang="en-IN"/>
                        <a:t>Window Size</a:t>
                      </a:r>
                    </a:p>
                  </a:txBody>
                  <a:tcPr anchor="ctr"/>
                </a:tc>
                <a:tc>
                  <a:txBody>
                    <a:bodyPr/>
                    <a:lstStyle/>
                    <a:p>
                      <a:pPr>
                        <a:buNone/>
                      </a:pPr>
                      <a:r>
                        <a:rPr lang="en-IN"/>
                        <a:t>Used for flow control</a:t>
                      </a:r>
                    </a:p>
                  </a:txBody>
                  <a:tcPr anchor="ctr"/>
                </a:tc>
                <a:extLst>
                  <a:ext uri="{0D108BD9-81ED-4DB2-BD59-A6C34878D82A}">
                    <a16:rowId xmlns:a16="http://schemas.microsoft.com/office/drawing/2014/main" val="3249614041"/>
                  </a:ext>
                </a:extLst>
              </a:tr>
              <a:tr h="370840">
                <a:tc>
                  <a:txBody>
                    <a:bodyPr/>
                    <a:lstStyle/>
                    <a:p>
                      <a:pPr>
                        <a:buNone/>
                      </a:pPr>
                      <a:r>
                        <a:rPr lang="en-IN"/>
                        <a:t>Checksum</a:t>
                      </a:r>
                    </a:p>
                  </a:txBody>
                  <a:tcPr anchor="ctr"/>
                </a:tc>
                <a:tc>
                  <a:txBody>
                    <a:bodyPr/>
                    <a:lstStyle/>
                    <a:p>
                      <a:pPr>
                        <a:buNone/>
                      </a:pPr>
                      <a:r>
                        <a:rPr lang="en-IN" dirty="0"/>
                        <a:t>Detects transmission errors</a:t>
                      </a:r>
                    </a:p>
                  </a:txBody>
                  <a:tcPr anchor="ctr"/>
                </a:tc>
                <a:extLst>
                  <a:ext uri="{0D108BD9-81ED-4DB2-BD59-A6C34878D82A}">
                    <a16:rowId xmlns:a16="http://schemas.microsoft.com/office/drawing/2014/main" val="788327274"/>
                  </a:ext>
                </a:extLst>
              </a:tr>
            </a:tbl>
          </a:graphicData>
        </a:graphic>
      </p:graphicFrame>
      <p:sp>
        <p:nvSpPr>
          <p:cNvPr id="9" name="TextBox 8">
            <a:extLst>
              <a:ext uri="{FF2B5EF4-FFF2-40B4-BE49-F238E27FC236}">
                <a16:creationId xmlns:a16="http://schemas.microsoft.com/office/drawing/2014/main" id="{DBD502EB-A640-1B51-0232-6F245C7FC4A6}"/>
              </a:ext>
            </a:extLst>
          </p:cNvPr>
          <p:cNvSpPr txBox="1"/>
          <p:nvPr/>
        </p:nvSpPr>
        <p:spPr>
          <a:xfrm>
            <a:off x="613610" y="5723801"/>
            <a:ext cx="3156285" cy="923330"/>
          </a:xfrm>
          <a:prstGeom prst="rect">
            <a:avLst/>
          </a:prstGeom>
          <a:noFill/>
        </p:spPr>
        <p:txBody>
          <a:bodyPr wrap="square">
            <a:spAutoFit/>
          </a:bodyPr>
          <a:lstStyle/>
          <a:p>
            <a:pPr>
              <a:buNone/>
            </a:pPr>
            <a:r>
              <a:rPr lang="en-IN" dirty="0"/>
              <a:t>The </a:t>
            </a:r>
            <a:r>
              <a:rPr lang="en-IN" b="1" dirty="0"/>
              <a:t>TCP Header</a:t>
            </a:r>
            <a:r>
              <a:rPr lang="en-IN" dirty="0"/>
              <a:t> has:</a:t>
            </a:r>
          </a:p>
          <a:p>
            <a:pPr>
              <a:buFont typeface="Arial" panose="020B0604020202020204" pitchFamily="34" charset="0"/>
              <a:buChar char="•"/>
            </a:pPr>
            <a:r>
              <a:rPr lang="en-IN" b="1" dirty="0"/>
              <a:t>Minimum Size:</a:t>
            </a:r>
            <a:r>
              <a:rPr lang="en-IN" dirty="0"/>
              <a:t> </a:t>
            </a:r>
            <a:r>
              <a:rPr lang="en-IN" b="1" dirty="0"/>
              <a:t>20 Bytes</a:t>
            </a:r>
            <a:r>
              <a:rPr lang="en-IN" dirty="0"/>
              <a:t> </a:t>
            </a:r>
          </a:p>
          <a:p>
            <a:pPr>
              <a:buFont typeface="Arial" panose="020B0604020202020204" pitchFamily="34" charset="0"/>
              <a:buChar char="•"/>
            </a:pPr>
            <a:r>
              <a:rPr lang="en-IN" b="1" dirty="0"/>
              <a:t>Maximum Size:</a:t>
            </a:r>
            <a:r>
              <a:rPr lang="en-IN" dirty="0"/>
              <a:t> </a:t>
            </a:r>
            <a:r>
              <a:rPr lang="en-IN" b="1" dirty="0"/>
              <a:t>60 Bytes</a:t>
            </a:r>
            <a:endParaRPr lang="en-IN" dirty="0"/>
          </a:p>
        </p:txBody>
      </p:sp>
    </p:spTree>
    <p:extLst>
      <p:ext uri="{BB962C8B-B14F-4D97-AF65-F5344CB8AC3E}">
        <p14:creationId xmlns:p14="http://schemas.microsoft.com/office/powerpoint/2010/main" val="36852296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47416E-F66F-815A-CB58-8A4160643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09F19E9-A4DC-64A4-458B-D6F6AD1132C5}"/>
              </a:ext>
            </a:extLst>
          </p:cNvPr>
          <p:cNvSpPr>
            <a:spLocks noGrp="1"/>
          </p:cNvSpPr>
          <p:nvPr>
            <p:ph type="title"/>
          </p:nvPr>
        </p:nvSpPr>
        <p:spPr>
          <a:xfrm>
            <a:off x="613610" y="433137"/>
            <a:ext cx="11578389" cy="737938"/>
          </a:xfrm>
        </p:spPr>
        <p:txBody>
          <a:bodyPr>
            <a:normAutofit/>
          </a:bodyPr>
          <a:lstStyle/>
          <a:p>
            <a:r>
              <a:rPr lang="en-IN" dirty="0"/>
              <a:t>The Transport Layer: Header Format (UDP)</a:t>
            </a:r>
          </a:p>
        </p:txBody>
      </p:sp>
      <p:pic>
        <p:nvPicPr>
          <p:cNvPr id="5" name="Picture 4">
            <a:extLst>
              <a:ext uri="{FF2B5EF4-FFF2-40B4-BE49-F238E27FC236}">
                <a16:creationId xmlns:a16="http://schemas.microsoft.com/office/drawing/2014/main" id="{9DE2A829-9034-EDCF-C812-B7BACAF12908}"/>
              </a:ext>
            </a:extLst>
          </p:cNvPr>
          <p:cNvPicPr>
            <a:picLocks noChangeAspect="1"/>
          </p:cNvPicPr>
          <p:nvPr/>
        </p:nvPicPr>
        <p:blipFill>
          <a:blip r:embed="rId2"/>
          <a:stretch>
            <a:fillRect/>
          </a:stretch>
        </p:blipFill>
        <p:spPr>
          <a:xfrm>
            <a:off x="2049869" y="1862640"/>
            <a:ext cx="7354326" cy="3581900"/>
          </a:xfrm>
          <a:prstGeom prst="rect">
            <a:avLst/>
          </a:prstGeom>
        </p:spPr>
      </p:pic>
    </p:spTree>
    <p:extLst>
      <p:ext uri="{BB962C8B-B14F-4D97-AF65-F5344CB8AC3E}">
        <p14:creationId xmlns:p14="http://schemas.microsoft.com/office/powerpoint/2010/main" val="129301644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5153D41-BD43-FE07-3FA3-71F876839EF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C2E70D-F613-07E8-4717-80280D1DE4DC}"/>
              </a:ext>
            </a:extLst>
          </p:cNvPr>
          <p:cNvSpPr>
            <a:spLocks noGrp="1"/>
          </p:cNvSpPr>
          <p:nvPr>
            <p:ph type="title"/>
          </p:nvPr>
        </p:nvSpPr>
        <p:spPr>
          <a:xfrm>
            <a:off x="613610" y="433137"/>
            <a:ext cx="11578389" cy="737938"/>
          </a:xfrm>
        </p:spPr>
        <p:txBody>
          <a:bodyPr>
            <a:normAutofit/>
          </a:bodyPr>
          <a:lstStyle/>
          <a:p>
            <a:r>
              <a:rPr lang="en-IN" dirty="0"/>
              <a:t>The Transport Layer: 3-way handshake</a:t>
            </a:r>
          </a:p>
        </p:txBody>
      </p:sp>
      <p:pic>
        <p:nvPicPr>
          <p:cNvPr id="4" name="Picture 3">
            <a:extLst>
              <a:ext uri="{FF2B5EF4-FFF2-40B4-BE49-F238E27FC236}">
                <a16:creationId xmlns:a16="http://schemas.microsoft.com/office/drawing/2014/main" id="{1815A6A5-4CC8-32EE-1A36-A6EF9318B15F}"/>
              </a:ext>
            </a:extLst>
          </p:cNvPr>
          <p:cNvPicPr>
            <a:picLocks noChangeAspect="1"/>
          </p:cNvPicPr>
          <p:nvPr/>
        </p:nvPicPr>
        <p:blipFill>
          <a:blip r:embed="rId2"/>
          <a:stretch>
            <a:fillRect/>
          </a:stretch>
        </p:blipFill>
        <p:spPr>
          <a:xfrm>
            <a:off x="471890" y="1171075"/>
            <a:ext cx="5624110" cy="5253787"/>
          </a:xfrm>
          <a:prstGeom prst="rect">
            <a:avLst/>
          </a:prstGeom>
        </p:spPr>
      </p:pic>
      <p:sp>
        <p:nvSpPr>
          <p:cNvPr id="7" name="TextBox 6">
            <a:extLst>
              <a:ext uri="{FF2B5EF4-FFF2-40B4-BE49-F238E27FC236}">
                <a16:creationId xmlns:a16="http://schemas.microsoft.com/office/drawing/2014/main" id="{5BA7AEC7-10E0-8742-9DE1-CFC9BAD0A9F5}"/>
              </a:ext>
            </a:extLst>
          </p:cNvPr>
          <p:cNvSpPr txBox="1"/>
          <p:nvPr/>
        </p:nvSpPr>
        <p:spPr>
          <a:xfrm>
            <a:off x="7475620" y="1451172"/>
            <a:ext cx="2294021" cy="4693593"/>
          </a:xfrm>
          <a:prstGeom prst="rect">
            <a:avLst/>
          </a:prstGeom>
          <a:noFill/>
        </p:spPr>
        <p:txBody>
          <a:bodyPr wrap="square">
            <a:spAutoFit/>
          </a:bodyPr>
          <a:lstStyle/>
          <a:p>
            <a:pPr>
              <a:buNone/>
            </a:pPr>
            <a:r>
              <a:rPr lang="en-IN" sz="2300" dirty="0"/>
              <a:t>The </a:t>
            </a:r>
            <a:r>
              <a:rPr lang="en-IN" sz="2300" b="1" dirty="0"/>
              <a:t>TCP Three-Way Handshake</a:t>
            </a:r>
            <a:r>
              <a:rPr lang="en-IN" sz="2300" dirty="0"/>
              <a:t> is one of the </a:t>
            </a:r>
            <a:r>
              <a:rPr lang="en-IN" sz="2300" b="1" dirty="0"/>
              <a:t>most important concepts of the Transport Layer</a:t>
            </a:r>
            <a:r>
              <a:rPr lang="en-IN" sz="2300" dirty="0"/>
              <a:t>.</a:t>
            </a:r>
          </a:p>
          <a:p>
            <a:pPr>
              <a:buNone/>
            </a:pPr>
            <a:endParaRPr lang="en-IN" sz="2300" dirty="0"/>
          </a:p>
          <a:p>
            <a:pPr>
              <a:buNone/>
            </a:pPr>
            <a:r>
              <a:rPr lang="en-IN" sz="2300" dirty="0"/>
              <a:t>In fact, it is the </a:t>
            </a:r>
            <a:r>
              <a:rPr lang="en-IN" sz="2300" b="1" dirty="0"/>
              <a:t>first process</a:t>
            </a:r>
            <a:r>
              <a:rPr lang="en-IN" sz="2300" dirty="0"/>
              <a:t> that happens before TCP starts sending actual data.</a:t>
            </a:r>
          </a:p>
        </p:txBody>
      </p:sp>
    </p:spTree>
    <p:extLst>
      <p:ext uri="{BB962C8B-B14F-4D97-AF65-F5344CB8AC3E}">
        <p14:creationId xmlns:p14="http://schemas.microsoft.com/office/powerpoint/2010/main" val="27530250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185B72-89ED-5A84-2324-C26236F0CFB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3D8C9E7-FE3C-919E-BB14-AD4D01E5EE61}"/>
              </a:ext>
            </a:extLst>
          </p:cNvPr>
          <p:cNvSpPr>
            <a:spLocks noGrp="1"/>
          </p:cNvSpPr>
          <p:nvPr>
            <p:ph type="title"/>
          </p:nvPr>
        </p:nvSpPr>
        <p:spPr>
          <a:xfrm>
            <a:off x="240631" y="365126"/>
            <a:ext cx="11486147" cy="645528"/>
          </a:xfrm>
        </p:spPr>
        <p:txBody>
          <a:bodyPr>
            <a:normAutofit fontScale="90000"/>
          </a:bodyPr>
          <a:lstStyle/>
          <a:p>
            <a:r>
              <a:rPr lang="en-IN" dirty="0"/>
              <a:t>Network Layer</a:t>
            </a:r>
          </a:p>
        </p:txBody>
      </p:sp>
      <p:sp>
        <p:nvSpPr>
          <p:cNvPr id="3" name="Content Placeholder 2">
            <a:extLst>
              <a:ext uri="{FF2B5EF4-FFF2-40B4-BE49-F238E27FC236}">
                <a16:creationId xmlns:a16="http://schemas.microsoft.com/office/drawing/2014/main" id="{C8E8F409-1F35-848F-B272-1A6FE1364F01}"/>
              </a:ext>
            </a:extLst>
          </p:cNvPr>
          <p:cNvSpPr>
            <a:spLocks noGrp="1"/>
          </p:cNvSpPr>
          <p:nvPr>
            <p:ph idx="1"/>
          </p:nvPr>
        </p:nvSpPr>
        <p:spPr>
          <a:xfrm>
            <a:off x="240631" y="1010654"/>
            <a:ext cx="11710738" cy="5662862"/>
          </a:xfrm>
        </p:spPr>
        <p:txBody>
          <a:bodyPr>
            <a:normAutofit/>
          </a:bodyPr>
          <a:lstStyle/>
          <a:p>
            <a:r>
              <a:rPr lang="en-IN" dirty="0"/>
              <a:t>The </a:t>
            </a:r>
            <a:r>
              <a:rPr lang="en-IN" b="1" dirty="0"/>
              <a:t>Network Layer</a:t>
            </a:r>
            <a:r>
              <a:rPr lang="en-IN" dirty="0"/>
              <a:t> is the </a:t>
            </a:r>
            <a:r>
              <a:rPr lang="en-IN" b="1" dirty="0"/>
              <a:t>3rd layer</a:t>
            </a:r>
            <a:r>
              <a:rPr lang="en-IN" dirty="0"/>
              <a:t> of the OSI Model.</a:t>
            </a:r>
          </a:p>
          <a:p>
            <a:r>
              <a:rPr lang="en-IN" dirty="0"/>
              <a:t>Its primary responsibility is to </a:t>
            </a:r>
            <a:r>
              <a:rPr lang="en-IN" b="1" dirty="0"/>
              <a:t>deliver data from the source network to the destination network</a:t>
            </a:r>
            <a:r>
              <a:rPr lang="en-IN" dirty="0"/>
              <a:t>.</a:t>
            </a:r>
          </a:p>
          <a:p>
            <a:r>
              <a:rPr lang="en-IN" dirty="0"/>
              <a:t>Unlike the Transport Layer, which communicates </a:t>
            </a:r>
            <a:r>
              <a:rPr lang="en-IN" b="1" dirty="0"/>
              <a:t>application-to-application</a:t>
            </a:r>
            <a:r>
              <a:rPr lang="en-IN" dirty="0"/>
              <a:t>, the Network Layer communicates </a:t>
            </a:r>
            <a:r>
              <a:rPr lang="en-IN" b="1" dirty="0"/>
              <a:t>device-to-device across different networks</a:t>
            </a:r>
            <a:r>
              <a:rPr lang="en-IN" dirty="0"/>
              <a:t>.</a:t>
            </a:r>
          </a:p>
          <a:p>
            <a:r>
              <a:rPr lang="en-IN" dirty="0"/>
              <a:t>It identifies every device using a </a:t>
            </a:r>
            <a:r>
              <a:rPr lang="en-IN" b="1" dirty="0"/>
              <a:t>Logical Address (IP Address)</a:t>
            </a:r>
            <a:r>
              <a:rPr lang="en-IN" dirty="0"/>
              <a:t> and decides the </a:t>
            </a:r>
            <a:r>
              <a:rPr lang="en-IN" b="1" dirty="0"/>
              <a:t>best path</a:t>
            </a:r>
            <a:r>
              <a:rPr lang="en-IN" dirty="0"/>
              <a:t> to deliver the data.</a:t>
            </a:r>
          </a:p>
          <a:p>
            <a:r>
              <a:rPr lang="en-IN" dirty="0">
                <a:highlight>
                  <a:srgbClr val="FFFF00"/>
                </a:highlight>
              </a:rPr>
              <a:t>The Network Layer is responsible for logical addressing, routing, path selection, and forwarding packets from the source network to the destination network.</a:t>
            </a:r>
            <a:endParaRPr lang="en-IN" dirty="0"/>
          </a:p>
        </p:txBody>
      </p:sp>
    </p:spTree>
    <p:extLst>
      <p:ext uri="{BB962C8B-B14F-4D97-AF65-F5344CB8AC3E}">
        <p14:creationId xmlns:p14="http://schemas.microsoft.com/office/powerpoint/2010/main" val="69731184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0FAD35-0EDB-12E3-D4A7-A140D2C250B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6D32E69-0E06-71D0-318D-5832214DFFEB}"/>
              </a:ext>
            </a:extLst>
          </p:cNvPr>
          <p:cNvSpPr>
            <a:spLocks noGrp="1"/>
          </p:cNvSpPr>
          <p:nvPr>
            <p:ph type="title"/>
          </p:nvPr>
        </p:nvSpPr>
        <p:spPr>
          <a:xfrm>
            <a:off x="613611" y="433137"/>
            <a:ext cx="10515600" cy="737938"/>
          </a:xfrm>
        </p:spPr>
        <p:txBody>
          <a:bodyPr/>
          <a:lstStyle/>
          <a:p>
            <a:r>
              <a:rPr lang="en-IN" dirty="0"/>
              <a:t>The Network Layer: Functionalities</a:t>
            </a:r>
          </a:p>
        </p:txBody>
      </p:sp>
      <p:graphicFrame>
        <p:nvGraphicFramePr>
          <p:cNvPr id="4" name="Table 3">
            <a:extLst>
              <a:ext uri="{FF2B5EF4-FFF2-40B4-BE49-F238E27FC236}">
                <a16:creationId xmlns:a16="http://schemas.microsoft.com/office/drawing/2014/main" id="{CC751F05-3016-AA04-C7AF-99209753DC38}"/>
              </a:ext>
            </a:extLst>
          </p:cNvPr>
          <p:cNvGraphicFramePr>
            <a:graphicFrameLocks noGrp="1"/>
          </p:cNvGraphicFramePr>
          <p:nvPr>
            <p:extLst>
              <p:ext uri="{D42A27DB-BD31-4B8C-83A1-F6EECF244321}">
                <p14:modId xmlns:p14="http://schemas.microsoft.com/office/powerpoint/2010/main" val="792914683"/>
              </p:ext>
            </p:extLst>
          </p:nvPr>
        </p:nvGraphicFramePr>
        <p:xfrm>
          <a:off x="320842" y="1407160"/>
          <a:ext cx="11550316" cy="360680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Functionality</a:t>
                      </a:r>
                      <a:endParaRPr lang="en-IN" dirty="0"/>
                    </a:p>
                  </a:txBody>
                  <a:tcPr anchor="ctr"/>
                </a:tc>
                <a:tc>
                  <a:txBody>
                    <a:bodyPr/>
                    <a:lstStyle/>
                    <a:p>
                      <a:pPr>
                        <a:buNone/>
                      </a:pPr>
                      <a:r>
                        <a:rPr lang="en-IN" b="1"/>
                        <a:t>Description</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Logical Addressing</a:t>
                      </a:r>
                      <a:endParaRPr lang="en-IN"/>
                    </a:p>
                  </a:txBody>
                  <a:tcPr anchor="ctr"/>
                </a:tc>
                <a:tc>
                  <a:txBody>
                    <a:bodyPr/>
                    <a:lstStyle/>
                    <a:p>
                      <a:pPr>
                        <a:buNone/>
                      </a:pPr>
                      <a:r>
                        <a:rPr lang="en-IN"/>
                        <a:t>Assigns and uses IP addresses to uniquely identify devices on different networks.</a:t>
                      </a:r>
                    </a:p>
                  </a:txBody>
                  <a:tcPr anchor="ctr"/>
                </a:tc>
                <a:extLst>
                  <a:ext uri="{0D108BD9-81ED-4DB2-BD59-A6C34878D82A}">
                    <a16:rowId xmlns:a16="http://schemas.microsoft.com/office/drawing/2014/main" val="953366262"/>
                  </a:ext>
                </a:extLst>
              </a:tr>
              <a:tr h="370840">
                <a:tc>
                  <a:txBody>
                    <a:bodyPr/>
                    <a:lstStyle/>
                    <a:p>
                      <a:pPr>
                        <a:buNone/>
                      </a:pPr>
                      <a:r>
                        <a:rPr lang="en-IN" b="1"/>
                        <a:t>Routing</a:t>
                      </a:r>
                      <a:endParaRPr lang="en-IN"/>
                    </a:p>
                  </a:txBody>
                  <a:tcPr anchor="ctr"/>
                </a:tc>
                <a:tc>
                  <a:txBody>
                    <a:bodyPr/>
                    <a:lstStyle/>
                    <a:p>
                      <a:pPr>
                        <a:buNone/>
                      </a:pPr>
                      <a:r>
                        <a:rPr lang="en-IN"/>
                        <a:t>Determines the best path for data to travel from source to destination.</a:t>
                      </a:r>
                    </a:p>
                  </a:txBody>
                  <a:tcPr anchor="ctr"/>
                </a:tc>
                <a:extLst>
                  <a:ext uri="{0D108BD9-81ED-4DB2-BD59-A6C34878D82A}">
                    <a16:rowId xmlns:a16="http://schemas.microsoft.com/office/drawing/2014/main" val="3976189341"/>
                  </a:ext>
                </a:extLst>
              </a:tr>
              <a:tr h="370840">
                <a:tc>
                  <a:txBody>
                    <a:bodyPr/>
                    <a:lstStyle/>
                    <a:p>
                      <a:pPr>
                        <a:buNone/>
                      </a:pPr>
                      <a:r>
                        <a:rPr lang="en-IN" b="1" dirty="0"/>
                        <a:t>Packet Forwarding</a:t>
                      </a:r>
                      <a:endParaRPr lang="en-IN" dirty="0"/>
                    </a:p>
                  </a:txBody>
                  <a:tcPr anchor="ctr"/>
                </a:tc>
                <a:tc>
                  <a:txBody>
                    <a:bodyPr/>
                    <a:lstStyle/>
                    <a:p>
                      <a:pPr>
                        <a:buNone/>
                      </a:pPr>
                      <a:r>
                        <a:rPr lang="en-IN"/>
                        <a:t>Forwards packets from one router to another until they reach the destination.</a:t>
                      </a:r>
                    </a:p>
                  </a:txBody>
                  <a:tcPr anchor="ctr"/>
                </a:tc>
                <a:extLst>
                  <a:ext uri="{0D108BD9-81ED-4DB2-BD59-A6C34878D82A}">
                    <a16:rowId xmlns:a16="http://schemas.microsoft.com/office/drawing/2014/main" val="3315618413"/>
                  </a:ext>
                </a:extLst>
              </a:tr>
              <a:tr h="370840">
                <a:tc>
                  <a:txBody>
                    <a:bodyPr/>
                    <a:lstStyle/>
                    <a:p>
                      <a:pPr>
                        <a:buNone/>
                      </a:pPr>
                      <a:r>
                        <a:rPr lang="en-IN" b="1" dirty="0"/>
                        <a:t>Path Selection</a:t>
                      </a:r>
                      <a:endParaRPr lang="en-IN" dirty="0"/>
                    </a:p>
                  </a:txBody>
                  <a:tcPr anchor="ctr"/>
                </a:tc>
                <a:tc>
                  <a:txBody>
                    <a:bodyPr/>
                    <a:lstStyle/>
                    <a:p>
                      <a:pPr>
                        <a:buNone/>
                      </a:pPr>
                      <a:r>
                        <a:rPr lang="en-IN" dirty="0"/>
                        <a:t>Chooses the most efficient route based on routing information.</a:t>
                      </a:r>
                    </a:p>
                  </a:txBody>
                  <a:tcPr anchor="ctr"/>
                </a:tc>
                <a:extLst>
                  <a:ext uri="{0D108BD9-81ED-4DB2-BD59-A6C34878D82A}">
                    <a16:rowId xmlns:a16="http://schemas.microsoft.com/office/drawing/2014/main" val="385594624"/>
                  </a:ext>
                </a:extLst>
              </a:tr>
              <a:tr h="370840">
                <a:tc>
                  <a:txBody>
                    <a:bodyPr/>
                    <a:lstStyle/>
                    <a:p>
                      <a:pPr>
                        <a:buNone/>
                      </a:pPr>
                      <a:r>
                        <a:rPr lang="en-IN" b="1" dirty="0"/>
                        <a:t>Internetworking</a:t>
                      </a:r>
                      <a:endParaRPr lang="en-IN" dirty="0"/>
                    </a:p>
                  </a:txBody>
                  <a:tcPr anchor="ctr"/>
                </a:tc>
                <a:tc>
                  <a:txBody>
                    <a:bodyPr/>
                    <a:lstStyle/>
                    <a:p>
                      <a:pPr>
                        <a:buNone/>
                      </a:pPr>
                      <a:r>
                        <a:rPr lang="en-IN" dirty="0"/>
                        <a:t>Enables communication between different networks (LAN to LAN through routers).</a:t>
                      </a:r>
                    </a:p>
                  </a:txBody>
                  <a:tcPr anchor="ctr"/>
                </a:tc>
                <a:extLst>
                  <a:ext uri="{0D108BD9-81ED-4DB2-BD59-A6C34878D82A}">
                    <a16:rowId xmlns:a16="http://schemas.microsoft.com/office/drawing/2014/main" val="2440142686"/>
                  </a:ext>
                </a:extLst>
              </a:tr>
              <a:tr h="370840">
                <a:tc>
                  <a:txBody>
                    <a:bodyPr/>
                    <a:lstStyle/>
                    <a:p>
                      <a:pPr>
                        <a:buNone/>
                      </a:pPr>
                      <a:r>
                        <a:rPr lang="en-IN" b="1" dirty="0"/>
                        <a:t>Fragmentation</a:t>
                      </a:r>
                      <a:endParaRPr lang="en-IN" dirty="0"/>
                    </a:p>
                  </a:txBody>
                  <a:tcPr anchor="ctr"/>
                </a:tc>
                <a:tc>
                  <a:txBody>
                    <a:bodyPr/>
                    <a:lstStyle/>
                    <a:p>
                      <a:pPr>
                        <a:buNone/>
                      </a:pPr>
                      <a:r>
                        <a:rPr lang="en-IN" dirty="0"/>
                        <a:t>Splits large packets into smaller fragments when required by the Maximum Transmission Unit (MTU).</a:t>
                      </a:r>
                    </a:p>
                  </a:txBody>
                  <a:tcPr anchor="ctr"/>
                </a:tc>
                <a:extLst>
                  <a:ext uri="{0D108BD9-81ED-4DB2-BD59-A6C34878D82A}">
                    <a16:rowId xmlns:a16="http://schemas.microsoft.com/office/drawing/2014/main" val="2091929012"/>
                  </a:ext>
                </a:extLst>
              </a:tr>
              <a:tr h="370840">
                <a:tc>
                  <a:txBody>
                    <a:bodyPr/>
                    <a:lstStyle/>
                    <a:p>
                      <a:pPr>
                        <a:buNone/>
                      </a:pPr>
                      <a:r>
                        <a:rPr lang="en-IN" b="1"/>
                        <a:t>Reassembly</a:t>
                      </a:r>
                      <a:endParaRPr lang="en-IN"/>
                    </a:p>
                  </a:txBody>
                  <a:tcPr anchor="ctr"/>
                </a:tc>
                <a:tc>
                  <a:txBody>
                    <a:bodyPr/>
                    <a:lstStyle/>
                    <a:p>
                      <a:pPr>
                        <a:buNone/>
                      </a:pPr>
                      <a:r>
                        <a:rPr lang="en-IN"/>
                        <a:t>The destination host reassembles fragmented packets into the original packet.</a:t>
                      </a:r>
                    </a:p>
                  </a:txBody>
                  <a:tcPr anchor="ctr"/>
                </a:tc>
                <a:extLst>
                  <a:ext uri="{0D108BD9-81ED-4DB2-BD59-A6C34878D82A}">
                    <a16:rowId xmlns:a16="http://schemas.microsoft.com/office/drawing/2014/main" val="320253377"/>
                  </a:ext>
                </a:extLst>
              </a:tr>
              <a:tr h="370840">
                <a:tc>
                  <a:txBody>
                    <a:bodyPr/>
                    <a:lstStyle/>
                    <a:p>
                      <a:pPr>
                        <a:buNone/>
                      </a:pPr>
                      <a:r>
                        <a:rPr lang="en-IN" b="1"/>
                        <a:t>Congestion Handling</a:t>
                      </a:r>
                      <a:endParaRPr lang="en-IN"/>
                    </a:p>
                  </a:txBody>
                  <a:tcPr anchor="ctr"/>
                </a:tc>
                <a:tc>
                  <a:txBody>
                    <a:bodyPr/>
                    <a:lstStyle/>
                    <a:p>
                      <a:pPr>
                        <a:buNone/>
                      </a:pPr>
                      <a:r>
                        <a:rPr lang="en-IN" dirty="0"/>
                        <a:t>Some network-layer protocols and routers help manage traffic congestion.</a:t>
                      </a:r>
                    </a:p>
                  </a:txBody>
                  <a:tcPr anchor="ctr"/>
                </a:tc>
                <a:extLst>
                  <a:ext uri="{0D108BD9-81ED-4DB2-BD59-A6C34878D82A}">
                    <a16:rowId xmlns:a16="http://schemas.microsoft.com/office/drawing/2014/main" val="2414151881"/>
                  </a:ext>
                </a:extLst>
              </a:tr>
            </a:tbl>
          </a:graphicData>
        </a:graphic>
      </p:graphicFrame>
    </p:spTree>
    <p:extLst>
      <p:ext uri="{BB962C8B-B14F-4D97-AF65-F5344CB8AC3E}">
        <p14:creationId xmlns:p14="http://schemas.microsoft.com/office/powerpoint/2010/main" val="67144405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1472FF7-2B4C-C6F2-957E-DD385022E1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261B5B4-12D6-63DF-7C2E-FDB1FE74E927}"/>
              </a:ext>
            </a:extLst>
          </p:cNvPr>
          <p:cNvSpPr>
            <a:spLocks noGrp="1"/>
          </p:cNvSpPr>
          <p:nvPr>
            <p:ph type="title"/>
          </p:nvPr>
        </p:nvSpPr>
        <p:spPr>
          <a:xfrm>
            <a:off x="613611" y="442969"/>
            <a:ext cx="10515600" cy="737938"/>
          </a:xfrm>
        </p:spPr>
        <p:txBody>
          <a:bodyPr/>
          <a:lstStyle/>
          <a:p>
            <a:r>
              <a:rPr lang="en-IN" dirty="0"/>
              <a:t>The Network Layer: Protocols</a:t>
            </a:r>
          </a:p>
        </p:txBody>
      </p:sp>
      <p:graphicFrame>
        <p:nvGraphicFramePr>
          <p:cNvPr id="5" name="Table 4">
            <a:extLst>
              <a:ext uri="{FF2B5EF4-FFF2-40B4-BE49-F238E27FC236}">
                <a16:creationId xmlns:a16="http://schemas.microsoft.com/office/drawing/2014/main" id="{C4BB0D18-9A0D-5825-F3BA-EC081919FF9F}"/>
              </a:ext>
            </a:extLst>
          </p:cNvPr>
          <p:cNvGraphicFramePr>
            <a:graphicFrameLocks noGrp="1"/>
          </p:cNvGraphicFramePr>
          <p:nvPr>
            <p:extLst>
              <p:ext uri="{D42A27DB-BD31-4B8C-83A1-F6EECF244321}">
                <p14:modId xmlns:p14="http://schemas.microsoft.com/office/powerpoint/2010/main" val="202798497"/>
              </p:ext>
            </p:extLst>
          </p:nvPr>
        </p:nvGraphicFramePr>
        <p:xfrm>
          <a:off x="320842" y="1416992"/>
          <a:ext cx="11550316" cy="47853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b="1" dirty="0"/>
                        <a:t>Protocol</a:t>
                      </a:r>
                      <a:endParaRPr lang="en-IN" dirty="0"/>
                    </a:p>
                  </a:txBody>
                  <a:tcPr anchor="ctr"/>
                </a:tc>
                <a:tc>
                  <a:txBody>
                    <a:bodyPr/>
                    <a:lstStyle/>
                    <a:p>
                      <a:pPr>
                        <a:buNone/>
                      </a:pPr>
                      <a:r>
                        <a:rPr lang="en-IN" b="1"/>
                        <a:t>Purpose</a:t>
                      </a:r>
                      <a:endParaRPr lang="en-IN"/>
                    </a:p>
                  </a:txBody>
                  <a:tcPr anchor="ctr"/>
                </a:tc>
                <a:extLst>
                  <a:ext uri="{0D108BD9-81ED-4DB2-BD59-A6C34878D82A}">
                    <a16:rowId xmlns:a16="http://schemas.microsoft.com/office/drawing/2014/main" val="3685672146"/>
                  </a:ext>
                </a:extLst>
              </a:tr>
              <a:tr h="370840">
                <a:tc>
                  <a:txBody>
                    <a:bodyPr/>
                    <a:lstStyle/>
                    <a:p>
                      <a:pPr>
                        <a:buNone/>
                      </a:pPr>
                      <a:r>
                        <a:rPr lang="en-IN" b="1"/>
                        <a:t>IPv4 (Internet Protocol Version 4)</a:t>
                      </a:r>
                      <a:endParaRPr lang="en-IN"/>
                    </a:p>
                  </a:txBody>
                  <a:tcPr anchor="ctr"/>
                </a:tc>
                <a:tc>
                  <a:txBody>
                    <a:bodyPr/>
                    <a:lstStyle/>
                    <a:p>
                      <a:pPr>
                        <a:buNone/>
                      </a:pPr>
                      <a:r>
                        <a:rPr lang="en-IN"/>
                        <a:t>Provides logical addressing and packet delivery using 32-bit IP addresses.</a:t>
                      </a:r>
                    </a:p>
                  </a:txBody>
                  <a:tcPr anchor="ctr"/>
                </a:tc>
                <a:extLst>
                  <a:ext uri="{0D108BD9-81ED-4DB2-BD59-A6C34878D82A}">
                    <a16:rowId xmlns:a16="http://schemas.microsoft.com/office/drawing/2014/main" val="1967567592"/>
                  </a:ext>
                </a:extLst>
              </a:tr>
              <a:tr h="370840">
                <a:tc>
                  <a:txBody>
                    <a:bodyPr/>
                    <a:lstStyle/>
                    <a:p>
                      <a:pPr>
                        <a:buNone/>
                      </a:pPr>
                      <a:r>
                        <a:rPr lang="en-IN" b="1"/>
                        <a:t>IPv6 (Internet Protocol Version 6)</a:t>
                      </a:r>
                      <a:endParaRPr lang="en-IN"/>
                    </a:p>
                  </a:txBody>
                  <a:tcPr anchor="ctr"/>
                </a:tc>
                <a:tc>
                  <a:txBody>
                    <a:bodyPr/>
                    <a:lstStyle/>
                    <a:p>
                      <a:pPr>
                        <a:buNone/>
                      </a:pPr>
                      <a:r>
                        <a:rPr lang="en-IN"/>
                        <a:t>Uses 128-bit IP addresses to overcome IPv4 address limitations.</a:t>
                      </a:r>
                    </a:p>
                  </a:txBody>
                  <a:tcPr anchor="ctr"/>
                </a:tc>
                <a:extLst>
                  <a:ext uri="{0D108BD9-81ED-4DB2-BD59-A6C34878D82A}">
                    <a16:rowId xmlns:a16="http://schemas.microsoft.com/office/drawing/2014/main" val="1542425792"/>
                  </a:ext>
                </a:extLst>
              </a:tr>
              <a:tr h="370840">
                <a:tc>
                  <a:txBody>
                    <a:bodyPr/>
                    <a:lstStyle/>
                    <a:p>
                      <a:pPr>
                        <a:buNone/>
                      </a:pPr>
                      <a:r>
                        <a:rPr lang="en-IN" b="1"/>
                        <a:t>ICMP (Internet Control Message Protocol)</a:t>
                      </a:r>
                      <a:endParaRPr lang="en-IN"/>
                    </a:p>
                  </a:txBody>
                  <a:tcPr anchor="ctr"/>
                </a:tc>
                <a:tc>
                  <a:txBody>
                    <a:bodyPr/>
                    <a:lstStyle/>
                    <a:p>
                      <a:pPr>
                        <a:buNone/>
                      </a:pPr>
                      <a:r>
                        <a:rPr lang="en-IN"/>
                        <a:t>Reports errors and performs diagnostics (used by the </a:t>
                      </a:r>
                      <a:r>
                        <a:rPr lang="en-IN">
                          <a:latin typeface="Courier New" panose="02070309020205020404" pitchFamily="49" charset="0"/>
                        </a:rPr>
                        <a:t>ping</a:t>
                      </a:r>
                      <a:r>
                        <a:rPr lang="en-IN"/>
                        <a:t> command).</a:t>
                      </a:r>
                    </a:p>
                  </a:txBody>
                  <a:tcPr anchor="ctr"/>
                </a:tc>
                <a:extLst>
                  <a:ext uri="{0D108BD9-81ED-4DB2-BD59-A6C34878D82A}">
                    <a16:rowId xmlns:a16="http://schemas.microsoft.com/office/drawing/2014/main" val="947690947"/>
                  </a:ext>
                </a:extLst>
              </a:tr>
              <a:tr h="370840">
                <a:tc>
                  <a:txBody>
                    <a:bodyPr/>
                    <a:lstStyle/>
                    <a:p>
                      <a:pPr>
                        <a:buNone/>
                      </a:pPr>
                      <a:r>
                        <a:rPr lang="en-IN" b="1"/>
                        <a:t>IGMP (Internet Group Management Protocol)</a:t>
                      </a:r>
                      <a:endParaRPr lang="en-IN"/>
                    </a:p>
                  </a:txBody>
                  <a:tcPr anchor="ctr"/>
                </a:tc>
                <a:tc>
                  <a:txBody>
                    <a:bodyPr/>
                    <a:lstStyle/>
                    <a:p>
                      <a:pPr>
                        <a:buNone/>
                      </a:pPr>
                      <a:r>
                        <a:rPr lang="en-IN"/>
                        <a:t>Manages multicast group memberships.</a:t>
                      </a:r>
                    </a:p>
                  </a:txBody>
                  <a:tcPr anchor="ctr"/>
                </a:tc>
                <a:extLst>
                  <a:ext uri="{0D108BD9-81ED-4DB2-BD59-A6C34878D82A}">
                    <a16:rowId xmlns:a16="http://schemas.microsoft.com/office/drawing/2014/main" val="953366262"/>
                  </a:ext>
                </a:extLst>
              </a:tr>
              <a:tr h="370840">
                <a:tc>
                  <a:txBody>
                    <a:bodyPr/>
                    <a:lstStyle/>
                    <a:p>
                      <a:pPr>
                        <a:buNone/>
                      </a:pPr>
                      <a:r>
                        <a:rPr lang="en-IN" b="1"/>
                        <a:t>IPsec (Internet Protocol Security)</a:t>
                      </a:r>
                      <a:endParaRPr lang="en-IN"/>
                    </a:p>
                  </a:txBody>
                  <a:tcPr anchor="ctr"/>
                </a:tc>
                <a:tc>
                  <a:txBody>
                    <a:bodyPr/>
                    <a:lstStyle/>
                    <a:p>
                      <a:pPr>
                        <a:buNone/>
                      </a:pPr>
                      <a:r>
                        <a:rPr lang="en-IN"/>
                        <a:t>Provides security services such as authentication and encryption for IP packets.</a:t>
                      </a:r>
                    </a:p>
                  </a:txBody>
                  <a:tcPr anchor="ctr"/>
                </a:tc>
                <a:extLst>
                  <a:ext uri="{0D108BD9-81ED-4DB2-BD59-A6C34878D82A}">
                    <a16:rowId xmlns:a16="http://schemas.microsoft.com/office/drawing/2014/main" val="3976189341"/>
                  </a:ext>
                </a:extLst>
              </a:tr>
              <a:tr h="370840">
                <a:tc>
                  <a:txBody>
                    <a:bodyPr/>
                    <a:lstStyle/>
                    <a:p>
                      <a:pPr>
                        <a:buNone/>
                      </a:pPr>
                      <a:r>
                        <a:rPr lang="en-IN" b="1"/>
                        <a:t>OSPF (Open Shortest Path First)</a:t>
                      </a:r>
                      <a:endParaRPr lang="en-IN"/>
                    </a:p>
                  </a:txBody>
                  <a:tcPr anchor="ctr"/>
                </a:tc>
                <a:tc>
                  <a:txBody>
                    <a:bodyPr/>
                    <a:lstStyle/>
                    <a:p>
                      <a:pPr>
                        <a:buNone/>
                      </a:pPr>
                      <a:r>
                        <a:rPr lang="en-IN"/>
                        <a:t>Dynamic routing protocol used within an organization.</a:t>
                      </a:r>
                    </a:p>
                  </a:txBody>
                  <a:tcPr anchor="ctr"/>
                </a:tc>
                <a:extLst>
                  <a:ext uri="{0D108BD9-81ED-4DB2-BD59-A6C34878D82A}">
                    <a16:rowId xmlns:a16="http://schemas.microsoft.com/office/drawing/2014/main" val="3315618413"/>
                  </a:ext>
                </a:extLst>
              </a:tr>
              <a:tr h="370840">
                <a:tc>
                  <a:txBody>
                    <a:bodyPr/>
                    <a:lstStyle/>
                    <a:p>
                      <a:pPr>
                        <a:buNone/>
                      </a:pPr>
                      <a:r>
                        <a:rPr lang="en-IN" b="1"/>
                        <a:t>RIP (Routing Information Protocol)</a:t>
                      </a:r>
                      <a:endParaRPr lang="en-IN"/>
                    </a:p>
                  </a:txBody>
                  <a:tcPr anchor="ctr"/>
                </a:tc>
                <a:tc>
                  <a:txBody>
                    <a:bodyPr/>
                    <a:lstStyle/>
                    <a:p>
                      <a:pPr>
                        <a:buNone/>
                      </a:pPr>
                      <a:r>
                        <a:rPr lang="en-IN"/>
                        <a:t>Distance-vector routing protocol based on hop count.</a:t>
                      </a:r>
                    </a:p>
                  </a:txBody>
                  <a:tcPr anchor="ctr"/>
                </a:tc>
                <a:extLst>
                  <a:ext uri="{0D108BD9-81ED-4DB2-BD59-A6C34878D82A}">
                    <a16:rowId xmlns:a16="http://schemas.microsoft.com/office/drawing/2014/main" val="385594624"/>
                  </a:ext>
                </a:extLst>
              </a:tr>
              <a:tr h="370840">
                <a:tc>
                  <a:txBody>
                    <a:bodyPr/>
                    <a:lstStyle/>
                    <a:p>
                      <a:pPr>
                        <a:buNone/>
                      </a:pPr>
                      <a:r>
                        <a:rPr lang="en-IN" b="1"/>
                        <a:t>EIGRP (Enhanced Interior Gateway Routing Protocol)</a:t>
                      </a:r>
                      <a:endParaRPr lang="en-IN"/>
                    </a:p>
                  </a:txBody>
                  <a:tcPr anchor="ctr"/>
                </a:tc>
                <a:tc>
                  <a:txBody>
                    <a:bodyPr/>
                    <a:lstStyle/>
                    <a:p>
                      <a:pPr>
                        <a:buNone/>
                      </a:pPr>
                      <a:r>
                        <a:rPr lang="en-IN"/>
                        <a:t>Cisco routing protocol for efficient path selection.</a:t>
                      </a:r>
                    </a:p>
                  </a:txBody>
                  <a:tcPr anchor="ctr"/>
                </a:tc>
                <a:extLst>
                  <a:ext uri="{0D108BD9-81ED-4DB2-BD59-A6C34878D82A}">
                    <a16:rowId xmlns:a16="http://schemas.microsoft.com/office/drawing/2014/main" val="2440142686"/>
                  </a:ext>
                </a:extLst>
              </a:tr>
              <a:tr h="370840">
                <a:tc>
                  <a:txBody>
                    <a:bodyPr/>
                    <a:lstStyle/>
                    <a:p>
                      <a:pPr>
                        <a:buNone/>
                      </a:pPr>
                      <a:r>
                        <a:rPr lang="en-IN" b="1"/>
                        <a:t>BGP (Border Gateway Protocol)</a:t>
                      </a:r>
                      <a:endParaRPr lang="en-IN"/>
                    </a:p>
                  </a:txBody>
                  <a:tcPr anchor="ctr"/>
                </a:tc>
                <a:tc>
                  <a:txBody>
                    <a:bodyPr/>
                    <a:lstStyle/>
                    <a:p>
                      <a:pPr>
                        <a:buNone/>
                      </a:pPr>
                      <a:r>
                        <a:rPr lang="en-IN" dirty="0"/>
                        <a:t>Used to exchange routing information between Internet Service Providers (ISPs).</a:t>
                      </a:r>
                    </a:p>
                  </a:txBody>
                  <a:tcPr anchor="ctr"/>
                </a:tc>
                <a:extLst>
                  <a:ext uri="{0D108BD9-81ED-4DB2-BD59-A6C34878D82A}">
                    <a16:rowId xmlns:a16="http://schemas.microsoft.com/office/drawing/2014/main" val="2091929012"/>
                  </a:ext>
                </a:extLst>
              </a:tr>
            </a:tbl>
          </a:graphicData>
        </a:graphic>
      </p:graphicFrame>
    </p:spTree>
    <p:extLst>
      <p:ext uri="{BB962C8B-B14F-4D97-AF65-F5344CB8AC3E}">
        <p14:creationId xmlns:p14="http://schemas.microsoft.com/office/powerpoint/2010/main" val="379604555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690490F-2B5B-C879-995F-B0BA33B66E7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735F7F-D22C-9589-D1B5-5892249E67EB}"/>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E26DBF31-59A9-6243-B393-FABD27DA0BE9}"/>
              </a:ext>
            </a:extLst>
          </p:cNvPr>
          <p:cNvSpPr>
            <a:spLocks noGrp="1"/>
          </p:cNvSpPr>
          <p:nvPr>
            <p:ph idx="1"/>
          </p:nvPr>
        </p:nvSpPr>
        <p:spPr>
          <a:xfrm>
            <a:off x="240631" y="1010654"/>
            <a:ext cx="11710738" cy="5662862"/>
          </a:xfrm>
        </p:spPr>
        <p:txBody>
          <a:bodyPr>
            <a:normAutofit/>
          </a:bodyPr>
          <a:lstStyle/>
          <a:p>
            <a:r>
              <a:rPr lang="en-IN" dirty="0"/>
              <a:t>The PDU of the Network Layer is: </a:t>
            </a:r>
            <a:r>
              <a:rPr lang="en-IN" b="1" dirty="0"/>
              <a:t>Packet</a:t>
            </a:r>
            <a:endParaRPr lang="en-IN" dirty="0"/>
          </a:p>
          <a:p>
            <a:pPr marL="0" indent="0">
              <a:buNone/>
            </a:pPr>
            <a:endParaRPr lang="en-IN" b="1" dirty="0"/>
          </a:p>
          <a:p>
            <a:endParaRPr lang="en-IN" dirty="0"/>
          </a:p>
        </p:txBody>
      </p:sp>
      <p:pic>
        <p:nvPicPr>
          <p:cNvPr id="5" name="Picture 4">
            <a:extLst>
              <a:ext uri="{FF2B5EF4-FFF2-40B4-BE49-F238E27FC236}">
                <a16:creationId xmlns:a16="http://schemas.microsoft.com/office/drawing/2014/main" id="{F3241A49-5A88-1109-F826-E8A679429D36}"/>
              </a:ext>
            </a:extLst>
          </p:cNvPr>
          <p:cNvPicPr>
            <a:picLocks noChangeAspect="1"/>
          </p:cNvPicPr>
          <p:nvPr/>
        </p:nvPicPr>
        <p:blipFill>
          <a:blip r:embed="rId2"/>
          <a:stretch>
            <a:fillRect/>
          </a:stretch>
        </p:blipFill>
        <p:spPr>
          <a:xfrm>
            <a:off x="512921" y="1598634"/>
            <a:ext cx="8278153" cy="4894240"/>
          </a:xfrm>
          <a:prstGeom prst="rect">
            <a:avLst/>
          </a:prstGeom>
        </p:spPr>
      </p:pic>
    </p:spTree>
    <p:extLst>
      <p:ext uri="{BB962C8B-B14F-4D97-AF65-F5344CB8AC3E}">
        <p14:creationId xmlns:p14="http://schemas.microsoft.com/office/powerpoint/2010/main" val="355914869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C76E69-B935-EE2E-2484-75F640391F3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D5F3B08-A1E6-1966-6AAE-5DE45D3AACFE}"/>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0366C202-ACC1-CFEB-A5A3-F8027BE8047C}"/>
              </a:ext>
            </a:extLst>
          </p:cNvPr>
          <p:cNvSpPr>
            <a:spLocks noGrp="1"/>
          </p:cNvSpPr>
          <p:nvPr>
            <p:ph idx="1"/>
          </p:nvPr>
        </p:nvSpPr>
        <p:spPr>
          <a:xfrm>
            <a:off x="240631" y="1010654"/>
            <a:ext cx="11710738" cy="5662862"/>
          </a:xfrm>
        </p:spPr>
        <p:txBody>
          <a:bodyPr>
            <a:normAutofit/>
          </a:bodyPr>
          <a:lstStyle/>
          <a:p>
            <a:r>
              <a:rPr lang="en-IN" dirty="0"/>
              <a:t>The PDU of the Network Layer is: </a:t>
            </a:r>
            <a:r>
              <a:rPr lang="en-IN" b="1" dirty="0"/>
              <a:t>Packet</a:t>
            </a:r>
            <a:endParaRPr lang="en-IN" dirty="0"/>
          </a:p>
          <a:p>
            <a:pPr marL="0" indent="0">
              <a:buNone/>
            </a:pPr>
            <a:endParaRPr lang="en-IN" b="1" dirty="0"/>
          </a:p>
          <a:p>
            <a:endParaRPr lang="en-IN" dirty="0"/>
          </a:p>
        </p:txBody>
      </p:sp>
      <p:graphicFrame>
        <p:nvGraphicFramePr>
          <p:cNvPr id="4" name="Table 3">
            <a:extLst>
              <a:ext uri="{FF2B5EF4-FFF2-40B4-BE49-F238E27FC236}">
                <a16:creationId xmlns:a16="http://schemas.microsoft.com/office/drawing/2014/main" id="{00D1855A-EBB2-B29B-96D8-D0473443C154}"/>
              </a:ext>
            </a:extLst>
          </p:cNvPr>
          <p:cNvGraphicFramePr>
            <a:graphicFrameLocks noGrp="1"/>
          </p:cNvGraphicFramePr>
          <p:nvPr>
            <p:extLst>
              <p:ext uri="{D42A27DB-BD31-4B8C-83A1-F6EECF244321}">
                <p14:modId xmlns:p14="http://schemas.microsoft.com/office/powerpoint/2010/main" val="1123513312"/>
              </p:ext>
            </p:extLst>
          </p:nvPr>
        </p:nvGraphicFramePr>
        <p:xfrm>
          <a:off x="491957" y="1656182"/>
          <a:ext cx="7930148" cy="4988560"/>
        </p:xfrm>
        <a:graphic>
          <a:graphicData uri="http://schemas.openxmlformats.org/drawingml/2006/table">
            <a:tbl>
              <a:tblPr firstRow="1" bandRow="1">
                <a:tableStyleId>{5C22544A-7EE6-4342-B048-85BDC9FD1C3A}</a:tableStyleId>
              </a:tblPr>
              <a:tblGrid>
                <a:gridCol w="2729692">
                  <a:extLst>
                    <a:ext uri="{9D8B030D-6E8A-4147-A177-3AD203B41FA5}">
                      <a16:colId xmlns:a16="http://schemas.microsoft.com/office/drawing/2014/main" val="579630958"/>
                    </a:ext>
                  </a:extLst>
                </a:gridCol>
                <a:gridCol w="5200456">
                  <a:extLst>
                    <a:ext uri="{9D8B030D-6E8A-4147-A177-3AD203B41FA5}">
                      <a16:colId xmlns:a16="http://schemas.microsoft.com/office/drawing/2014/main" val="813143278"/>
                    </a:ext>
                  </a:extLst>
                </a:gridCol>
              </a:tblGrid>
              <a:tr h="370840">
                <a:tc>
                  <a:txBody>
                    <a:bodyPr/>
                    <a:lstStyle/>
                    <a:p>
                      <a:pPr>
                        <a:buNone/>
                      </a:pPr>
                      <a:r>
                        <a:rPr lang="en-IN" dirty="0"/>
                        <a:t>Field</a:t>
                      </a:r>
                    </a:p>
                  </a:txBody>
                  <a:tcPr anchor="ctr"/>
                </a:tc>
                <a:tc>
                  <a:txBody>
                    <a:bodyPr/>
                    <a:lstStyle/>
                    <a:p>
                      <a:pPr>
                        <a:buNone/>
                      </a:pPr>
                      <a:r>
                        <a:rPr lang="en-IN"/>
                        <a:t>Purpose</a:t>
                      </a:r>
                    </a:p>
                  </a:txBody>
                  <a:tcPr anchor="ctr"/>
                </a:tc>
                <a:extLst>
                  <a:ext uri="{0D108BD9-81ED-4DB2-BD59-A6C34878D82A}">
                    <a16:rowId xmlns:a16="http://schemas.microsoft.com/office/drawing/2014/main" val="1361618457"/>
                  </a:ext>
                </a:extLst>
              </a:tr>
              <a:tr h="370840">
                <a:tc>
                  <a:txBody>
                    <a:bodyPr/>
                    <a:lstStyle/>
                    <a:p>
                      <a:pPr>
                        <a:buNone/>
                      </a:pPr>
                      <a:r>
                        <a:rPr lang="en-IN"/>
                        <a:t>Version</a:t>
                      </a:r>
                    </a:p>
                  </a:txBody>
                  <a:tcPr anchor="ctr"/>
                </a:tc>
                <a:tc>
                  <a:txBody>
                    <a:bodyPr/>
                    <a:lstStyle/>
                    <a:p>
                      <a:pPr>
                        <a:buNone/>
                      </a:pPr>
                      <a:r>
                        <a:rPr lang="en-IN"/>
                        <a:t>Indicates IPv4 or IPv6.</a:t>
                      </a:r>
                    </a:p>
                  </a:txBody>
                  <a:tcPr anchor="ctr"/>
                </a:tc>
                <a:extLst>
                  <a:ext uri="{0D108BD9-81ED-4DB2-BD59-A6C34878D82A}">
                    <a16:rowId xmlns:a16="http://schemas.microsoft.com/office/drawing/2014/main" val="2459295844"/>
                  </a:ext>
                </a:extLst>
              </a:tr>
              <a:tr h="370840">
                <a:tc>
                  <a:txBody>
                    <a:bodyPr/>
                    <a:lstStyle/>
                    <a:p>
                      <a:pPr>
                        <a:buNone/>
                      </a:pPr>
                      <a:r>
                        <a:rPr lang="en-IN"/>
                        <a:t>Header Length</a:t>
                      </a:r>
                    </a:p>
                  </a:txBody>
                  <a:tcPr anchor="ctr"/>
                </a:tc>
                <a:tc>
                  <a:txBody>
                    <a:bodyPr/>
                    <a:lstStyle/>
                    <a:p>
                      <a:pPr>
                        <a:buNone/>
                      </a:pPr>
                      <a:r>
                        <a:rPr lang="en-IN"/>
                        <a:t>Specifies the size of the IP header.</a:t>
                      </a:r>
                    </a:p>
                  </a:txBody>
                  <a:tcPr anchor="ctr"/>
                </a:tc>
                <a:extLst>
                  <a:ext uri="{0D108BD9-81ED-4DB2-BD59-A6C34878D82A}">
                    <a16:rowId xmlns:a16="http://schemas.microsoft.com/office/drawing/2014/main" val="546819916"/>
                  </a:ext>
                </a:extLst>
              </a:tr>
              <a:tr h="370840">
                <a:tc>
                  <a:txBody>
                    <a:bodyPr/>
                    <a:lstStyle/>
                    <a:p>
                      <a:pPr>
                        <a:buNone/>
                      </a:pPr>
                      <a:r>
                        <a:rPr lang="en-IN"/>
                        <a:t>Total Length</a:t>
                      </a:r>
                    </a:p>
                  </a:txBody>
                  <a:tcPr anchor="ctr"/>
                </a:tc>
                <a:tc>
                  <a:txBody>
                    <a:bodyPr/>
                    <a:lstStyle/>
                    <a:p>
                      <a:pPr>
                        <a:buNone/>
                      </a:pPr>
                      <a:r>
                        <a:rPr lang="en-IN"/>
                        <a:t>Total size of the packet.</a:t>
                      </a:r>
                    </a:p>
                  </a:txBody>
                  <a:tcPr anchor="ctr"/>
                </a:tc>
                <a:extLst>
                  <a:ext uri="{0D108BD9-81ED-4DB2-BD59-A6C34878D82A}">
                    <a16:rowId xmlns:a16="http://schemas.microsoft.com/office/drawing/2014/main" val="2220900195"/>
                  </a:ext>
                </a:extLst>
              </a:tr>
              <a:tr h="370840">
                <a:tc>
                  <a:txBody>
                    <a:bodyPr/>
                    <a:lstStyle/>
                    <a:p>
                      <a:pPr>
                        <a:buNone/>
                      </a:pPr>
                      <a:r>
                        <a:rPr lang="en-IN"/>
                        <a:t>Identification</a:t>
                      </a:r>
                    </a:p>
                  </a:txBody>
                  <a:tcPr anchor="ctr"/>
                </a:tc>
                <a:tc>
                  <a:txBody>
                    <a:bodyPr/>
                    <a:lstStyle/>
                    <a:p>
                      <a:pPr>
                        <a:buNone/>
                      </a:pPr>
                      <a:r>
                        <a:rPr lang="en-IN"/>
                        <a:t>Used during packet fragmentation and reassembly.</a:t>
                      </a:r>
                    </a:p>
                  </a:txBody>
                  <a:tcPr anchor="ctr"/>
                </a:tc>
                <a:extLst>
                  <a:ext uri="{0D108BD9-81ED-4DB2-BD59-A6C34878D82A}">
                    <a16:rowId xmlns:a16="http://schemas.microsoft.com/office/drawing/2014/main" val="1216872874"/>
                  </a:ext>
                </a:extLst>
              </a:tr>
              <a:tr h="370840">
                <a:tc>
                  <a:txBody>
                    <a:bodyPr/>
                    <a:lstStyle/>
                    <a:p>
                      <a:pPr>
                        <a:buNone/>
                      </a:pPr>
                      <a:r>
                        <a:rPr lang="en-IN"/>
                        <a:t>Flags</a:t>
                      </a:r>
                    </a:p>
                  </a:txBody>
                  <a:tcPr anchor="ctr"/>
                </a:tc>
                <a:tc>
                  <a:txBody>
                    <a:bodyPr/>
                    <a:lstStyle/>
                    <a:p>
                      <a:pPr>
                        <a:buNone/>
                      </a:pPr>
                      <a:r>
                        <a:rPr lang="en-IN"/>
                        <a:t>Controls fragmentation behavior.</a:t>
                      </a:r>
                    </a:p>
                  </a:txBody>
                  <a:tcPr anchor="ctr"/>
                </a:tc>
                <a:extLst>
                  <a:ext uri="{0D108BD9-81ED-4DB2-BD59-A6C34878D82A}">
                    <a16:rowId xmlns:a16="http://schemas.microsoft.com/office/drawing/2014/main" val="3232799402"/>
                  </a:ext>
                </a:extLst>
              </a:tr>
              <a:tr h="370840">
                <a:tc>
                  <a:txBody>
                    <a:bodyPr/>
                    <a:lstStyle/>
                    <a:p>
                      <a:pPr>
                        <a:buNone/>
                      </a:pPr>
                      <a:r>
                        <a:rPr lang="en-IN"/>
                        <a:t>Fragment Offset</a:t>
                      </a:r>
                    </a:p>
                  </a:txBody>
                  <a:tcPr anchor="ctr"/>
                </a:tc>
                <a:tc>
                  <a:txBody>
                    <a:bodyPr/>
                    <a:lstStyle/>
                    <a:p>
                      <a:pPr>
                        <a:buNone/>
                      </a:pPr>
                      <a:r>
                        <a:rPr lang="en-IN"/>
                        <a:t>Indicates the position of each fragment.</a:t>
                      </a:r>
                    </a:p>
                  </a:txBody>
                  <a:tcPr anchor="ctr"/>
                </a:tc>
                <a:extLst>
                  <a:ext uri="{0D108BD9-81ED-4DB2-BD59-A6C34878D82A}">
                    <a16:rowId xmlns:a16="http://schemas.microsoft.com/office/drawing/2014/main" val="2470807644"/>
                  </a:ext>
                </a:extLst>
              </a:tr>
              <a:tr h="370840">
                <a:tc>
                  <a:txBody>
                    <a:bodyPr/>
                    <a:lstStyle/>
                    <a:p>
                      <a:pPr>
                        <a:buNone/>
                      </a:pPr>
                      <a:r>
                        <a:rPr lang="en-IN"/>
                        <a:t>Time To Live (TTL)</a:t>
                      </a:r>
                    </a:p>
                  </a:txBody>
                  <a:tcPr anchor="ctr"/>
                </a:tc>
                <a:tc>
                  <a:txBody>
                    <a:bodyPr/>
                    <a:lstStyle/>
                    <a:p>
                      <a:pPr>
                        <a:buNone/>
                      </a:pPr>
                      <a:r>
                        <a:rPr lang="en-IN"/>
                        <a:t>Prevents packets from circulating forever by decreasing at each router.</a:t>
                      </a:r>
                    </a:p>
                  </a:txBody>
                  <a:tcPr anchor="ctr"/>
                </a:tc>
                <a:extLst>
                  <a:ext uri="{0D108BD9-81ED-4DB2-BD59-A6C34878D82A}">
                    <a16:rowId xmlns:a16="http://schemas.microsoft.com/office/drawing/2014/main" val="3903464978"/>
                  </a:ext>
                </a:extLst>
              </a:tr>
              <a:tr h="370840">
                <a:tc>
                  <a:txBody>
                    <a:bodyPr/>
                    <a:lstStyle/>
                    <a:p>
                      <a:pPr>
                        <a:buNone/>
                      </a:pPr>
                      <a:r>
                        <a:rPr lang="en-IN"/>
                        <a:t>Protocol</a:t>
                      </a:r>
                    </a:p>
                  </a:txBody>
                  <a:tcPr anchor="ctr"/>
                </a:tc>
                <a:tc>
                  <a:txBody>
                    <a:bodyPr/>
                    <a:lstStyle/>
                    <a:p>
                      <a:pPr>
                        <a:buNone/>
                      </a:pPr>
                      <a:r>
                        <a:rPr lang="en-IN"/>
                        <a:t>Specifies the upper-layer protocol (e.g., TCP, UDP, ICMP).</a:t>
                      </a:r>
                    </a:p>
                  </a:txBody>
                  <a:tcPr anchor="ctr"/>
                </a:tc>
                <a:extLst>
                  <a:ext uri="{0D108BD9-81ED-4DB2-BD59-A6C34878D82A}">
                    <a16:rowId xmlns:a16="http://schemas.microsoft.com/office/drawing/2014/main" val="1214673336"/>
                  </a:ext>
                </a:extLst>
              </a:tr>
              <a:tr h="370840">
                <a:tc>
                  <a:txBody>
                    <a:bodyPr/>
                    <a:lstStyle/>
                    <a:p>
                      <a:pPr>
                        <a:buNone/>
                      </a:pPr>
                      <a:r>
                        <a:rPr lang="en-IN"/>
                        <a:t>Header Checksum</a:t>
                      </a:r>
                    </a:p>
                  </a:txBody>
                  <a:tcPr anchor="ctr"/>
                </a:tc>
                <a:tc>
                  <a:txBody>
                    <a:bodyPr/>
                    <a:lstStyle/>
                    <a:p>
                      <a:pPr>
                        <a:buNone/>
                      </a:pPr>
                      <a:r>
                        <a:rPr lang="en-IN"/>
                        <a:t>Detects errors in the IP header.</a:t>
                      </a:r>
                    </a:p>
                  </a:txBody>
                  <a:tcPr anchor="ctr"/>
                </a:tc>
                <a:extLst>
                  <a:ext uri="{0D108BD9-81ED-4DB2-BD59-A6C34878D82A}">
                    <a16:rowId xmlns:a16="http://schemas.microsoft.com/office/drawing/2014/main" val="1160598437"/>
                  </a:ext>
                </a:extLst>
              </a:tr>
              <a:tr h="370840">
                <a:tc>
                  <a:txBody>
                    <a:bodyPr/>
                    <a:lstStyle/>
                    <a:p>
                      <a:pPr>
                        <a:buNone/>
                      </a:pPr>
                      <a:r>
                        <a:rPr lang="en-IN"/>
                        <a:t>Source IP Address</a:t>
                      </a:r>
                    </a:p>
                  </a:txBody>
                  <a:tcPr anchor="ctr"/>
                </a:tc>
                <a:tc>
                  <a:txBody>
                    <a:bodyPr/>
                    <a:lstStyle/>
                    <a:p>
                      <a:pPr>
                        <a:buNone/>
                      </a:pPr>
                      <a:r>
                        <a:rPr lang="en-IN"/>
                        <a:t>Logical address of the sender.</a:t>
                      </a:r>
                    </a:p>
                  </a:txBody>
                  <a:tcPr anchor="ctr"/>
                </a:tc>
                <a:extLst>
                  <a:ext uri="{0D108BD9-81ED-4DB2-BD59-A6C34878D82A}">
                    <a16:rowId xmlns:a16="http://schemas.microsoft.com/office/drawing/2014/main" val="3770337235"/>
                  </a:ext>
                </a:extLst>
              </a:tr>
              <a:tr h="370840">
                <a:tc>
                  <a:txBody>
                    <a:bodyPr/>
                    <a:lstStyle/>
                    <a:p>
                      <a:pPr>
                        <a:buNone/>
                      </a:pPr>
                      <a:r>
                        <a:rPr lang="en-IN"/>
                        <a:t>Destination IP Address</a:t>
                      </a:r>
                    </a:p>
                  </a:txBody>
                  <a:tcPr anchor="ctr"/>
                </a:tc>
                <a:tc>
                  <a:txBody>
                    <a:bodyPr/>
                    <a:lstStyle/>
                    <a:p>
                      <a:pPr>
                        <a:buNone/>
                      </a:pPr>
                      <a:r>
                        <a:rPr lang="en-IN" dirty="0"/>
                        <a:t>Logical address of the receiver.</a:t>
                      </a:r>
                    </a:p>
                  </a:txBody>
                  <a:tcPr anchor="ctr"/>
                </a:tc>
                <a:extLst>
                  <a:ext uri="{0D108BD9-81ED-4DB2-BD59-A6C34878D82A}">
                    <a16:rowId xmlns:a16="http://schemas.microsoft.com/office/drawing/2014/main" val="3078963568"/>
                  </a:ext>
                </a:extLst>
              </a:tr>
            </a:tbl>
          </a:graphicData>
        </a:graphic>
      </p:graphicFrame>
      <p:sp>
        <p:nvSpPr>
          <p:cNvPr id="7" name="TextBox 6">
            <a:extLst>
              <a:ext uri="{FF2B5EF4-FFF2-40B4-BE49-F238E27FC236}">
                <a16:creationId xmlns:a16="http://schemas.microsoft.com/office/drawing/2014/main" id="{863EB5D2-6536-5510-65FE-DC74F2867E58}"/>
              </a:ext>
            </a:extLst>
          </p:cNvPr>
          <p:cNvSpPr txBox="1"/>
          <p:nvPr/>
        </p:nvSpPr>
        <p:spPr>
          <a:xfrm>
            <a:off x="8638675" y="2136338"/>
            <a:ext cx="3384884" cy="2585323"/>
          </a:xfrm>
          <a:prstGeom prst="rect">
            <a:avLst/>
          </a:prstGeom>
          <a:noFill/>
        </p:spPr>
        <p:txBody>
          <a:bodyPr wrap="square">
            <a:spAutoFit/>
          </a:bodyPr>
          <a:lstStyle/>
          <a:p>
            <a:pPr>
              <a:buNone/>
            </a:pPr>
            <a:r>
              <a:rPr lang="en-IN" b="1" dirty="0"/>
              <a:t>Header Size</a:t>
            </a:r>
          </a:p>
          <a:p>
            <a:pPr>
              <a:buNone/>
            </a:pPr>
            <a:r>
              <a:rPr lang="en-IN" dirty="0"/>
              <a:t>For </a:t>
            </a:r>
            <a:r>
              <a:rPr lang="en-IN" b="1" dirty="0"/>
              <a:t>IPv4</a:t>
            </a:r>
            <a:r>
              <a:rPr lang="en-IN" dirty="0"/>
              <a:t>:</a:t>
            </a:r>
          </a:p>
          <a:p>
            <a:pPr rtl="0">
              <a:buNone/>
            </a:pPr>
            <a:r>
              <a:rPr lang="en-IN" dirty="0">
                <a:latin typeface="Courier New" panose="02070309020205020404" pitchFamily="49" charset="0"/>
              </a:rPr>
              <a:t>Minimum Header = 20 Bytes</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Maximum Header = 60 Bytes</a:t>
            </a:r>
          </a:p>
          <a:p>
            <a:pPr>
              <a:buNone/>
            </a:pPr>
            <a:r>
              <a:rPr lang="en-IN" dirty="0"/>
              <a:t>For </a:t>
            </a:r>
            <a:r>
              <a:rPr lang="en-IN" b="1" dirty="0"/>
              <a:t>IPv6</a:t>
            </a:r>
            <a:r>
              <a:rPr lang="en-IN" dirty="0"/>
              <a:t>:</a:t>
            </a:r>
          </a:p>
          <a:p>
            <a:pPr rtl="0">
              <a:buNone/>
            </a:pPr>
            <a:r>
              <a:rPr lang="en-IN" dirty="0">
                <a:latin typeface="Courier New" panose="02070309020205020404" pitchFamily="49" charset="0"/>
              </a:rPr>
              <a:t>Fixed Header = 40 Bytes</a:t>
            </a:r>
          </a:p>
        </p:txBody>
      </p:sp>
    </p:spTree>
    <p:extLst>
      <p:ext uri="{BB962C8B-B14F-4D97-AF65-F5344CB8AC3E}">
        <p14:creationId xmlns:p14="http://schemas.microsoft.com/office/powerpoint/2010/main" val="2503864132"/>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2ADE044-6387-43BC-9F72-EABCA2F7F4A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E275687-288E-BFA1-40E9-508D9EE8C0F2}"/>
              </a:ext>
            </a:extLst>
          </p:cNvPr>
          <p:cNvSpPr>
            <a:spLocks noGrp="1"/>
          </p:cNvSpPr>
          <p:nvPr>
            <p:ph type="title"/>
          </p:nvPr>
        </p:nvSpPr>
        <p:spPr>
          <a:xfrm>
            <a:off x="240631" y="365126"/>
            <a:ext cx="11486147" cy="645528"/>
          </a:xfrm>
        </p:spPr>
        <p:txBody>
          <a:bodyPr>
            <a:normAutofit fontScale="90000"/>
          </a:bodyPr>
          <a:lstStyle/>
          <a:p>
            <a:r>
              <a:rPr lang="en-US" dirty="0"/>
              <a:t>Data Format </a:t>
            </a:r>
            <a:r>
              <a:rPr lang="en-IN" dirty="0"/>
              <a:t>(Protocol Data Unit - PDU)</a:t>
            </a:r>
            <a:r>
              <a:rPr lang="en-US" dirty="0"/>
              <a:t> &amp; Header</a:t>
            </a:r>
            <a:endParaRPr lang="en-IN" dirty="0"/>
          </a:p>
        </p:txBody>
      </p:sp>
      <p:sp>
        <p:nvSpPr>
          <p:cNvPr id="3" name="Content Placeholder 2">
            <a:extLst>
              <a:ext uri="{FF2B5EF4-FFF2-40B4-BE49-F238E27FC236}">
                <a16:creationId xmlns:a16="http://schemas.microsoft.com/office/drawing/2014/main" id="{15A53398-E78B-BC3F-1753-1A1DAA49214D}"/>
              </a:ext>
            </a:extLst>
          </p:cNvPr>
          <p:cNvSpPr>
            <a:spLocks noGrp="1"/>
          </p:cNvSpPr>
          <p:nvPr>
            <p:ph idx="1"/>
          </p:nvPr>
        </p:nvSpPr>
        <p:spPr>
          <a:xfrm>
            <a:off x="240631" y="1010654"/>
            <a:ext cx="11710738" cy="5662862"/>
          </a:xfrm>
        </p:spPr>
        <p:txBody>
          <a:bodyPr>
            <a:normAutofit/>
          </a:bodyPr>
          <a:lstStyle/>
          <a:p>
            <a:pPr marL="0" indent="0">
              <a:buNone/>
            </a:pPr>
            <a:endParaRPr lang="en-IN" b="1" dirty="0"/>
          </a:p>
          <a:p>
            <a:endParaRPr lang="en-IN" dirty="0"/>
          </a:p>
        </p:txBody>
      </p:sp>
      <p:sp>
        <p:nvSpPr>
          <p:cNvPr id="6" name="TextBox 5">
            <a:extLst>
              <a:ext uri="{FF2B5EF4-FFF2-40B4-BE49-F238E27FC236}">
                <a16:creationId xmlns:a16="http://schemas.microsoft.com/office/drawing/2014/main" id="{57BDD19E-9FC6-A235-5864-401AAB7E79E6}"/>
              </a:ext>
            </a:extLst>
          </p:cNvPr>
          <p:cNvSpPr txBox="1"/>
          <p:nvPr/>
        </p:nvSpPr>
        <p:spPr>
          <a:xfrm>
            <a:off x="465222" y="1010654"/>
            <a:ext cx="10266947" cy="5909310"/>
          </a:xfrm>
          <a:prstGeom prst="rect">
            <a:avLst/>
          </a:prstGeom>
          <a:noFill/>
        </p:spPr>
        <p:txBody>
          <a:bodyPr wrap="square">
            <a:spAutoFit/>
          </a:bodyPr>
          <a:lstStyle/>
          <a:p>
            <a:pPr>
              <a:buNone/>
            </a:pPr>
            <a:r>
              <a:rPr lang="en-IN" dirty="0"/>
              <a:t>Suppose you send:</a:t>
            </a:r>
          </a:p>
          <a:p>
            <a:pPr rtl="0">
              <a:buNone/>
            </a:pPr>
            <a:r>
              <a:rPr lang="en-IN" dirty="0">
                <a:latin typeface="Courier New" panose="02070309020205020404" pitchFamily="49" charset="0"/>
              </a:rPr>
              <a:t>Hi! How are you?</a:t>
            </a:r>
          </a:p>
          <a:p>
            <a:pPr>
              <a:buNone/>
            </a:pPr>
            <a:r>
              <a:rPr lang="en-IN" b="1" dirty="0"/>
              <a:t>Application Layer</a:t>
            </a:r>
          </a:p>
          <a:p>
            <a:pPr>
              <a:buNone/>
            </a:pPr>
            <a:r>
              <a:rPr lang="en-IN" dirty="0"/>
              <a:t>Creates the message.</a:t>
            </a:r>
          </a:p>
          <a:p>
            <a:pPr>
              <a:buNone/>
            </a:pPr>
            <a:r>
              <a:rPr lang="en-IN" dirty="0"/>
              <a:t>↓</a:t>
            </a:r>
          </a:p>
          <a:p>
            <a:pPr>
              <a:buNone/>
            </a:pPr>
            <a:r>
              <a:rPr lang="en-IN" b="1" dirty="0"/>
              <a:t>Presentation Layer</a:t>
            </a:r>
          </a:p>
          <a:p>
            <a:pPr>
              <a:buNone/>
            </a:pPr>
            <a:r>
              <a:rPr lang="en-IN" dirty="0"/>
              <a:t>Encrypts and formats the message.</a:t>
            </a:r>
          </a:p>
          <a:p>
            <a:pPr>
              <a:buNone/>
            </a:pPr>
            <a:r>
              <a:rPr lang="en-IN" dirty="0"/>
              <a:t>↓</a:t>
            </a:r>
          </a:p>
          <a:p>
            <a:pPr>
              <a:buNone/>
            </a:pPr>
            <a:r>
              <a:rPr lang="en-IN" b="1" dirty="0"/>
              <a:t>Session Layer</a:t>
            </a:r>
          </a:p>
          <a:p>
            <a:pPr>
              <a:buNone/>
            </a:pPr>
            <a:r>
              <a:rPr lang="en-IN" dirty="0"/>
              <a:t>Maintains the communication session.</a:t>
            </a:r>
          </a:p>
          <a:p>
            <a:pPr>
              <a:buNone/>
            </a:pPr>
            <a:r>
              <a:rPr lang="en-IN" dirty="0"/>
              <a:t>↓</a:t>
            </a:r>
          </a:p>
          <a:p>
            <a:pPr>
              <a:buNone/>
            </a:pPr>
            <a:r>
              <a:rPr lang="en-IN" b="1" dirty="0"/>
              <a:t>Transport Layer</a:t>
            </a:r>
          </a:p>
          <a:p>
            <a:pPr>
              <a:buNone/>
            </a:pPr>
            <a:r>
              <a:rPr lang="en-IN" dirty="0"/>
              <a:t>Creates TCP segments and adds port numbers.</a:t>
            </a:r>
          </a:p>
          <a:p>
            <a:pPr>
              <a:buNone/>
            </a:pPr>
            <a:r>
              <a:rPr lang="en-IN" dirty="0"/>
              <a:t>↓</a:t>
            </a:r>
          </a:p>
          <a:p>
            <a:pPr>
              <a:buNone/>
            </a:pPr>
            <a:r>
              <a:rPr lang="en-IN" b="1" dirty="0"/>
              <a:t>Network Layer</a:t>
            </a:r>
          </a:p>
          <a:p>
            <a:pPr>
              <a:buNone/>
            </a:pPr>
            <a:r>
              <a:rPr lang="en-IN" dirty="0"/>
              <a:t>The Network Layer:</a:t>
            </a:r>
          </a:p>
          <a:p>
            <a:pPr>
              <a:buFont typeface="+mj-lt"/>
              <a:buAutoNum type="arabicPeriod"/>
            </a:pPr>
            <a:r>
              <a:rPr lang="en-IN" dirty="0"/>
              <a:t>Adds the </a:t>
            </a:r>
            <a:r>
              <a:rPr lang="en-IN" b="1" dirty="0"/>
              <a:t>Source IP Address</a:t>
            </a:r>
            <a:r>
              <a:rPr lang="en-IN" dirty="0"/>
              <a:t> (your device). </a:t>
            </a:r>
          </a:p>
          <a:p>
            <a:pPr>
              <a:buFont typeface="+mj-lt"/>
              <a:buAutoNum type="arabicPeriod"/>
            </a:pPr>
            <a:r>
              <a:rPr lang="en-IN" dirty="0"/>
              <a:t>Adds the </a:t>
            </a:r>
            <a:r>
              <a:rPr lang="en-IN" b="1" dirty="0"/>
              <a:t>Destination IP Address</a:t>
            </a:r>
            <a:r>
              <a:rPr lang="en-IN" dirty="0"/>
              <a:t> (your friend's device). </a:t>
            </a:r>
          </a:p>
          <a:p>
            <a:pPr>
              <a:buFont typeface="+mj-lt"/>
              <a:buAutoNum type="arabicPeriod"/>
            </a:pPr>
            <a:r>
              <a:rPr lang="en-IN" dirty="0"/>
              <a:t>Creates an IP packet. </a:t>
            </a:r>
          </a:p>
          <a:p>
            <a:pPr>
              <a:buFont typeface="+mj-lt"/>
              <a:buAutoNum type="arabicPeriod"/>
            </a:pPr>
            <a:r>
              <a:rPr lang="en-IN" dirty="0"/>
              <a:t>Determines the best route through the Internet. </a:t>
            </a:r>
          </a:p>
          <a:p>
            <a:pPr>
              <a:buFont typeface="+mj-lt"/>
              <a:buAutoNum type="arabicPeriod"/>
            </a:pPr>
            <a:r>
              <a:rPr lang="en-IN" dirty="0"/>
              <a:t>Forwards the packet to the next router. </a:t>
            </a:r>
          </a:p>
        </p:txBody>
      </p:sp>
      <p:sp>
        <p:nvSpPr>
          <p:cNvPr id="9" name="TextBox 8">
            <a:extLst>
              <a:ext uri="{FF2B5EF4-FFF2-40B4-BE49-F238E27FC236}">
                <a16:creationId xmlns:a16="http://schemas.microsoft.com/office/drawing/2014/main" id="{B97CA982-41D7-D952-BF78-A7F4C2D80720}"/>
              </a:ext>
            </a:extLst>
          </p:cNvPr>
          <p:cNvSpPr txBox="1"/>
          <p:nvPr/>
        </p:nvSpPr>
        <p:spPr>
          <a:xfrm>
            <a:off x="6849979" y="2668143"/>
            <a:ext cx="5101390" cy="1754326"/>
          </a:xfrm>
          <a:prstGeom prst="rect">
            <a:avLst/>
          </a:prstGeom>
          <a:noFill/>
        </p:spPr>
        <p:txBody>
          <a:bodyPr wrap="square">
            <a:spAutoFit/>
          </a:bodyPr>
          <a:lstStyle/>
          <a:p>
            <a:pPr>
              <a:buNone/>
            </a:pPr>
            <a:r>
              <a:rPr lang="en-IN" dirty="0"/>
              <a:t>Example:</a:t>
            </a:r>
          </a:p>
          <a:p>
            <a:pPr rtl="0">
              <a:buNone/>
            </a:pPr>
            <a:r>
              <a:rPr lang="en-IN" dirty="0">
                <a:latin typeface="Courier New" panose="02070309020205020404" pitchFamily="49" charset="0"/>
              </a:rPr>
              <a:t>Source IP      : 192.168.1.20</a:t>
            </a:r>
          </a:p>
          <a:p>
            <a:pPr rtl="0">
              <a:buNone/>
            </a:pPr>
            <a:endParaRPr lang="en-IN" dirty="0">
              <a:latin typeface="Courier New" panose="02070309020205020404" pitchFamily="49" charset="0"/>
            </a:endParaRPr>
          </a:p>
          <a:p>
            <a:pPr rtl="0">
              <a:buNone/>
            </a:pPr>
            <a:r>
              <a:rPr lang="en-IN" dirty="0">
                <a:latin typeface="Courier New" panose="02070309020205020404" pitchFamily="49" charset="0"/>
              </a:rPr>
              <a:t>Destination IP : 103.21.58.100</a:t>
            </a:r>
          </a:p>
          <a:p>
            <a:pPr>
              <a:buNone/>
            </a:pPr>
            <a:r>
              <a:rPr lang="en-IN" dirty="0"/>
              <a:t>The packet is now ready to move through routers across different networks</a:t>
            </a:r>
          </a:p>
        </p:txBody>
      </p:sp>
    </p:spTree>
    <p:extLst>
      <p:ext uri="{BB962C8B-B14F-4D97-AF65-F5344CB8AC3E}">
        <p14:creationId xmlns:p14="http://schemas.microsoft.com/office/powerpoint/2010/main" val="24732557"/>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73F44B-200A-F52B-9A30-126D900485D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6E3820-1506-AAAF-E1BE-A1C3208FFDC4}"/>
              </a:ext>
            </a:extLst>
          </p:cNvPr>
          <p:cNvSpPr>
            <a:spLocks noGrp="1"/>
          </p:cNvSpPr>
          <p:nvPr>
            <p:ph type="title"/>
          </p:nvPr>
        </p:nvSpPr>
        <p:spPr>
          <a:xfrm>
            <a:off x="240631" y="365126"/>
            <a:ext cx="11486147" cy="645528"/>
          </a:xfrm>
        </p:spPr>
        <p:txBody>
          <a:bodyPr>
            <a:normAutofit fontScale="90000"/>
          </a:bodyPr>
          <a:lstStyle/>
          <a:p>
            <a:r>
              <a:rPr lang="en-IN" dirty="0"/>
              <a:t>Data Link Layer</a:t>
            </a:r>
          </a:p>
        </p:txBody>
      </p:sp>
      <p:sp>
        <p:nvSpPr>
          <p:cNvPr id="3" name="Content Placeholder 2">
            <a:extLst>
              <a:ext uri="{FF2B5EF4-FFF2-40B4-BE49-F238E27FC236}">
                <a16:creationId xmlns:a16="http://schemas.microsoft.com/office/drawing/2014/main" id="{93D689BC-B55D-C4F4-F983-AF119E62ACF9}"/>
              </a:ext>
            </a:extLst>
          </p:cNvPr>
          <p:cNvSpPr>
            <a:spLocks noGrp="1"/>
          </p:cNvSpPr>
          <p:nvPr>
            <p:ph idx="1"/>
          </p:nvPr>
        </p:nvSpPr>
        <p:spPr>
          <a:xfrm>
            <a:off x="240631" y="1010654"/>
            <a:ext cx="11710738" cy="5662862"/>
          </a:xfrm>
        </p:spPr>
        <p:txBody>
          <a:bodyPr>
            <a:normAutofit/>
          </a:bodyPr>
          <a:lstStyle/>
          <a:p>
            <a:r>
              <a:rPr lang="en-IN" dirty="0"/>
              <a:t>The </a:t>
            </a:r>
            <a:r>
              <a:rPr lang="en-IN" b="1" dirty="0"/>
              <a:t>Data Link Layer</a:t>
            </a:r>
            <a:r>
              <a:rPr lang="en-IN" dirty="0"/>
              <a:t> is the </a:t>
            </a:r>
            <a:r>
              <a:rPr lang="en-IN" b="1" dirty="0"/>
              <a:t>2nd layer</a:t>
            </a:r>
            <a:r>
              <a:rPr lang="en-IN" dirty="0"/>
              <a:t> of the OSI Model.</a:t>
            </a:r>
          </a:p>
          <a:p>
            <a:r>
              <a:rPr lang="en-IN" dirty="0"/>
              <a:t>Its main responsibility is to provide </a:t>
            </a:r>
            <a:r>
              <a:rPr lang="en-IN" b="1" dirty="0"/>
              <a:t>node-to-node delivery</a:t>
            </a:r>
            <a:r>
              <a:rPr lang="en-IN" dirty="0"/>
              <a:t> of data over the </a:t>
            </a:r>
            <a:r>
              <a:rPr lang="en-IN" b="1" dirty="0"/>
              <a:t>same local network (LAN)</a:t>
            </a:r>
            <a:r>
              <a:rPr lang="en-IN" dirty="0"/>
              <a:t>.</a:t>
            </a:r>
          </a:p>
          <a:p>
            <a:r>
              <a:rPr lang="en-IN" dirty="0"/>
              <a:t>Unlike the Network Layer, which uses </a:t>
            </a:r>
            <a:r>
              <a:rPr lang="en-IN" b="1" dirty="0"/>
              <a:t>IP Addresses</a:t>
            </a:r>
            <a:r>
              <a:rPr lang="en-IN" dirty="0"/>
              <a:t> to deliver packets between different networks, the Data Link Layer uses </a:t>
            </a:r>
            <a:r>
              <a:rPr lang="en-IN" b="1" dirty="0"/>
              <a:t>MAC Addresses</a:t>
            </a:r>
            <a:r>
              <a:rPr lang="en-IN" dirty="0"/>
              <a:t> to deliver data between devices connected to the same network.</a:t>
            </a:r>
          </a:p>
          <a:p>
            <a:r>
              <a:rPr lang="en-IN" dirty="0"/>
              <a:t>It also detects transmission errors and controls access to the communication medium.</a:t>
            </a:r>
          </a:p>
          <a:p>
            <a:r>
              <a:rPr lang="en-IN" dirty="0">
                <a:highlight>
                  <a:srgbClr val="FFFF00"/>
                </a:highlight>
              </a:rPr>
              <a:t>The Data Link Layer is responsible for node-to-node communication, framing, physical addressing (MAC Address), error detection, and media access control within the same local network.</a:t>
            </a:r>
            <a:endParaRPr lang="en-IN" dirty="0"/>
          </a:p>
        </p:txBody>
      </p:sp>
    </p:spTree>
    <p:extLst>
      <p:ext uri="{BB962C8B-B14F-4D97-AF65-F5344CB8AC3E}">
        <p14:creationId xmlns:p14="http://schemas.microsoft.com/office/powerpoint/2010/main" val="329523943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EAB321-FB85-5342-DF76-AC3673643B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154B168-203D-1ADA-15C1-A77534E10421}"/>
              </a:ext>
            </a:extLst>
          </p:cNvPr>
          <p:cNvSpPr>
            <a:spLocks noGrp="1"/>
          </p:cNvSpPr>
          <p:nvPr>
            <p:ph type="title"/>
          </p:nvPr>
        </p:nvSpPr>
        <p:spPr>
          <a:xfrm>
            <a:off x="613611" y="433137"/>
            <a:ext cx="10515600" cy="737938"/>
          </a:xfrm>
        </p:spPr>
        <p:txBody>
          <a:bodyPr/>
          <a:lstStyle/>
          <a:p>
            <a:r>
              <a:rPr lang="en-IN" dirty="0"/>
              <a:t>The Data Link Layer: Functionalities</a:t>
            </a:r>
          </a:p>
        </p:txBody>
      </p:sp>
      <p:graphicFrame>
        <p:nvGraphicFramePr>
          <p:cNvPr id="4" name="Table 3">
            <a:extLst>
              <a:ext uri="{FF2B5EF4-FFF2-40B4-BE49-F238E27FC236}">
                <a16:creationId xmlns:a16="http://schemas.microsoft.com/office/drawing/2014/main" id="{2FDBA59C-778F-10E5-E59C-BD9E4CBCD7C3}"/>
              </a:ext>
            </a:extLst>
          </p:cNvPr>
          <p:cNvGraphicFramePr>
            <a:graphicFrameLocks noGrp="1"/>
          </p:cNvGraphicFramePr>
          <p:nvPr>
            <p:extLst>
              <p:ext uri="{D42A27DB-BD31-4B8C-83A1-F6EECF244321}">
                <p14:modId xmlns:p14="http://schemas.microsoft.com/office/powerpoint/2010/main" val="1832149463"/>
              </p:ext>
            </p:extLst>
          </p:nvPr>
        </p:nvGraphicFramePr>
        <p:xfrm>
          <a:off x="320842" y="1407160"/>
          <a:ext cx="11550316" cy="296672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Functionality</a:t>
                      </a:r>
                    </a:p>
                  </a:txBody>
                  <a:tcPr anchor="ctr"/>
                </a:tc>
                <a:tc>
                  <a:txBody>
                    <a:bodyPr/>
                    <a:lstStyle/>
                    <a:p>
                      <a:pPr>
                        <a:buNone/>
                      </a:pPr>
                      <a:r>
                        <a:rPr lang="en-IN"/>
                        <a:t>Description</a:t>
                      </a:r>
                    </a:p>
                  </a:txBody>
                  <a:tcPr anchor="ctr"/>
                </a:tc>
                <a:extLst>
                  <a:ext uri="{0D108BD9-81ED-4DB2-BD59-A6C34878D82A}">
                    <a16:rowId xmlns:a16="http://schemas.microsoft.com/office/drawing/2014/main" val="3685672146"/>
                  </a:ext>
                </a:extLst>
              </a:tr>
              <a:tr h="370840">
                <a:tc>
                  <a:txBody>
                    <a:bodyPr/>
                    <a:lstStyle/>
                    <a:p>
                      <a:pPr>
                        <a:buNone/>
                      </a:pPr>
                      <a:r>
                        <a:rPr lang="en-IN" b="1"/>
                        <a:t>Framing</a:t>
                      </a:r>
                      <a:endParaRPr lang="en-IN"/>
                    </a:p>
                  </a:txBody>
                  <a:tcPr anchor="ctr"/>
                </a:tc>
                <a:tc>
                  <a:txBody>
                    <a:bodyPr/>
                    <a:lstStyle/>
                    <a:p>
                      <a:pPr>
                        <a:buNone/>
                      </a:pPr>
                      <a:r>
                        <a:rPr lang="en-IN"/>
                        <a:t>Converts Network Layer packets into frames before transmission.</a:t>
                      </a:r>
                    </a:p>
                  </a:txBody>
                  <a:tcPr anchor="ctr"/>
                </a:tc>
                <a:extLst>
                  <a:ext uri="{0D108BD9-81ED-4DB2-BD59-A6C34878D82A}">
                    <a16:rowId xmlns:a16="http://schemas.microsoft.com/office/drawing/2014/main" val="953366262"/>
                  </a:ext>
                </a:extLst>
              </a:tr>
              <a:tr h="370840">
                <a:tc>
                  <a:txBody>
                    <a:bodyPr/>
                    <a:lstStyle/>
                    <a:p>
                      <a:pPr>
                        <a:buNone/>
                      </a:pPr>
                      <a:r>
                        <a:rPr lang="en-IN" b="1"/>
                        <a:t>Physical Addressing</a:t>
                      </a:r>
                      <a:endParaRPr lang="en-IN"/>
                    </a:p>
                  </a:txBody>
                  <a:tcPr anchor="ctr"/>
                </a:tc>
                <a:tc>
                  <a:txBody>
                    <a:bodyPr/>
                    <a:lstStyle/>
                    <a:p>
                      <a:pPr>
                        <a:buNone/>
                      </a:pPr>
                      <a:r>
                        <a:rPr lang="en-IN"/>
                        <a:t>Uses MAC Addresses to identify sender and receiver within the same LAN.</a:t>
                      </a:r>
                    </a:p>
                  </a:txBody>
                  <a:tcPr anchor="ctr"/>
                </a:tc>
                <a:extLst>
                  <a:ext uri="{0D108BD9-81ED-4DB2-BD59-A6C34878D82A}">
                    <a16:rowId xmlns:a16="http://schemas.microsoft.com/office/drawing/2014/main" val="3976189341"/>
                  </a:ext>
                </a:extLst>
              </a:tr>
              <a:tr h="370840">
                <a:tc>
                  <a:txBody>
                    <a:bodyPr/>
                    <a:lstStyle/>
                    <a:p>
                      <a:pPr>
                        <a:buNone/>
                      </a:pPr>
                      <a:r>
                        <a:rPr lang="en-IN" b="1"/>
                        <a:t>Error Detection</a:t>
                      </a:r>
                      <a:endParaRPr lang="en-IN"/>
                    </a:p>
                  </a:txBody>
                  <a:tcPr anchor="ctr"/>
                </a:tc>
                <a:tc>
                  <a:txBody>
                    <a:bodyPr/>
                    <a:lstStyle/>
                    <a:p>
                      <a:pPr>
                        <a:buNone/>
                      </a:pPr>
                      <a:r>
                        <a:rPr lang="en-IN"/>
                        <a:t>Detects transmission errors using FCS (Frame Check Sequence) or CRC.</a:t>
                      </a:r>
                    </a:p>
                  </a:txBody>
                  <a:tcPr anchor="ctr"/>
                </a:tc>
                <a:extLst>
                  <a:ext uri="{0D108BD9-81ED-4DB2-BD59-A6C34878D82A}">
                    <a16:rowId xmlns:a16="http://schemas.microsoft.com/office/drawing/2014/main" val="3315618413"/>
                  </a:ext>
                </a:extLst>
              </a:tr>
              <a:tr h="370840">
                <a:tc>
                  <a:txBody>
                    <a:bodyPr/>
                    <a:lstStyle/>
                    <a:p>
                      <a:pPr>
                        <a:buNone/>
                      </a:pPr>
                      <a:r>
                        <a:rPr lang="en-IN" b="1"/>
                        <a:t>Media Access Control</a:t>
                      </a:r>
                      <a:endParaRPr lang="en-IN"/>
                    </a:p>
                  </a:txBody>
                  <a:tcPr anchor="ctr"/>
                </a:tc>
                <a:tc>
                  <a:txBody>
                    <a:bodyPr/>
                    <a:lstStyle/>
                    <a:p>
                      <a:pPr>
                        <a:buNone/>
                      </a:pPr>
                      <a:r>
                        <a:rPr lang="en-IN"/>
                        <a:t>Controls how devices access the communication medium to avoid collisions.</a:t>
                      </a:r>
                    </a:p>
                  </a:txBody>
                  <a:tcPr anchor="ctr"/>
                </a:tc>
                <a:extLst>
                  <a:ext uri="{0D108BD9-81ED-4DB2-BD59-A6C34878D82A}">
                    <a16:rowId xmlns:a16="http://schemas.microsoft.com/office/drawing/2014/main" val="385594624"/>
                  </a:ext>
                </a:extLst>
              </a:tr>
              <a:tr h="370840">
                <a:tc>
                  <a:txBody>
                    <a:bodyPr/>
                    <a:lstStyle/>
                    <a:p>
                      <a:pPr>
                        <a:buNone/>
                      </a:pPr>
                      <a:r>
                        <a:rPr lang="en-IN" b="1"/>
                        <a:t>Flow Control</a:t>
                      </a:r>
                      <a:endParaRPr lang="en-IN"/>
                    </a:p>
                  </a:txBody>
                  <a:tcPr anchor="ctr"/>
                </a:tc>
                <a:tc>
                  <a:txBody>
                    <a:bodyPr/>
                    <a:lstStyle/>
                    <a:p>
                      <a:pPr>
                        <a:buNone/>
                      </a:pPr>
                      <a:r>
                        <a:rPr lang="en-IN"/>
                        <a:t>Prevents a fast sender from overwhelming a slow receiver on the local link.</a:t>
                      </a:r>
                    </a:p>
                  </a:txBody>
                  <a:tcPr anchor="ctr"/>
                </a:tc>
                <a:extLst>
                  <a:ext uri="{0D108BD9-81ED-4DB2-BD59-A6C34878D82A}">
                    <a16:rowId xmlns:a16="http://schemas.microsoft.com/office/drawing/2014/main" val="2440142686"/>
                  </a:ext>
                </a:extLst>
              </a:tr>
              <a:tr h="370840">
                <a:tc>
                  <a:txBody>
                    <a:bodyPr/>
                    <a:lstStyle/>
                    <a:p>
                      <a:pPr>
                        <a:buNone/>
                      </a:pPr>
                      <a:r>
                        <a:rPr lang="en-IN" b="1"/>
                        <a:t>Node-to-Node Delivery</a:t>
                      </a:r>
                      <a:endParaRPr lang="en-IN"/>
                    </a:p>
                  </a:txBody>
                  <a:tcPr anchor="ctr"/>
                </a:tc>
                <a:tc>
                  <a:txBody>
                    <a:bodyPr/>
                    <a:lstStyle/>
                    <a:p>
                      <a:pPr>
                        <a:buNone/>
                      </a:pPr>
                      <a:r>
                        <a:rPr lang="en-IN"/>
                        <a:t>Delivers data between directly connected devices in the same network.</a:t>
                      </a:r>
                    </a:p>
                  </a:txBody>
                  <a:tcPr anchor="ctr"/>
                </a:tc>
                <a:extLst>
                  <a:ext uri="{0D108BD9-81ED-4DB2-BD59-A6C34878D82A}">
                    <a16:rowId xmlns:a16="http://schemas.microsoft.com/office/drawing/2014/main" val="2091929012"/>
                  </a:ext>
                </a:extLst>
              </a:tr>
              <a:tr h="370840">
                <a:tc>
                  <a:txBody>
                    <a:bodyPr/>
                    <a:lstStyle/>
                    <a:p>
                      <a:pPr>
                        <a:buNone/>
                      </a:pPr>
                      <a:r>
                        <a:rPr lang="en-IN" b="1"/>
                        <a:t>Frame Synchronization</a:t>
                      </a:r>
                      <a:endParaRPr lang="en-IN"/>
                    </a:p>
                  </a:txBody>
                  <a:tcPr anchor="ctr"/>
                </a:tc>
                <a:tc>
                  <a:txBody>
                    <a:bodyPr/>
                    <a:lstStyle/>
                    <a:p>
                      <a:pPr>
                        <a:buNone/>
                      </a:pPr>
                      <a:r>
                        <a:rPr lang="en-IN" dirty="0"/>
                        <a:t>Marks the beginning and end of each frame.</a:t>
                      </a:r>
                    </a:p>
                  </a:txBody>
                  <a:tcPr anchor="ctr"/>
                </a:tc>
                <a:extLst>
                  <a:ext uri="{0D108BD9-81ED-4DB2-BD59-A6C34878D82A}">
                    <a16:rowId xmlns:a16="http://schemas.microsoft.com/office/drawing/2014/main" val="320253377"/>
                  </a:ext>
                </a:extLst>
              </a:tr>
            </a:tbl>
          </a:graphicData>
        </a:graphic>
      </p:graphicFrame>
    </p:spTree>
    <p:extLst>
      <p:ext uri="{BB962C8B-B14F-4D97-AF65-F5344CB8AC3E}">
        <p14:creationId xmlns:p14="http://schemas.microsoft.com/office/powerpoint/2010/main" val="3542525526"/>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DA3347-5179-0840-A860-F5A4BA134E1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E98325B-F8BF-D7AE-D47C-E0831A5791A6}"/>
              </a:ext>
            </a:extLst>
          </p:cNvPr>
          <p:cNvSpPr>
            <a:spLocks noGrp="1"/>
          </p:cNvSpPr>
          <p:nvPr>
            <p:ph type="title"/>
          </p:nvPr>
        </p:nvSpPr>
        <p:spPr>
          <a:xfrm>
            <a:off x="613611" y="433137"/>
            <a:ext cx="10515600" cy="737938"/>
          </a:xfrm>
        </p:spPr>
        <p:txBody>
          <a:bodyPr/>
          <a:lstStyle/>
          <a:p>
            <a:r>
              <a:rPr lang="en-IN" dirty="0"/>
              <a:t>The Data Link Layer: Protocols</a:t>
            </a:r>
          </a:p>
        </p:txBody>
      </p:sp>
      <p:graphicFrame>
        <p:nvGraphicFramePr>
          <p:cNvPr id="4" name="Table 3">
            <a:extLst>
              <a:ext uri="{FF2B5EF4-FFF2-40B4-BE49-F238E27FC236}">
                <a16:creationId xmlns:a16="http://schemas.microsoft.com/office/drawing/2014/main" id="{4CF984A0-FD4E-2151-E9DE-04A31C800C3E}"/>
              </a:ext>
            </a:extLst>
          </p:cNvPr>
          <p:cNvGraphicFramePr>
            <a:graphicFrameLocks noGrp="1"/>
          </p:cNvGraphicFramePr>
          <p:nvPr>
            <p:extLst>
              <p:ext uri="{D42A27DB-BD31-4B8C-83A1-F6EECF244321}">
                <p14:modId xmlns:p14="http://schemas.microsoft.com/office/powerpoint/2010/main" val="3827787959"/>
              </p:ext>
            </p:extLst>
          </p:nvPr>
        </p:nvGraphicFramePr>
        <p:xfrm>
          <a:off x="320842" y="1407160"/>
          <a:ext cx="11550316" cy="313436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Protocol / Standard</a:t>
                      </a:r>
                    </a:p>
                  </a:txBody>
                  <a:tcPr anchor="ctr"/>
                </a:tc>
                <a:tc>
                  <a:txBody>
                    <a:bodyPr/>
                    <a:lstStyle/>
                    <a:p>
                      <a:pPr>
                        <a:buNone/>
                      </a:pPr>
                      <a:r>
                        <a:rPr lang="en-IN"/>
                        <a:t>Purpose</a:t>
                      </a:r>
                    </a:p>
                  </a:txBody>
                  <a:tcPr anchor="ctr"/>
                </a:tc>
                <a:extLst>
                  <a:ext uri="{0D108BD9-81ED-4DB2-BD59-A6C34878D82A}">
                    <a16:rowId xmlns:a16="http://schemas.microsoft.com/office/drawing/2014/main" val="3685672146"/>
                  </a:ext>
                </a:extLst>
              </a:tr>
              <a:tr h="370840">
                <a:tc>
                  <a:txBody>
                    <a:bodyPr/>
                    <a:lstStyle/>
                    <a:p>
                      <a:pPr>
                        <a:buNone/>
                      </a:pPr>
                      <a:r>
                        <a:rPr lang="en-IN"/>
                        <a:t>Ethernet (IEEE 802.3)</a:t>
                      </a:r>
                    </a:p>
                  </a:txBody>
                  <a:tcPr anchor="ctr"/>
                </a:tc>
                <a:tc>
                  <a:txBody>
                    <a:bodyPr/>
                    <a:lstStyle/>
                    <a:p>
                      <a:pPr>
                        <a:buNone/>
                      </a:pPr>
                      <a:r>
                        <a:rPr lang="en-IN"/>
                        <a:t>Wired LAN communication.</a:t>
                      </a:r>
                    </a:p>
                  </a:txBody>
                  <a:tcPr anchor="ctr"/>
                </a:tc>
                <a:extLst>
                  <a:ext uri="{0D108BD9-81ED-4DB2-BD59-A6C34878D82A}">
                    <a16:rowId xmlns:a16="http://schemas.microsoft.com/office/drawing/2014/main" val="1967567592"/>
                  </a:ext>
                </a:extLst>
              </a:tr>
              <a:tr h="370840">
                <a:tc>
                  <a:txBody>
                    <a:bodyPr/>
                    <a:lstStyle/>
                    <a:p>
                      <a:pPr>
                        <a:buNone/>
                      </a:pPr>
                      <a:r>
                        <a:rPr lang="en-IN"/>
                        <a:t>Wi-Fi (IEEE 802.11 MAC)</a:t>
                      </a:r>
                    </a:p>
                  </a:txBody>
                  <a:tcPr anchor="ctr"/>
                </a:tc>
                <a:tc>
                  <a:txBody>
                    <a:bodyPr/>
                    <a:lstStyle/>
                    <a:p>
                      <a:pPr>
                        <a:buNone/>
                      </a:pPr>
                      <a:r>
                        <a:rPr lang="en-IN"/>
                        <a:t>Wireless LAN communication.</a:t>
                      </a:r>
                    </a:p>
                  </a:txBody>
                  <a:tcPr anchor="ctr"/>
                </a:tc>
                <a:extLst>
                  <a:ext uri="{0D108BD9-81ED-4DB2-BD59-A6C34878D82A}">
                    <a16:rowId xmlns:a16="http://schemas.microsoft.com/office/drawing/2014/main" val="1542425792"/>
                  </a:ext>
                </a:extLst>
              </a:tr>
              <a:tr h="370840">
                <a:tc>
                  <a:txBody>
                    <a:bodyPr/>
                    <a:lstStyle/>
                    <a:p>
                      <a:pPr>
                        <a:buNone/>
                      </a:pPr>
                      <a:r>
                        <a:rPr lang="en-IN"/>
                        <a:t>PPP (Point-to-Point Protocol)</a:t>
                      </a:r>
                    </a:p>
                  </a:txBody>
                  <a:tcPr anchor="ctr"/>
                </a:tc>
                <a:tc>
                  <a:txBody>
                    <a:bodyPr/>
                    <a:lstStyle/>
                    <a:p>
                      <a:pPr>
                        <a:buNone/>
                      </a:pPr>
                      <a:r>
                        <a:rPr lang="en-IN" dirty="0"/>
                        <a:t>Direct communication between two devices based on mac address .</a:t>
                      </a:r>
                    </a:p>
                  </a:txBody>
                  <a:tcPr anchor="ctr"/>
                </a:tc>
                <a:extLst>
                  <a:ext uri="{0D108BD9-81ED-4DB2-BD59-A6C34878D82A}">
                    <a16:rowId xmlns:a16="http://schemas.microsoft.com/office/drawing/2014/main" val="947690947"/>
                  </a:ext>
                </a:extLst>
              </a:tr>
              <a:tr h="370840">
                <a:tc>
                  <a:txBody>
                    <a:bodyPr/>
                    <a:lstStyle/>
                    <a:p>
                      <a:pPr>
                        <a:buNone/>
                      </a:pPr>
                      <a:r>
                        <a:rPr lang="en-IN"/>
                        <a:t>HDLC (High-Level Data Link Control)</a:t>
                      </a:r>
                    </a:p>
                  </a:txBody>
                  <a:tcPr anchor="ctr"/>
                </a:tc>
                <a:tc>
                  <a:txBody>
                    <a:bodyPr/>
                    <a:lstStyle/>
                    <a:p>
                      <a:pPr>
                        <a:buNone/>
                      </a:pPr>
                      <a:r>
                        <a:rPr lang="en-IN"/>
                        <a:t>Reliable communication over point-to-point links.</a:t>
                      </a:r>
                    </a:p>
                  </a:txBody>
                  <a:tcPr anchor="ctr"/>
                </a:tc>
                <a:extLst>
                  <a:ext uri="{0D108BD9-81ED-4DB2-BD59-A6C34878D82A}">
                    <a16:rowId xmlns:a16="http://schemas.microsoft.com/office/drawing/2014/main" val="953366262"/>
                  </a:ext>
                </a:extLst>
              </a:tr>
              <a:tr h="370840">
                <a:tc>
                  <a:txBody>
                    <a:bodyPr/>
                    <a:lstStyle/>
                    <a:p>
                      <a:pPr>
                        <a:buNone/>
                      </a:pPr>
                      <a:r>
                        <a:rPr lang="en-IN"/>
                        <a:t>Frame Relay</a:t>
                      </a:r>
                    </a:p>
                  </a:txBody>
                  <a:tcPr anchor="ctr"/>
                </a:tc>
                <a:tc>
                  <a:txBody>
                    <a:bodyPr/>
                    <a:lstStyle/>
                    <a:p>
                      <a:pPr>
                        <a:buNone/>
                      </a:pPr>
                      <a:r>
                        <a:rPr lang="en-IN"/>
                        <a:t>WAN data link technology (legacy).</a:t>
                      </a:r>
                    </a:p>
                  </a:txBody>
                  <a:tcPr anchor="ctr"/>
                </a:tc>
                <a:extLst>
                  <a:ext uri="{0D108BD9-81ED-4DB2-BD59-A6C34878D82A}">
                    <a16:rowId xmlns:a16="http://schemas.microsoft.com/office/drawing/2014/main" val="3976189341"/>
                  </a:ext>
                </a:extLst>
              </a:tr>
              <a:tr h="370840">
                <a:tc>
                  <a:txBody>
                    <a:bodyPr/>
                    <a:lstStyle/>
                    <a:p>
                      <a:pPr>
                        <a:buNone/>
                      </a:pPr>
                      <a:r>
                        <a:rPr lang="en-IN"/>
                        <a:t>ATM (Asynchronous Transfer Mode)</a:t>
                      </a:r>
                    </a:p>
                  </a:txBody>
                  <a:tcPr anchor="ctr"/>
                </a:tc>
                <a:tc>
                  <a:txBody>
                    <a:bodyPr/>
                    <a:lstStyle/>
                    <a:p>
                      <a:pPr>
                        <a:buNone/>
                      </a:pPr>
                      <a:r>
                        <a:rPr lang="en-IN" dirty="0"/>
                        <a:t>High-speed switching technology (legacy).</a:t>
                      </a:r>
                    </a:p>
                  </a:txBody>
                  <a:tcPr anchor="ctr"/>
                </a:tc>
                <a:extLst>
                  <a:ext uri="{0D108BD9-81ED-4DB2-BD59-A6C34878D82A}">
                    <a16:rowId xmlns:a16="http://schemas.microsoft.com/office/drawing/2014/main" val="3315618413"/>
                  </a:ext>
                </a:extLst>
              </a:tr>
            </a:tbl>
          </a:graphicData>
        </a:graphic>
      </p:graphicFrame>
    </p:spTree>
    <p:extLst>
      <p:ext uri="{BB962C8B-B14F-4D97-AF65-F5344CB8AC3E}">
        <p14:creationId xmlns:p14="http://schemas.microsoft.com/office/powerpoint/2010/main" val="760892871"/>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78C655-FE8E-A8D8-DE82-F6664EC9C4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9D282B1-4CCF-22F1-5202-75EDAA5714AD}"/>
              </a:ext>
            </a:extLst>
          </p:cNvPr>
          <p:cNvSpPr>
            <a:spLocks noGrp="1"/>
          </p:cNvSpPr>
          <p:nvPr>
            <p:ph type="title"/>
          </p:nvPr>
        </p:nvSpPr>
        <p:spPr>
          <a:xfrm>
            <a:off x="240631" y="365126"/>
            <a:ext cx="11486147" cy="645528"/>
          </a:xfrm>
        </p:spPr>
        <p:txBody>
          <a:bodyPr>
            <a:normAutofit fontScale="90000"/>
          </a:bodyPr>
          <a:lstStyle/>
          <a:p>
            <a:r>
              <a:rPr lang="en-US" dirty="0"/>
              <a:t>PDU, Header &amp; Trailer</a:t>
            </a:r>
            <a:endParaRPr lang="en-IN" dirty="0"/>
          </a:p>
        </p:txBody>
      </p:sp>
      <p:sp>
        <p:nvSpPr>
          <p:cNvPr id="3" name="Content Placeholder 2">
            <a:extLst>
              <a:ext uri="{FF2B5EF4-FFF2-40B4-BE49-F238E27FC236}">
                <a16:creationId xmlns:a16="http://schemas.microsoft.com/office/drawing/2014/main" id="{FD274323-3186-920B-6DCB-BAA5094E2AE6}"/>
              </a:ext>
            </a:extLst>
          </p:cNvPr>
          <p:cNvSpPr>
            <a:spLocks noGrp="1"/>
          </p:cNvSpPr>
          <p:nvPr>
            <p:ph idx="1"/>
          </p:nvPr>
        </p:nvSpPr>
        <p:spPr>
          <a:xfrm>
            <a:off x="240631" y="1010654"/>
            <a:ext cx="11710738" cy="5662862"/>
          </a:xfrm>
        </p:spPr>
        <p:txBody>
          <a:bodyPr>
            <a:normAutofit/>
          </a:bodyPr>
          <a:lstStyle/>
          <a:p>
            <a:pPr marL="0" indent="0">
              <a:buNone/>
            </a:pPr>
            <a:endParaRPr lang="en-IN" b="1" dirty="0"/>
          </a:p>
          <a:p>
            <a:endParaRPr lang="en-IN" dirty="0"/>
          </a:p>
        </p:txBody>
      </p:sp>
      <p:sp>
        <p:nvSpPr>
          <p:cNvPr id="7" name="Content Placeholder 2">
            <a:extLst>
              <a:ext uri="{FF2B5EF4-FFF2-40B4-BE49-F238E27FC236}">
                <a16:creationId xmlns:a16="http://schemas.microsoft.com/office/drawing/2014/main" id="{D46EC3F5-5B23-A6BA-BF6D-A8D4A5EE8E88}"/>
              </a:ext>
            </a:extLst>
          </p:cNvPr>
          <p:cNvSpPr txBox="1">
            <a:spLocks/>
          </p:cNvSpPr>
          <p:nvPr/>
        </p:nvSpPr>
        <p:spPr>
          <a:xfrm>
            <a:off x="393031" y="1010654"/>
            <a:ext cx="11710738" cy="5815262"/>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IN" dirty="0"/>
              <a:t>The PDU at the Data Link Layer is still: </a:t>
            </a:r>
            <a:r>
              <a:rPr lang="en-IN" b="1" dirty="0"/>
              <a:t>Frame</a:t>
            </a:r>
          </a:p>
          <a:p>
            <a:pPr marL="0" indent="0">
              <a:buFont typeface="Arial" panose="020B0604020202020204" pitchFamily="34" charset="0"/>
              <a:buNone/>
            </a:pPr>
            <a:endParaRPr lang="en-IN" b="1" dirty="0"/>
          </a:p>
          <a:p>
            <a:pPr marL="0" indent="0">
              <a:buFont typeface="Arial" panose="020B0604020202020204" pitchFamily="34" charset="0"/>
              <a:buNone/>
            </a:pPr>
            <a:r>
              <a:rPr lang="en-IN" b="1" dirty="0"/>
              <a:t>Header Format</a:t>
            </a:r>
          </a:p>
          <a:p>
            <a:pPr marL="0" indent="0">
              <a:buNone/>
            </a:pPr>
            <a:r>
              <a:rPr lang="en-IN" dirty="0"/>
              <a:t>The Data Link Layer adds both:</a:t>
            </a:r>
          </a:p>
          <a:p>
            <a:r>
              <a:rPr lang="en-IN" dirty="0"/>
              <a:t>Header </a:t>
            </a:r>
          </a:p>
          <a:p>
            <a:r>
              <a:rPr lang="en-IN" dirty="0"/>
              <a:t>Trailer </a:t>
            </a:r>
          </a:p>
          <a:p>
            <a:pPr marL="0" indent="0">
              <a:buNone/>
            </a:pPr>
            <a:r>
              <a:rPr lang="en-IN" dirty="0"/>
              <a:t>Unlike every other layer.</a:t>
            </a:r>
          </a:p>
          <a:p>
            <a:endParaRPr lang="en-IN" dirty="0"/>
          </a:p>
        </p:txBody>
      </p:sp>
    </p:spTree>
    <p:extLst>
      <p:ext uri="{BB962C8B-B14F-4D97-AF65-F5344CB8AC3E}">
        <p14:creationId xmlns:p14="http://schemas.microsoft.com/office/powerpoint/2010/main" val="190963007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7AF74D-CFAA-AF05-A55B-CD516D3ACB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AA8995-3436-EFF7-4BA8-C8A2ED4B135E}"/>
              </a:ext>
            </a:extLst>
          </p:cNvPr>
          <p:cNvSpPr>
            <a:spLocks noGrp="1"/>
          </p:cNvSpPr>
          <p:nvPr>
            <p:ph type="title"/>
          </p:nvPr>
        </p:nvSpPr>
        <p:spPr>
          <a:xfrm>
            <a:off x="613611" y="433137"/>
            <a:ext cx="10515600" cy="737938"/>
          </a:xfrm>
        </p:spPr>
        <p:txBody>
          <a:bodyPr/>
          <a:lstStyle/>
          <a:p>
            <a:r>
              <a:rPr lang="en-IN" dirty="0"/>
              <a:t>The Data Link Layer: Sub-Layers</a:t>
            </a:r>
          </a:p>
        </p:txBody>
      </p:sp>
      <p:graphicFrame>
        <p:nvGraphicFramePr>
          <p:cNvPr id="4" name="Table 3">
            <a:extLst>
              <a:ext uri="{FF2B5EF4-FFF2-40B4-BE49-F238E27FC236}">
                <a16:creationId xmlns:a16="http://schemas.microsoft.com/office/drawing/2014/main" id="{96689C01-432D-AB4C-1744-CE1B9785B8B7}"/>
              </a:ext>
            </a:extLst>
          </p:cNvPr>
          <p:cNvGraphicFramePr>
            <a:graphicFrameLocks noGrp="1"/>
          </p:cNvGraphicFramePr>
          <p:nvPr>
            <p:extLst>
              <p:ext uri="{D42A27DB-BD31-4B8C-83A1-F6EECF244321}">
                <p14:modId xmlns:p14="http://schemas.microsoft.com/office/powerpoint/2010/main" val="123426507"/>
              </p:ext>
            </p:extLst>
          </p:nvPr>
        </p:nvGraphicFramePr>
        <p:xfrm>
          <a:off x="320842" y="1171075"/>
          <a:ext cx="11550316" cy="4770120"/>
        </p:xfrm>
        <a:graphic>
          <a:graphicData uri="http://schemas.openxmlformats.org/drawingml/2006/table">
            <a:tbl>
              <a:tblPr firstRow="1" bandRow="1">
                <a:tableStyleId>{5C22544A-7EE6-4342-B048-85BDC9FD1C3A}</a:tableStyleId>
              </a:tblPr>
              <a:tblGrid>
                <a:gridCol w="2627325">
                  <a:extLst>
                    <a:ext uri="{9D8B030D-6E8A-4147-A177-3AD203B41FA5}">
                      <a16:colId xmlns:a16="http://schemas.microsoft.com/office/drawing/2014/main" val="4260580132"/>
                    </a:ext>
                  </a:extLst>
                </a:gridCol>
                <a:gridCol w="2627325">
                  <a:extLst>
                    <a:ext uri="{9D8B030D-6E8A-4147-A177-3AD203B41FA5}">
                      <a16:colId xmlns:a16="http://schemas.microsoft.com/office/drawing/2014/main" val="4002579546"/>
                    </a:ext>
                  </a:extLst>
                </a:gridCol>
                <a:gridCol w="6295666">
                  <a:extLst>
                    <a:ext uri="{9D8B030D-6E8A-4147-A177-3AD203B41FA5}">
                      <a16:colId xmlns:a16="http://schemas.microsoft.com/office/drawing/2014/main" val="343688418"/>
                    </a:ext>
                  </a:extLst>
                </a:gridCol>
              </a:tblGrid>
              <a:tr h="370840">
                <a:tc>
                  <a:txBody>
                    <a:bodyPr/>
                    <a:lstStyle/>
                    <a:p>
                      <a:pPr>
                        <a:buNone/>
                      </a:pPr>
                      <a:r>
                        <a:rPr lang="en-IN" dirty="0"/>
                        <a:t>Feature</a:t>
                      </a:r>
                    </a:p>
                  </a:txBody>
                  <a:tcPr anchor="ctr"/>
                </a:tc>
                <a:tc>
                  <a:txBody>
                    <a:bodyPr/>
                    <a:lstStyle/>
                    <a:p>
                      <a:pPr>
                        <a:buNone/>
                      </a:pPr>
                      <a:r>
                        <a:rPr lang="en-IN"/>
                        <a:t>LLC (Logical Link Control)</a:t>
                      </a:r>
                    </a:p>
                  </a:txBody>
                  <a:tcPr anchor="ctr"/>
                </a:tc>
                <a:tc>
                  <a:txBody>
                    <a:bodyPr/>
                    <a:lstStyle/>
                    <a:p>
                      <a:pPr>
                        <a:buNone/>
                      </a:pPr>
                      <a:r>
                        <a:rPr lang="en-IN"/>
                        <a:t>MAC (Media Access Control)</a:t>
                      </a:r>
                    </a:p>
                  </a:txBody>
                  <a:tcPr anchor="ctr"/>
                </a:tc>
                <a:extLst>
                  <a:ext uri="{0D108BD9-81ED-4DB2-BD59-A6C34878D82A}">
                    <a16:rowId xmlns:a16="http://schemas.microsoft.com/office/drawing/2014/main" val="3685672146"/>
                  </a:ext>
                </a:extLst>
              </a:tr>
              <a:tr h="370840">
                <a:tc>
                  <a:txBody>
                    <a:bodyPr/>
                    <a:lstStyle/>
                    <a:p>
                      <a:pPr>
                        <a:buNone/>
                      </a:pPr>
                      <a:r>
                        <a:rPr lang="en-IN" b="1"/>
                        <a:t>Full Form</a:t>
                      </a:r>
                      <a:endParaRPr lang="en-IN"/>
                    </a:p>
                  </a:txBody>
                  <a:tcPr anchor="ctr"/>
                </a:tc>
                <a:tc>
                  <a:txBody>
                    <a:bodyPr/>
                    <a:lstStyle/>
                    <a:p>
                      <a:pPr>
                        <a:buNone/>
                      </a:pPr>
                      <a:r>
                        <a:rPr lang="en-IN"/>
                        <a:t>Logical Link Control</a:t>
                      </a:r>
                    </a:p>
                  </a:txBody>
                  <a:tcPr anchor="ctr"/>
                </a:tc>
                <a:tc>
                  <a:txBody>
                    <a:bodyPr/>
                    <a:lstStyle/>
                    <a:p>
                      <a:pPr>
                        <a:buNone/>
                      </a:pPr>
                      <a:r>
                        <a:rPr lang="en-IN"/>
                        <a:t>Media Access Control</a:t>
                      </a:r>
                    </a:p>
                  </a:txBody>
                  <a:tcPr anchor="ctr"/>
                </a:tc>
                <a:extLst>
                  <a:ext uri="{0D108BD9-81ED-4DB2-BD59-A6C34878D82A}">
                    <a16:rowId xmlns:a16="http://schemas.microsoft.com/office/drawing/2014/main" val="1761147150"/>
                  </a:ext>
                </a:extLst>
              </a:tr>
              <a:tr h="370840">
                <a:tc>
                  <a:txBody>
                    <a:bodyPr/>
                    <a:lstStyle/>
                    <a:p>
                      <a:pPr>
                        <a:buNone/>
                      </a:pPr>
                      <a:r>
                        <a:rPr lang="en-IN" b="1"/>
                        <a:t>Standard</a:t>
                      </a:r>
                      <a:endParaRPr lang="en-IN"/>
                    </a:p>
                  </a:txBody>
                  <a:tcPr anchor="ctr"/>
                </a:tc>
                <a:tc>
                  <a:txBody>
                    <a:bodyPr/>
                    <a:lstStyle/>
                    <a:p>
                      <a:pPr>
                        <a:buNone/>
                      </a:pPr>
                      <a:r>
                        <a:rPr lang="en-IN"/>
                        <a:t>IEEE 802.2</a:t>
                      </a:r>
                    </a:p>
                  </a:txBody>
                  <a:tcPr anchor="ctr"/>
                </a:tc>
                <a:tc>
                  <a:txBody>
                    <a:bodyPr/>
                    <a:lstStyle/>
                    <a:p>
                      <a:pPr>
                        <a:buNone/>
                      </a:pPr>
                      <a:r>
                        <a:rPr lang="en-IN"/>
                        <a:t>IEEE 802.3 (Ethernet), IEEE 802.11 (Wi-Fi)</a:t>
                      </a:r>
                    </a:p>
                  </a:txBody>
                  <a:tcPr anchor="ctr"/>
                </a:tc>
                <a:extLst>
                  <a:ext uri="{0D108BD9-81ED-4DB2-BD59-A6C34878D82A}">
                    <a16:rowId xmlns:a16="http://schemas.microsoft.com/office/drawing/2014/main" val="4148741064"/>
                  </a:ext>
                </a:extLst>
              </a:tr>
              <a:tr h="370840">
                <a:tc>
                  <a:txBody>
                    <a:bodyPr/>
                    <a:lstStyle/>
                    <a:p>
                      <a:pPr>
                        <a:buNone/>
                      </a:pPr>
                      <a:r>
                        <a:rPr lang="en-IN" b="1" dirty="0"/>
                        <a:t>Position</a:t>
                      </a:r>
                      <a:endParaRPr lang="en-IN" dirty="0"/>
                    </a:p>
                  </a:txBody>
                  <a:tcPr anchor="ctr"/>
                </a:tc>
                <a:tc>
                  <a:txBody>
                    <a:bodyPr/>
                    <a:lstStyle/>
                    <a:p>
                      <a:pPr>
                        <a:buNone/>
                      </a:pPr>
                      <a:r>
                        <a:rPr lang="en-IN" dirty="0"/>
                        <a:t>Upper sublayer of the Data Link Layer</a:t>
                      </a:r>
                    </a:p>
                  </a:txBody>
                  <a:tcPr anchor="ctr"/>
                </a:tc>
                <a:tc>
                  <a:txBody>
                    <a:bodyPr/>
                    <a:lstStyle/>
                    <a:p>
                      <a:pPr>
                        <a:buNone/>
                      </a:pPr>
                      <a:r>
                        <a:rPr lang="en-IN"/>
                        <a:t>Lower sublayer of the Data Link Layer</a:t>
                      </a:r>
                    </a:p>
                  </a:txBody>
                  <a:tcPr anchor="ctr"/>
                </a:tc>
                <a:extLst>
                  <a:ext uri="{0D108BD9-81ED-4DB2-BD59-A6C34878D82A}">
                    <a16:rowId xmlns:a16="http://schemas.microsoft.com/office/drawing/2014/main" val="367781679"/>
                  </a:ext>
                </a:extLst>
              </a:tr>
              <a:tr h="370840">
                <a:tc>
                  <a:txBody>
                    <a:bodyPr/>
                    <a:lstStyle/>
                    <a:p>
                      <a:pPr>
                        <a:buNone/>
                      </a:pPr>
                      <a:r>
                        <a:rPr lang="en-IN" b="1" dirty="0"/>
                        <a:t>Main Function</a:t>
                      </a:r>
                      <a:endParaRPr lang="en-IN" dirty="0"/>
                    </a:p>
                  </a:txBody>
                  <a:tcPr anchor="ctr"/>
                </a:tc>
                <a:tc>
                  <a:txBody>
                    <a:bodyPr/>
                    <a:lstStyle/>
                    <a:p>
                      <a:pPr>
                        <a:buNone/>
                      </a:pPr>
                      <a:r>
                        <a:rPr lang="en-IN" dirty="0"/>
                        <a:t>Provides communication between the Network Layer and the MAC sublayer.</a:t>
                      </a:r>
                    </a:p>
                  </a:txBody>
                  <a:tcPr anchor="ctr"/>
                </a:tc>
                <a:tc>
                  <a:txBody>
                    <a:bodyPr/>
                    <a:lstStyle/>
                    <a:p>
                      <a:pPr>
                        <a:buNone/>
                      </a:pPr>
                      <a:r>
                        <a:rPr lang="en-IN"/>
                        <a:t>Controls access to the physical transmission medium and handles frame transmission.</a:t>
                      </a:r>
                    </a:p>
                  </a:txBody>
                  <a:tcPr anchor="ctr"/>
                </a:tc>
                <a:extLst>
                  <a:ext uri="{0D108BD9-81ED-4DB2-BD59-A6C34878D82A}">
                    <a16:rowId xmlns:a16="http://schemas.microsoft.com/office/drawing/2014/main" val="1595741861"/>
                  </a:ext>
                </a:extLst>
              </a:tr>
              <a:tr h="370840">
                <a:tc>
                  <a:txBody>
                    <a:bodyPr/>
                    <a:lstStyle/>
                    <a:p>
                      <a:pPr>
                        <a:buNone/>
                      </a:pPr>
                      <a:r>
                        <a:rPr lang="en-IN" b="1"/>
                        <a:t>Primary Responsibility</a:t>
                      </a:r>
                      <a:endParaRPr lang="en-IN"/>
                    </a:p>
                  </a:txBody>
                  <a:tcPr anchor="ctr"/>
                </a:tc>
                <a:tc>
                  <a:txBody>
                    <a:bodyPr/>
                    <a:lstStyle/>
                    <a:p>
                      <a:pPr>
                        <a:buNone/>
                      </a:pPr>
                      <a:r>
                        <a:rPr lang="en-IN" dirty="0"/>
                        <a:t>Identifies the Network Layer protocol and provides logical communication.</a:t>
                      </a:r>
                    </a:p>
                  </a:txBody>
                  <a:tcPr anchor="ctr"/>
                </a:tc>
                <a:tc>
                  <a:txBody>
                    <a:bodyPr/>
                    <a:lstStyle/>
                    <a:p>
                      <a:pPr>
                        <a:buNone/>
                      </a:pPr>
                      <a:r>
                        <a:rPr lang="en-IN" dirty="0"/>
                        <a:t>Uses MAC addresses and controls how devices transmit data on the network.</a:t>
                      </a:r>
                    </a:p>
                  </a:txBody>
                  <a:tcPr anchor="ctr"/>
                </a:tc>
                <a:extLst>
                  <a:ext uri="{0D108BD9-81ED-4DB2-BD59-A6C34878D82A}">
                    <a16:rowId xmlns:a16="http://schemas.microsoft.com/office/drawing/2014/main" val="115085153"/>
                  </a:ext>
                </a:extLst>
              </a:tr>
              <a:tr h="370840">
                <a:tc>
                  <a:txBody>
                    <a:bodyPr/>
                    <a:lstStyle/>
                    <a:p>
                      <a:pPr>
                        <a:buNone/>
                      </a:pPr>
                      <a:r>
                        <a:rPr lang="en-IN" b="1" dirty="0"/>
                        <a:t>Address Used</a:t>
                      </a:r>
                      <a:endParaRPr lang="en-IN" dirty="0"/>
                    </a:p>
                  </a:txBody>
                  <a:tcPr anchor="ctr"/>
                </a:tc>
                <a:tc>
                  <a:txBody>
                    <a:bodyPr/>
                    <a:lstStyle/>
                    <a:p>
                      <a:pPr>
                        <a:buNone/>
                      </a:pPr>
                      <a:r>
                        <a:rPr lang="en-IN"/>
                        <a:t>Does not use MAC addresses.</a:t>
                      </a:r>
                    </a:p>
                  </a:txBody>
                  <a:tcPr anchor="ctr"/>
                </a:tc>
                <a:tc>
                  <a:txBody>
                    <a:bodyPr/>
                    <a:lstStyle/>
                    <a:p>
                      <a:pPr>
                        <a:buNone/>
                      </a:pPr>
                      <a:r>
                        <a:rPr lang="en-IN" dirty="0"/>
                        <a:t>Uses Source MAC Address and Destination MAC Address.</a:t>
                      </a:r>
                    </a:p>
                  </a:txBody>
                  <a:tcPr anchor="ctr"/>
                </a:tc>
                <a:extLst>
                  <a:ext uri="{0D108BD9-81ED-4DB2-BD59-A6C34878D82A}">
                    <a16:rowId xmlns:a16="http://schemas.microsoft.com/office/drawing/2014/main" val="344023705"/>
                  </a:ext>
                </a:extLst>
              </a:tr>
            </a:tbl>
          </a:graphicData>
        </a:graphic>
      </p:graphicFrame>
    </p:spTree>
    <p:extLst>
      <p:ext uri="{BB962C8B-B14F-4D97-AF65-F5344CB8AC3E}">
        <p14:creationId xmlns:p14="http://schemas.microsoft.com/office/powerpoint/2010/main" val="4266551408"/>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9B88E0-B1B3-88A1-A7A4-7E1D013625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E6B1778-0A2F-A4AE-2207-73E8FE1B7EF0}"/>
              </a:ext>
            </a:extLst>
          </p:cNvPr>
          <p:cNvSpPr>
            <a:spLocks noGrp="1"/>
          </p:cNvSpPr>
          <p:nvPr>
            <p:ph type="title"/>
          </p:nvPr>
        </p:nvSpPr>
        <p:spPr>
          <a:xfrm>
            <a:off x="613611" y="433137"/>
            <a:ext cx="10515600" cy="737938"/>
          </a:xfrm>
        </p:spPr>
        <p:txBody>
          <a:bodyPr/>
          <a:lstStyle/>
          <a:p>
            <a:r>
              <a:rPr lang="en-IN" dirty="0"/>
              <a:t>The Data Link Layer: Sub-Layers</a:t>
            </a:r>
          </a:p>
        </p:txBody>
      </p:sp>
      <p:graphicFrame>
        <p:nvGraphicFramePr>
          <p:cNvPr id="4" name="Table 3">
            <a:extLst>
              <a:ext uri="{FF2B5EF4-FFF2-40B4-BE49-F238E27FC236}">
                <a16:creationId xmlns:a16="http://schemas.microsoft.com/office/drawing/2014/main" id="{B0C3EED1-3C28-94B3-8F98-BF743462471F}"/>
              </a:ext>
            </a:extLst>
          </p:cNvPr>
          <p:cNvGraphicFramePr>
            <a:graphicFrameLocks noGrp="1"/>
          </p:cNvGraphicFramePr>
          <p:nvPr>
            <p:extLst>
              <p:ext uri="{D42A27DB-BD31-4B8C-83A1-F6EECF244321}">
                <p14:modId xmlns:p14="http://schemas.microsoft.com/office/powerpoint/2010/main" val="3463972863"/>
              </p:ext>
            </p:extLst>
          </p:nvPr>
        </p:nvGraphicFramePr>
        <p:xfrm>
          <a:off x="320842" y="1171075"/>
          <a:ext cx="11550316" cy="4495800"/>
        </p:xfrm>
        <a:graphic>
          <a:graphicData uri="http://schemas.openxmlformats.org/drawingml/2006/table">
            <a:tbl>
              <a:tblPr firstRow="1" bandRow="1">
                <a:tableStyleId>{5C22544A-7EE6-4342-B048-85BDC9FD1C3A}</a:tableStyleId>
              </a:tblPr>
              <a:tblGrid>
                <a:gridCol w="2627325">
                  <a:extLst>
                    <a:ext uri="{9D8B030D-6E8A-4147-A177-3AD203B41FA5}">
                      <a16:colId xmlns:a16="http://schemas.microsoft.com/office/drawing/2014/main" val="4260580132"/>
                    </a:ext>
                  </a:extLst>
                </a:gridCol>
                <a:gridCol w="2627325">
                  <a:extLst>
                    <a:ext uri="{9D8B030D-6E8A-4147-A177-3AD203B41FA5}">
                      <a16:colId xmlns:a16="http://schemas.microsoft.com/office/drawing/2014/main" val="4002579546"/>
                    </a:ext>
                  </a:extLst>
                </a:gridCol>
                <a:gridCol w="6295666">
                  <a:extLst>
                    <a:ext uri="{9D8B030D-6E8A-4147-A177-3AD203B41FA5}">
                      <a16:colId xmlns:a16="http://schemas.microsoft.com/office/drawing/2014/main" val="343688418"/>
                    </a:ext>
                  </a:extLst>
                </a:gridCol>
              </a:tblGrid>
              <a:tr h="370840">
                <a:tc>
                  <a:txBody>
                    <a:bodyPr/>
                    <a:lstStyle/>
                    <a:p>
                      <a:pPr>
                        <a:buNone/>
                      </a:pPr>
                      <a:r>
                        <a:rPr lang="en-IN" dirty="0"/>
                        <a:t>Feature</a:t>
                      </a:r>
                    </a:p>
                  </a:txBody>
                  <a:tcPr anchor="ctr"/>
                </a:tc>
                <a:tc>
                  <a:txBody>
                    <a:bodyPr/>
                    <a:lstStyle/>
                    <a:p>
                      <a:pPr>
                        <a:buNone/>
                      </a:pPr>
                      <a:r>
                        <a:rPr lang="en-IN"/>
                        <a:t>LLC (Logical Link Control)</a:t>
                      </a:r>
                    </a:p>
                  </a:txBody>
                  <a:tcPr anchor="ctr"/>
                </a:tc>
                <a:tc>
                  <a:txBody>
                    <a:bodyPr/>
                    <a:lstStyle/>
                    <a:p>
                      <a:pPr>
                        <a:buNone/>
                      </a:pPr>
                      <a:r>
                        <a:rPr lang="en-IN"/>
                        <a:t>MAC (Media Access Control)</a:t>
                      </a:r>
                    </a:p>
                  </a:txBody>
                  <a:tcPr anchor="ctr"/>
                </a:tc>
                <a:extLst>
                  <a:ext uri="{0D108BD9-81ED-4DB2-BD59-A6C34878D82A}">
                    <a16:rowId xmlns:a16="http://schemas.microsoft.com/office/drawing/2014/main" val="3685672146"/>
                  </a:ext>
                </a:extLst>
              </a:tr>
              <a:tr h="370840">
                <a:tc>
                  <a:txBody>
                    <a:bodyPr/>
                    <a:lstStyle/>
                    <a:p>
                      <a:pPr>
                        <a:buNone/>
                      </a:pPr>
                      <a:r>
                        <a:rPr lang="en-IN" b="1" dirty="0"/>
                        <a:t>Frame Handling</a:t>
                      </a:r>
                      <a:endParaRPr lang="en-IN" dirty="0"/>
                    </a:p>
                  </a:txBody>
                  <a:tcPr anchor="ctr"/>
                </a:tc>
                <a:tc>
                  <a:txBody>
                    <a:bodyPr/>
                    <a:lstStyle/>
                    <a:p>
                      <a:pPr>
                        <a:buNone/>
                      </a:pPr>
                      <a:r>
                        <a:rPr lang="en-IN" dirty="0"/>
                        <a:t>Passes data to the MAC sublayer.</a:t>
                      </a:r>
                    </a:p>
                  </a:txBody>
                  <a:tcPr anchor="ctr"/>
                </a:tc>
                <a:tc>
                  <a:txBody>
                    <a:bodyPr/>
                    <a:lstStyle/>
                    <a:p>
                      <a:pPr>
                        <a:buNone/>
                      </a:pPr>
                      <a:r>
                        <a:rPr lang="en-IN" dirty="0"/>
                        <a:t>Creates and processes Ethernet/Wi-Fi frames.</a:t>
                      </a:r>
                    </a:p>
                  </a:txBody>
                  <a:tcPr anchor="ctr"/>
                </a:tc>
                <a:extLst>
                  <a:ext uri="{0D108BD9-81ED-4DB2-BD59-A6C34878D82A}">
                    <a16:rowId xmlns:a16="http://schemas.microsoft.com/office/drawing/2014/main" val="1761147150"/>
                  </a:ext>
                </a:extLst>
              </a:tr>
              <a:tr h="370840">
                <a:tc>
                  <a:txBody>
                    <a:bodyPr/>
                    <a:lstStyle/>
                    <a:p>
                      <a:pPr>
                        <a:buNone/>
                      </a:pPr>
                      <a:r>
                        <a:rPr lang="en-IN" b="1"/>
                        <a:t>Media Access</a:t>
                      </a:r>
                      <a:endParaRPr lang="en-IN"/>
                    </a:p>
                  </a:txBody>
                  <a:tcPr anchor="ctr"/>
                </a:tc>
                <a:tc>
                  <a:txBody>
                    <a:bodyPr/>
                    <a:lstStyle/>
                    <a:p>
                      <a:pPr>
                        <a:buNone/>
                      </a:pPr>
                      <a:r>
                        <a:rPr lang="en-IN"/>
                        <a:t>Does not control access to the network medium.</a:t>
                      </a:r>
                    </a:p>
                  </a:txBody>
                  <a:tcPr anchor="ctr"/>
                </a:tc>
                <a:tc>
                  <a:txBody>
                    <a:bodyPr/>
                    <a:lstStyle/>
                    <a:p>
                      <a:pPr>
                        <a:buNone/>
                      </a:pPr>
                      <a:r>
                        <a:rPr lang="en-IN" dirty="0"/>
                        <a:t>Decides when a device can transmit data to avoid collisions.</a:t>
                      </a:r>
                    </a:p>
                  </a:txBody>
                  <a:tcPr anchor="ctr"/>
                </a:tc>
                <a:extLst>
                  <a:ext uri="{0D108BD9-81ED-4DB2-BD59-A6C34878D82A}">
                    <a16:rowId xmlns:a16="http://schemas.microsoft.com/office/drawing/2014/main" val="4148741064"/>
                  </a:ext>
                </a:extLst>
              </a:tr>
              <a:tr h="370840">
                <a:tc>
                  <a:txBody>
                    <a:bodyPr/>
                    <a:lstStyle/>
                    <a:p>
                      <a:pPr>
                        <a:buNone/>
                      </a:pPr>
                      <a:r>
                        <a:rPr lang="en-IN" b="1"/>
                        <a:t>Communication Type</a:t>
                      </a:r>
                      <a:endParaRPr lang="en-IN"/>
                    </a:p>
                  </a:txBody>
                  <a:tcPr anchor="ctr"/>
                </a:tc>
                <a:tc>
                  <a:txBody>
                    <a:bodyPr/>
                    <a:lstStyle/>
                    <a:p>
                      <a:pPr>
                        <a:buNone/>
                      </a:pPr>
                      <a:r>
                        <a:rPr lang="en-IN"/>
                        <a:t>Logical communication between Network Layer and MAC Layer.</a:t>
                      </a:r>
                    </a:p>
                  </a:txBody>
                  <a:tcPr anchor="ctr"/>
                </a:tc>
                <a:tc>
                  <a:txBody>
                    <a:bodyPr/>
                    <a:lstStyle/>
                    <a:p>
                      <a:pPr>
                        <a:buNone/>
                      </a:pPr>
                      <a:r>
                        <a:rPr lang="en-IN" dirty="0"/>
                        <a:t>Physical communication over the network medium.</a:t>
                      </a:r>
                    </a:p>
                  </a:txBody>
                  <a:tcPr anchor="ctr"/>
                </a:tc>
                <a:extLst>
                  <a:ext uri="{0D108BD9-81ED-4DB2-BD59-A6C34878D82A}">
                    <a16:rowId xmlns:a16="http://schemas.microsoft.com/office/drawing/2014/main" val="367781679"/>
                  </a:ext>
                </a:extLst>
              </a:tr>
              <a:tr h="370840">
                <a:tc>
                  <a:txBody>
                    <a:bodyPr/>
                    <a:lstStyle/>
                    <a:p>
                      <a:pPr>
                        <a:buNone/>
                      </a:pPr>
                      <a:r>
                        <a:rPr lang="en-IN" b="1"/>
                        <a:t>Protocols/Standards</a:t>
                      </a:r>
                      <a:endParaRPr lang="en-IN"/>
                    </a:p>
                  </a:txBody>
                  <a:tcPr anchor="ctr"/>
                </a:tc>
                <a:tc>
                  <a:txBody>
                    <a:bodyPr/>
                    <a:lstStyle/>
                    <a:p>
                      <a:pPr>
                        <a:buNone/>
                      </a:pPr>
                      <a:r>
                        <a:rPr lang="en-IN"/>
                        <a:t>IEEE 802.2</a:t>
                      </a:r>
                    </a:p>
                  </a:txBody>
                  <a:tcPr anchor="ctr"/>
                </a:tc>
                <a:tc>
                  <a:txBody>
                    <a:bodyPr/>
                    <a:lstStyle/>
                    <a:p>
                      <a:pPr>
                        <a:buNone/>
                      </a:pPr>
                      <a:r>
                        <a:rPr lang="en-IN" dirty="0"/>
                        <a:t>Ethernet (IEEE 802.3), Wi-Fi (IEEE 802.11)</a:t>
                      </a:r>
                    </a:p>
                  </a:txBody>
                  <a:tcPr anchor="ctr"/>
                </a:tc>
                <a:extLst>
                  <a:ext uri="{0D108BD9-81ED-4DB2-BD59-A6C34878D82A}">
                    <a16:rowId xmlns:a16="http://schemas.microsoft.com/office/drawing/2014/main" val="1595741861"/>
                  </a:ext>
                </a:extLst>
              </a:tr>
              <a:tr h="370840">
                <a:tc>
                  <a:txBody>
                    <a:bodyPr/>
                    <a:lstStyle/>
                    <a:p>
                      <a:pPr>
                        <a:buNone/>
                      </a:pPr>
                      <a:r>
                        <a:rPr lang="en-IN" b="1"/>
                        <a:t>Error Handling</a:t>
                      </a:r>
                      <a:endParaRPr lang="en-IN"/>
                    </a:p>
                  </a:txBody>
                  <a:tcPr anchor="ctr"/>
                </a:tc>
                <a:tc>
                  <a:txBody>
                    <a:bodyPr/>
                    <a:lstStyle/>
                    <a:p>
                      <a:pPr>
                        <a:buNone/>
                      </a:pPr>
                      <a:r>
                        <a:rPr lang="en-IN"/>
                        <a:t>May provide logical flow and error management depending on implementation.</a:t>
                      </a:r>
                    </a:p>
                  </a:txBody>
                  <a:tcPr anchor="ctr"/>
                </a:tc>
                <a:tc>
                  <a:txBody>
                    <a:bodyPr/>
                    <a:lstStyle/>
                    <a:p>
                      <a:pPr>
                        <a:buNone/>
                      </a:pPr>
                      <a:r>
                        <a:rPr lang="en-IN" dirty="0"/>
                        <a:t>Detects frame errors using FCS (CRC).</a:t>
                      </a:r>
                    </a:p>
                  </a:txBody>
                  <a:tcPr anchor="ctr"/>
                </a:tc>
                <a:extLst>
                  <a:ext uri="{0D108BD9-81ED-4DB2-BD59-A6C34878D82A}">
                    <a16:rowId xmlns:a16="http://schemas.microsoft.com/office/drawing/2014/main" val="115085153"/>
                  </a:ext>
                </a:extLst>
              </a:tr>
              <a:tr h="370840">
                <a:tc>
                  <a:txBody>
                    <a:bodyPr/>
                    <a:lstStyle/>
                    <a:p>
                      <a:pPr>
                        <a:buNone/>
                      </a:pPr>
                      <a:r>
                        <a:rPr lang="en-IN" b="1"/>
                        <a:t>Works With</a:t>
                      </a:r>
                      <a:endParaRPr lang="en-IN"/>
                    </a:p>
                  </a:txBody>
                  <a:tcPr anchor="ctr"/>
                </a:tc>
                <a:tc>
                  <a:txBody>
                    <a:bodyPr/>
                    <a:lstStyle/>
                    <a:p>
                      <a:pPr>
                        <a:buNone/>
                      </a:pPr>
                      <a:r>
                        <a:rPr lang="en-IN"/>
                        <a:t>Network Layer</a:t>
                      </a:r>
                    </a:p>
                  </a:txBody>
                  <a:tcPr anchor="ctr"/>
                </a:tc>
                <a:tc>
                  <a:txBody>
                    <a:bodyPr/>
                    <a:lstStyle/>
                    <a:p>
                      <a:pPr>
                        <a:buNone/>
                      </a:pPr>
                      <a:r>
                        <a:rPr lang="en-IN" dirty="0"/>
                        <a:t>Physical Layer</a:t>
                      </a:r>
                    </a:p>
                  </a:txBody>
                  <a:tcPr anchor="ctr"/>
                </a:tc>
                <a:extLst>
                  <a:ext uri="{0D108BD9-81ED-4DB2-BD59-A6C34878D82A}">
                    <a16:rowId xmlns:a16="http://schemas.microsoft.com/office/drawing/2014/main" val="344023705"/>
                  </a:ext>
                </a:extLst>
              </a:tr>
            </a:tbl>
          </a:graphicData>
        </a:graphic>
      </p:graphicFrame>
    </p:spTree>
    <p:extLst>
      <p:ext uri="{BB962C8B-B14F-4D97-AF65-F5344CB8AC3E}">
        <p14:creationId xmlns:p14="http://schemas.microsoft.com/office/powerpoint/2010/main" val="277736407"/>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B877FA-AAC9-6DB2-506A-8AC65547FE7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A9E9DF8-4FF1-E3E0-AD09-ED3AEEE43607}"/>
              </a:ext>
            </a:extLst>
          </p:cNvPr>
          <p:cNvSpPr>
            <a:spLocks noGrp="1"/>
          </p:cNvSpPr>
          <p:nvPr>
            <p:ph type="title"/>
          </p:nvPr>
        </p:nvSpPr>
        <p:spPr>
          <a:xfrm>
            <a:off x="240631" y="365126"/>
            <a:ext cx="11486147" cy="645528"/>
          </a:xfrm>
        </p:spPr>
        <p:txBody>
          <a:bodyPr>
            <a:normAutofit fontScale="90000"/>
          </a:bodyPr>
          <a:lstStyle/>
          <a:p>
            <a:r>
              <a:rPr lang="en-IN" dirty="0"/>
              <a:t>Physical Layer</a:t>
            </a:r>
          </a:p>
        </p:txBody>
      </p:sp>
      <p:sp>
        <p:nvSpPr>
          <p:cNvPr id="3" name="Content Placeholder 2">
            <a:extLst>
              <a:ext uri="{FF2B5EF4-FFF2-40B4-BE49-F238E27FC236}">
                <a16:creationId xmlns:a16="http://schemas.microsoft.com/office/drawing/2014/main" id="{DE1E0F37-DAAD-2A60-C96E-358BF03BC8C4}"/>
              </a:ext>
            </a:extLst>
          </p:cNvPr>
          <p:cNvSpPr>
            <a:spLocks noGrp="1"/>
          </p:cNvSpPr>
          <p:nvPr>
            <p:ph idx="1"/>
          </p:nvPr>
        </p:nvSpPr>
        <p:spPr>
          <a:xfrm>
            <a:off x="240631" y="1010654"/>
            <a:ext cx="11710738" cy="5662862"/>
          </a:xfrm>
        </p:spPr>
        <p:txBody>
          <a:bodyPr>
            <a:normAutofit/>
          </a:bodyPr>
          <a:lstStyle/>
          <a:p>
            <a:r>
              <a:rPr lang="en-IN" dirty="0"/>
              <a:t>The </a:t>
            </a:r>
            <a:r>
              <a:rPr lang="en-IN" b="1" dirty="0"/>
              <a:t>Physical Layer</a:t>
            </a:r>
            <a:r>
              <a:rPr lang="en-IN" dirty="0"/>
              <a:t> is the </a:t>
            </a:r>
            <a:r>
              <a:rPr lang="en-IN" b="1" dirty="0"/>
              <a:t>first layer</a:t>
            </a:r>
            <a:r>
              <a:rPr lang="en-IN" dirty="0"/>
              <a:t> of the OSI Model.</a:t>
            </a:r>
          </a:p>
          <a:p>
            <a:r>
              <a:rPr lang="en-IN" dirty="0"/>
              <a:t>It is responsible for transmitting the actual data over the communication medium in the form of </a:t>
            </a:r>
            <a:r>
              <a:rPr lang="en-IN" b="1" dirty="0"/>
              <a:t>electrical signals, optical signals, or radio waves</a:t>
            </a:r>
            <a:r>
              <a:rPr lang="en-IN" dirty="0"/>
              <a:t>.</a:t>
            </a:r>
          </a:p>
          <a:p>
            <a:r>
              <a:rPr lang="en-IN" dirty="0"/>
              <a:t>It defines:</a:t>
            </a:r>
          </a:p>
          <a:p>
            <a:r>
              <a:rPr lang="en-IN" dirty="0"/>
              <a:t>What type of cable will be used? </a:t>
            </a:r>
          </a:p>
          <a:p>
            <a:r>
              <a:rPr lang="en-IN" dirty="0"/>
              <a:t>What connector will be used? </a:t>
            </a:r>
          </a:p>
          <a:p>
            <a:r>
              <a:rPr lang="en-IN" dirty="0"/>
              <a:t>What voltage represents binary 1 and binary 0? </a:t>
            </a:r>
          </a:p>
          <a:p>
            <a:r>
              <a:rPr lang="en-IN" dirty="0"/>
              <a:t>What is the transmission speed? </a:t>
            </a:r>
          </a:p>
          <a:p>
            <a:r>
              <a:rPr lang="en-IN" dirty="0"/>
              <a:t>How are devices physically connected?</a:t>
            </a:r>
          </a:p>
          <a:p>
            <a:pPr marL="0" indent="0">
              <a:buNone/>
            </a:pPr>
            <a:r>
              <a:rPr lang="en-IN" dirty="0">
                <a:highlight>
                  <a:srgbClr val="FFFF00"/>
                </a:highlight>
              </a:rPr>
              <a:t>The Physical Layer is responsible for transmitting raw bits (0s and 1s) over the physical communication medium using electrical, optical, or wireless signals.</a:t>
            </a:r>
            <a:endParaRPr lang="en-IN" dirty="0"/>
          </a:p>
        </p:txBody>
      </p:sp>
    </p:spTree>
    <p:extLst>
      <p:ext uri="{BB962C8B-B14F-4D97-AF65-F5344CB8AC3E}">
        <p14:creationId xmlns:p14="http://schemas.microsoft.com/office/powerpoint/2010/main" val="30883150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4E6A2E-17A2-9A15-7D7A-17194076740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373FF2-E6E1-7013-7FC4-179286415E5C}"/>
              </a:ext>
            </a:extLst>
          </p:cNvPr>
          <p:cNvSpPr>
            <a:spLocks noGrp="1"/>
          </p:cNvSpPr>
          <p:nvPr>
            <p:ph type="title"/>
          </p:nvPr>
        </p:nvSpPr>
        <p:spPr>
          <a:xfrm>
            <a:off x="240631" y="365126"/>
            <a:ext cx="11486147" cy="645528"/>
          </a:xfrm>
        </p:spPr>
        <p:txBody>
          <a:bodyPr>
            <a:normAutofit fontScale="90000"/>
          </a:bodyPr>
          <a:lstStyle/>
          <a:p>
            <a:r>
              <a:rPr lang="en-IN" dirty="0"/>
              <a:t>Physical Layer: Why do we need it?</a:t>
            </a:r>
          </a:p>
        </p:txBody>
      </p:sp>
      <p:sp>
        <p:nvSpPr>
          <p:cNvPr id="3" name="Content Placeholder 2">
            <a:extLst>
              <a:ext uri="{FF2B5EF4-FFF2-40B4-BE49-F238E27FC236}">
                <a16:creationId xmlns:a16="http://schemas.microsoft.com/office/drawing/2014/main" id="{99D743E6-3B2A-4B8F-B3C8-8D46D3092587}"/>
              </a:ext>
            </a:extLst>
          </p:cNvPr>
          <p:cNvSpPr>
            <a:spLocks noGrp="1"/>
          </p:cNvSpPr>
          <p:nvPr>
            <p:ph idx="1"/>
          </p:nvPr>
        </p:nvSpPr>
        <p:spPr>
          <a:xfrm>
            <a:off x="240631" y="1010654"/>
            <a:ext cx="11710738" cy="5662862"/>
          </a:xfrm>
        </p:spPr>
        <p:txBody>
          <a:bodyPr>
            <a:normAutofit lnSpcReduction="10000"/>
          </a:bodyPr>
          <a:lstStyle/>
          <a:p>
            <a:r>
              <a:rPr lang="en-IN" dirty="0"/>
              <a:t>Imagine you type the following message in WhatsApp: “Hi Deven”.</a:t>
            </a:r>
          </a:p>
          <a:p>
            <a:r>
              <a:rPr lang="en-IN" dirty="0"/>
              <a:t>The Application Layer understands it as text.</a:t>
            </a:r>
          </a:p>
          <a:p>
            <a:r>
              <a:rPr lang="en-IN" dirty="0"/>
              <a:t>The Transport Layer converts it into segments.</a:t>
            </a:r>
          </a:p>
          <a:p>
            <a:r>
              <a:rPr lang="en-IN" dirty="0"/>
              <a:t>The Network Layer creates packets.</a:t>
            </a:r>
          </a:p>
          <a:p>
            <a:r>
              <a:rPr lang="en-IN" dirty="0"/>
              <a:t>The Data Link Layer creates frames.</a:t>
            </a:r>
          </a:p>
          <a:p>
            <a:r>
              <a:rPr lang="en-IN" dirty="0"/>
              <a:t>But can a cable understand: Frames?, the answer is NO. </a:t>
            </a:r>
          </a:p>
          <a:p>
            <a:r>
              <a:rPr lang="en-IN" dirty="0"/>
              <a:t>A cable only carries 0 or 1 therefore, The Physical Layer converts the frame into </a:t>
            </a:r>
            <a:r>
              <a:rPr lang="en-IN" b="1" dirty="0"/>
              <a:t>electrical signals, optical pulses, or radio waves</a:t>
            </a:r>
            <a:r>
              <a:rPr lang="en-IN" dirty="0"/>
              <a:t> for transmission.</a:t>
            </a:r>
          </a:p>
          <a:p>
            <a:pPr marL="0" indent="0">
              <a:buNone/>
            </a:pPr>
            <a:r>
              <a:rPr lang="en-IN" dirty="0">
                <a:highlight>
                  <a:srgbClr val="FFFF00"/>
                </a:highlight>
              </a:rPr>
              <a:t>Without the Physical Layer:</a:t>
            </a:r>
          </a:p>
          <a:p>
            <a:r>
              <a:rPr lang="en-IN" dirty="0"/>
              <a:t>No data could travel through cables. </a:t>
            </a:r>
          </a:p>
          <a:p>
            <a:r>
              <a:rPr lang="en-IN" dirty="0"/>
              <a:t>No Wi-Fi communication would occur. </a:t>
            </a:r>
          </a:p>
          <a:p>
            <a:r>
              <a:rPr lang="en-IN" dirty="0"/>
              <a:t>No </a:t>
            </a:r>
            <a:r>
              <a:rPr lang="en-IN" dirty="0" err="1"/>
              <a:t>fiber</a:t>
            </a:r>
            <a:r>
              <a:rPr lang="en-IN" dirty="0"/>
              <a:t> optic communication would be possible.</a:t>
            </a:r>
          </a:p>
          <a:p>
            <a:endParaRPr lang="en-IN" dirty="0"/>
          </a:p>
          <a:p>
            <a:endParaRPr lang="en-IN" dirty="0"/>
          </a:p>
        </p:txBody>
      </p:sp>
    </p:spTree>
    <p:extLst>
      <p:ext uri="{BB962C8B-B14F-4D97-AF65-F5344CB8AC3E}">
        <p14:creationId xmlns:p14="http://schemas.microsoft.com/office/powerpoint/2010/main" val="292686675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616CAFD-6341-7217-0342-4D2886231E9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D0148A-7403-1FEA-4C6B-0526063B871C}"/>
              </a:ext>
            </a:extLst>
          </p:cNvPr>
          <p:cNvSpPr>
            <a:spLocks noGrp="1"/>
          </p:cNvSpPr>
          <p:nvPr>
            <p:ph type="title"/>
          </p:nvPr>
        </p:nvSpPr>
        <p:spPr>
          <a:xfrm>
            <a:off x="613611" y="433137"/>
            <a:ext cx="10515600" cy="737938"/>
          </a:xfrm>
        </p:spPr>
        <p:txBody>
          <a:bodyPr/>
          <a:lstStyle/>
          <a:p>
            <a:r>
              <a:rPr lang="en-IN" dirty="0"/>
              <a:t>The Physical Layer: Functionalities</a:t>
            </a:r>
          </a:p>
        </p:txBody>
      </p:sp>
      <p:graphicFrame>
        <p:nvGraphicFramePr>
          <p:cNvPr id="4" name="Table 3">
            <a:extLst>
              <a:ext uri="{FF2B5EF4-FFF2-40B4-BE49-F238E27FC236}">
                <a16:creationId xmlns:a16="http://schemas.microsoft.com/office/drawing/2014/main" id="{1D2C825A-A3E2-23B5-E2A5-E5A82C936EE3}"/>
              </a:ext>
            </a:extLst>
          </p:cNvPr>
          <p:cNvGraphicFramePr>
            <a:graphicFrameLocks noGrp="1"/>
          </p:cNvGraphicFramePr>
          <p:nvPr>
            <p:extLst>
              <p:ext uri="{D42A27DB-BD31-4B8C-83A1-F6EECF244321}">
                <p14:modId xmlns:p14="http://schemas.microsoft.com/office/powerpoint/2010/main" val="1294242569"/>
              </p:ext>
            </p:extLst>
          </p:nvPr>
        </p:nvGraphicFramePr>
        <p:xfrm>
          <a:off x="320842" y="1407160"/>
          <a:ext cx="11550316" cy="360680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Functionality</a:t>
                      </a:r>
                    </a:p>
                  </a:txBody>
                  <a:tcPr anchor="ctr"/>
                </a:tc>
                <a:tc>
                  <a:txBody>
                    <a:bodyPr/>
                    <a:lstStyle/>
                    <a:p>
                      <a:pPr>
                        <a:buNone/>
                      </a:pPr>
                      <a:r>
                        <a:rPr lang="en-IN"/>
                        <a:t>Description</a:t>
                      </a:r>
                    </a:p>
                  </a:txBody>
                  <a:tcPr anchor="ctr"/>
                </a:tc>
                <a:extLst>
                  <a:ext uri="{0D108BD9-81ED-4DB2-BD59-A6C34878D82A}">
                    <a16:rowId xmlns:a16="http://schemas.microsoft.com/office/drawing/2014/main" val="3685672146"/>
                  </a:ext>
                </a:extLst>
              </a:tr>
              <a:tr h="370840">
                <a:tc>
                  <a:txBody>
                    <a:bodyPr/>
                    <a:lstStyle/>
                    <a:p>
                      <a:pPr>
                        <a:buNone/>
                      </a:pPr>
                      <a:r>
                        <a:rPr lang="en-IN" b="1"/>
                        <a:t>Bit Transmission</a:t>
                      </a:r>
                      <a:endParaRPr lang="en-IN"/>
                    </a:p>
                  </a:txBody>
                  <a:tcPr anchor="ctr"/>
                </a:tc>
                <a:tc>
                  <a:txBody>
                    <a:bodyPr/>
                    <a:lstStyle/>
                    <a:p>
                      <a:pPr>
                        <a:buNone/>
                      </a:pPr>
                      <a:r>
                        <a:rPr lang="en-IN"/>
                        <a:t>Transmits data as bits (0s and 1s).</a:t>
                      </a:r>
                    </a:p>
                  </a:txBody>
                  <a:tcPr anchor="ctr"/>
                </a:tc>
                <a:extLst>
                  <a:ext uri="{0D108BD9-81ED-4DB2-BD59-A6C34878D82A}">
                    <a16:rowId xmlns:a16="http://schemas.microsoft.com/office/drawing/2014/main" val="750419073"/>
                  </a:ext>
                </a:extLst>
              </a:tr>
              <a:tr h="370840">
                <a:tc>
                  <a:txBody>
                    <a:bodyPr/>
                    <a:lstStyle/>
                    <a:p>
                      <a:pPr>
                        <a:buNone/>
                      </a:pPr>
                      <a:r>
                        <a:rPr lang="en-IN" b="1"/>
                        <a:t>Signal Generation</a:t>
                      </a:r>
                      <a:endParaRPr lang="en-IN"/>
                    </a:p>
                  </a:txBody>
                  <a:tcPr anchor="ctr"/>
                </a:tc>
                <a:tc>
                  <a:txBody>
                    <a:bodyPr/>
                    <a:lstStyle/>
                    <a:p>
                      <a:pPr>
                        <a:buNone/>
                      </a:pPr>
                      <a:r>
                        <a:rPr lang="en-IN"/>
                        <a:t>Converts digital bits into electrical, optical, or radio signals.</a:t>
                      </a:r>
                    </a:p>
                  </a:txBody>
                  <a:tcPr anchor="ctr"/>
                </a:tc>
                <a:extLst>
                  <a:ext uri="{0D108BD9-81ED-4DB2-BD59-A6C34878D82A}">
                    <a16:rowId xmlns:a16="http://schemas.microsoft.com/office/drawing/2014/main" val="953366262"/>
                  </a:ext>
                </a:extLst>
              </a:tr>
              <a:tr h="370840">
                <a:tc>
                  <a:txBody>
                    <a:bodyPr/>
                    <a:lstStyle/>
                    <a:p>
                      <a:pPr>
                        <a:buNone/>
                      </a:pPr>
                      <a:r>
                        <a:rPr lang="en-IN" b="1"/>
                        <a:t>Signal Reception</a:t>
                      </a:r>
                      <a:endParaRPr lang="en-IN"/>
                    </a:p>
                  </a:txBody>
                  <a:tcPr anchor="ctr"/>
                </a:tc>
                <a:tc>
                  <a:txBody>
                    <a:bodyPr/>
                    <a:lstStyle/>
                    <a:p>
                      <a:pPr>
                        <a:buNone/>
                      </a:pPr>
                      <a:r>
                        <a:rPr lang="en-IN"/>
                        <a:t>Receives signals and converts them back into bits.</a:t>
                      </a:r>
                    </a:p>
                  </a:txBody>
                  <a:tcPr anchor="ctr"/>
                </a:tc>
                <a:extLst>
                  <a:ext uri="{0D108BD9-81ED-4DB2-BD59-A6C34878D82A}">
                    <a16:rowId xmlns:a16="http://schemas.microsoft.com/office/drawing/2014/main" val="3976189341"/>
                  </a:ext>
                </a:extLst>
              </a:tr>
              <a:tr h="370840">
                <a:tc>
                  <a:txBody>
                    <a:bodyPr/>
                    <a:lstStyle/>
                    <a:p>
                      <a:pPr>
                        <a:buNone/>
                      </a:pPr>
                      <a:r>
                        <a:rPr lang="en-IN" b="1"/>
                        <a:t>Data Encoding</a:t>
                      </a:r>
                      <a:endParaRPr lang="en-IN"/>
                    </a:p>
                  </a:txBody>
                  <a:tcPr anchor="ctr"/>
                </a:tc>
                <a:tc>
                  <a:txBody>
                    <a:bodyPr/>
                    <a:lstStyle/>
                    <a:p>
                      <a:pPr>
                        <a:buNone/>
                      </a:pPr>
                      <a:r>
                        <a:rPr lang="en-IN"/>
                        <a:t>Defines how binary data is represented on the transmission medium.</a:t>
                      </a:r>
                    </a:p>
                  </a:txBody>
                  <a:tcPr anchor="ctr"/>
                </a:tc>
                <a:extLst>
                  <a:ext uri="{0D108BD9-81ED-4DB2-BD59-A6C34878D82A}">
                    <a16:rowId xmlns:a16="http://schemas.microsoft.com/office/drawing/2014/main" val="3315618413"/>
                  </a:ext>
                </a:extLst>
              </a:tr>
              <a:tr h="370840">
                <a:tc>
                  <a:txBody>
                    <a:bodyPr/>
                    <a:lstStyle/>
                    <a:p>
                      <a:pPr>
                        <a:buNone/>
                      </a:pPr>
                      <a:r>
                        <a:rPr lang="en-IN" b="1"/>
                        <a:t>Transmission Medium Specification</a:t>
                      </a:r>
                      <a:endParaRPr lang="en-IN"/>
                    </a:p>
                  </a:txBody>
                  <a:tcPr anchor="ctr"/>
                </a:tc>
                <a:tc>
                  <a:txBody>
                    <a:bodyPr/>
                    <a:lstStyle/>
                    <a:p>
                      <a:pPr>
                        <a:buNone/>
                      </a:pPr>
                      <a:r>
                        <a:rPr lang="en-IN"/>
                        <a:t>Defines cables, connectors, and wireless media.</a:t>
                      </a:r>
                    </a:p>
                  </a:txBody>
                  <a:tcPr anchor="ctr"/>
                </a:tc>
                <a:extLst>
                  <a:ext uri="{0D108BD9-81ED-4DB2-BD59-A6C34878D82A}">
                    <a16:rowId xmlns:a16="http://schemas.microsoft.com/office/drawing/2014/main" val="385594624"/>
                  </a:ext>
                </a:extLst>
              </a:tr>
              <a:tr h="370840">
                <a:tc>
                  <a:txBody>
                    <a:bodyPr/>
                    <a:lstStyle/>
                    <a:p>
                      <a:pPr>
                        <a:buNone/>
                      </a:pPr>
                      <a:r>
                        <a:rPr lang="en-IN" b="1"/>
                        <a:t>Data Rate Specification</a:t>
                      </a:r>
                      <a:endParaRPr lang="en-IN"/>
                    </a:p>
                  </a:txBody>
                  <a:tcPr anchor="ctr"/>
                </a:tc>
                <a:tc>
                  <a:txBody>
                    <a:bodyPr/>
                    <a:lstStyle/>
                    <a:p>
                      <a:pPr>
                        <a:buNone/>
                      </a:pPr>
                      <a:r>
                        <a:rPr lang="en-IN"/>
                        <a:t>Defines the transmission speed (bps, Mbps, Gbps).</a:t>
                      </a:r>
                    </a:p>
                  </a:txBody>
                  <a:tcPr anchor="ctr"/>
                </a:tc>
                <a:extLst>
                  <a:ext uri="{0D108BD9-81ED-4DB2-BD59-A6C34878D82A}">
                    <a16:rowId xmlns:a16="http://schemas.microsoft.com/office/drawing/2014/main" val="2440142686"/>
                  </a:ext>
                </a:extLst>
              </a:tr>
              <a:tr h="370840">
                <a:tc>
                  <a:txBody>
                    <a:bodyPr/>
                    <a:lstStyle/>
                    <a:p>
                      <a:pPr>
                        <a:buNone/>
                      </a:pPr>
                      <a:r>
                        <a:rPr lang="en-IN" b="1"/>
                        <a:t>Physical Topology</a:t>
                      </a:r>
                      <a:endParaRPr lang="en-IN"/>
                    </a:p>
                  </a:txBody>
                  <a:tcPr anchor="ctr"/>
                </a:tc>
                <a:tc>
                  <a:txBody>
                    <a:bodyPr/>
                    <a:lstStyle/>
                    <a:p>
                      <a:pPr>
                        <a:buNone/>
                      </a:pPr>
                      <a:r>
                        <a:rPr lang="en-IN"/>
                        <a:t>Defines how devices are physically connected.</a:t>
                      </a:r>
                    </a:p>
                  </a:txBody>
                  <a:tcPr anchor="ctr"/>
                </a:tc>
                <a:extLst>
                  <a:ext uri="{0D108BD9-81ED-4DB2-BD59-A6C34878D82A}">
                    <a16:rowId xmlns:a16="http://schemas.microsoft.com/office/drawing/2014/main" val="2091929012"/>
                  </a:ext>
                </a:extLst>
              </a:tr>
              <a:tr h="370840">
                <a:tc>
                  <a:txBody>
                    <a:bodyPr/>
                    <a:lstStyle/>
                    <a:p>
                      <a:pPr>
                        <a:buNone/>
                      </a:pPr>
                      <a:r>
                        <a:rPr lang="en-IN" b="1"/>
                        <a:t>Synchronization</a:t>
                      </a:r>
                      <a:endParaRPr lang="en-IN"/>
                    </a:p>
                  </a:txBody>
                  <a:tcPr anchor="ctr"/>
                </a:tc>
                <a:tc>
                  <a:txBody>
                    <a:bodyPr/>
                    <a:lstStyle/>
                    <a:p>
                      <a:pPr>
                        <a:buNone/>
                      </a:pPr>
                      <a:r>
                        <a:rPr lang="en-IN" dirty="0"/>
                        <a:t>Ensures sender and receiver remain synchronized while transmitting bits.</a:t>
                      </a:r>
                    </a:p>
                  </a:txBody>
                  <a:tcPr anchor="ctr"/>
                </a:tc>
                <a:extLst>
                  <a:ext uri="{0D108BD9-81ED-4DB2-BD59-A6C34878D82A}">
                    <a16:rowId xmlns:a16="http://schemas.microsoft.com/office/drawing/2014/main" val="320253377"/>
                  </a:ext>
                </a:extLst>
              </a:tr>
            </a:tbl>
          </a:graphicData>
        </a:graphic>
      </p:graphicFrame>
    </p:spTree>
    <p:extLst>
      <p:ext uri="{BB962C8B-B14F-4D97-AF65-F5344CB8AC3E}">
        <p14:creationId xmlns:p14="http://schemas.microsoft.com/office/powerpoint/2010/main" val="417853422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036250-30CB-20E2-C764-E6740610A0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72875EE-14B5-F1A9-2651-6083DABD862C}"/>
              </a:ext>
            </a:extLst>
          </p:cNvPr>
          <p:cNvSpPr>
            <a:spLocks noGrp="1"/>
          </p:cNvSpPr>
          <p:nvPr>
            <p:ph type="title"/>
          </p:nvPr>
        </p:nvSpPr>
        <p:spPr>
          <a:xfrm>
            <a:off x="613611" y="433137"/>
            <a:ext cx="10515600" cy="737938"/>
          </a:xfrm>
        </p:spPr>
        <p:txBody>
          <a:bodyPr/>
          <a:lstStyle/>
          <a:p>
            <a:r>
              <a:rPr lang="en-IN" dirty="0"/>
              <a:t>The Physical Layer: Devices Used</a:t>
            </a:r>
          </a:p>
        </p:txBody>
      </p:sp>
      <p:graphicFrame>
        <p:nvGraphicFramePr>
          <p:cNvPr id="4" name="Table 3">
            <a:extLst>
              <a:ext uri="{FF2B5EF4-FFF2-40B4-BE49-F238E27FC236}">
                <a16:creationId xmlns:a16="http://schemas.microsoft.com/office/drawing/2014/main" id="{D3C93A36-68F7-9363-C7CC-E345A7E83B69}"/>
              </a:ext>
            </a:extLst>
          </p:cNvPr>
          <p:cNvGraphicFramePr>
            <a:graphicFrameLocks noGrp="1"/>
          </p:cNvGraphicFramePr>
          <p:nvPr>
            <p:extLst>
              <p:ext uri="{D42A27DB-BD31-4B8C-83A1-F6EECF244321}">
                <p14:modId xmlns:p14="http://schemas.microsoft.com/office/powerpoint/2010/main" val="722498283"/>
              </p:ext>
            </p:extLst>
          </p:nvPr>
        </p:nvGraphicFramePr>
        <p:xfrm>
          <a:off x="320842" y="1407160"/>
          <a:ext cx="11550316" cy="3774440"/>
        </p:xfrm>
        <a:graphic>
          <a:graphicData uri="http://schemas.openxmlformats.org/drawingml/2006/table">
            <a:tbl>
              <a:tblPr firstRow="1" bandRow="1">
                <a:tableStyleId>{5C22544A-7EE6-4342-B048-85BDC9FD1C3A}</a:tableStyleId>
              </a:tblPr>
              <a:tblGrid>
                <a:gridCol w="3400926">
                  <a:extLst>
                    <a:ext uri="{9D8B030D-6E8A-4147-A177-3AD203B41FA5}">
                      <a16:colId xmlns:a16="http://schemas.microsoft.com/office/drawing/2014/main" val="4260580132"/>
                    </a:ext>
                  </a:extLst>
                </a:gridCol>
                <a:gridCol w="8149390">
                  <a:extLst>
                    <a:ext uri="{9D8B030D-6E8A-4147-A177-3AD203B41FA5}">
                      <a16:colId xmlns:a16="http://schemas.microsoft.com/office/drawing/2014/main" val="343688418"/>
                    </a:ext>
                  </a:extLst>
                </a:gridCol>
              </a:tblGrid>
              <a:tr h="370840">
                <a:tc>
                  <a:txBody>
                    <a:bodyPr/>
                    <a:lstStyle/>
                    <a:p>
                      <a:pPr>
                        <a:buNone/>
                      </a:pPr>
                      <a:r>
                        <a:rPr lang="en-IN" dirty="0"/>
                        <a:t>Device</a:t>
                      </a:r>
                    </a:p>
                  </a:txBody>
                  <a:tcPr anchor="ctr"/>
                </a:tc>
                <a:tc>
                  <a:txBody>
                    <a:bodyPr/>
                    <a:lstStyle/>
                    <a:p>
                      <a:pPr>
                        <a:buNone/>
                      </a:pPr>
                      <a:r>
                        <a:rPr lang="en-IN"/>
                        <a:t>Purpose</a:t>
                      </a:r>
                    </a:p>
                  </a:txBody>
                  <a:tcPr anchor="ctr"/>
                </a:tc>
                <a:extLst>
                  <a:ext uri="{0D108BD9-81ED-4DB2-BD59-A6C34878D82A}">
                    <a16:rowId xmlns:a16="http://schemas.microsoft.com/office/drawing/2014/main" val="3685672146"/>
                  </a:ext>
                </a:extLst>
              </a:tr>
              <a:tr h="370840">
                <a:tc>
                  <a:txBody>
                    <a:bodyPr/>
                    <a:lstStyle/>
                    <a:p>
                      <a:pPr>
                        <a:buNone/>
                      </a:pPr>
                      <a:r>
                        <a:rPr lang="en-IN" b="1"/>
                        <a:t>Hub</a:t>
                      </a:r>
                      <a:endParaRPr lang="en-IN"/>
                    </a:p>
                  </a:txBody>
                  <a:tcPr anchor="ctr"/>
                </a:tc>
                <a:tc>
                  <a:txBody>
                    <a:bodyPr/>
                    <a:lstStyle/>
                    <a:p>
                      <a:pPr>
                        <a:buNone/>
                      </a:pPr>
                      <a:r>
                        <a:rPr lang="en-IN"/>
                        <a:t>Broadcasts incoming signals to all connected devices. It does not examine MAC addresses or frames.</a:t>
                      </a:r>
                    </a:p>
                  </a:txBody>
                  <a:tcPr anchor="ctr"/>
                </a:tc>
                <a:extLst>
                  <a:ext uri="{0D108BD9-81ED-4DB2-BD59-A6C34878D82A}">
                    <a16:rowId xmlns:a16="http://schemas.microsoft.com/office/drawing/2014/main" val="750419073"/>
                  </a:ext>
                </a:extLst>
              </a:tr>
              <a:tr h="370840">
                <a:tc>
                  <a:txBody>
                    <a:bodyPr/>
                    <a:lstStyle/>
                    <a:p>
                      <a:pPr>
                        <a:buNone/>
                      </a:pPr>
                      <a:r>
                        <a:rPr lang="en-IN" b="1"/>
                        <a:t>Repeater</a:t>
                      </a:r>
                      <a:endParaRPr lang="en-IN"/>
                    </a:p>
                  </a:txBody>
                  <a:tcPr anchor="ctr"/>
                </a:tc>
                <a:tc>
                  <a:txBody>
                    <a:bodyPr/>
                    <a:lstStyle/>
                    <a:p>
                      <a:pPr>
                        <a:buNone/>
                      </a:pPr>
                      <a:r>
                        <a:rPr lang="en-IN"/>
                        <a:t>Regenerates weak signals to extend transmission distance.</a:t>
                      </a:r>
                    </a:p>
                  </a:txBody>
                  <a:tcPr anchor="ctr"/>
                </a:tc>
                <a:extLst>
                  <a:ext uri="{0D108BD9-81ED-4DB2-BD59-A6C34878D82A}">
                    <a16:rowId xmlns:a16="http://schemas.microsoft.com/office/drawing/2014/main" val="953366262"/>
                  </a:ext>
                </a:extLst>
              </a:tr>
              <a:tr h="370840">
                <a:tc>
                  <a:txBody>
                    <a:bodyPr/>
                    <a:lstStyle/>
                    <a:p>
                      <a:pPr>
                        <a:buNone/>
                      </a:pPr>
                      <a:r>
                        <a:rPr lang="en-IN" b="1"/>
                        <a:t>Modem</a:t>
                      </a:r>
                      <a:endParaRPr lang="en-IN"/>
                    </a:p>
                  </a:txBody>
                  <a:tcPr anchor="ctr"/>
                </a:tc>
                <a:tc>
                  <a:txBody>
                    <a:bodyPr/>
                    <a:lstStyle/>
                    <a:p>
                      <a:pPr>
                        <a:buNone/>
                      </a:pPr>
                      <a:r>
                        <a:rPr lang="en-IN"/>
                        <a:t>Converts digital signals to analog signals and vice versa for communication over certain media.</a:t>
                      </a:r>
                    </a:p>
                  </a:txBody>
                  <a:tcPr anchor="ctr"/>
                </a:tc>
                <a:extLst>
                  <a:ext uri="{0D108BD9-81ED-4DB2-BD59-A6C34878D82A}">
                    <a16:rowId xmlns:a16="http://schemas.microsoft.com/office/drawing/2014/main" val="3976189341"/>
                  </a:ext>
                </a:extLst>
              </a:tr>
              <a:tr h="370840">
                <a:tc>
                  <a:txBody>
                    <a:bodyPr/>
                    <a:lstStyle/>
                    <a:p>
                      <a:pPr>
                        <a:buNone/>
                      </a:pPr>
                      <a:r>
                        <a:rPr lang="en-IN" b="1" dirty="0"/>
                        <a:t>Network Cable</a:t>
                      </a:r>
                      <a:endParaRPr lang="en-IN" dirty="0"/>
                    </a:p>
                  </a:txBody>
                  <a:tcPr anchor="ctr"/>
                </a:tc>
                <a:tc>
                  <a:txBody>
                    <a:bodyPr/>
                    <a:lstStyle/>
                    <a:p>
                      <a:pPr>
                        <a:buNone/>
                      </a:pPr>
                      <a:r>
                        <a:rPr lang="en-IN"/>
                        <a:t>Carries signals between devices.</a:t>
                      </a:r>
                    </a:p>
                  </a:txBody>
                  <a:tcPr anchor="ctr"/>
                </a:tc>
                <a:extLst>
                  <a:ext uri="{0D108BD9-81ED-4DB2-BD59-A6C34878D82A}">
                    <a16:rowId xmlns:a16="http://schemas.microsoft.com/office/drawing/2014/main" val="3315618413"/>
                  </a:ext>
                </a:extLst>
              </a:tr>
              <a:tr h="370840">
                <a:tc>
                  <a:txBody>
                    <a:bodyPr/>
                    <a:lstStyle/>
                    <a:p>
                      <a:pPr>
                        <a:buNone/>
                      </a:pPr>
                      <a:r>
                        <a:rPr lang="en-IN" b="1" dirty="0"/>
                        <a:t>RJ45 Connector</a:t>
                      </a:r>
                      <a:endParaRPr lang="en-IN" dirty="0"/>
                    </a:p>
                  </a:txBody>
                  <a:tcPr anchor="ctr"/>
                </a:tc>
                <a:tc>
                  <a:txBody>
                    <a:bodyPr/>
                    <a:lstStyle/>
                    <a:p>
                      <a:pPr>
                        <a:buNone/>
                      </a:pPr>
                      <a:r>
                        <a:rPr lang="en-IN"/>
                        <a:t>Connects Ethernet cables to network devices.</a:t>
                      </a:r>
                    </a:p>
                  </a:txBody>
                  <a:tcPr anchor="ctr"/>
                </a:tc>
                <a:extLst>
                  <a:ext uri="{0D108BD9-81ED-4DB2-BD59-A6C34878D82A}">
                    <a16:rowId xmlns:a16="http://schemas.microsoft.com/office/drawing/2014/main" val="385594624"/>
                  </a:ext>
                </a:extLst>
              </a:tr>
              <a:tr h="370840">
                <a:tc>
                  <a:txBody>
                    <a:bodyPr/>
                    <a:lstStyle/>
                    <a:p>
                      <a:pPr>
                        <a:buNone/>
                      </a:pPr>
                      <a:r>
                        <a:rPr lang="en-IN" b="1" dirty="0"/>
                        <a:t>Fiber Optic Cable</a:t>
                      </a:r>
                      <a:endParaRPr lang="en-IN" dirty="0"/>
                    </a:p>
                  </a:txBody>
                  <a:tcPr anchor="ctr"/>
                </a:tc>
                <a:tc>
                  <a:txBody>
                    <a:bodyPr/>
                    <a:lstStyle/>
                    <a:p>
                      <a:pPr>
                        <a:buNone/>
                      </a:pPr>
                      <a:r>
                        <a:rPr lang="en-IN"/>
                        <a:t>Uses light pulses for high-speed communication.</a:t>
                      </a:r>
                    </a:p>
                  </a:txBody>
                  <a:tcPr anchor="ctr"/>
                </a:tc>
                <a:extLst>
                  <a:ext uri="{0D108BD9-81ED-4DB2-BD59-A6C34878D82A}">
                    <a16:rowId xmlns:a16="http://schemas.microsoft.com/office/drawing/2014/main" val="2440142686"/>
                  </a:ext>
                </a:extLst>
              </a:tr>
              <a:tr h="370840">
                <a:tc>
                  <a:txBody>
                    <a:bodyPr/>
                    <a:lstStyle/>
                    <a:p>
                      <a:pPr>
                        <a:buNone/>
                      </a:pPr>
                      <a:r>
                        <a:rPr lang="en-IN" b="1" dirty="0"/>
                        <a:t>Wireless Antenna / Access Point Radio</a:t>
                      </a:r>
                      <a:endParaRPr lang="en-IN" dirty="0"/>
                    </a:p>
                  </a:txBody>
                  <a:tcPr anchor="ctr"/>
                </a:tc>
                <a:tc>
                  <a:txBody>
                    <a:bodyPr/>
                    <a:lstStyle/>
                    <a:p>
                      <a:pPr>
                        <a:buNone/>
                      </a:pPr>
                      <a:r>
                        <a:rPr lang="en-IN" dirty="0"/>
                        <a:t>Sends and receives radio signals for wireless communication.</a:t>
                      </a:r>
                    </a:p>
                  </a:txBody>
                  <a:tcPr anchor="ctr"/>
                </a:tc>
                <a:extLst>
                  <a:ext uri="{0D108BD9-81ED-4DB2-BD59-A6C34878D82A}">
                    <a16:rowId xmlns:a16="http://schemas.microsoft.com/office/drawing/2014/main" val="2091929012"/>
                  </a:ext>
                </a:extLst>
              </a:tr>
            </a:tbl>
          </a:graphicData>
        </a:graphic>
      </p:graphicFrame>
    </p:spTree>
    <p:extLst>
      <p:ext uri="{BB962C8B-B14F-4D97-AF65-F5344CB8AC3E}">
        <p14:creationId xmlns:p14="http://schemas.microsoft.com/office/powerpoint/2010/main" val="119911766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EC84E9-49B3-650A-7F50-19805E55952A}"/>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F4E97DA6-842E-A09F-7A25-788A7687A8F3}"/>
              </a:ext>
            </a:extLst>
          </p:cNvPr>
          <p:cNvPicPr>
            <a:picLocks noChangeAspect="1"/>
          </p:cNvPicPr>
          <p:nvPr/>
        </p:nvPicPr>
        <p:blipFill>
          <a:blip r:embed="rId2"/>
          <a:stretch>
            <a:fillRect/>
          </a:stretch>
        </p:blipFill>
        <p:spPr>
          <a:xfrm>
            <a:off x="818147" y="577516"/>
            <a:ext cx="10138611" cy="5951621"/>
          </a:xfrm>
          <a:prstGeom prst="rect">
            <a:avLst/>
          </a:prstGeom>
        </p:spPr>
      </p:pic>
    </p:spTree>
    <p:extLst>
      <p:ext uri="{BB962C8B-B14F-4D97-AF65-F5344CB8AC3E}">
        <p14:creationId xmlns:p14="http://schemas.microsoft.com/office/powerpoint/2010/main" val="64980542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F455D-5798-E789-C3CB-EBF152B0F3AE}"/>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8CB01D5D-B7D2-9777-38D8-2DBBEE278308}"/>
              </a:ext>
            </a:extLst>
          </p:cNvPr>
          <p:cNvPicPr>
            <a:picLocks noChangeAspect="1"/>
          </p:cNvPicPr>
          <p:nvPr/>
        </p:nvPicPr>
        <p:blipFill>
          <a:blip r:embed="rId2"/>
          <a:stretch>
            <a:fillRect/>
          </a:stretch>
        </p:blipFill>
        <p:spPr>
          <a:xfrm>
            <a:off x="962526" y="483412"/>
            <a:ext cx="9224211" cy="3810000"/>
          </a:xfrm>
          <a:prstGeom prst="rect">
            <a:avLst/>
          </a:prstGeom>
        </p:spPr>
      </p:pic>
      <p:pic>
        <p:nvPicPr>
          <p:cNvPr id="7" name="Picture 6">
            <a:extLst>
              <a:ext uri="{FF2B5EF4-FFF2-40B4-BE49-F238E27FC236}">
                <a16:creationId xmlns:a16="http://schemas.microsoft.com/office/drawing/2014/main" id="{0CDC7E43-7006-2355-B9AA-F34F3D130EDE}"/>
              </a:ext>
            </a:extLst>
          </p:cNvPr>
          <p:cNvPicPr>
            <a:picLocks noChangeAspect="1"/>
          </p:cNvPicPr>
          <p:nvPr/>
        </p:nvPicPr>
        <p:blipFill>
          <a:blip r:embed="rId3"/>
          <a:stretch>
            <a:fillRect/>
          </a:stretch>
        </p:blipFill>
        <p:spPr>
          <a:xfrm>
            <a:off x="690989" y="4469588"/>
            <a:ext cx="7859453" cy="2388412"/>
          </a:xfrm>
          <a:prstGeom prst="rect">
            <a:avLst/>
          </a:prstGeom>
        </p:spPr>
      </p:pic>
      <p:pic>
        <p:nvPicPr>
          <p:cNvPr id="9" name="Picture 8">
            <a:extLst>
              <a:ext uri="{FF2B5EF4-FFF2-40B4-BE49-F238E27FC236}">
                <a16:creationId xmlns:a16="http://schemas.microsoft.com/office/drawing/2014/main" id="{009E4A3B-FD58-254F-3707-0F65283AF076}"/>
              </a:ext>
            </a:extLst>
          </p:cNvPr>
          <p:cNvPicPr>
            <a:picLocks noChangeAspect="1"/>
          </p:cNvPicPr>
          <p:nvPr/>
        </p:nvPicPr>
        <p:blipFill>
          <a:blip r:embed="rId4"/>
          <a:stretch>
            <a:fillRect/>
          </a:stretch>
        </p:blipFill>
        <p:spPr>
          <a:xfrm>
            <a:off x="9090630" y="3047678"/>
            <a:ext cx="2973034" cy="1245734"/>
          </a:xfrm>
          <a:prstGeom prst="rect">
            <a:avLst/>
          </a:prstGeom>
        </p:spPr>
      </p:pic>
    </p:spTree>
    <p:extLst>
      <p:ext uri="{BB962C8B-B14F-4D97-AF65-F5344CB8AC3E}">
        <p14:creationId xmlns:p14="http://schemas.microsoft.com/office/powerpoint/2010/main" val="344863078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C45CD1-9565-BB17-5D55-975D7C3A167F}"/>
            </a:ext>
          </a:extLst>
        </p:cNvPr>
        <p:cNvGrpSpPr/>
        <p:nvPr/>
      </p:nvGrpSpPr>
      <p:grpSpPr>
        <a:xfrm>
          <a:off x="0" y="0"/>
          <a:ext cx="0" cy="0"/>
          <a:chOff x="0" y="0"/>
          <a:chExt cx="0" cy="0"/>
        </a:xfrm>
      </p:grpSpPr>
      <p:pic>
        <p:nvPicPr>
          <p:cNvPr id="5" name="Picture 4">
            <a:extLst>
              <a:ext uri="{FF2B5EF4-FFF2-40B4-BE49-F238E27FC236}">
                <a16:creationId xmlns:a16="http://schemas.microsoft.com/office/drawing/2014/main" id="{116EDCC7-12C6-2E31-2BF8-8AE2E88EA111}"/>
              </a:ext>
            </a:extLst>
          </p:cNvPr>
          <p:cNvPicPr>
            <a:picLocks noChangeAspect="1"/>
          </p:cNvPicPr>
          <p:nvPr/>
        </p:nvPicPr>
        <p:blipFill>
          <a:blip r:embed="rId2"/>
          <a:stretch>
            <a:fillRect/>
          </a:stretch>
        </p:blipFill>
        <p:spPr>
          <a:xfrm>
            <a:off x="1860885" y="481054"/>
            <a:ext cx="7940841" cy="6264651"/>
          </a:xfrm>
          <a:prstGeom prst="rect">
            <a:avLst/>
          </a:prstGeom>
        </p:spPr>
      </p:pic>
    </p:spTree>
    <p:extLst>
      <p:ext uri="{BB962C8B-B14F-4D97-AF65-F5344CB8AC3E}">
        <p14:creationId xmlns:p14="http://schemas.microsoft.com/office/powerpoint/2010/main" val="381839174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2B8B5E-5C6E-8C90-061C-122DF79658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870B5AE-BB72-808B-01CC-37A72CD5579F}"/>
              </a:ext>
            </a:extLst>
          </p:cNvPr>
          <p:cNvSpPr>
            <a:spLocks noGrp="1"/>
          </p:cNvSpPr>
          <p:nvPr>
            <p:ph type="title"/>
          </p:nvPr>
        </p:nvSpPr>
        <p:spPr>
          <a:xfrm>
            <a:off x="256673" y="541588"/>
            <a:ext cx="11550315" cy="597401"/>
          </a:xfrm>
        </p:spPr>
        <p:txBody>
          <a:bodyPr>
            <a:normAutofit fontScale="90000"/>
          </a:bodyPr>
          <a:lstStyle/>
          <a:p>
            <a:r>
              <a:rPr lang="en-US" dirty="0"/>
              <a:t>Transmission Media (Guided vs Unguided Media)</a:t>
            </a:r>
            <a:endParaRPr lang="en-IN" dirty="0"/>
          </a:p>
        </p:txBody>
      </p:sp>
      <p:sp>
        <p:nvSpPr>
          <p:cNvPr id="3" name="Content Placeholder 2">
            <a:extLst>
              <a:ext uri="{FF2B5EF4-FFF2-40B4-BE49-F238E27FC236}">
                <a16:creationId xmlns:a16="http://schemas.microsoft.com/office/drawing/2014/main" id="{7B9D10D5-185F-03C6-2DC0-00BF37D8D8D0}"/>
              </a:ext>
            </a:extLst>
          </p:cNvPr>
          <p:cNvSpPr>
            <a:spLocks noGrp="1"/>
          </p:cNvSpPr>
          <p:nvPr>
            <p:ph idx="1"/>
          </p:nvPr>
        </p:nvSpPr>
        <p:spPr>
          <a:xfrm>
            <a:off x="256673" y="1138989"/>
            <a:ext cx="11550315" cy="5353885"/>
          </a:xfrm>
        </p:spPr>
        <p:txBody>
          <a:bodyPr>
            <a:normAutofit lnSpcReduction="10000"/>
          </a:bodyPr>
          <a:lstStyle/>
          <a:p>
            <a:r>
              <a:rPr lang="en-IN" dirty="0"/>
              <a:t>Once our software applications have formatted data packets and determined their destination paths using reference models, those packets must physically leave the device. At the lowest level of the network stack, data packets cannot travel as abstract software structures. They must be converted into physical signals—such as electrical voltage changes down a copper wire, pulses of light through a glass strand, or radio waves traveling through the air.</a:t>
            </a:r>
          </a:p>
          <a:p>
            <a:r>
              <a:rPr lang="en-IN" dirty="0"/>
              <a:t>If we choose the wrong physical pathway, our data packets can suffer from severe degradation over long distances, experience data corruption from external environmental noise, or fail to achieve the bandwidth speeds required by modern software applications. Understanding </a:t>
            </a:r>
            <a:r>
              <a:rPr lang="en-IN" b="1" dirty="0"/>
              <a:t>Transmission Media</a:t>
            </a:r>
            <a:r>
              <a:rPr lang="en-IN" dirty="0"/>
              <a:t> gives engineers the exact physical blueprints needed to select the right cabling or wireless technologies based on distance, budget, speed requirements, and environmental factors.</a:t>
            </a:r>
          </a:p>
          <a:p>
            <a:endParaRPr lang="en-IN" dirty="0"/>
          </a:p>
        </p:txBody>
      </p:sp>
    </p:spTree>
    <p:extLst>
      <p:ext uri="{BB962C8B-B14F-4D97-AF65-F5344CB8AC3E}">
        <p14:creationId xmlns:p14="http://schemas.microsoft.com/office/powerpoint/2010/main" val="26053590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F2ABB-F7C3-511A-CB8C-CCFC1B811A69}"/>
              </a:ext>
            </a:extLst>
          </p:cNvPr>
          <p:cNvSpPr>
            <a:spLocks noGrp="1"/>
          </p:cNvSpPr>
          <p:nvPr>
            <p:ph type="title"/>
          </p:nvPr>
        </p:nvSpPr>
        <p:spPr>
          <a:xfrm>
            <a:off x="433137" y="477420"/>
            <a:ext cx="11373852" cy="677612"/>
          </a:xfrm>
        </p:spPr>
        <p:txBody>
          <a:bodyPr>
            <a:normAutofit fontScale="90000"/>
          </a:bodyPr>
          <a:lstStyle/>
          <a:p>
            <a:r>
              <a:rPr lang="en-IN" dirty="0"/>
              <a:t>Transmission Media</a:t>
            </a:r>
          </a:p>
        </p:txBody>
      </p:sp>
      <p:sp>
        <p:nvSpPr>
          <p:cNvPr id="3" name="Content Placeholder 2">
            <a:extLst>
              <a:ext uri="{FF2B5EF4-FFF2-40B4-BE49-F238E27FC236}">
                <a16:creationId xmlns:a16="http://schemas.microsoft.com/office/drawing/2014/main" id="{1B299230-B5D5-3D26-7615-89B4DEC466ED}"/>
              </a:ext>
            </a:extLst>
          </p:cNvPr>
          <p:cNvSpPr>
            <a:spLocks noGrp="1"/>
          </p:cNvSpPr>
          <p:nvPr>
            <p:ph idx="1"/>
          </p:nvPr>
        </p:nvSpPr>
        <p:spPr>
          <a:xfrm>
            <a:off x="433137" y="1411705"/>
            <a:ext cx="11373852" cy="5117432"/>
          </a:xfrm>
        </p:spPr>
        <p:txBody>
          <a:bodyPr>
            <a:normAutofit fontScale="92500" lnSpcReduction="10000"/>
          </a:bodyPr>
          <a:lstStyle/>
          <a:p>
            <a:r>
              <a:rPr lang="en-IN" dirty="0"/>
              <a:t>In computer networks, </a:t>
            </a:r>
            <a:r>
              <a:rPr lang="en-IN" b="1" dirty="0"/>
              <a:t>Transmission Media</a:t>
            </a:r>
            <a:r>
              <a:rPr lang="en-IN" dirty="0"/>
              <a:t> are the physical pathways used to carry data packets from one device to another. As an engineer, we must understand the different types of pathways available, both wired and wireless, so we can choose the right one based on distance, speed, budget, and environmental conditions.</a:t>
            </a:r>
          </a:p>
          <a:p>
            <a:pPr marL="0" indent="0">
              <a:buNone/>
            </a:pPr>
            <a:r>
              <a:rPr lang="en-IN" dirty="0"/>
              <a:t>All transmission media fall into two major categories:</a:t>
            </a:r>
          </a:p>
          <a:p>
            <a:r>
              <a:rPr lang="en-IN" b="1" dirty="0"/>
              <a:t>Guided Media (Wired):</a:t>
            </a:r>
            <a:r>
              <a:rPr lang="en-IN" dirty="0"/>
              <a:t> Pathways where the data packets are physically bound, directed, and confined inside a solid, tangible conductor (like a copper wire or glass cable). The data flows exactly along the physical path of the cable.</a:t>
            </a:r>
          </a:p>
          <a:p>
            <a:pPr marL="0" indent="0">
              <a:buNone/>
            </a:pPr>
            <a:endParaRPr lang="en-IN" dirty="0"/>
          </a:p>
          <a:p>
            <a:r>
              <a:rPr lang="en-IN" b="1" dirty="0"/>
              <a:t>Unguided Media (Wireless):</a:t>
            </a:r>
            <a:r>
              <a:rPr lang="en-IN" dirty="0"/>
              <a:t> Pathways where data packets travel through the open air, water, or vacuum of space without being confined to a physical path. The signals are broadcast out as electromagnetic waves for anyone with an antenna to catch.</a:t>
            </a:r>
          </a:p>
          <a:p>
            <a:endParaRPr lang="en-IN" dirty="0"/>
          </a:p>
        </p:txBody>
      </p:sp>
    </p:spTree>
    <p:extLst>
      <p:ext uri="{BB962C8B-B14F-4D97-AF65-F5344CB8AC3E}">
        <p14:creationId xmlns:p14="http://schemas.microsoft.com/office/powerpoint/2010/main" val="102078912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72245D7-A7CC-AC84-2B86-7F8A14311B6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91F3DA-86BC-6E36-7550-CD6A2789A50A}"/>
              </a:ext>
            </a:extLst>
          </p:cNvPr>
          <p:cNvSpPr>
            <a:spLocks noGrp="1"/>
          </p:cNvSpPr>
          <p:nvPr>
            <p:ph type="title"/>
          </p:nvPr>
        </p:nvSpPr>
        <p:spPr>
          <a:xfrm>
            <a:off x="433137" y="477420"/>
            <a:ext cx="11373852" cy="677612"/>
          </a:xfrm>
        </p:spPr>
        <p:txBody>
          <a:bodyPr>
            <a:normAutofit fontScale="90000"/>
          </a:bodyPr>
          <a:lstStyle/>
          <a:p>
            <a:r>
              <a:rPr lang="en-IN" dirty="0"/>
              <a:t>GUIDED MEDIA (WIRED) – Twisted Pair Cable</a:t>
            </a:r>
          </a:p>
        </p:txBody>
      </p:sp>
      <p:sp>
        <p:nvSpPr>
          <p:cNvPr id="3" name="Content Placeholder 2">
            <a:extLst>
              <a:ext uri="{FF2B5EF4-FFF2-40B4-BE49-F238E27FC236}">
                <a16:creationId xmlns:a16="http://schemas.microsoft.com/office/drawing/2014/main" id="{BB73C62E-786F-4D07-2EA0-FB6D785187C4}"/>
              </a:ext>
            </a:extLst>
          </p:cNvPr>
          <p:cNvSpPr>
            <a:spLocks noGrp="1"/>
          </p:cNvSpPr>
          <p:nvPr>
            <p:ph idx="1"/>
          </p:nvPr>
        </p:nvSpPr>
        <p:spPr>
          <a:xfrm>
            <a:off x="433137" y="1411705"/>
            <a:ext cx="11373852" cy="5117432"/>
          </a:xfrm>
        </p:spPr>
        <p:txBody>
          <a:bodyPr>
            <a:normAutofit/>
          </a:bodyPr>
          <a:lstStyle/>
          <a:p>
            <a:pPr marL="0" indent="0">
              <a:buNone/>
            </a:pPr>
            <a:r>
              <a:rPr lang="en-IN" sz="2000" b="1" dirty="0"/>
              <a:t>What is a Twisted Pair Cable?</a:t>
            </a:r>
          </a:p>
          <a:p>
            <a:r>
              <a:rPr lang="en-IN" sz="2000" dirty="0"/>
              <a:t>It is the most common type of wired network cable, consisting of pairs of color-coded copper wires twisted around each other.</a:t>
            </a:r>
          </a:p>
          <a:p>
            <a:r>
              <a:rPr lang="en-IN" sz="2000" dirty="0"/>
              <a:t>The twisting design is a clever engineering trick: it causes the electrical interference from outside sources (and from </a:t>
            </a:r>
            <a:r>
              <a:rPr lang="en-IN" sz="2000" dirty="0" err="1"/>
              <a:t>neighboring</a:t>
            </a:r>
            <a:r>
              <a:rPr lang="en-IN" sz="2000" dirty="0"/>
              <a:t> wires) to cancel itself out.</a:t>
            </a:r>
          </a:p>
          <a:p>
            <a:r>
              <a:rPr lang="en-IN" sz="2000" dirty="0"/>
              <a:t>It comes in two primary types: Unshielded Twisted Pair (UTP), which is a basic cheap cable, and Shielded Twisted Pair (STP), which has a protective metal foil wrap inside to block heavy static.</a:t>
            </a:r>
          </a:p>
          <a:p>
            <a:r>
              <a:rPr lang="en-IN" sz="2000" dirty="0"/>
              <a:t>It terminates with a standard plastic clip connector called an </a:t>
            </a:r>
            <a:r>
              <a:rPr lang="en-IN" sz="2000" b="1" dirty="0"/>
              <a:t>RJ-45 connector</a:t>
            </a:r>
            <a:r>
              <a:rPr lang="en-IN" sz="2000" dirty="0"/>
              <a:t>, which plugs directly into your computer's network port.</a:t>
            </a:r>
          </a:p>
          <a:p>
            <a:pPr marL="0" indent="0">
              <a:buNone/>
            </a:pPr>
            <a:r>
              <a:rPr lang="en-IN" sz="2000" b="1" dirty="0"/>
              <a:t>How it works?</a:t>
            </a:r>
          </a:p>
          <a:p>
            <a:r>
              <a:rPr lang="en-IN" sz="2000" dirty="0"/>
              <a:t>The computer converts a data packet into electrical currents.</a:t>
            </a:r>
          </a:p>
          <a:p>
            <a:r>
              <a:rPr lang="en-IN" sz="2000" dirty="0"/>
              <a:t>These electrical pulses travel down the copper wire strands to the receiving device.</a:t>
            </a:r>
          </a:p>
          <a:p>
            <a:r>
              <a:rPr lang="en-IN" sz="2000" dirty="0"/>
              <a:t>As the electricity flows, the twists in the wire pairs neutralize background magnetic noise, keeping the data packets clean and readable over short distances.</a:t>
            </a:r>
          </a:p>
          <a:p>
            <a:endParaRPr lang="en-IN" sz="2000" dirty="0"/>
          </a:p>
        </p:txBody>
      </p:sp>
    </p:spTree>
    <p:extLst>
      <p:ext uri="{BB962C8B-B14F-4D97-AF65-F5344CB8AC3E}">
        <p14:creationId xmlns:p14="http://schemas.microsoft.com/office/powerpoint/2010/main" val="1685818582"/>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65DBC5-05C0-D401-9AAE-A89C6096149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F741944-A187-2BEF-4AF3-23CF2406C5B0}"/>
              </a:ext>
            </a:extLst>
          </p:cNvPr>
          <p:cNvSpPr>
            <a:spLocks noGrp="1"/>
          </p:cNvSpPr>
          <p:nvPr>
            <p:ph idx="1"/>
          </p:nvPr>
        </p:nvSpPr>
        <p:spPr>
          <a:xfrm>
            <a:off x="433137" y="705853"/>
            <a:ext cx="11373852" cy="5823284"/>
          </a:xfrm>
        </p:spPr>
        <p:txBody>
          <a:bodyPr>
            <a:normAutofit/>
          </a:bodyPr>
          <a:lstStyle/>
          <a:p>
            <a:pPr marL="0" indent="0">
              <a:buNone/>
            </a:pPr>
            <a:r>
              <a:rPr lang="en-IN" sz="2000" b="1" dirty="0"/>
              <a:t>Examples</a:t>
            </a:r>
          </a:p>
          <a:p>
            <a:r>
              <a:rPr lang="en-IN" sz="2000" b="1" dirty="0"/>
              <a:t>Office Local Area Networks (LANs):</a:t>
            </a:r>
            <a:r>
              <a:rPr lang="en-IN" sz="2000" dirty="0"/>
              <a:t> The standard yellow, blue, or grey Ethernet cables used to plug desktop computers into office wall outlets or switches.</a:t>
            </a:r>
          </a:p>
          <a:p>
            <a:r>
              <a:rPr lang="en-IN" sz="2000" b="1" dirty="0"/>
              <a:t>Home Internet:</a:t>
            </a:r>
            <a:r>
              <a:rPr lang="en-IN" sz="2000" dirty="0"/>
              <a:t> Connecting your home computer directly to the back of your Wi-Fi router box for a faster, stable connection.</a:t>
            </a:r>
          </a:p>
          <a:p>
            <a:r>
              <a:rPr lang="en-IN" sz="2000" b="1" dirty="0"/>
              <a:t>Landline Telephones:</a:t>
            </a:r>
            <a:r>
              <a:rPr lang="en-IN" sz="2000" dirty="0"/>
              <a:t> Older home telephone systems used basic twisted-pair copper lines to carry voice signals from the street into the house.</a:t>
            </a:r>
          </a:p>
          <a:p>
            <a:endParaRPr lang="en-IN" sz="2000" dirty="0"/>
          </a:p>
        </p:txBody>
      </p:sp>
      <p:graphicFrame>
        <p:nvGraphicFramePr>
          <p:cNvPr id="4" name="Table 3">
            <a:extLst>
              <a:ext uri="{FF2B5EF4-FFF2-40B4-BE49-F238E27FC236}">
                <a16:creationId xmlns:a16="http://schemas.microsoft.com/office/drawing/2014/main" id="{4B7E1C86-FCD5-BED4-2ADC-E084A7BE12C5}"/>
              </a:ext>
            </a:extLst>
          </p:cNvPr>
          <p:cNvGraphicFramePr>
            <a:graphicFrameLocks noGrp="1"/>
          </p:cNvGraphicFramePr>
          <p:nvPr/>
        </p:nvGraphicFramePr>
        <p:xfrm>
          <a:off x="433137" y="3140777"/>
          <a:ext cx="8128000" cy="3388360"/>
        </p:xfrm>
        <a:graphic>
          <a:graphicData uri="http://schemas.openxmlformats.org/drawingml/2006/table">
            <a:tbl>
              <a:tblPr firstRow="1" bandRow="1">
                <a:tableStyleId>{5C22544A-7EE6-4342-B048-85BDC9FD1C3A}</a:tableStyleId>
              </a:tblPr>
              <a:tblGrid>
                <a:gridCol w="4064000">
                  <a:extLst>
                    <a:ext uri="{9D8B030D-6E8A-4147-A177-3AD203B41FA5}">
                      <a16:colId xmlns:a16="http://schemas.microsoft.com/office/drawing/2014/main" val="2530517975"/>
                    </a:ext>
                  </a:extLst>
                </a:gridCol>
                <a:gridCol w="4064000">
                  <a:extLst>
                    <a:ext uri="{9D8B030D-6E8A-4147-A177-3AD203B41FA5}">
                      <a16:colId xmlns:a16="http://schemas.microsoft.com/office/drawing/2014/main" val="2459913995"/>
                    </a:ext>
                  </a:extLst>
                </a:gridCol>
              </a:tblGrid>
              <a:tr h="370840">
                <a:tc>
                  <a:txBody>
                    <a:bodyPr/>
                    <a:lstStyle/>
                    <a:p>
                      <a:pPr>
                        <a:buNone/>
                      </a:pPr>
                      <a:r>
                        <a:rPr lang="en-IN" dirty="0"/>
                        <a:t>Why it is Good (Advantages)</a:t>
                      </a:r>
                    </a:p>
                  </a:txBody>
                  <a:tcPr anchor="ctr"/>
                </a:tc>
                <a:tc>
                  <a:txBody>
                    <a:bodyPr/>
                    <a:lstStyle/>
                    <a:p>
                      <a:pPr>
                        <a:buNone/>
                      </a:pPr>
                      <a:r>
                        <a:rPr lang="en-IN"/>
                        <a:t>Where it Fails (Disadvantages)</a:t>
                      </a:r>
                    </a:p>
                  </a:txBody>
                  <a:tcPr anchor="ctr"/>
                </a:tc>
                <a:extLst>
                  <a:ext uri="{0D108BD9-81ED-4DB2-BD59-A6C34878D82A}">
                    <a16:rowId xmlns:a16="http://schemas.microsoft.com/office/drawing/2014/main" val="2731830675"/>
                  </a:ext>
                </a:extLst>
              </a:tr>
              <a:tr h="370840">
                <a:tc>
                  <a:txBody>
                    <a:bodyPr/>
                    <a:lstStyle/>
                    <a:p>
                      <a:pPr>
                        <a:buNone/>
                      </a:pPr>
                      <a:r>
                        <a:rPr lang="en-IN" dirty="0"/>
                        <a:t>- It is highly flexible, lightweight, and very thin, making it incredibly easy to pull through office walls and under carpets.</a:t>
                      </a:r>
                    </a:p>
                  </a:txBody>
                  <a:tcPr anchor="ctr"/>
                </a:tc>
                <a:tc>
                  <a:txBody>
                    <a:bodyPr/>
                    <a:lstStyle/>
                    <a:p>
                      <a:pPr>
                        <a:buNone/>
                      </a:pPr>
                      <a:r>
                        <a:rPr lang="en-IN"/>
                        <a:t>- It has a short physical distance limit, as data packets begin to fade and degrade significantly after traveling just 100 meters.</a:t>
                      </a:r>
                    </a:p>
                  </a:txBody>
                  <a:tcPr anchor="ctr"/>
                </a:tc>
                <a:extLst>
                  <a:ext uri="{0D108BD9-81ED-4DB2-BD59-A6C34878D82A}">
                    <a16:rowId xmlns:a16="http://schemas.microsoft.com/office/drawing/2014/main" val="1770931350"/>
                  </a:ext>
                </a:extLst>
              </a:tr>
              <a:tr h="370840">
                <a:tc>
                  <a:txBody>
                    <a:bodyPr/>
                    <a:lstStyle/>
                    <a:p>
                      <a:pPr>
                        <a:buNone/>
                      </a:pPr>
                      <a:r>
                        <a:rPr lang="en-IN"/>
                        <a:t>- It is the cheapest wired media option available on the market for building local networks.</a:t>
                      </a:r>
                    </a:p>
                  </a:txBody>
                  <a:tcPr anchor="ctr"/>
                </a:tc>
                <a:tc>
                  <a:txBody>
                    <a:bodyPr/>
                    <a:lstStyle/>
                    <a:p>
                      <a:pPr>
                        <a:buNone/>
                      </a:pPr>
                      <a:r>
                        <a:rPr lang="en-IN"/>
                        <a:t>- It is vulnerable to electrical noise from nearby power lines, air conditioners, and fluorescent lights if not shielded properly.</a:t>
                      </a:r>
                    </a:p>
                  </a:txBody>
                  <a:tcPr anchor="ctr"/>
                </a:tc>
                <a:extLst>
                  <a:ext uri="{0D108BD9-81ED-4DB2-BD59-A6C34878D82A}">
                    <a16:rowId xmlns:a16="http://schemas.microsoft.com/office/drawing/2014/main" val="1116110588"/>
                  </a:ext>
                </a:extLst>
              </a:tr>
              <a:tr h="370840">
                <a:tc>
                  <a:txBody>
                    <a:bodyPr/>
                    <a:lstStyle/>
                    <a:p>
                      <a:pPr>
                        <a:buNone/>
                      </a:pPr>
                      <a:r>
                        <a:rPr lang="en-IN" dirty="0"/>
                        <a:t>- It is simple to install and crimp with basic, low-cost manual tools, requiring no specialized technical training.</a:t>
                      </a:r>
                    </a:p>
                  </a:txBody>
                  <a:tcPr anchor="ctr"/>
                </a:tc>
                <a:tc>
                  <a:txBody>
                    <a:bodyPr/>
                    <a:lstStyle/>
                    <a:p>
                      <a:pPr>
                        <a:buNone/>
                      </a:pPr>
                      <a:r>
                        <a:rPr lang="en-IN" dirty="0"/>
                        <a:t>- It offers lower maximum speeds and bandwidth caps compared to advanced </a:t>
                      </a:r>
                      <a:r>
                        <a:rPr lang="en-IN" dirty="0" err="1"/>
                        <a:t>fiber</a:t>
                      </a:r>
                      <a:r>
                        <a:rPr lang="en-IN" dirty="0"/>
                        <a:t> optic options.</a:t>
                      </a:r>
                    </a:p>
                  </a:txBody>
                  <a:tcPr anchor="ctr"/>
                </a:tc>
                <a:extLst>
                  <a:ext uri="{0D108BD9-81ED-4DB2-BD59-A6C34878D82A}">
                    <a16:rowId xmlns:a16="http://schemas.microsoft.com/office/drawing/2014/main" val="997259672"/>
                  </a:ext>
                </a:extLst>
              </a:tr>
            </a:tbl>
          </a:graphicData>
        </a:graphic>
      </p:graphicFrame>
      <p:pic>
        <p:nvPicPr>
          <p:cNvPr id="6" name="Picture 5">
            <a:extLst>
              <a:ext uri="{FF2B5EF4-FFF2-40B4-BE49-F238E27FC236}">
                <a16:creationId xmlns:a16="http://schemas.microsoft.com/office/drawing/2014/main" id="{E5EAAB60-9AF3-1AEF-FB36-B8963BC8FA7D}"/>
              </a:ext>
            </a:extLst>
          </p:cNvPr>
          <p:cNvPicPr>
            <a:picLocks noChangeAspect="1"/>
          </p:cNvPicPr>
          <p:nvPr/>
        </p:nvPicPr>
        <p:blipFill>
          <a:blip r:embed="rId2"/>
          <a:stretch>
            <a:fillRect/>
          </a:stretch>
        </p:blipFill>
        <p:spPr>
          <a:xfrm>
            <a:off x="9194259" y="2976671"/>
            <a:ext cx="2388141" cy="3552466"/>
          </a:xfrm>
          <a:prstGeom prst="rect">
            <a:avLst/>
          </a:prstGeom>
        </p:spPr>
      </p:pic>
    </p:spTree>
    <p:extLst>
      <p:ext uri="{BB962C8B-B14F-4D97-AF65-F5344CB8AC3E}">
        <p14:creationId xmlns:p14="http://schemas.microsoft.com/office/powerpoint/2010/main" val="6769999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B496A1-AE77-51EF-F891-612D0452E1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5DF924E-1C99-958C-FABF-9626C2628144}"/>
              </a:ext>
            </a:extLst>
          </p:cNvPr>
          <p:cNvSpPr>
            <a:spLocks noGrp="1"/>
          </p:cNvSpPr>
          <p:nvPr>
            <p:ph type="title"/>
          </p:nvPr>
        </p:nvSpPr>
        <p:spPr>
          <a:xfrm>
            <a:off x="433137" y="477420"/>
            <a:ext cx="11373852" cy="677612"/>
          </a:xfrm>
        </p:spPr>
        <p:txBody>
          <a:bodyPr>
            <a:normAutofit fontScale="90000"/>
          </a:bodyPr>
          <a:lstStyle/>
          <a:p>
            <a:r>
              <a:rPr lang="en-IN" dirty="0"/>
              <a:t>COAXIAL CABLE</a:t>
            </a:r>
          </a:p>
        </p:txBody>
      </p:sp>
      <p:sp>
        <p:nvSpPr>
          <p:cNvPr id="3" name="Content Placeholder 2">
            <a:extLst>
              <a:ext uri="{FF2B5EF4-FFF2-40B4-BE49-F238E27FC236}">
                <a16:creationId xmlns:a16="http://schemas.microsoft.com/office/drawing/2014/main" id="{76E5FAFD-EE1A-6189-DD69-B4D9D3F4C8DF}"/>
              </a:ext>
            </a:extLst>
          </p:cNvPr>
          <p:cNvSpPr>
            <a:spLocks noGrp="1"/>
          </p:cNvSpPr>
          <p:nvPr>
            <p:ph idx="1"/>
          </p:nvPr>
        </p:nvSpPr>
        <p:spPr>
          <a:xfrm>
            <a:off x="433137" y="1155032"/>
            <a:ext cx="11373852" cy="5374105"/>
          </a:xfrm>
        </p:spPr>
        <p:txBody>
          <a:bodyPr>
            <a:normAutofit/>
          </a:bodyPr>
          <a:lstStyle/>
          <a:p>
            <a:r>
              <a:rPr lang="en-IN" sz="2000" dirty="0"/>
              <a:t>It is a heavy-duty copper cable designed with a round, layered structure to carry high-frequency electrical signals safely.</a:t>
            </a:r>
          </a:p>
          <a:p>
            <a:r>
              <a:rPr lang="en-IN" sz="2000" dirty="0"/>
              <a:t>It features a solid, stiff copper wire right in the very </a:t>
            </a:r>
            <a:r>
              <a:rPr lang="en-IN" sz="2000" dirty="0" err="1"/>
              <a:t>center</a:t>
            </a:r>
            <a:r>
              <a:rPr lang="en-IN" sz="2000" dirty="0"/>
              <a:t> (the core) that carries the actual data packets.</a:t>
            </a:r>
          </a:p>
          <a:p>
            <a:r>
              <a:rPr lang="en-IN" sz="2000" dirty="0"/>
              <a:t>The core is completely wrapped in a thick layer of plastic insulation, followed by a woven metal mesh shield, and a final tough plastic jacket.</a:t>
            </a:r>
          </a:p>
          <a:p>
            <a:r>
              <a:rPr lang="en-IN" sz="2000" dirty="0"/>
              <a:t>The heavy metal mesh acts as a screen that blocks out almost all external background static and electronic noise.</a:t>
            </a:r>
          </a:p>
          <a:p>
            <a:endParaRPr lang="en-IN" sz="2000" dirty="0"/>
          </a:p>
          <a:p>
            <a:pPr marL="0" indent="0">
              <a:buNone/>
            </a:pPr>
            <a:r>
              <a:rPr lang="en-IN" sz="2000" b="1" dirty="0"/>
              <a:t>How it works?</a:t>
            </a:r>
          </a:p>
          <a:p>
            <a:r>
              <a:rPr lang="en-IN" sz="2000" dirty="0"/>
              <a:t>Data packets travel as high-frequency electrical signals along the central copper core.</a:t>
            </a:r>
          </a:p>
          <a:p>
            <a:r>
              <a:rPr lang="en-IN" sz="2000" dirty="0"/>
              <a:t>The outer woven metal shield acts as an electrical ground, absorbing any incoming environmental interference before it can reach the core.</a:t>
            </a:r>
          </a:p>
          <a:p>
            <a:r>
              <a:rPr lang="en-IN" sz="2000" dirty="0"/>
              <a:t>This layered shield allows the data packet to travel much further than it could in a standard twisted-pair cable without losing its shape.</a:t>
            </a:r>
          </a:p>
          <a:p>
            <a:endParaRPr lang="en-IN" sz="2000" dirty="0"/>
          </a:p>
        </p:txBody>
      </p:sp>
    </p:spTree>
    <p:extLst>
      <p:ext uri="{BB962C8B-B14F-4D97-AF65-F5344CB8AC3E}">
        <p14:creationId xmlns:p14="http://schemas.microsoft.com/office/powerpoint/2010/main" val="3618231737"/>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DBD5E21-BDC7-C49E-7C1B-7D3F47A7D32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4E1CDBF-0914-7A8A-4135-6D7EE888E392}"/>
              </a:ext>
            </a:extLst>
          </p:cNvPr>
          <p:cNvSpPr>
            <a:spLocks noGrp="1"/>
          </p:cNvSpPr>
          <p:nvPr>
            <p:ph idx="1"/>
          </p:nvPr>
        </p:nvSpPr>
        <p:spPr>
          <a:xfrm>
            <a:off x="433137" y="641684"/>
            <a:ext cx="11373852" cy="5887453"/>
          </a:xfrm>
        </p:spPr>
        <p:txBody>
          <a:bodyPr>
            <a:normAutofit/>
          </a:bodyPr>
          <a:lstStyle/>
          <a:p>
            <a:r>
              <a:rPr lang="en-IN" sz="2000" b="1" dirty="0"/>
              <a:t>Examples</a:t>
            </a:r>
          </a:p>
          <a:p>
            <a:r>
              <a:rPr lang="en-IN" sz="2000" b="1" dirty="0"/>
              <a:t>Cable Television (TV):</a:t>
            </a:r>
            <a:r>
              <a:rPr lang="en-IN" sz="2000" dirty="0"/>
              <a:t> The round, stiff black cable that screws into the back of your home TV set or cable box from the wall outlet.</a:t>
            </a:r>
          </a:p>
          <a:p>
            <a:r>
              <a:rPr lang="en-IN" sz="2000" b="1" dirty="0"/>
              <a:t>Broadband Cable Internet:</a:t>
            </a:r>
            <a:r>
              <a:rPr lang="en-IN" sz="2000" dirty="0"/>
              <a:t> Used by television providers to deliver high-speed internet data packets into residential homes.</a:t>
            </a:r>
          </a:p>
          <a:p>
            <a:endParaRPr lang="en-IN" sz="2000" dirty="0"/>
          </a:p>
        </p:txBody>
      </p:sp>
      <p:graphicFrame>
        <p:nvGraphicFramePr>
          <p:cNvPr id="4" name="Table 3">
            <a:extLst>
              <a:ext uri="{FF2B5EF4-FFF2-40B4-BE49-F238E27FC236}">
                <a16:creationId xmlns:a16="http://schemas.microsoft.com/office/drawing/2014/main" id="{9D3A8584-87B6-D3B8-BA0F-B25D377298DB}"/>
              </a:ext>
            </a:extLst>
          </p:cNvPr>
          <p:cNvGraphicFramePr>
            <a:graphicFrameLocks noGrp="1"/>
          </p:cNvGraphicFramePr>
          <p:nvPr/>
        </p:nvGraphicFramePr>
        <p:xfrm>
          <a:off x="433137" y="2562727"/>
          <a:ext cx="6633412" cy="4175760"/>
        </p:xfrm>
        <a:graphic>
          <a:graphicData uri="http://schemas.openxmlformats.org/drawingml/2006/table">
            <a:tbl>
              <a:tblPr firstRow="1" bandRow="1">
                <a:tableStyleId>{5C22544A-7EE6-4342-B048-85BDC9FD1C3A}</a:tableStyleId>
              </a:tblPr>
              <a:tblGrid>
                <a:gridCol w="3316706">
                  <a:extLst>
                    <a:ext uri="{9D8B030D-6E8A-4147-A177-3AD203B41FA5}">
                      <a16:colId xmlns:a16="http://schemas.microsoft.com/office/drawing/2014/main" val="2737065278"/>
                    </a:ext>
                  </a:extLst>
                </a:gridCol>
                <a:gridCol w="3316706">
                  <a:extLst>
                    <a:ext uri="{9D8B030D-6E8A-4147-A177-3AD203B41FA5}">
                      <a16:colId xmlns:a16="http://schemas.microsoft.com/office/drawing/2014/main" val="2558577754"/>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55862290"/>
                  </a:ext>
                </a:extLst>
              </a:tr>
              <a:tr h="370840">
                <a:tc>
                  <a:txBody>
                    <a:bodyPr/>
                    <a:lstStyle/>
                    <a:p>
                      <a:pPr>
                        <a:buNone/>
                      </a:pPr>
                      <a:r>
                        <a:rPr lang="en-IN">
                          <a:effectLst/>
                          <a:latin typeface="Google Sans Text"/>
                        </a:rPr>
                        <a:t>- It is highly resistant to external static and radio noise due to its thick, multi-layered metal shielding design.</a:t>
                      </a:r>
                    </a:p>
                  </a:txBody>
                  <a:tcPr marL="114300" marR="114300" marT="76200" marB="76200" anchor="ctr"/>
                </a:tc>
                <a:tc>
                  <a:txBody>
                    <a:bodyPr/>
                    <a:lstStyle/>
                    <a:p>
                      <a:pPr>
                        <a:buNone/>
                      </a:pPr>
                      <a:r>
                        <a:rPr lang="en-IN" dirty="0">
                          <a:effectLst/>
                          <a:latin typeface="Google Sans Text"/>
                        </a:rPr>
                        <a:t>- The cable is thick, heavy, and very stiff, making it difficult to bend around sharp corners or pull through narrow wall pipes.</a:t>
                      </a:r>
                    </a:p>
                  </a:txBody>
                  <a:tcPr marL="114300" marR="114300" marT="76200" marB="76200" anchor="ctr"/>
                </a:tc>
                <a:extLst>
                  <a:ext uri="{0D108BD9-81ED-4DB2-BD59-A6C34878D82A}">
                    <a16:rowId xmlns:a16="http://schemas.microsoft.com/office/drawing/2014/main" val="288979128"/>
                  </a:ext>
                </a:extLst>
              </a:tr>
              <a:tr h="370840">
                <a:tc>
                  <a:txBody>
                    <a:bodyPr/>
                    <a:lstStyle/>
                    <a:p>
                      <a:pPr>
                        <a:buNone/>
                      </a:pPr>
                      <a:r>
                        <a:rPr lang="en-IN" dirty="0">
                          <a:effectLst/>
                          <a:latin typeface="Google Sans Text"/>
                        </a:rPr>
                        <a:t>- It can safely carry data packets across longer distances (up to 500 meters) before the signal needs a boost.</a:t>
                      </a:r>
                    </a:p>
                  </a:txBody>
                  <a:tcPr marL="114300" marR="114300" marT="76200" marB="76200" anchor="ctr"/>
                </a:tc>
                <a:tc>
                  <a:txBody>
                    <a:bodyPr/>
                    <a:lstStyle/>
                    <a:p>
                      <a:pPr>
                        <a:buNone/>
                      </a:pPr>
                      <a:r>
                        <a:rPr lang="en-IN">
                          <a:effectLst/>
                          <a:latin typeface="Google Sans Text"/>
                        </a:rPr>
                        <a:t>- If the central copper core gets bent or dented anywhere along the line, the entire cable's performance fails completely.</a:t>
                      </a:r>
                    </a:p>
                  </a:txBody>
                  <a:tcPr marL="114300" marR="114300" marT="76200" marB="76200" anchor="ctr"/>
                </a:tc>
                <a:extLst>
                  <a:ext uri="{0D108BD9-81ED-4DB2-BD59-A6C34878D82A}">
                    <a16:rowId xmlns:a16="http://schemas.microsoft.com/office/drawing/2014/main" val="3457613500"/>
                  </a:ext>
                </a:extLst>
              </a:tr>
              <a:tr h="370840">
                <a:tc>
                  <a:txBody>
                    <a:bodyPr/>
                    <a:lstStyle/>
                    <a:p>
                      <a:pPr>
                        <a:buNone/>
                      </a:pPr>
                      <a:r>
                        <a:rPr lang="en-IN">
                          <a:effectLst/>
                          <a:latin typeface="Google Sans Text"/>
                        </a:rPr>
                        <a:t>- It supports higher data capacities than basic unshielded twisted-pair lines.</a:t>
                      </a:r>
                    </a:p>
                  </a:txBody>
                  <a:tcPr marL="114300" marR="114300" marT="76200" marB="76200" anchor="ctr"/>
                </a:tc>
                <a:tc>
                  <a:txBody>
                    <a:bodyPr/>
                    <a:lstStyle/>
                    <a:p>
                      <a:pPr>
                        <a:buNone/>
                      </a:pPr>
                      <a:r>
                        <a:rPr lang="en-IN" dirty="0">
                          <a:effectLst/>
                          <a:latin typeface="Google Sans Text"/>
                        </a:rPr>
                        <a:t>- The specialized metal screw-on connectors (BNC connectors) are more expensive and take longer to install cleanly.</a:t>
                      </a:r>
                    </a:p>
                  </a:txBody>
                  <a:tcPr marL="114300" marR="114300" marT="76200" marB="76200" anchor="ctr"/>
                </a:tc>
                <a:extLst>
                  <a:ext uri="{0D108BD9-81ED-4DB2-BD59-A6C34878D82A}">
                    <a16:rowId xmlns:a16="http://schemas.microsoft.com/office/drawing/2014/main" val="4166571743"/>
                  </a:ext>
                </a:extLst>
              </a:tr>
            </a:tbl>
          </a:graphicData>
        </a:graphic>
      </p:graphicFrame>
      <p:pic>
        <p:nvPicPr>
          <p:cNvPr id="6" name="Picture 5">
            <a:extLst>
              <a:ext uri="{FF2B5EF4-FFF2-40B4-BE49-F238E27FC236}">
                <a16:creationId xmlns:a16="http://schemas.microsoft.com/office/drawing/2014/main" id="{40A2E6FE-71D0-46D2-9678-1D9C274258ED}"/>
              </a:ext>
            </a:extLst>
          </p:cNvPr>
          <p:cNvPicPr>
            <a:picLocks noChangeAspect="1"/>
          </p:cNvPicPr>
          <p:nvPr/>
        </p:nvPicPr>
        <p:blipFill>
          <a:blip r:embed="rId2"/>
          <a:stretch>
            <a:fillRect/>
          </a:stretch>
        </p:blipFill>
        <p:spPr>
          <a:xfrm>
            <a:off x="8289824" y="2562727"/>
            <a:ext cx="2638793" cy="3934374"/>
          </a:xfrm>
          <a:prstGeom prst="rect">
            <a:avLst/>
          </a:prstGeom>
        </p:spPr>
      </p:pic>
    </p:spTree>
    <p:extLst>
      <p:ext uri="{BB962C8B-B14F-4D97-AF65-F5344CB8AC3E}">
        <p14:creationId xmlns:p14="http://schemas.microsoft.com/office/powerpoint/2010/main" val="13782136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8F02A4-C12B-E1BC-5F53-BF3661E5BA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CBEAA1-203D-22E9-1FE4-61587584C821}"/>
              </a:ext>
            </a:extLst>
          </p:cNvPr>
          <p:cNvSpPr>
            <a:spLocks noGrp="1"/>
          </p:cNvSpPr>
          <p:nvPr>
            <p:ph type="title"/>
          </p:nvPr>
        </p:nvSpPr>
        <p:spPr>
          <a:xfrm>
            <a:off x="433137" y="477420"/>
            <a:ext cx="11373852" cy="597401"/>
          </a:xfrm>
        </p:spPr>
        <p:txBody>
          <a:bodyPr>
            <a:normAutofit fontScale="90000"/>
          </a:bodyPr>
          <a:lstStyle/>
          <a:p>
            <a:r>
              <a:rPr lang="en-IN" dirty="0"/>
              <a:t>FIBER OPTIC CABLE</a:t>
            </a:r>
          </a:p>
        </p:txBody>
      </p:sp>
      <p:sp>
        <p:nvSpPr>
          <p:cNvPr id="3" name="Content Placeholder 2">
            <a:extLst>
              <a:ext uri="{FF2B5EF4-FFF2-40B4-BE49-F238E27FC236}">
                <a16:creationId xmlns:a16="http://schemas.microsoft.com/office/drawing/2014/main" id="{2348DD71-B809-E7DA-63BA-9037E3501816}"/>
              </a:ext>
            </a:extLst>
          </p:cNvPr>
          <p:cNvSpPr>
            <a:spLocks noGrp="1"/>
          </p:cNvSpPr>
          <p:nvPr>
            <p:ph idx="1"/>
          </p:nvPr>
        </p:nvSpPr>
        <p:spPr>
          <a:xfrm>
            <a:off x="433137" y="1074821"/>
            <a:ext cx="11373852" cy="5454316"/>
          </a:xfrm>
        </p:spPr>
        <p:txBody>
          <a:bodyPr>
            <a:normAutofit/>
          </a:bodyPr>
          <a:lstStyle/>
          <a:p>
            <a:r>
              <a:rPr lang="en-IN" sz="2000" dirty="0"/>
              <a:t>It is an ultra-high-speed network cable made out of incredibly thin strands of pure glass or plastic, each about the thickness of a human hair.</a:t>
            </a:r>
          </a:p>
          <a:p>
            <a:r>
              <a:rPr lang="en-IN" sz="2000" dirty="0"/>
              <a:t>Instead of using electrical currents, </a:t>
            </a:r>
            <a:r>
              <a:rPr lang="en-IN" sz="2000" dirty="0" err="1"/>
              <a:t>fiber</a:t>
            </a:r>
            <a:r>
              <a:rPr lang="en-IN" sz="2000" dirty="0"/>
              <a:t> optic cables carry data packets using pulses of modulated </a:t>
            </a:r>
            <a:r>
              <a:rPr lang="en-IN" sz="2000" b="1" dirty="0"/>
              <a:t>Light</a:t>
            </a:r>
            <a:r>
              <a:rPr lang="en-IN" sz="2000" dirty="0"/>
              <a:t>.</a:t>
            </a:r>
          </a:p>
          <a:p>
            <a:r>
              <a:rPr lang="en-IN" sz="2000" dirty="0"/>
              <a:t>It consists of a central glass core surrounded by a reflective glass layer called </a:t>
            </a:r>
            <a:r>
              <a:rPr lang="en-IN" sz="2000" b="1" dirty="0"/>
              <a:t>Cladding</a:t>
            </a:r>
            <a:r>
              <a:rPr lang="en-IN" sz="2000" dirty="0"/>
              <a:t>, which acts like a mirror to trap the light inside.</a:t>
            </a:r>
          </a:p>
          <a:p>
            <a:r>
              <a:rPr lang="en-IN" sz="2000" dirty="0"/>
              <a:t>Because it uses light instead of electricity, it is completely immune to all forms of electrical noise, magnetic static, and lightning strikes.</a:t>
            </a:r>
          </a:p>
          <a:p>
            <a:endParaRPr lang="en-IN" sz="2000" dirty="0"/>
          </a:p>
          <a:p>
            <a:pPr marL="0" indent="0">
              <a:buNone/>
            </a:pPr>
            <a:r>
              <a:rPr lang="en-IN" sz="2000" b="1" dirty="0"/>
              <a:t>How it works?</a:t>
            </a:r>
          </a:p>
          <a:p>
            <a:r>
              <a:rPr lang="en-IN" sz="2000" dirty="0"/>
              <a:t>A laser or LED at the sending end converts digital 1s and 0s into super-fast flashes of light.</a:t>
            </a:r>
          </a:p>
          <a:p>
            <a:r>
              <a:rPr lang="en-IN" sz="2000" dirty="0"/>
              <a:t>These light pulses bounce down the glass core line using a physics principle called </a:t>
            </a:r>
            <a:r>
              <a:rPr lang="en-IN" sz="2000" b="1" dirty="0"/>
              <a:t>Total Internal Reflection</a:t>
            </a:r>
            <a:r>
              <a:rPr lang="en-IN" sz="2000" dirty="0"/>
              <a:t> (the cladding mirror layer constantly bounces the light back into the core).</a:t>
            </a:r>
          </a:p>
          <a:p>
            <a:r>
              <a:rPr lang="en-IN" sz="2000" dirty="0"/>
              <a:t>The light pulses travel at near the speed of light over immense distances without losing brightness, where a light-sensor on the receiving end decodes them back into digital data.</a:t>
            </a:r>
          </a:p>
          <a:p>
            <a:endParaRPr lang="en-IN" sz="2000" dirty="0"/>
          </a:p>
        </p:txBody>
      </p:sp>
    </p:spTree>
    <p:extLst>
      <p:ext uri="{BB962C8B-B14F-4D97-AF65-F5344CB8AC3E}">
        <p14:creationId xmlns:p14="http://schemas.microsoft.com/office/powerpoint/2010/main" val="110264741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F806B82-EAB6-E232-14F4-A06458E13F7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6B418D-B4D0-C829-E4E9-E5A9D3E2C3F0}"/>
              </a:ext>
            </a:extLst>
          </p:cNvPr>
          <p:cNvSpPr>
            <a:spLocks noGrp="1"/>
          </p:cNvSpPr>
          <p:nvPr>
            <p:ph idx="1"/>
          </p:nvPr>
        </p:nvSpPr>
        <p:spPr>
          <a:xfrm>
            <a:off x="433137" y="641684"/>
            <a:ext cx="11373852" cy="5887453"/>
          </a:xfrm>
        </p:spPr>
        <p:txBody>
          <a:bodyPr>
            <a:normAutofit/>
          </a:bodyPr>
          <a:lstStyle/>
          <a:p>
            <a:r>
              <a:rPr lang="en-IN" sz="2000" b="1" dirty="0"/>
              <a:t>Examples</a:t>
            </a:r>
          </a:p>
          <a:p>
            <a:r>
              <a:rPr lang="en-IN" sz="2000" b="1" dirty="0"/>
              <a:t>Undersea Global Links:</a:t>
            </a:r>
            <a:r>
              <a:rPr lang="en-IN" sz="2000" dirty="0"/>
              <a:t> Massive, heavily </a:t>
            </a:r>
            <a:r>
              <a:rPr lang="en-IN" sz="2000" dirty="0" err="1"/>
              <a:t>armored</a:t>
            </a:r>
            <a:r>
              <a:rPr lang="en-IN" sz="2000" dirty="0"/>
              <a:t> lines laid across ocean floors to connect continents and move global internet packet traffic between countries.</a:t>
            </a:r>
          </a:p>
          <a:p>
            <a:r>
              <a:rPr lang="en-IN" sz="2000" b="1" dirty="0"/>
              <a:t>Internet Backbones:</a:t>
            </a:r>
            <a:r>
              <a:rPr lang="en-IN" sz="2000" dirty="0"/>
              <a:t> High-capacity data lines linking different cities, cellular towers, and massive data </a:t>
            </a:r>
            <a:r>
              <a:rPr lang="en-IN" sz="2000" dirty="0" err="1"/>
              <a:t>centers</a:t>
            </a:r>
            <a:r>
              <a:rPr lang="en-IN" sz="2000" dirty="0"/>
              <a:t> together.</a:t>
            </a:r>
          </a:p>
          <a:p>
            <a:r>
              <a:rPr lang="en-IN" sz="2000" b="1" dirty="0"/>
              <a:t>Fiber-to-the-Home (FTTH):</a:t>
            </a:r>
            <a:r>
              <a:rPr lang="en-IN" sz="2000" dirty="0"/>
              <a:t> High-speed home internet connections provided by modern telecom companies for ultra-fast downloading and streaming.</a:t>
            </a:r>
          </a:p>
          <a:p>
            <a:endParaRPr lang="en-IN" sz="2000" dirty="0"/>
          </a:p>
        </p:txBody>
      </p:sp>
      <p:graphicFrame>
        <p:nvGraphicFramePr>
          <p:cNvPr id="4" name="Table 3">
            <a:extLst>
              <a:ext uri="{FF2B5EF4-FFF2-40B4-BE49-F238E27FC236}">
                <a16:creationId xmlns:a16="http://schemas.microsoft.com/office/drawing/2014/main" id="{AC19CE0E-4D24-4774-66C9-DF1872F5F180}"/>
              </a:ext>
            </a:extLst>
          </p:cNvPr>
          <p:cNvGraphicFramePr>
            <a:graphicFrameLocks noGrp="1"/>
          </p:cNvGraphicFramePr>
          <p:nvPr/>
        </p:nvGraphicFramePr>
        <p:xfrm>
          <a:off x="1058779" y="3296385"/>
          <a:ext cx="10074442" cy="3353067"/>
        </p:xfrm>
        <a:graphic>
          <a:graphicData uri="http://schemas.openxmlformats.org/drawingml/2006/table">
            <a:tbl>
              <a:tblPr firstRow="1" bandRow="1">
                <a:tableStyleId>{5C22544A-7EE6-4342-B048-85BDC9FD1C3A}</a:tableStyleId>
              </a:tblPr>
              <a:tblGrid>
                <a:gridCol w="5037221">
                  <a:extLst>
                    <a:ext uri="{9D8B030D-6E8A-4147-A177-3AD203B41FA5}">
                      <a16:colId xmlns:a16="http://schemas.microsoft.com/office/drawing/2014/main" val="2184579410"/>
                    </a:ext>
                  </a:extLst>
                </a:gridCol>
                <a:gridCol w="5037221">
                  <a:extLst>
                    <a:ext uri="{9D8B030D-6E8A-4147-A177-3AD203B41FA5}">
                      <a16:colId xmlns:a16="http://schemas.microsoft.com/office/drawing/2014/main" val="1515808884"/>
                    </a:ext>
                  </a:extLst>
                </a:gridCol>
              </a:tblGrid>
              <a:tr h="426987">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602570201"/>
                  </a:ext>
                </a:extLst>
              </a:tr>
              <a:tr h="370840">
                <a:tc>
                  <a:txBody>
                    <a:bodyPr/>
                    <a:lstStyle/>
                    <a:p>
                      <a:pPr>
                        <a:buNone/>
                      </a:pPr>
                      <a:r>
                        <a:rPr lang="en-IN">
                          <a:effectLst/>
                          <a:latin typeface="Google Sans Text"/>
                        </a:rPr>
                        <a:t>- It offers almost infinite bandwidth capacity, supporting blistering data speeds up to several Terabits per second.</a:t>
                      </a:r>
                    </a:p>
                  </a:txBody>
                  <a:tcPr marL="114300" marR="114300" marT="76200" marB="76200" anchor="ctr"/>
                </a:tc>
                <a:tc>
                  <a:txBody>
                    <a:bodyPr/>
                    <a:lstStyle/>
                    <a:p>
                      <a:pPr>
                        <a:buNone/>
                      </a:pPr>
                      <a:r>
                        <a:rPr lang="en-IN">
                          <a:effectLst/>
                          <a:latin typeface="Google Sans Text"/>
                        </a:rPr>
                        <a:t>- It is highly expensive to manufacture, purchase, and deploy over large areas compared to copper.</a:t>
                      </a:r>
                    </a:p>
                  </a:txBody>
                  <a:tcPr marL="114300" marR="114300" marT="76200" marB="76200" anchor="ctr"/>
                </a:tc>
                <a:extLst>
                  <a:ext uri="{0D108BD9-81ED-4DB2-BD59-A6C34878D82A}">
                    <a16:rowId xmlns:a16="http://schemas.microsoft.com/office/drawing/2014/main" val="3706872246"/>
                  </a:ext>
                </a:extLst>
              </a:tr>
              <a:tr h="370840">
                <a:tc>
                  <a:txBody>
                    <a:bodyPr/>
                    <a:lstStyle/>
                    <a:p>
                      <a:pPr>
                        <a:buNone/>
                      </a:pPr>
                      <a:r>
                        <a:rPr lang="en-IN">
                          <a:effectLst/>
                          <a:latin typeface="Google Sans Text"/>
                        </a:rPr>
                        <a:t>- It can carry data packets across tens of kilometers without needing any signal boosters or amplifiers.</a:t>
                      </a:r>
                    </a:p>
                  </a:txBody>
                  <a:tcPr marL="114300" marR="114300" marT="76200" marB="76200" anchor="ctr"/>
                </a:tc>
                <a:tc>
                  <a:txBody>
                    <a:bodyPr/>
                    <a:lstStyle/>
                    <a:p>
                      <a:pPr>
                        <a:buNone/>
                      </a:pPr>
                      <a:r>
                        <a:rPr lang="en-IN">
                          <a:effectLst/>
                          <a:latin typeface="Google Sans Text"/>
                        </a:rPr>
                        <a:t>- The glass core is highly fragile; if you accidentally bend the cable too sharply, the glass inside will crack and shatter.</a:t>
                      </a:r>
                    </a:p>
                  </a:txBody>
                  <a:tcPr marL="114300" marR="114300" marT="76200" marB="76200" anchor="ctr"/>
                </a:tc>
                <a:extLst>
                  <a:ext uri="{0D108BD9-81ED-4DB2-BD59-A6C34878D82A}">
                    <a16:rowId xmlns:a16="http://schemas.microsoft.com/office/drawing/2014/main" val="780489883"/>
                  </a:ext>
                </a:extLst>
              </a:tr>
              <a:tr h="370840">
                <a:tc>
                  <a:txBody>
                    <a:bodyPr/>
                    <a:lstStyle/>
                    <a:p>
                      <a:pPr>
                        <a:buNone/>
                      </a:pPr>
                      <a:r>
                        <a:rPr lang="en-IN">
                          <a:effectLst/>
                          <a:latin typeface="Google Sans Text"/>
                        </a:rPr>
                        <a:t>- It has zero vulnerability to electrical static, lightning, or magnetic interference, making it exceptionally reliable.</a:t>
                      </a:r>
                    </a:p>
                  </a:txBody>
                  <a:tcPr marL="114300" marR="114300" marT="76200" marB="76200" anchor="ctr"/>
                </a:tc>
                <a:tc>
                  <a:txBody>
                    <a:bodyPr/>
                    <a:lstStyle/>
                    <a:p>
                      <a:pPr>
                        <a:buNone/>
                      </a:pPr>
                      <a:r>
                        <a:rPr lang="en-IN" dirty="0">
                          <a:effectLst/>
                          <a:latin typeface="Google Sans Text"/>
                        </a:rPr>
                        <a:t>- It requires specialized, highly expensive laser alignment tools and trained engineers to cut, join, or splice two cables together.</a:t>
                      </a:r>
                    </a:p>
                  </a:txBody>
                  <a:tcPr marL="114300" marR="114300" marT="76200" marB="76200" anchor="ctr"/>
                </a:tc>
                <a:extLst>
                  <a:ext uri="{0D108BD9-81ED-4DB2-BD59-A6C34878D82A}">
                    <a16:rowId xmlns:a16="http://schemas.microsoft.com/office/drawing/2014/main" val="2641058116"/>
                  </a:ext>
                </a:extLst>
              </a:tr>
            </a:tbl>
          </a:graphicData>
        </a:graphic>
      </p:graphicFrame>
    </p:spTree>
    <p:extLst>
      <p:ext uri="{BB962C8B-B14F-4D97-AF65-F5344CB8AC3E}">
        <p14:creationId xmlns:p14="http://schemas.microsoft.com/office/powerpoint/2010/main" val="17067273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A0D35D-3D5A-454A-C900-3F6E3404C57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2C4414-D97F-6015-BD1A-00089030CBDB}"/>
              </a:ext>
            </a:extLst>
          </p:cNvPr>
          <p:cNvSpPr>
            <a:spLocks noGrp="1"/>
          </p:cNvSpPr>
          <p:nvPr>
            <p:ph type="title"/>
          </p:nvPr>
        </p:nvSpPr>
        <p:spPr>
          <a:xfrm>
            <a:off x="433137" y="477420"/>
            <a:ext cx="11373852" cy="677612"/>
          </a:xfrm>
        </p:spPr>
        <p:txBody>
          <a:bodyPr>
            <a:normAutofit fontScale="90000"/>
          </a:bodyPr>
          <a:lstStyle/>
          <a:p>
            <a:r>
              <a:rPr lang="en-IN" dirty="0"/>
              <a:t>UNGUIDED MEDIA (WIRELESS) – Radio Waves</a:t>
            </a:r>
          </a:p>
        </p:txBody>
      </p:sp>
      <p:sp>
        <p:nvSpPr>
          <p:cNvPr id="3" name="Content Placeholder 2">
            <a:extLst>
              <a:ext uri="{FF2B5EF4-FFF2-40B4-BE49-F238E27FC236}">
                <a16:creationId xmlns:a16="http://schemas.microsoft.com/office/drawing/2014/main" id="{82177957-584A-5E8F-969B-4F2EB63765D9}"/>
              </a:ext>
            </a:extLst>
          </p:cNvPr>
          <p:cNvSpPr>
            <a:spLocks noGrp="1"/>
          </p:cNvSpPr>
          <p:nvPr>
            <p:ph idx="1"/>
          </p:nvPr>
        </p:nvSpPr>
        <p:spPr>
          <a:xfrm>
            <a:off x="433137" y="1411705"/>
            <a:ext cx="11373852" cy="5117432"/>
          </a:xfrm>
        </p:spPr>
        <p:txBody>
          <a:bodyPr>
            <a:normAutofit/>
          </a:bodyPr>
          <a:lstStyle/>
          <a:p>
            <a:pPr marL="0" indent="0">
              <a:buNone/>
            </a:pPr>
            <a:r>
              <a:rPr lang="en-IN" sz="2000" b="1" dirty="0"/>
              <a:t>What are Radio Waves?</a:t>
            </a:r>
          </a:p>
          <a:p>
            <a:r>
              <a:rPr lang="en-IN" sz="2000" dirty="0"/>
              <a:t>Radio waves are low-frequency electromagnetic waves that can travel easily through the open air in all directions.</a:t>
            </a:r>
          </a:p>
          <a:p>
            <a:r>
              <a:rPr lang="en-IN" sz="2000" dirty="0"/>
              <a:t>They operate in a frequency range from 3 Kilohertz (kHz) up to 1 Gigahertz (GHz).</a:t>
            </a:r>
          </a:p>
          <a:p>
            <a:r>
              <a:rPr lang="en-IN" sz="2000" dirty="0"/>
              <a:t>They are </a:t>
            </a:r>
            <a:r>
              <a:rPr lang="en-IN" sz="2000" b="1" dirty="0"/>
              <a:t>Omnidirectional</a:t>
            </a:r>
            <a:r>
              <a:rPr lang="en-IN" sz="2000" dirty="0"/>
              <a:t>, meaning when an antenna sends out a radio wave, it spreads outward in all directions like a ripple in a pond.</a:t>
            </a:r>
          </a:p>
          <a:p>
            <a:r>
              <a:rPr lang="en-IN" sz="2000" dirty="0"/>
              <a:t>They have a long wavelength property, which gives them the ability to pass straight through solid obstacles like walls, windows, and entire buildings.</a:t>
            </a:r>
          </a:p>
          <a:p>
            <a:pPr marL="0" indent="0">
              <a:buNone/>
            </a:pPr>
            <a:r>
              <a:rPr lang="en-IN" sz="2000" b="1" dirty="0"/>
              <a:t>How it works?</a:t>
            </a:r>
          </a:p>
          <a:p>
            <a:r>
              <a:rPr lang="en-IN" sz="2000" dirty="0"/>
              <a:t>A wireless transmitter sends a data packet to an omnidirectional antenna, which converts the data into a radio frequency wave.</a:t>
            </a:r>
          </a:p>
          <a:p>
            <a:r>
              <a:rPr lang="en-IN" sz="2000" dirty="0"/>
              <a:t>The wave propagates outward through space, passing through any nearby walls or obstacles.</a:t>
            </a:r>
          </a:p>
          <a:p>
            <a:r>
              <a:rPr lang="en-IN" sz="2000" dirty="0"/>
              <a:t>Any receiving device within range with a matching antenna can intercept the wave and extract the data packets, regardless of its exact position or angle.</a:t>
            </a:r>
          </a:p>
          <a:p>
            <a:endParaRPr lang="en-IN" sz="2000" dirty="0"/>
          </a:p>
        </p:txBody>
      </p:sp>
    </p:spTree>
    <p:extLst>
      <p:ext uri="{BB962C8B-B14F-4D97-AF65-F5344CB8AC3E}">
        <p14:creationId xmlns:p14="http://schemas.microsoft.com/office/powerpoint/2010/main" val="2005093511"/>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D3B0AB-C1AC-BC58-2AAB-B4C3C0D18901}"/>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3704A34-B061-713E-9BC6-EE3A4A56F23B}"/>
              </a:ext>
            </a:extLst>
          </p:cNvPr>
          <p:cNvSpPr>
            <a:spLocks noGrp="1"/>
          </p:cNvSpPr>
          <p:nvPr>
            <p:ph idx="1"/>
          </p:nvPr>
        </p:nvSpPr>
        <p:spPr>
          <a:xfrm>
            <a:off x="433137" y="705853"/>
            <a:ext cx="11373852" cy="5823284"/>
          </a:xfrm>
        </p:spPr>
        <p:txBody>
          <a:bodyPr>
            <a:normAutofit/>
          </a:bodyPr>
          <a:lstStyle/>
          <a:p>
            <a:pPr marL="0" indent="0">
              <a:buNone/>
            </a:pPr>
            <a:r>
              <a:rPr lang="en-IN" sz="2000" b="1" dirty="0"/>
              <a:t>Examples</a:t>
            </a:r>
          </a:p>
          <a:p>
            <a:r>
              <a:rPr lang="en-IN" sz="2000" b="1" dirty="0"/>
              <a:t>AM and FM Radio:</a:t>
            </a:r>
            <a:r>
              <a:rPr lang="en-IN" sz="2000" dirty="0"/>
              <a:t> Standard audio broadcasts sent out to car stereos and portable home radios.</a:t>
            </a:r>
          </a:p>
          <a:p>
            <a:r>
              <a:rPr lang="en-IN" sz="2000" b="1" dirty="0"/>
              <a:t>Cellular Networks:</a:t>
            </a:r>
            <a:r>
              <a:rPr lang="en-IN" sz="2000" dirty="0"/>
              <a:t> Older 2G and 3G mobile systems used basic radio wave bands to transmit voice packets to cellular phones.</a:t>
            </a:r>
          </a:p>
          <a:p>
            <a:r>
              <a:rPr lang="en-IN" sz="2000" b="1" dirty="0"/>
              <a:t>Cordless Home Phones:</a:t>
            </a:r>
            <a:r>
              <a:rPr lang="en-IN" sz="2000" dirty="0"/>
              <a:t> Handsets that talk wirelessly to their base station sitting across the living room.</a:t>
            </a:r>
          </a:p>
          <a:p>
            <a:endParaRPr lang="en-IN" sz="2000" dirty="0"/>
          </a:p>
        </p:txBody>
      </p:sp>
      <p:graphicFrame>
        <p:nvGraphicFramePr>
          <p:cNvPr id="4" name="Table 3">
            <a:extLst>
              <a:ext uri="{FF2B5EF4-FFF2-40B4-BE49-F238E27FC236}">
                <a16:creationId xmlns:a16="http://schemas.microsoft.com/office/drawing/2014/main" id="{59E52D4B-9E0A-01FE-0C27-ADC840DBC818}"/>
              </a:ext>
            </a:extLst>
          </p:cNvPr>
          <p:cNvGraphicFramePr>
            <a:graphicFrameLocks noGrp="1"/>
          </p:cNvGraphicFramePr>
          <p:nvPr/>
        </p:nvGraphicFramePr>
        <p:xfrm>
          <a:off x="946484" y="3073667"/>
          <a:ext cx="9801728" cy="3078480"/>
        </p:xfrm>
        <a:graphic>
          <a:graphicData uri="http://schemas.openxmlformats.org/drawingml/2006/table">
            <a:tbl>
              <a:tblPr firstRow="1" bandRow="1">
                <a:tableStyleId>{5C22544A-7EE6-4342-B048-85BDC9FD1C3A}</a:tableStyleId>
              </a:tblPr>
              <a:tblGrid>
                <a:gridCol w="4900864">
                  <a:extLst>
                    <a:ext uri="{9D8B030D-6E8A-4147-A177-3AD203B41FA5}">
                      <a16:colId xmlns:a16="http://schemas.microsoft.com/office/drawing/2014/main" val="1235276276"/>
                    </a:ext>
                  </a:extLst>
                </a:gridCol>
                <a:gridCol w="4900864">
                  <a:extLst>
                    <a:ext uri="{9D8B030D-6E8A-4147-A177-3AD203B41FA5}">
                      <a16:colId xmlns:a16="http://schemas.microsoft.com/office/drawing/2014/main" val="3769295562"/>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539730111"/>
                  </a:ext>
                </a:extLst>
              </a:tr>
              <a:tr h="370840">
                <a:tc>
                  <a:txBody>
                    <a:bodyPr/>
                    <a:lstStyle/>
                    <a:p>
                      <a:pPr>
                        <a:buNone/>
                      </a:pPr>
                      <a:r>
                        <a:rPr lang="en-IN">
                          <a:effectLst/>
                          <a:latin typeface="Google Sans Text"/>
                        </a:rPr>
                        <a:t>- The waves can pass easily through solid walls and buildings, meaning you don't need a clear line-of-sight to communicate.</a:t>
                      </a:r>
                    </a:p>
                  </a:txBody>
                  <a:tcPr marL="114300" marR="114300" marT="76200" marB="76200" anchor="ctr"/>
                </a:tc>
                <a:tc>
                  <a:txBody>
                    <a:bodyPr/>
                    <a:lstStyle/>
                    <a:p>
                      <a:pPr>
                        <a:buNone/>
                      </a:pPr>
                      <a:r>
                        <a:rPr lang="en-IN">
                          <a:effectLst/>
                          <a:latin typeface="Google Sans Text"/>
                        </a:rPr>
                        <a:t>- Because they spread in all directions, they offer low security; anyone with an antenna nearby can capture and intercept your packets.</a:t>
                      </a:r>
                    </a:p>
                  </a:txBody>
                  <a:tcPr marL="114300" marR="114300" marT="76200" marB="76200" anchor="ctr"/>
                </a:tc>
                <a:extLst>
                  <a:ext uri="{0D108BD9-81ED-4DB2-BD59-A6C34878D82A}">
                    <a16:rowId xmlns:a16="http://schemas.microsoft.com/office/drawing/2014/main" val="2768962651"/>
                  </a:ext>
                </a:extLst>
              </a:tr>
              <a:tr h="370840">
                <a:tc>
                  <a:txBody>
                    <a:bodyPr/>
                    <a:lstStyle/>
                    <a:p>
                      <a:pPr>
                        <a:buNone/>
                      </a:pPr>
                      <a:r>
                        <a:rPr lang="en-IN">
                          <a:effectLst/>
                          <a:latin typeface="Google Sans Text"/>
                        </a:rPr>
                        <a:t>- It is excellent for mobile devices that move around constantly, as the transmitter does not need to be pointed at the receiver.</a:t>
                      </a:r>
                    </a:p>
                  </a:txBody>
                  <a:tcPr marL="114300" marR="114300" marT="76200" marB="76200" anchor="ctr"/>
                </a:tc>
                <a:tc>
                  <a:txBody>
                    <a:bodyPr/>
                    <a:lstStyle/>
                    <a:p>
                      <a:pPr>
                        <a:buNone/>
                      </a:pPr>
                      <a:r>
                        <a:rPr lang="en-IN">
                          <a:effectLst/>
                          <a:latin typeface="Google Sans Text"/>
                        </a:rPr>
                        <a:t>- They suffer from frequency crowding and interference if multiple transmitters in the same city try to use the same channel.</a:t>
                      </a:r>
                    </a:p>
                  </a:txBody>
                  <a:tcPr marL="114300" marR="114300" marT="76200" marB="76200" anchor="ctr"/>
                </a:tc>
                <a:extLst>
                  <a:ext uri="{0D108BD9-81ED-4DB2-BD59-A6C34878D82A}">
                    <a16:rowId xmlns:a16="http://schemas.microsoft.com/office/drawing/2014/main" val="523930896"/>
                  </a:ext>
                </a:extLst>
              </a:tr>
              <a:tr h="370840">
                <a:tc>
                  <a:txBody>
                    <a:bodyPr/>
                    <a:lstStyle/>
                    <a:p>
                      <a:pPr>
                        <a:buNone/>
                      </a:pPr>
                      <a:r>
                        <a:rPr lang="en-IN">
                          <a:effectLst/>
                          <a:latin typeface="Google Sans Text"/>
                        </a:rPr>
                        <a:t>- It can cover massive geographical areas from a single high-power broadcast tower.</a:t>
                      </a:r>
                    </a:p>
                  </a:txBody>
                  <a:tcPr marL="114300" marR="114300" marT="76200" marB="76200" anchor="ctr"/>
                </a:tc>
                <a:tc>
                  <a:txBody>
                    <a:bodyPr/>
                    <a:lstStyle/>
                    <a:p>
                      <a:pPr>
                        <a:buNone/>
                      </a:pPr>
                      <a:r>
                        <a:rPr lang="en-IN" dirty="0">
                          <a:effectLst/>
                          <a:latin typeface="Google Sans Text"/>
                        </a:rPr>
                        <a:t>- They offer lower data rate capacity compared to higher frequency options like microwaves.</a:t>
                      </a:r>
                    </a:p>
                  </a:txBody>
                  <a:tcPr marL="114300" marR="114300" marT="76200" marB="76200" anchor="ctr"/>
                </a:tc>
                <a:extLst>
                  <a:ext uri="{0D108BD9-81ED-4DB2-BD59-A6C34878D82A}">
                    <a16:rowId xmlns:a16="http://schemas.microsoft.com/office/drawing/2014/main" val="3647198497"/>
                  </a:ext>
                </a:extLst>
              </a:tr>
            </a:tbl>
          </a:graphicData>
        </a:graphic>
      </p:graphicFrame>
    </p:spTree>
    <p:extLst>
      <p:ext uri="{BB962C8B-B14F-4D97-AF65-F5344CB8AC3E}">
        <p14:creationId xmlns:p14="http://schemas.microsoft.com/office/powerpoint/2010/main" val="116332666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5EBE92-8C44-578B-9F70-E179F66D641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D542856-F86C-DE06-99D6-C1BD1F372FDD}"/>
              </a:ext>
            </a:extLst>
          </p:cNvPr>
          <p:cNvSpPr>
            <a:spLocks noGrp="1"/>
          </p:cNvSpPr>
          <p:nvPr>
            <p:ph type="title"/>
          </p:nvPr>
        </p:nvSpPr>
        <p:spPr>
          <a:xfrm>
            <a:off x="433137" y="477420"/>
            <a:ext cx="11373852" cy="677612"/>
          </a:xfrm>
        </p:spPr>
        <p:txBody>
          <a:bodyPr>
            <a:normAutofit fontScale="90000"/>
          </a:bodyPr>
          <a:lstStyle/>
          <a:p>
            <a:r>
              <a:rPr lang="en-IN" dirty="0"/>
              <a:t>MICROWAVES</a:t>
            </a:r>
          </a:p>
        </p:txBody>
      </p:sp>
      <p:sp>
        <p:nvSpPr>
          <p:cNvPr id="3" name="Content Placeholder 2">
            <a:extLst>
              <a:ext uri="{FF2B5EF4-FFF2-40B4-BE49-F238E27FC236}">
                <a16:creationId xmlns:a16="http://schemas.microsoft.com/office/drawing/2014/main" id="{AE00DB79-AE4D-8A99-5D1E-74F23B061D3F}"/>
              </a:ext>
            </a:extLst>
          </p:cNvPr>
          <p:cNvSpPr>
            <a:spLocks noGrp="1"/>
          </p:cNvSpPr>
          <p:nvPr>
            <p:ph idx="1"/>
          </p:nvPr>
        </p:nvSpPr>
        <p:spPr>
          <a:xfrm>
            <a:off x="433137" y="1042736"/>
            <a:ext cx="11373852" cy="5815263"/>
          </a:xfrm>
        </p:spPr>
        <p:txBody>
          <a:bodyPr>
            <a:normAutofit lnSpcReduction="10000"/>
          </a:bodyPr>
          <a:lstStyle/>
          <a:p>
            <a:pPr marL="0" indent="0">
              <a:buNone/>
            </a:pPr>
            <a:r>
              <a:rPr lang="en-IN" sz="2000" b="1" dirty="0"/>
              <a:t>What are Microwaves?</a:t>
            </a:r>
          </a:p>
          <a:p>
            <a:r>
              <a:rPr lang="en-IN" sz="2000" dirty="0"/>
              <a:t>Microwaves are high-frequency electromagnetic waves used for carrying large amounts of wireless data packets over long distances.</a:t>
            </a:r>
          </a:p>
          <a:p>
            <a:r>
              <a:rPr lang="en-IN" sz="2000" dirty="0"/>
              <a:t>They operate at a higher frequency band than radio waves, ranging from 1 Gigahertz (GHz) up to 300 Gigahertz (GHz).</a:t>
            </a:r>
          </a:p>
          <a:p>
            <a:r>
              <a:rPr lang="en-IN" sz="2000" dirty="0"/>
              <a:t>They are strictly </a:t>
            </a:r>
            <a:r>
              <a:rPr lang="en-IN" sz="2000" b="1" dirty="0"/>
              <a:t>Unidirectional</a:t>
            </a:r>
            <a:r>
              <a:rPr lang="en-IN" sz="2000" dirty="0"/>
              <a:t>, meaning the signal does not spread out; it shoots in a narrow, highly focused, straight beam.</a:t>
            </a:r>
          </a:p>
          <a:p>
            <a:r>
              <a:rPr lang="en-IN" sz="2000" dirty="0"/>
              <a:t>Because they travel in straight lines, they require a perfect, clear </a:t>
            </a:r>
            <a:r>
              <a:rPr lang="en-IN" sz="2000" b="1" dirty="0"/>
              <a:t>Line-of-Sight</a:t>
            </a:r>
            <a:r>
              <a:rPr lang="en-IN" sz="2000" dirty="0"/>
              <a:t> path between the sending dish and the receiving dish.</a:t>
            </a:r>
          </a:p>
          <a:p>
            <a:pPr marL="0" indent="0">
              <a:buNone/>
            </a:pPr>
            <a:r>
              <a:rPr lang="en-IN" sz="2000" b="1" dirty="0"/>
              <a:t>How it works?</a:t>
            </a:r>
          </a:p>
          <a:p>
            <a:r>
              <a:rPr lang="en-IN" sz="2000" dirty="0"/>
              <a:t>Data packets are converted into highly focused high-frequency microwave beams.</a:t>
            </a:r>
          </a:p>
          <a:p>
            <a:r>
              <a:rPr lang="en-IN" sz="2000" dirty="0"/>
              <a:t>A parabolic dish antenna aims this tight beam directly at another dish antenna located miles away on top of a distant hill or tower.</a:t>
            </a:r>
          </a:p>
          <a:p>
            <a:r>
              <a:rPr lang="en-IN" sz="2000" dirty="0"/>
              <a:t>Because the Earth curves, microwave towers must be built very tall and spaced roughly 30 to 40 miles apart so the straight beam doesn't shoot off into space.</a:t>
            </a:r>
          </a:p>
          <a:p>
            <a:r>
              <a:rPr lang="en-IN" sz="2000" dirty="0"/>
              <a:t>They can also be shot straight up into space to communications satellites, which catch the packet and beam it back down to another continent.</a:t>
            </a:r>
          </a:p>
          <a:p>
            <a:endParaRPr lang="en-IN" sz="2000" dirty="0"/>
          </a:p>
        </p:txBody>
      </p:sp>
    </p:spTree>
    <p:extLst>
      <p:ext uri="{BB962C8B-B14F-4D97-AF65-F5344CB8AC3E}">
        <p14:creationId xmlns:p14="http://schemas.microsoft.com/office/powerpoint/2010/main" val="3400716076"/>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B3AF5-8948-4463-6665-2577B17B238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550AC65-7CFD-D710-A1F1-E51844DE82FE}"/>
              </a:ext>
            </a:extLst>
          </p:cNvPr>
          <p:cNvSpPr>
            <a:spLocks noGrp="1"/>
          </p:cNvSpPr>
          <p:nvPr>
            <p:ph idx="1"/>
          </p:nvPr>
        </p:nvSpPr>
        <p:spPr>
          <a:xfrm>
            <a:off x="433137" y="593558"/>
            <a:ext cx="11373852" cy="5935579"/>
          </a:xfrm>
        </p:spPr>
        <p:txBody>
          <a:bodyPr>
            <a:normAutofit/>
          </a:bodyPr>
          <a:lstStyle/>
          <a:p>
            <a:pPr marL="0" indent="0">
              <a:buNone/>
            </a:pPr>
            <a:r>
              <a:rPr lang="en-IN" sz="2000" b="1" dirty="0"/>
              <a:t>Examples</a:t>
            </a:r>
          </a:p>
          <a:p>
            <a:r>
              <a:rPr lang="en-IN" sz="2000" b="1" dirty="0"/>
              <a:t>Satellite Internet Links:</a:t>
            </a:r>
            <a:r>
              <a:rPr lang="en-IN" sz="2000" dirty="0"/>
              <a:t> Connecting remote scientific outposts or ships at sea to global networks via orbiting satellites.</a:t>
            </a:r>
          </a:p>
          <a:p>
            <a:r>
              <a:rPr lang="en-IN" sz="2000" b="1" dirty="0"/>
              <a:t>Modern Wi-Fi and Bluetooth:</a:t>
            </a:r>
            <a:r>
              <a:rPr lang="en-IN" sz="2000" dirty="0"/>
              <a:t> Your home Wi-Fi router uses the 2.4 GHz and 5 GHz microwave bands to move packets to your laptop.</a:t>
            </a:r>
          </a:p>
          <a:p>
            <a:r>
              <a:rPr lang="en-IN" sz="2000" b="1" dirty="0"/>
              <a:t>Inter-City Tower Links:</a:t>
            </a:r>
            <a:r>
              <a:rPr lang="en-IN" sz="2000" dirty="0"/>
              <a:t> Telecom companies use microwave dishes on towers to send phone and internet data between </a:t>
            </a:r>
            <a:r>
              <a:rPr lang="en-IN" sz="2000" dirty="0" err="1"/>
              <a:t>neighboring</a:t>
            </a:r>
            <a:r>
              <a:rPr lang="en-IN" sz="2000" dirty="0"/>
              <a:t> towns without digging up roads to lay cables.</a:t>
            </a:r>
          </a:p>
          <a:p>
            <a:endParaRPr lang="en-IN" sz="2000" dirty="0"/>
          </a:p>
        </p:txBody>
      </p:sp>
      <p:graphicFrame>
        <p:nvGraphicFramePr>
          <p:cNvPr id="4" name="Table 3">
            <a:extLst>
              <a:ext uri="{FF2B5EF4-FFF2-40B4-BE49-F238E27FC236}">
                <a16:creationId xmlns:a16="http://schemas.microsoft.com/office/drawing/2014/main" id="{BB4C5F2F-B580-47E8-2CA8-403E81768927}"/>
              </a:ext>
            </a:extLst>
          </p:cNvPr>
          <p:cNvGraphicFramePr>
            <a:graphicFrameLocks noGrp="1"/>
          </p:cNvGraphicFramePr>
          <p:nvPr/>
        </p:nvGraphicFramePr>
        <p:xfrm>
          <a:off x="802105" y="3415097"/>
          <a:ext cx="10106528" cy="3114040"/>
        </p:xfrm>
        <a:graphic>
          <a:graphicData uri="http://schemas.openxmlformats.org/drawingml/2006/table">
            <a:tbl>
              <a:tblPr firstRow="1" bandRow="1">
                <a:tableStyleId>{5C22544A-7EE6-4342-B048-85BDC9FD1C3A}</a:tableStyleId>
              </a:tblPr>
              <a:tblGrid>
                <a:gridCol w="5053264">
                  <a:extLst>
                    <a:ext uri="{9D8B030D-6E8A-4147-A177-3AD203B41FA5}">
                      <a16:colId xmlns:a16="http://schemas.microsoft.com/office/drawing/2014/main" val="3316731524"/>
                    </a:ext>
                  </a:extLst>
                </a:gridCol>
                <a:gridCol w="5053264">
                  <a:extLst>
                    <a:ext uri="{9D8B030D-6E8A-4147-A177-3AD203B41FA5}">
                      <a16:colId xmlns:a16="http://schemas.microsoft.com/office/drawing/2014/main" val="1214304855"/>
                    </a:ext>
                  </a:extLst>
                </a:gridCol>
              </a:tblGrid>
              <a:tr h="370840">
                <a:tc>
                  <a:txBody>
                    <a:bodyPr/>
                    <a:lstStyle/>
                    <a:p>
                      <a:pPr>
                        <a:buNone/>
                      </a:pPr>
                      <a:r>
                        <a:rPr lang="en-IN" dirty="0"/>
                        <a:t>Why it is Good (Advantages)</a:t>
                      </a:r>
                    </a:p>
                  </a:txBody>
                  <a:tcPr anchor="ctr"/>
                </a:tc>
                <a:tc>
                  <a:txBody>
                    <a:bodyPr/>
                    <a:lstStyle/>
                    <a:p>
                      <a:pPr>
                        <a:buNone/>
                      </a:pPr>
                      <a:r>
                        <a:rPr lang="en-IN"/>
                        <a:t>Where it Fails (Disadvantages)</a:t>
                      </a:r>
                    </a:p>
                  </a:txBody>
                  <a:tcPr anchor="ctr"/>
                </a:tc>
                <a:extLst>
                  <a:ext uri="{0D108BD9-81ED-4DB2-BD59-A6C34878D82A}">
                    <a16:rowId xmlns:a16="http://schemas.microsoft.com/office/drawing/2014/main" val="1967960097"/>
                  </a:ext>
                </a:extLst>
              </a:tr>
              <a:tr h="370840">
                <a:tc>
                  <a:txBody>
                    <a:bodyPr/>
                    <a:lstStyle/>
                    <a:p>
                      <a:pPr>
                        <a:buNone/>
                      </a:pPr>
                      <a:r>
                        <a:rPr lang="en-IN"/>
                        <a:t>- They carry massive amounts of data packets at high speeds due to their high frequency levels.</a:t>
                      </a:r>
                    </a:p>
                  </a:txBody>
                  <a:tcPr anchor="ctr"/>
                </a:tc>
                <a:tc>
                  <a:txBody>
                    <a:bodyPr/>
                    <a:lstStyle/>
                    <a:p>
                      <a:pPr>
                        <a:buNone/>
                      </a:pPr>
                      <a:r>
                        <a:rPr lang="en-IN"/>
                        <a:t>- They cannot pass through solid obstacles; a single tall building, hill, or tree block line-of-sight and kills the connection.</a:t>
                      </a:r>
                    </a:p>
                  </a:txBody>
                  <a:tcPr anchor="ctr"/>
                </a:tc>
                <a:extLst>
                  <a:ext uri="{0D108BD9-81ED-4DB2-BD59-A6C34878D82A}">
                    <a16:rowId xmlns:a16="http://schemas.microsoft.com/office/drawing/2014/main" val="44239148"/>
                  </a:ext>
                </a:extLst>
              </a:tr>
              <a:tr h="370840">
                <a:tc>
                  <a:txBody>
                    <a:bodyPr/>
                    <a:lstStyle/>
                    <a:p>
                      <a:pPr>
                        <a:buNone/>
                      </a:pPr>
                      <a:r>
                        <a:rPr lang="en-IN"/>
                        <a:t>- It saves immense money in rugged terrains (like mountains) because you don't need to dig trenches or buy miles of physical cable.</a:t>
                      </a:r>
                    </a:p>
                  </a:txBody>
                  <a:tcPr anchor="ctr"/>
                </a:tc>
                <a:tc>
                  <a:txBody>
                    <a:bodyPr/>
                    <a:lstStyle/>
                    <a:p>
                      <a:pPr>
                        <a:buNone/>
                      </a:pPr>
                      <a:r>
                        <a:rPr lang="en-IN"/>
                        <a:t>- They are highly vulnerable to weather conditions; heavy rain, snow storms, or thick fog can absorb and weaken the microwave beam.</a:t>
                      </a:r>
                    </a:p>
                  </a:txBody>
                  <a:tcPr anchor="ctr"/>
                </a:tc>
                <a:extLst>
                  <a:ext uri="{0D108BD9-81ED-4DB2-BD59-A6C34878D82A}">
                    <a16:rowId xmlns:a16="http://schemas.microsoft.com/office/drawing/2014/main" val="2378694196"/>
                  </a:ext>
                </a:extLst>
              </a:tr>
              <a:tr h="370840">
                <a:tc>
                  <a:txBody>
                    <a:bodyPr/>
                    <a:lstStyle/>
                    <a:p>
                      <a:pPr>
                        <a:buNone/>
                      </a:pPr>
                      <a:r>
                        <a:rPr lang="en-IN"/>
                        <a:t>- They offer higher security than omnidirectional radio waves because the beam is focused straight at the intended target receiver.</a:t>
                      </a:r>
                    </a:p>
                  </a:txBody>
                  <a:tcPr anchor="ctr"/>
                </a:tc>
                <a:tc>
                  <a:txBody>
                    <a:bodyPr/>
                    <a:lstStyle/>
                    <a:p>
                      <a:pPr>
                        <a:buNone/>
                      </a:pPr>
                      <a:r>
                        <a:rPr lang="en-IN" dirty="0"/>
                        <a:t>- Constructing and maintaining tall microwave towers requires significant engineering precision and high initial costs.</a:t>
                      </a:r>
                    </a:p>
                  </a:txBody>
                  <a:tcPr anchor="ctr"/>
                </a:tc>
                <a:extLst>
                  <a:ext uri="{0D108BD9-81ED-4DB2-BD59-A6C34878D82A}">
                    <a16:rowId xmlns:a16="http://schemas.microsoft.com/office/drawing/2014/main" val="1805773258"/>
                  </a:ext>
                </a:extLst>
              </a:tr>
            </a:tbl>
          </a:graphicData>
        </a:graphic>
      </p:graphicFrame>
    </p:spTree>
    <p:extLst>
      <p:ext uri="{BB962C8B-B14F-4D97-AF65-F5344CB8AC3E}">
        <p14:creationId xmlns:p14="http://schemas.microsoft.com/office/powerpoint/2010/main" val="2523304009"/>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1F06E8-973C-F36E-AE94-C94B143912B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EF7EA3D-DD1E-AAFA-68D8-E507370F9B50}"/>
              </a:ext>
            </a:extLst>
          </p:cNvPr>
          <p:cNvSpPr>
            <a:spLocks noGrp="1"/>
          </p:cNvSpPr>
          <p:nvPr>
            <p:ph type="title"/>
          </p:nvPr>
        </p:nvSpPr>
        <p:spPr>
          <a:xfrm>
            <a:off x="433137" y="477420"/>
            <a:ext cx="11373852" cy="677612"/>
          </a:xfrm>
        </p:spPr>
        <p:txBody>
          <a:bodyPr>
            <a:normAutofit fontScale="90000"/>
          </a:bodyPr>
          <a:lstStyle/>
          <a:p>
            <a:r>
              <a:rPr lang="en-IN" dirty="0"/>
              <a:t>INFRARED</a:t>
            </a:r>
          </a:p>
        </p:txBody>
      </p:sp>
      <p:sp>
        <p:nvSpPr>
          <p:cNvPr id="3" name="Content Placeholder 2">
            <a:extLst>
              <a:ext uri="{FF2B5EF4-FFF2-40B4-BE49-F238E27FC236}">
                <a16:creationId xmlns:a16="http://schemas.microsoft.com/office/drawing/2014/main" id="{4A30195D-29F5-C18C-7246-9EFE090A45C1}"/>
              </a:ext>
            </a:extLst>
          </p:cNvPr>
          <p:cNvSpPr>
            <a:spLocks noGrp="1"/>
          </p:cNvSpPr>
          <p:nvPr>
            <p:ph idx="1"/>
          </p:nvPr>
        </p:nvSpPr>
        <p:spPr>
          <a:xfrm>
            <a:off x="433137" y="1155032"/>
            <a:ext cx="11373852" cy="5374105"/>
          </a:xfrm>
        </p:spPr>
        <p:txBody>
          <a:bodyPr>
            <a:normAutofit fontScale="77500" lnSpcReduction="20000"/>
          </a:bodyPr>
          <a:lstStyle/>
          <a:p>
            <a:r>
              <a:rPr lang="en-IN" b="1" dirty="0"/>
              <a:t>What is Infrared?</a:t>
            </a:r>
          </a:p>
          <a:p>
            <a:r>
              <a:rPr lang="en-IN" dirty="0"/>
              <a:t>Infrared waves are ultra-high-frequency, short-range wireless waves used for close-range data communication.</a:t>
            </a:r>
          </a:p>
          <a:p>
            <a:r>
              <a:rPr lang="en-IN" dirty="0"/>
              <a:t>They operate at frequencies from 300 Gigahertz (GHz) up to 400 Terahertz (THz), which puts them just below visible red light.</a:t>
            </a:r>
          </a:p>
          <a:p>
            <a:r>
              <a:rPr lang="en-IN" dirty="0"/>
              <a:t>They have very short wavelengths, which means they are completely </a:t>
            </a:r>
            <a:r>
              <a:rPr lang="en-IN" b="1" dirty="0"/>
              <a:t>unable to pass through solid walls</a:t>
            </a:r>
            <a:r>
              <a:rPr lang="en-IN" dirty="0"/>
              <a:t> or doors.</a:t>
            </a:r>
          </a:p>
          <a:p>
            <a:r>
              <a:rPr lang="en-IN" dirty="0"/>
              <a:t>They are designed purely for private, secure, same-room communication over distances of just a few meters.</a:t>
            </a:r>
          </a:p>
          <a:p>
            <a:r>
              <a:rPr lang="en-IN" b="1" dirty="0"/>
              <a:t>How it works?</a:t>
            </a:r>
          </a:p>
          <a:p>
            <a:r>
              <a:rPr lang="en-IN" dirty="0"/>
              <a:t>The sending device uses a tiny LED light bulb to flash invisible infrared light patterns representing your data packets.</a:t>
            </a:r>
          </a:p>
          <a:p>
            <a:r>
              <a:rPr lang="en-IN" dirty="0"/>
              <a:t>The wave travels across the room in a direct line-of-sight path.</a:t>
            </a:r>
          </a:p>
          <a:p>
            <a:r>
              <a:rPr lang="en-IN" dirty="0"/>
              <a:t>The receiving device must have an infrared sensor aimed generally toward the transmitter to catch the light flashes and process the packet command.</a:t>
            </a:r>
          </a:p>
          <a:p>
            <a:r>
              <a:rPr lang="en-IN" dirty="0"/>
              <a:t>If any solid object (like a cushion or a person walking by) steps into the path, the light beam is blocked instantly, and communication breaks.</a:t>
            </a:r>
          </a:p>
          <a:p>
            <a:endParaRPr lang="en-IN" dirty="0"/>
          </a:p>
        </p:txBody>
      </p:sp>
    </p:spTree>
    <p:extLst>
      <p:ext uri="{BB962C8B-B14F-4D97-AF65-F5344CB8AC3E}">
        <p14:creationId xmlns:p14="http://schemas.microsoft.com/office/powerpoint/2010/main" val="153550952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7A6B89-104C-F41C-3D01-30C21DA20AB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BED14AD-6DC8-A393-2FF2-D046F8E376C2}"/>
              </a:ext>
            </a:extLst>
          </p:cNvPr>
          <p:cNvSpPr>
            <a:spLocks noGrp="1"/>
          </p:cNvSpPr>
          <p:nvPr>
            <p:ph idx="1"/>
          </p:nvPr>
        </p:nvSpPr>
        <p:spPr>
          <a:xfrm>
            <a:off x="433137" y="673768"/>
            <a:ext cx="11373852" cy="5855369"/>
          </a:xfrm>
        </p:spPr>
        <p:txBody>
          <a:bodyPr>
            <a:normAutofit/>
          </a:bodyPr>
          <a:lstStyle/>
          <a:p>
            <a:pPr marL="0" indent="0">
              <a:buNone/>
            </a:pPr>
            <a:r>
              <a:rPr lang="en-IN" sz="2000" b="1" dirty="0"/>
              <a:t>Examples</a:t>
            </a:r>
          </a:p>
          <a:p>
            <a:r>
              <a:rPr lang="en-IN" sz="2000" b="1" dirty="0"/>
              <a:t>Television Remote Controls:</a:t>
            </a:r>
            <a:r>
              <a:rPr lang="en-IN" sz="2000" dirty="0"/>
              <a:t> Changing channels or adjusting the volume on your home television set using a hand-held remote.</a:t>
            </a:r>
          </a:p>
          <a:p>
            <a:r>
              <a:rPr lang="en-IN" sz="2000" b="1" dirty="0"/>
              <a:t>Wireless Mice and Keyboards:</a:t>
            </a:r>
            <a:r>
              <a:rPr lang="en-IN" sz="2000" dirty="0"/>
              <a:t> Connecting short-range desktop accessories to a nearby computer monitor base over a clean desk surface.</a:t>
            </a:r>
          </a:p>
          <a:p>
            <a:r>
              <a:rPr lang="en-IN" sz="2000" b="1" dirty="0"/>
              <a:t>Data Transfer between Older Phones:</a:t>
            </a:r>
            <a:r>
              <a:rPr lang="en-IN" sz="2000" dirty="0"/>
              <a:t> In the early 2000s, users held two mobile phones completely still, side-by-side, to beam a contact card or photo packet via infrared ports.</a:t>
            </a:r>
          </a:p>
          <a:p>
            <a:endParaRPr lang="en-IN" sz="2000" dirty="0"/>
          </a:p>
        </p:txBody>
      </p:sp>
      <p:graphicFrame>
        <p:nvGraphicFramePr>
          <p:cNvPr id="4" name="Table 3">
            <a:extLst>
              <a:ext uri="{FF2B5EF4-FFF2-40B4-BE49-F238E27FC236}">
                <a16:creationId xmlns:a16="http://schemas.microsoft.com/office/drawing/2014/main" id="{74712803-9390-4798-2D1C-CD6CF2F28EA6}"/>
              </a:ext>
            </a:extLst>
          </p:cNvPr>
          <p:cNvGraphicFramePr>
            <a:graphicFrameLocks noGrp="1"/>
          </p:cNvGraphicFramePr>
          <p:nvPr/>
        </p:nvGraphicFramePr>
        <p:xfrm>
          <a:off x="778042" y="3188369"/>
          <a:ext cx="10635916" cy="3352800"/>
        </p:xfrm>
        <a:graphic>
          <a:graphicData uri="http://schemas.openxmlformats.org/drawingml/2006/table">
            <a:tbl>
              <a:tblPr firstRow="1" bandRow="1">
                <a:tableStyleId>{5C22544A-7EE6-4342-B048-85BDC9FD1C3A}</a:tableStyleId>
              </a:tblPr>
              <a:tblGrid>
                <a:gridCol w="5317958">
                  <a:extLst>
                    <a:ext uri="{9D8B030D-6E8A-4147-A177-3AD203B41FA5}">
                      <a16:colId xmlns:a16="http://schemas.microsoft.com/office/drawing/2014/main" val="761683206"/>
                    </a:ext>
                  </a:extLst>
                </a:gridCol>
                <a:gridCol w="5317958">
                  <a:extLst>
                    <a:ext uri="{9D8B030D-6E8A-4147-A177-3AD203B41FA5}">
                      <a16:colId xmlns:a16="http://schemas.microsoft.com/office/drawing/2014/main" val="1695503003"/>
                    </a:ext>
                  </a:extLst>
                </a:gridCol>
              </a:tblGrid>
              <a:tr h="370840">
                <a:tc>
                  <a:txBody>
                    <a:bodyPr/>
                    <a:lstStyle/>
                    <a:p>
                      <a:pPr>
                        <a:buNone/>
                      </a:pPr>
                      <a:r>
                        <a:rPr lang="en-IN" b="1" dirty="0">
                          <a:effectLst/>
                          <a:latin typeface="Google Sans Text"/>
                        </a:rPr>
                        <a:t>Why it is Good (Advantages)</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Where it Fails (Disadvantages)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3891567877"/>
                  </a:ext>
                </a:extLst>
              </a:tr>
              <a:tr h="370840">
                <a:tc>
                  <a:txBody>
                    <a:bodyPr/>
                    <a:lstStyle/>
                    <a:p>
                      <a:pPr>
                        <a:buNone/>
                      </a:pPr>
                      <a:r>
                        <a:rPr lang="en-IN">
                          <a:effectLst/>
                          <a:latin typeface="Google Sans Text"/>
                        </a:rPr>
                        <a:t>- It offers incredible security because the signal cannot leave the room; a hacker sitting outside your house walls cannot spy on your data.</a:t>
                      </a:r>
                    </a:p>
                  </a:txBody>
                  <a:tcPr marL="114300" marR="114300" marT="76200" marB="76200" anchor="ctr"/>
                </a:tc>
                <a:tc>
                  <a:txBody>
                    <a:bodyPr/>
                    <a:lstStyle/>
                    <a:p>
                      <a:pPr>
                        <a:buNone/>
                      </a:pPr>
                      <a:r>
                        <a:rPr lang="en-IN">
                          <a:effectLst/>
                          <a:latin typeface="Google Sans Text"/>
                        </a:rPr>
                        <a:t>- It has an extremely short operational range, usually failing completely after traveling more than 5 to 10 meters.</a:t>
                      </a:r>
                    </a:p>
                  </a:txBody>
                  <a:tcPr marL="114300" marR="114300" marT="76200" marB="76200" anchor="ctr"/>
                </a:tc>
                <a:extLst>
                  <a:ext uri="{0D108BD9-81ED-4DB2-BD59-A6C34878D82A}">
                    <a16:rowId xmlns:a16="http://schemas.microsoft.com/office/drawing/2014/main" val="3491020240"/>
                  </a:ext>
                </a:extLst>
              </a:tr>
              <a:tr h="370840">
                <a:tc>
                  <a:txBody>
                    <a:bodyPr/>
                    <a:lstStyle/>
                    <a:p>
                      <a:pPr>
                        <a:buNone/>
                      </a:pPr>
                      <a:r>
                        <a:rPr lang="en-IN">
                          <a:effectLst/>
                          <a:latin typeface="Google Sans Text"/>
                        </a:rPr>
                        <a:t>- There are no licensing costs or frequency interference issues with nearby systems, as every room is its own isolated bubble.</a:t>
                      </a:r>
                    </a:p>
                  </a:txBody>
                  <a:tcPr marL="114300" marR="114300" marT="76200" marB="76200" anchor="ctr"/>
                </a:tc>
                <a:tc>
                  <a:txBody>
                    <a:bodyPr/>
                    <a:lstStyle/>
                    <a:p>
                      <a:pPr>
                        <a:buNone/>
                      </a:pPr>
                      <a:r>
                        <a:rPr lang="en-IN">
                          <a:effectLst/>
                          <a:latin typeface="Google Sans Text"/>
                        </a:rPr>
                        <a:t>- It cannot pass through any solid objects; a stray book or a hand blocking the sensor breaks the packet stream instantly.</a:t>
                      </a:r>
                    </a:p>
                  </a:txBody>
                  <a:tcPr marL="114300" marR="114300" marT="76200" marB="76200" anchor="ctr"/>
                </a:tc>
                <a:extLst>
                  <a:ext uri="{0D108BD9-81ED-4DB2-BD59-A6C34878D82A}">
                    <a16:rowId xmlns:a16="http://schemas.microsoft.com/office/drawing/2014/main" val="3285017247"/>
                  </a:ext>
                </a:extLst>
              </a:tr>
              <a:tr h="370840">
                <a:tc>
                  <a:txBody>
                    <a:bodyPr/>
                    <a:lstStyle/>
                    <a:p>
                      <a:pPr>
                        <a:buNone/>
                      </a:pPr>
                      <a:r>
                        <a:rPr lang="en-IN">
                          <a:effectLst/>
                          <a:latin typeface="Google Sans Text"/>
                        </a:rPr>
                        <a:t>- The electronics required to build infrared transmitters and receivers are dirt cheap and tiny.</a:t>
                      </a:r>
                    </a:p>
                  </a:txBody>
                  <a:tcPr marL="114300" marR="114300" marT="76200" marB="76200" anchor="ctr"/>
                </a:tc>
                <a:tc>
                  <a:txBody>
                    <a:bodyPr/>
                    <a:lstStyle/>
                    <a:p>
                      <a:pPr>
                        <a:buNone/>
                      </a:pPr>
                      <a:r>
                        <a:rPr lang="en-IN" dirty="0">
                          <a:effectLst/>
                          <a:latin typeface="Google Sans Text"/>
                        </a:rPr>
                        <a:t>- High amounts of direct outdoor sunlight can drown out the infrared light pulses, making it useless for outdoor communications.</a:t>
                      </a:r>
                    </a:p>
                  </a:txBody>
                  <a:tcPr marL="114300" marR="114300" marT="76200" marB="76200" anchor="ctr"/>
                </a:tc>
                <a:extLst>
                  <a:ext uri="{0D108BD9-81ED-4DB2-BD59-A6C34878D82A}">
                    <a16:rowId xmlns:a16="http://schemas.microsoft.com/office/drawing/2014/main" val="2362290669"/>
                  </a:ext>
                </a:extLst>
              </a:tr>
            </a:tbl>
          </a:graphicData>
        </a:graphic>
      </p:graphicFrame>
    </p:spTree>
    <p:extLst>
      <p:ext uri="{BB962C8B-B14F-4D97-AF65-F5344CB8AC3E}">
        <p14:creationId xmlns:p14="http://schemas.microsoft.com/office/powerpoint/2010/main" val="244676225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BE1155-2390-34AE-65A2-B16B6A328B42}"/>
            </a:ext>
          </a:extLst>
        </p:cNvPr>
        <p:cNvGrpSpPr/>
        <p:nvPr/>
      </p:nvGrpSpPr>
      <p:grpSpPr>
        <a:xfrm>
          <a:off x="0" y="0"/>
          <a:ext cx="0" cy="0"/>
          <a:chOff x="0" y="0"/>
          <a:chExt cx="0" cy="0"/>
        </a:xfrm>
      </p:grpSpPr>
      <p:graphicFrame>
        <p:nvGraphicFramePr>
          <p:cNvPr id="4" name="Table 3">
            <a:extLst>
              <a:ext uri="{FF2B5EF4-FFF2-40B4-BE49-F238E27FC236}">
                <a16:creationId xmlns:a16="http://schemas.microsoft.com/office/drawing/2014/main" id="{39497828-95DE-5FAA-ED2F-9F438890E317}"/>
              </a:ext>
            </a:extLst>
          </p:cNvPr>
          <p:cNvGraphicFramePr>
            <a:graphicFrameLocks noGrp="1"/>
          </p:cNvGraphicFramePr>
          <p:nvPr/>
        </p:nvGraphicFramePr>
        <p:xfrm>
          <a:off x="545432" y="799876"/>
          <a:ext cx="10812378" cy="5730240"/>
        </p:xfrm>
        <a:graphic>
          <a:graphicData uri="http://schemas.openxmlformats.org/drawingml/2006/table">
            <a:tbl>
              <a:tblPr firstRow="1" bandRow="1">
                <a:tableStyleId>{5C22544A-7EE6-4342-B048-85BDC9FD1C3A}</a:tableStyleId>
              </a:tblPr>
              <a:tblGrid>
                <a:gridCol w="1802063">
                  <a:extLst>
                    <a:ext uri="{9D8B030D-6E8A-4147-A177-3AD203B41FA5}">
                      <a16:colId xmlns:a16="http://schemas.microsoft.com/office/drawing/2014/main" val="4005452779"/>
                    </a:ext>
                  </a:extLst>
                </a:gridCol>
                <a:gridCol w="1802063">
                  <a:extLst>
                    <a:ext uri="{9D8B030D-6E8A-4147-A177-3AD203B41FA5}">
                      <a16:colId xmlns:a16="http://schemas.microsoft.com/office/drawing/2014/main" val="2497662306"/>
                    </a:ext>
                  </a:extLst>
                </a:gridCol>
                <a:gridCol w="1802063">
                  <a:extLst>
                    <a:ext uri="{9D8B030D-6E8A-4147-A177-3AD203B41FA5}">
                      <a16:colId xmlns:a16="http://schemas.microsoft.com/office/drawing/2014/main" val="3429050887"/>
                    </a:ext>
                  </a:extLst>
                </a:gridCol>
                <a:gridCol w="1802063">
                  <a:extLst>
                    <a:ext uri="{9D8B030D-6E8A-4147-A177-3AD203B41FA5}">
                      <a16:colId xmlns:a16="http://schemas.microsoft.com/office/drawing/2014/main" val="2763231371"/>
                    </a:ext>
                  </a:extLst>
                </a:gridCol>
                <a:gridCol w="1802063">
                  <a:extLst>
                    <a:ext uri="{9D8B030D-6E8A-4147-A177-3AD203B41FA5}">
                      <a16:colId xmlns:a16="http://schemas.microsoft.com/office/drawing/2014/main" val="66862888"/>
                    </a:ext>
                  </a:extLst>
                </a:gridCol>
                <a:gridCol w="1802063">
                  <a:extLst>
                    <a:ext uri="{9D8B030D-6E8A-4147-A177-3AD203B41FA5}">
                      <a16:colId xmlns:a16="http://schemas.microsoft.com/office/drawing/2014/main" val="1362799921"/>
                    </a:ext>
                  </a:extLst>
                </a:gridCol>
              </a:tblGrid>
              <a:tr h="183772">
                <a:tc>
                  <a:txBody>
                    <a:bodyPr/>
                    <a:lstStyle/>
                    <a:p>
                      <a:pPr algn="ctr">
                        <a:buNone/>
                      </a:pPr>
                      <a:r>
                        <a:rPr lang="en-IN" b="1" dirty="0">
                          <a:effectLst/>
                          <a:latin typeface="Google Sans Text"/>
                        </a:rPr>
                        <a:t>Media Type</a:t>
                      </a:r>
                      <a:endParaRPr lang="en-IN" dirty="0">
                        <a:effectLst/>
                        <a:latin typeface="Google Sans Text"/>
                      </a:endParaRPr>
                    </a:p>
                  </a:txBody>
                  <a:tcPr marL="114300" marR="114300" marT="76200" marB="76200" anchor="ctr"/>
                </a:tc>
                <a:tc>
                  <a:txBody>
                    <a:bodyPr/>
                    <a:lstStyle/>
                    <a:p>
                      <a:pPr algn="ctr">
                        <a:buNone/>
                      </a:pPr>
                      <a:r>
                        <a:rPr lang="en-IN" b="1">
                          <a:effectLst/>
                          <a:latin typeface="Google Sans Text"/>
                        </a:rPr>
                        <a:t>Category</a:t>
                      </a:r>
                      <a:endParaRPr lang="en-IN">
                        <a:effectLst/>
                        <a:latin typeface="Google Sans Text"/>
                      </a:endParaRPr>
                    </a:p>
                  </a:txBody>
                  <a:tcPr marL="114300" marR="114300" marT="76200" marB="76200" anchor="ctr"/>
                </a:tc>
                <a:tc>
                  <a:txBody>
                    <a:bodyPr/>
                    <a:lstStyle/>
                    <a:p>
                      <a:pPr algn="ctr">
                        <a:buNone/>
                      </a:pPr>
                      <a:r>
                        <a:rPr lang="en-IN" b="1">
                          <a:effectLst/>
                          <a:latin typeface="Google Sans Text"/>
                        </a:rPr>
                        <a:t>Physical Medium / Frequency</a:t>
                      </a:r>
                      <a:endParaRPr lang="en-IN">
                        <a:effectLst/>
                        <a:latin typeface="Google Sans Text"/>
                      </a:endParaRPr>
                    </a:p>
                  </a:txBody>
                  <a:tcPr marL="114300" marR="114300" marT="76200" marB="76200" anchor="ctr"/>
                </a:tc>
                <a:tc>
                  <a:txBody>
                    <a:bodyPr/>
                    <a:lstStyle/>
                    <a:p>
                      <a:pPr algn="ctr">
                        <a:buNone/>
                      </a:pPr>
                      <a:r>
                        <a:rPr lang="en-IN" b="1">
                          <a:effectLst/>
                          <a:latin typeface="Google Sans Text"/>
                        </a:rPr>
                        <a:t>Max Distance Limit (Before needing boost)</a:t>
                      </a:r>
                      <a:endParaRPr lang="en-IN">
                        <a:effectLst/>
                        <a:latin typeface="Google Sans Text"/>
                      </a:endParaRPr>
                    </a:p>
                  </a:txBody>
                  <a:tcPr marL="114300" marR="114300" marT="76200" marB="76200" anchor="ctr"/>
                </a:tc>
                <a:tc>
                  <a:txBody>
                    <a:bodyPr/>
                    <a:lstStyle/>
                    <a:p>
                      <a:pPr algn="ctr">
                        <a:buNone/>
                      </a:pPr>
                      <a:r>
                        <a:rPr lang="en-IN" b="1">
                          <a:effectLst/>
                          <a:latin typeface="Google Sans Text"/>
                        </a:rPr>
                        <a:t>Line-of-Sight Required?</a:t>
                      </a:r>
                      <a:endParaRPr lang="en-IN">
                        <a:effectLst/>
                        <a:latin typeface="Google Sans Text"/>
                      </a:endParaRPr>
                    </a:p>
                  </a:txBody>
                  <a:tcPr marL="114300" marR="114300" marT="76200" marB="76200" anchor="ctr"/>
                </a:tc>
                <a:tc>
                  <a:txBody>
                    <a:bodyPr/>
                    <a:lstStyle/>
                    <a:p>
                      <a:pPr algn="ctr">
                        <a:buNone/>
                      </a:pPr>
                      <a:r>
                        <a:rPr lang="en-IN" b="1">
                          <a:effectLst/>
                          <a:latin typeface="Google Sans Text"/>
                        </a:rPr>
                        <a:t>Vulnerability to Interference</a:t>
                      </a:r>
                      <a:endParaRPr lang="en-IN">
                        <a:effectLst/>
                        <a:latin typeface="Google Sans Text"/>
                      </a:endParaRPr>
                    </a:p>
                  </a:txBody>
                  <a:tcPr marL="114300" marR="114300" marT="76200" marB="76200" anchor="ctr"/>
                </a:tc>
                <a:extLst>
                  <a:ext uri="{0D108BD9-81ED-4DB2-BD59-A6C34878D82A}">
                    <a16:rowId xmlns:a16="http://schemas.microsoft.com/office/drawing/2014/main" val="746091986"/>
                  </a:ext>
                </a:extLst>
              </a:tr>
              <a:tr h="370840">
                <a:tc>
                  <a:txBody>
                    <a:bodyPr/>
                    <a:lstStyle/>
                    <a:p>
                      <a:pPr algn="ctr">
                        <a:buNone/>
                      </a:pPr>
                      <a:r>
                        <a:rPr lang="en-IN" b="1">
                          <a:effectLst/>
                          <a:latin typeface="Google Sans Text"/>
                        </a:rPr>
                        <a:t>Twisted Pair</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Guided (Wired)</a:t>
                      </a:r>
                    </a:p>
                  </a:txBody>
                  <a:tcPr marL="114300" marR="114300" marT="76200" marB="76200" anchor="ctr"/>
                </a:tc>
                <a:tc>
                  <a:txBody>
                    <a:bodyPr/>
                    <a:lstStyle/>
                    <a:p>
                      <a:pPr algn="ctr">
                        <a:buNone/>
                      </a:pPr>
                      <a:r>
                        <a:rPr lang="en-IN">
                          <a:effectLst/>
                          <a:latin typeface="Google Sans Text"/>
                        </a:rPr>
                        <a:t>Copper Wire</a:t>
                      </a:r>
                    </a:p>
                  </a:txBody>
                  <a:tcPr marL="114300" marR="114300" marT="76200" marB="76200" anchor="ctr"/>
                </a:tc>
                <a:tc>
                  <a:txBody>
                    <a:bodyPr/>
                    <a:lstStyle/>
                    <a:p>
                      <a:pPr algn="ctr">
                        <a:buNone/>
                      </a:pPr>
                      <a:r>
                        <a:rPr lang="en-IN">
                          <a:effectLst/>
                          <a:latin typeface="Google Sans Text"/>
                        </a:rPr>
                        <a:t>~100 Meters</a:t>
                      </a:r>
                    </a:p>
                  </a:txBody>
                  <a:tcPr marL="114300" marR="114300" marT="76200" marB="76200" anchor="ctr"/>
                </a:tc>
                <a:tc>
                  <a:txBody>
                    <a:bodyPr/>
                    <a:lstStyle/>
                    <a:p>
                      <a:pPr algn="ctr">
                        <a:buNone/>
                      </a:pPr>
                      <a:r>
                        <a:rPr lang="en-IN">
                          <a:effectLst/>
                          <a:latin typeface="Google Sans Text"/>
                        </a:rPr>
                        <a:t>Not Applicable</a:t>
                      </a:r>
                    </a:p>
                  </a:txBody>
                  <a:tcPr marL="114300" marR="114300" marT="76200" marB="76200" anchor="ctr"/>
                </a:tc>
                <a:tc>
                  <a:txBody>
                    <a:bodyPr/>
                    <a:lstStyle/>
                    <a:p>
                      <a:pPr algn="ctr">
                        <a:buNone/>
                      </a:pPr>
                      <a:r>
                        <a:rPr lang="en-IN">
                          <a:effectLst/>
                          <a:latin typeface="Google Sans Text"/>
                        </a:rPr>
                        <a:t>High (Electrical/Magnetic noise)</a:t>
                      </a:r>
                    </a:p>
                  </a:txBody>
                  <a:tcPr marL="114300" marR="114300" marT="76200" marB="76200" anchor="ctr"/>
                </a:tc>
                <a:extLst>
                  <a:ext uri="{0D108BD9-81ED-4DB2-BD59-A6C34878D82A}">
                    <a16:rowId xmlns:a16="http://schemas.microsoft.com/office/drawing/2014/main" val="822420984"/>
                  </a:ext>
                </a:extLst>
              </a:tr>
              <a:tr h="370840">
                <a:tc>
                  <a:txBody>
                    <a:bodyPr/>
                    <a:lstStyle/>
                    <a:p>
                      <a:pPr algn="ctr">
                        <a:buNone/>
                      </a:pPr>
                      <a:r>
                        <a:rPr lang="en-IN" b="1">
                          <a:effectLst/>
                          <a:latin typeface="Google Sans Text"/>
                        </a:rPr>
                        <a:t>Coaxial</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Guided (Wired)</a:t>
                      </a:r>
                    </a:p>
                  </a:txBody>
                  <a:tcPr marL="114300" marR="114300" marT="76200" marB="76200" anchor="ctr"/>
                </a:tc>
                <a:tc>
                  <a:txBody>
                    <a:bodyPr/>
                    <a:lstStyle/>
                    <a:p>
                      <a:pPr algn="ctr">
                        <a:buNone/>
                      </a:pPr>
                      <a:r>
                        <a:rPr lang="en-IN">
                          <a:effectLst/>
                          <a:latin typeface="Google Sans Text"/>
                        </a:rPr>
                        <a:t>Shielded Copper Core</a:t>
                      </a:r>
                    </a:p>
                  </a:txBody>
                  <a:tcPr marL="114300" marR="114300" marT="76200" marB="76200" anchor="ctr"/>
                </a:tc>
                <a:tc>
                  <a:txBody>
                    <a:bodyPr/>
                    <a:lstStyle/>
                    <a:p>
                      <a:pPr algn="ctr">
                        <a:buNone/>
                      </a:pPr>
                      <a:r>
                        <a:rPr lang="en-IN">
                          <a:effectLst/>
                          <a:latin typeface="Google Sans Text"/>
                        </a:rPr>
                        <a:t>~500 Meters</a:t>
                      </a:r>
                    </a:p>
                  </a:txBody>
                  <a:tcPr marL="114300" marR="114300" marT="76200" marB="76200" anchor="ctr"/>
                </a:tc>
                <a:tc>
                  <a:txBody>
                    <a:bodyPr/>
                    <a:lstStyle/>
                    <a:p>
                      <a:pPr algn="ctr">
                        <a:buNone/>
                      </a:pPr>
                      <a:r>
                        <a:rPr lang="en-IN">
                          <a:effectLst/>
                          <a:latin typeface="Google Sans Text"/>
                        </a:rPr>
                        <a:t>Not Applicable</a:t>
                      </a:r>
                    </a:p>
                  </a:txBody>
                  <a:tcPr marL="114300" marR="114300" marT="76200" marB="76200" anchor="ctr"/>
                </a:tc>
                <a:tc>
                  <a:txBody>
                    <a:bodyPr/>
                    <a:lstStyle/>
                    <a:p>
                      <a:pPr algn="ctr">
                        <a:buNone/>
                      </a:pPr>
                      <a:r>
                        <a:rPr lang="en-IN">
                          <a:effectLst/>
                          <a:latin typeface="Google Sans Text"/>
                        </a:rPr>
                        <a:t>Low (Protected by metal mesh)</a:t>
                      </a:r>
                    </a:p>
                  </a:txBody>
                  <a:tcPr marL="114300" marR="114300" marT="76200" marB="76200" anchor="ctr"/>
                </a:tc>
                <a:extLst>
                  <a:ext uri="{0D108BD9-81ED-4DB2-BD59-A6C34878D82A}">
                    <a16:rowId xmlns:a16="http://schemas.microsoft.com/office/drawing/2014/main" val="3314680364"/>
                  </a:ext>
                </a:extLst>
              </a:tr>
              <a:tr h="370840">
                <a:tc>
                  <a:txBody>
                    <a:bodyPr/>
                    <a:lstStyle/>
                    <a:p>
                      <a:pPr algn="ctr">
                        <a:buNone/>
                      </a:pPr>
                      <a:r>
                        <a:rPr lang="en-IN" b="1">
                          <a:effectLst/>
                          <a:latin typeface="Google Sans Text"/>
                        </a:rPr>
                        <a:t>Fiber Optics</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Guided (Wired)</a:t>
                      </a:r>
                    </a:p>
                  </a:txBody>
                  <a:tcPr marL="114300" marR="114300" marT="76200" marB="76200" anchor="ctr"/>
                </a:tc>
                <a:tc>
                  <a:txBody>
                    <a:bodyPr/>
                    <a:lstStyle/>
                    <a:p>
                      <a:pPr algn="ctr">
                        <a:buNone/>
                      </a:pPr>
                      <a:r>
                        <a:rPr lang="en-IN">
                          <a:effectLst/>
                          <a:latin typeface="Google Sans Text"/>
                        </a:rPr>
                        <a:t>Pure Glass Strands</a:t>
                      </a:r>
                    </a:p>
                  </a:txBody>
                  <a:tcPr marL="114300" marR="114300" marT="76200" marB="76200" anchor="ctr"/>
                </a:tc>
                <a:tc>
                  <a:txBody>
                    <a:bodyPr/>
                    <a:lstStyle/>
                    <a:p>
                      <a:pPr algn="ctr">
                        <a:buNone/>
                      </a:pPr>
                      <a:r>
                        <a:rPr lang="en-IN" dirty="0">
                          <a:effectLst/>
                          <a:latin typeface="Google Sans Text"/>
                        </a:rPr>
                        <a:t>Tens of </a:t>
                      </a:r>
                      <a:r>
                        <a:rPr lang="en-IN" dirty="0" err="1">
                          <a:effectLst/>
                          <a:latin typeface="Google Sans Text"/>
                        </a:rPr>
                        <a:t>Kilometers</a:t>
                      </a:r>
                      <a:endParaRPr lang="en-IN" dirty="0">
                        <a:effectLst/>
                        <a:latin typeface="Google Sans Text"/>
                      </a:endParaRPr>
                    </a:p>
                  </a:txBody>
                  <a:tcPr marL="114300" marR="114300" marT="76200" marB="76200" anchor="ctr"/>
                </a:tc>
                <a:tc>
                  <a:txBody>
                    <a:bodyPr/>
                    <a:lstStyle/>
                    <a:p>
                      <a:pPr algn="ctr">
                        <a:buNone/>
                      </a:pPr>
                      <a:r>
                        <a:rPr lang="en-IN">
                          <a:effectLst/>
                          <a:latin typeface="Google Sans Text"/>
                        </a:rPr>
                        <a:t>Not Applicable</a:t>
                      </a:r>
                    </a:p>
                  </a:txBody>
                  <a:tcPr marL="114300" marR="114300" marT="76200" marB="76200" anchor="ctr"/>
                </a:tc>
                <a:tc>
                  <a:txBody>
                    <a:bodyPr/>
                    <a:lstStyle/>
                    <a:p>
                      <a:pPr algn="ctr">
                        <a:buNone/>
                      </a:pPr>
                      <a:r>
                        <a:rPr lang="en-IN">
                          <a:effectLst/>
                          <a:latin typeface="Google Sans Text"/>
                        </a:rPr>
                        <a:t>Zero (Uses light pulses)</a:t>
                      </a:r>
                    </a:p>
                  </a:txBody>
                  <a:tcPr marL="114300" marR="114300" marT="76200" marB="76200" anchor="ctr"/>
                </a:tc>
                <a:extLst>
                  <a:ext uri="{0D108BD9-81ED-4DB2-BD59-A6C34878D82A}">
                    <a16:rowId xmlns:a16="http://schemas.microsoft.com/office/drawing/2014/main" val="3502267311"/>
                  </a:ext>
                </a:extLst>
              </a:tr>
              <a:tr h="370840">
                <a:tc>
                  <a:txBody>
                    <a:bodyPr/>
                    <a:lstStyle/>
                    <a:p>
                      <a:pPr algn="ctr">
                        <a:buNone/>
                      </a:pPr>
                      <a:r>
                        <a:rPr lang="en-IN" b="1">
                          <a:effectLst/>
                          <a:latin typeface="Google Sans Text"/>
                        </a:rPr>
                        <a:t>Radio Waves</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Unguided (Wireless)</a:t>
                      </a:r>
                    </a:p>
                  </a:txBody>
                  <a:tcPr marL="114300" marR="114300" marT="76200" marB="76200" anchor="ctr"/>
                </a:tc>
                <a:tc>
                  <a:txBody>
                    <a:bodyPr/>
                    <a:lstStyle/>
                    <a:p>
                      <a:pPr algn="ctr">
                        <a:buNone/>
                      </a:pPr>
                      <a:r>
                        <a:rPr lang="en-IN">
                          <a:effectLst/>
                          <a:latin typeface="Google Sans Text"/>
                        </a:rPr>
                        <a:t>3 kHz - 1 GHz</a:t>
                      </a:r>
                    </a:p>
                  </a:txBody>
                  <a:tcPr marL="114300" marR="114300" marT="76200" marB="76200" anchor="ctr"/>
                </a:tc>
                <a:tc>
                  <a:txBody>
                    <a:bodyPr/>
                    <a:lstStyle/>
                    <a:p>
                      <a:pPr algn="ctr">
                        <a:buNone/>
                      </a:pPr>
                      <a:r>
                        <a:rPr lang="en-IN">
                          <a:effectLst/>
                          <a:latin typeface="Google Sans Text"/>
                        </a:rPr>
                        <a:t>Very Long (Global scale)</a:t>
                      </a:r>
                    </a:p>
                  </a:txBody>
                  <a:tcPr marL="114300" marR="114300" marT="76200" marB="76200" anchor="ctr"/>
                </a:tc>
                <a:tc>
                  <a:txBody>
                    <a:bodyPr/>
                    <a:lstStyle/>
                    <a:p>
                      <a:pPr algn="ctr">
                        <a:buNone/>
                      </a:pPr>
                      <a:r>
                        <a:rPr lang="en-IN">
                          <a:effectLst/>
                          <a:latin typeface="Google Sans Text"/>
                        </a:rPr>
                        <a:t>No (Passes through walls)</a:t>
                      </a:r>
                    </a:p>
                  </a:txBody>
                  <a:tcPr marL="114300" marR="114300" marT="76200" marB="76200" anchor="ctr"/>
                </a:tc>
                <a:tc>
                  <a:txBody>
                    <a:bodyPr/>
                    <a:lstStyle/>
                    <a:p>
                      <a:pPr algn="ctr">
                        <a:buNone/>
                      </a:pPr>
                      <a:r>
                        <a:rPr lang="en-IN">
                          <a:effectLst/>
                          <a:latin typeface="Google Sans Text"/>
                        </a:rPr>
                        <a:t>High (Frequency crowding)</a:t>
                      </a:r>
                    </a:p>
                  </a:txBody>
                  <a:tcPr marL="114300" marR="114300" marT="76200" marB="76200" anchor="ctr"/>
                </a:tc>
                <a:extLst>
                  <a:ext uri="{0D108BD9-81ED-4DB2-BD59-A6C34878D82A}">
                    <a16:rowId xmlns:a16="http://schemas.microsoft.com/office/drawing/2014/main" val="2445688987"/>
                  </a:ext>
                </a:extLst>
              </a:tr>
              <a:tr h="370840">
                <a:tc>
                  <a:txBody>
                    <a:bodyPr/>
                    <a:lstStyle/>
                    <a:p>
                      <a:pPr algn="ctr">
                        <a:buNone/>
                      </a:pPr>
                      <a:r>
                        <a:rPr lang="en-IN" b="1">
                          <a:effectLst/>
                          <a:latin typeface="Google Sans Text"/>
                        </a:rPr>
                        <a:t>Microwaves</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Unguided (Wireless)</a:t>
                      </a:r>
                    </a:p>
                  </a:txBody>
                  <a:tcPr marL="114300" marR="114300" marT="76200" marB="76200" anchor="ctr"/>
                </a:tc>
                <a:tc>
                  <a:txBody>
                    <a:bodyPr/>
                    <a:lstStyle/>
                    <a:p>
                      <a:pPr algn="ctr">
                        <a:buNone/>
                      </a:pPr>
                      <a:r>
                        <a:rPr lang="en-IN">
                          <a:effectLst/>
                          <a:latin typeface="Google Sans Text"/>
                        </a:rPr>
                        <a:t>1 GHz - 300 GHz</a:t>
                      </a:r>
                    </a:p>
                  </a:txBody>
                  <a:tcPr marL="114300" marR="114300" marT="76200" marB="76200" anchor="ctr"/>
                </a:tc>
                <a:tc>
                  <a:txBody>
                    <a:bodyPr/>
                    <a:lstStyle/>
                    <a:p>
                      <a:pPr algn="ctr">
                        <a:buNone/>
                      </a:pPr>
                      <a:r>
                        <a:rPr lang="en-IN">
                          <a:effectLst/>
                          <a:latin typeface="Google Sans Text"/>
                        </a:rPr>
                        <a:t>~30-40 Miles (Terrestrial)</a:t>
                      </a:r>
                    </a:p>
                  </a:txBody>
                  <a:tcPr marL="114300" marR="114300" marT="76200" marB="76200" anchor="ctr"/>
                </a:tc>
                <a:tc>
                  <a:txBody>
                    <a:bodyPr/>
                    <a:lstStyle/>
                    <a:p>
                      <a:pPr algn="ctr">
                        <a:buNone/>
                      </a:pPr>
                      <a:r>
                        <a:rPr lang="en-IN">
                          <a:effectLst/>
                          <a:latin typeface="Google Sans Text"/>
                        </a:rPr>
                        <a:t>Yes (Strict straight line beam)</a:t>
                      </a:r>
                    </a:p>
                  </a:txBody>
                  <a:tcPr marL="114300" marR="114300" marT="76200" marB="76200" anchor="ctr"/>
                </a:tc>
                <a:tc>
                  <a:txBody>
                    <a:bodyPr/>
                    <a:lstStyle/>
                    <a:p>
                      <a:pPr algn="ctr">
                        <a:buNone/>
                      </a:pPr>
                      <a:r>
                        <a:rPr lang="en-IN">
                          <a:effectLst/>
                          <a:latin typeface="Google Sans Text"/>
                        </a:rPr>
                        <a:t>Medium (Impacted by rain/fog)</a:t>
                      </a:r>
                    </a:p>
                  </a:txBody>
                  <a:tcPr marL="114300" marR="114300" marT="76200" marB="76200" anchor="ctr"/>
                </a:tc>
                <a:extLst>
                  <a:ext uri="{0D108BD9-81ED-4DB2-BD59-A6C34878D82A}">
                    <a16:rowId xmlns:a16="http://schemas.microsoft.com/office/drawing/2014/main" val="3964527113"/>
                  </a:ext>
                </a:extLst>
              </a:tr>
              <a:tr h="370840">
                <a:tc>
                  <a:txBody>
                    <a:bodyPr/>
                    <a:lstStyle/>
                    <a:p>
                      <a:pPr algn="ctr">
                        <a:buNone/>
                      </a:pPr>
                      <a:r>
                        <a:rPr lang="en-IN" b="1">
                          <a:effectLst/>
                          <a:latin typeface="Google Sans Text"/>
                        </a:rPr>
                        <a:t>Infrared</a:t>
                      </a:r>
                      <a:endParaRPr lang="en-IN">
                        <a:effectLst/>
                        <a:latin typeface="Google Sans Text"/>
                      </a:endParaRPr>
                    </a:p>
                  </a:txBody>
                  <a:tcPr marL="114300" marR="114300" marT="76200" marB="76200" anchor="ctr"/>
                </a:tc>
                <a:tc>
                  <a:txBody>
                    <a:bodyPr/>
                    <a:lstStyle/>
                    <a:p>
                      <a:pPr algn="ctr">
                        <a:buNone/>
                      </a:pPr>
                      <a:r>
                        <a:rPr lang="en-IN">
                          <a:effectLst/>
                          <a:latin typeface="Google Sans Text"/>
                        </a:rPr>
                        <a:t>Unguided (Wireless)</a:t>
                      </a:r>
                    </a:p>
                  </a:txBody>
                  <a:tcPr marL="114300" marR="114300" marT="76200" marB="76200" anchor="ctr"/>
                </a:tc>
                <a:tc>
                  <a:txBody>
                    <a:bodyPr/>
                    <a:lstStyle/>
                    <a:p>
                      <a:pPr algn="ctr">
                        <a:buNone/>
                      </a:pPr>
                      <a:r>
                        <a:rPr lang="en-IN">
                          <a:effectLst/>
                          <a:latin typeface="Google Sans Text"/>
                        </a:rPr>
                        <a:t>300 GHz - 400 THz</a:t>
                      </a:r>
                    </a:p>
                  </a:txBody>
                  <a:tcPr marL="114300" marR="114300" marT="76200" marB="76200" anchor="ctr"/>
                </a:tc>
                <a:tc>
                  <a:txBody>
                    <a:bodyPr/>
                    <a:lstStyle/>
                    <a:p>
                      <a:pPr algn="ctr">
                        <a:buNone/>
                      </a:pPr>
                      <a:r>
                        <a:rPr lang="en-IN">
                          <a:effectLst/>
                          <a:latin typeface="Google Sans Text"/>
                        </a:rPr>
                        <a:t>~5-10 Meters</a:t>
                      </a:r>
                    </a:p>
                  </a:txBody>
                  <a:tcPr marL="114300" marR="114300" marT="76200" marB="76200" anchor="ctr"/>
                </a:tc>
                <a:tc>
                  <a:txBody>
                    <a:bodyPr/>
                    <a:lstStyle/>
                    <a:p>
                      <a:pPr algn="ctr">
                        <a:buNone/>
                      </a:pPr>
                      <a:r>
                        <a:rPr lang="en-IN">
                          <a:effectLst/>
                          <a:latin typeface="Google Sans Text"/>
                        </a:rPr>
                        <a:t>Yes (Cannot cross solid walls)</a:t>
                      </a:r>
                    </a:p>
                  </a:txBody>
                  <a:tcPr marL="114300" marR="114300" marT="76200" marB="76200" anchor="ctr"/>
                </a:tc>
                <a:tc>
                  <a:txBody>
                    <a:bodyPr/>
                    <a:lstStyle/>
                    <a:p>
                      <a:pPr algn="ctr">
                        <a:buNone/>
                      </a:pPr>
                      <a:r>
                        <a:rPr lang="en-IN" dirty="0">
                          <a:effectLst/>
                          <a:latin typeface="Google Sans Text"/>
                        </a:rPr>
                        <a:t>Low (Confined to single room)</a:t>
                      </a:r>
                    </a:p>
                  </a:txBody>
                  <a:tcPr marL="114300" marR="114300" marT="76200" marB="76200" anchor="ctr"/>
                </a:tc>
                <a:extLst>
                  <a:ext uri="{0D108BD9-81ED-4DB2-BD59-A6C34878D82A}">
                    <a16:rowId xmlns:a16="http://schemas.microsoft.com/office/drawing/2014/main" val="771241346"/>
                  </a:ext>
                </a:extLst>
              </a:tr>
            </a:tbl>
          </a:graphicData>
        </a:graphic>
      </p:graphicFrame>
    </p:spTree>
    <p:extLst>
      <p:ext uri="{BB962C8B-B14F-4D97-AF65-F5344CB8AC3E}">
        <p14:creationId xmlns:p14="http://schemas.microsoft.com/office/powerpoint/2010/main" val="259590777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764880-3C6D-B6F1-EF62-1753C6641B6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9167C8E-7721-003E-FE85-67BE001C4C5A}"/>
              </a:ext>
            </a:extLst>
          </p:cNvPr>
          <p:cNvSpPr>
            <a:spLocks noGrp="1"/>
          </p:cNvSpPr>
          <p:nvPr>
            <p:ph type="title"/>
          </p:nvPr>
        </p:nvSpPr>
        <p:spPr>
          <a:xfrm>
            <a:off x="256673" y="382336"/>
            <a:ext cx="11550315" cy="597401"/>
          </a:xfrm>
        </p:spPr>
        <p:txBody>
          <a:bodyPr>
            <a:normAutofit fontScale="90000"/>
          </a:bodyPr>
          <a:lstStyle/>
          <a:p>
            <a:r>
              <a:rPr lang="en-IN" dirty="0"/>
              <a:t>Physical Layer Core Responsibilities</a:t>
            </a:r>
          </a:p>
        </p:txBody>
      </p:sp>
      <p:sp>
        <p:nvSpPr>
          <p:cNvPr id="3" name="Content Placeholder 2">
            <a:extLst>
              <a:ext uri="{FF2B5EF4-FFF2-40B4-BE49-F238E27FC236}">
                <a16:creationId xmlns:a16="http://schemas.microsoft.com/office/drawing/2014/main" id="{BFE7A604-3010-2320-80C0-6E637C0DD16D}"/>
              </a:ext>
            </a:extLst>
          </p:cNvPr>
          <p:cNvSpPr>
            <a:spLocks noGrp="1"/>
          </p:cNvSpPr>
          <p:nvPr>
            <p:ph idx="1"/>
          </p:nvPr>
        </p:nvSpPr>
        <p:spPr>
          <a:xfrm>
            <a:off x="256673" y="1251284"/>
            <a:ext cx="11550315" cy="4925679"/>
          </a:xfrm>
        </p:spPr>
        <p:txBody>
          <a:bodyPr/>
          <a:lstStyle/>
          <a:p>
            <a:r>
              <a:rPr lang="en-IN" dirty="0"/>
              <a:t>When data travels down the OSI/TCP-IP stack, the Physical Layer receives a structured data frame from the Data Link Layer and executes the following programmatic and structural tasks:</a:t>
            </a:r>
          </a:p>
          <a:p>
            <a:pPr marL="0" indent="0">
              <a:buNone/>
            </a:pPr>
            <a:r>
              <a:rPr lang="en-IN" b="1" dirty="0">
                <a:highlight>
                  <a:srgbClr val="FFFF00"/>
                </a:highlight>
              </a:rPr>
              <a:t>A. Representation of Bits (Signal Encoding)</a:t>
            </a:r>
          </a:p>
          <a:p>
            <a:r>
              <a:rPr lang="en-IN" b="1" dirty="0"/>
              <a:t>The Duty:</a:t>
            </a:r>
            <a:r>
              <a:rPr lang="en-IN" dirty="0"/>
              <a:t> The physical layer determines how to map the stream of logical 0s and 1s into physical signals.</a:t>
            </a:r>
          </a:p>
          <a:p>
            <a:r>
              <a:rPr lang="en-IN" b="1" dirty="0"/>
              <a:t>The Logic:</a:t>
            </a:r>
            <a:r>
              <a:rPr lang="en-IN" dirty="0"/>
              <a:t> It defines the encoding type (e.g., Manchester encoding, Differential Manchester, or NRZ). For example, the software rules might dictate that a logical 1 is represented by a positive voltage change, while a logical 0 is represented by zero voltage change.</a:t>
            </a:r>
          </a:p>
          <a:p>
            <a:endParaRPr lang="en-IN" dirty="0"/>
          </a:p>
        </p:txBody>
      </p:sp>
    </p:spTree>
    <p:extLst>
      <p:ext uri="{BB962C8B-B14F-4D97-AF65-F5344CB8AC3E}">
        <p14:creationId xmlns:p14="http://schemas.microsoft.com/office/powerpoint/2010/main" val="233602253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FE530A-842E-BE78-5FFE-6B1AD0D5A98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4F95363-8AB0-4A3F-4B0F-D46E4B88B951}"/>
              </a:ext>
            </a:extLst>
          </p:cNvPr>
          <p:cNvSpPr>
            <a:spLocks noGrp="1"/>
          </p:cNvSpPr>
          <p:nvPr>
            <p:ph idx="1"/>
          </p:nvPr>
        </p:nvSpPr>
        <p:spPr>
          <a:xfrm>
            <a:off x="256673" y="657726"/>
            <a:ext cx="11550315" cy="5887453"/>
          </a:xfrm>
        </p:spPr>
        <p:txBody>
          <a:bodyPr>
            <a:normAutofit lnSpcReduction="10000"/>
          </a:bodyPr>
          <a:lstStyle/>
          <a:p>
            <a:pPr marL="0" indent="0">
              <a:buNone/>
            </a:pPr>
            <a:r>
              <a:rPr lang="en-IN" b="1" dirty="0">
                <a:highlight>
                  <a:srgbClr val="FFFF00"/>
                </a:highlight>
              </a:rPr>
              <a:t>B. Data Rate (Transmission Speed)</a:t>
            </a:r>
          </a:p>
          <a:p>
            <a:r>
              <a:rPr lang="en-IN" b="1" dirty="0"/>
              <a:t>The Duty:</a:t>
            </a:r>
            <a:r>
              <a:rPr lang="en-IN" dirty="0"/>
              <a:t> It establishes the transmission rate—the number of bits sent per second (bps).</a:t>
            </a:r>
          </a:p>
          <a:p>
            <a:r>
              <a:rPr lang="en-IN" b="1" dirty="0"/>
              <a:t>The Logic:</a:t>
            </a:r>
            <a:r>
              <a:rPr lang="en-IN" dirty="0"/>
              <a:t> This is controlled by the physical layer architecture, which dictates the exact duration of a single bit slot (how long a transmitting device must hold a signal line high or low for the receiver to register it as a valid bit).</a:t>
            </a:r>
          </a:p>
          <a:p>
            <a:endParaRPr lang="en-IN" dirty="0"/>
          </a:p>
          <a:p>
            <a:pPr marL="0" indent="0">
              <a:buNone/>
            </a:pPr>
            <a:r>
              <a:rPr lang="en-IN" b="1" dirty="0">
                <a:highlight>
                  <a:srgbClr val="FFFF00"/>
                </a:highlight>
              </a:rPr>
              <a:t>C. Bit Synchronization</a:t>
            </a:r>
          </a:p>
          <a:p>
            <a:r>
              <a:rPr lang="en-IN" b="1" dirty="0"/>
              <a:t>The Duty:</a:t>
            </a:r>
            <a:r>
              <a:rPr lang="en-IN" dirty="0"/>
              <a:t> It ensures that the sender’s clock and the receiver’s clock are perfectly synchronized.</a:t>
            </a:r>
          </a:p>
          <a:p>
            <a:r>
              <a:rPr lang="en-IN" b="1" dirty="0"/>
              <a:t>The Logic:</a:t>
            </a:r>
            <a:r>
              <a:rPr lang="en-IN" dirty="0"/>
              <a:t> Without synchronization, if the sender transmits at 1 Gbps but the receiver decodes at 990 Mbps, the receiver will miscount the incoming data pulses, leading to corrupt frames at the software layer. It fixes this using shared clock lines or self-clocking signal patterns.</a:t>
            </a:r>
          </a:p>
          <a:p>
            <a:endParaRPr lang="en-IN" dirty="0"/>
          </a:p>
          <a:p>
            <a:endParaRPr lang="en-IN" dirty="0"/>
          </a:p>
        </p:txBody>
      </p:sp>
    </p:spTree>
    <p:extLst>
      <p:ext uri="{BB962C8B-B14F-4D97-AF65-F5344CB8AC3E}">
        <p14:creationId xmlns:p14="http://schemas.microsoft.com/office/powerpoint/2010/main" val="3205161699"/>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0B174D-79DD-E241-90BE-727173DCD8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21BD38-19C0-E386-7730-2AB2A97D5A58}"/>
              </a:ext>
            </a:extLst>
          </p:cNvPr>
          <p:cNvSpPr>
            <a:spLocks noGrp="1"/>
          </p:cNvSpPr>
          <p:nvPr>
            <p:ph idx="1"/>
          </p:nvPr>
        </p:nvSpPr>
        <p:spPr>
          <a:xfrm>
            <a:off x="256673" y="657726"/>
            <a:ext cx="11550315" cy="5887453"/>
          </a:xfrm>
        </p:spPr>
        <p:txBody>
          <a:bodyPr>
            <a:normAutofit/>
          </a:bodyPr>
          <a:lstStyle/>
          <a:p>
            <a:pPr marL="0" indent="0">
              <a:buNone/>
            </a:pPr>
            <a:r>
              <a:rPr lang="en-IN" b="1" dirty="0">
                <a:highlight>
                  <a:srgbClr val="FFFF00"/>
                </a:highlight>
              </a:rPr>
              <a:t>D. Physical Topology Design</a:t>
            </a:r>
          </a:p>
          <a:p>
            <a:r>
              <a:rPr lang="en-IN" b="1" dirty="0"/>
              <a:t>The Duty:</a:t>
            </a:r>
            <a:r>
              <a:rPr lang="en-IN" dirty="0"/>
              <a:t> It establishes how the individual network devices are physically arranged and cabled together.</a:t>
            </a:r>
          </a:p>
          <a:p>
            <a:r>
              <a:rPr lang="en-IN" b="1" dirty="0"/>
              <a:t>The Logic:</a:t>
            </a:r>
            <a:r>
              <a:rPr lang="en-IN" dirty="0"/>
              <a:t> it dictates whether the facility will operate on a Star, Mesh, Bus, or Ring cable layout.</a:t>
            </a:r>
          </a:p>
          <a:p>
            <a:pPr marL="0" indent="0">
              <a:buNone/>
            </a:pPr>
            <a:r>
              <a:rPr lang="en-IN" b="1" dirty="0">
                <a:highlight>
                  <a:srgbClr val="FFFF00"/>
                </a:highlight>
              </a:rPr>
              <a:t>E. Transmission Mode Directionality</a:t>
            </a:r>
          </a:p>
          <a:p>
            <a:r>
              <a:rPr lang="en-IN" b="1" dirty="0"/>
              <a:t>The Duty:</a:t>
            </a:r>
            <a:r>
              <a:rPr lang="en-IN" dirty="0"/>
              <a:t> It configures the physical direction of data flow across the media interfaces.</a:t>
            </a:r>
          </a:p>
          <a:p>
            <a:r>
              <a:rPr lang="en-IN" b="1" dirty="0"/>
              <a:t>The Logic:</a:t>
            </a:r>
            <a:r>
              <a:rPr lang="en-IN" dirty="0"/>
              <a:t> It hardwires the channel circuits to operate in either </a:t>
            </a:r>
            <a:r>
              <a:rPr lang="en-IN" b="1" dirty="0"/>
              <a:t>Simplex</a:t>
            </a:r>
            <a:r>
              <a:rPr lang="en-IN" dirty="0"/>
              <a:t> (one-way), </a:t>
            </a:r>
            <a:r>
              <a:rPr lang="en-IN" b="1" dirty="0"/>
              <a:t>Half-Duplex</a:t>
            </a:r>
            <a:r>
              <a:rPr lang="en-IN" dirty="0"/>
              <a:t> (two-way alternating), or </a:t>
            </a:r>
            <a:r>
              <a:rPr lang="en-IN" b="1" dirty="0"/>
              <a:t>Full-Duplex</a:t>
            </a:r>
            <a:r>
              <a:rPr lang="en-IN" dirty="0"/>
              <a:t> (simultaneous two-way) communication modes.</a:t>
            </a:r>
          </a:p>
          <a:p>
            <a:endParaRPr lang="en-IN" dirty="0"/>
          </a:p>
          <a:p>
            <a:endParaRPr lang="en-IN" dirty="0"/>
          </a:p>
        </p:txBody>
      </p:sp>
    </p:spTree>
    <p:extLst>
      <p:ext uri="{BB962C8B-B14F-4D97-AF65-F5344CB8AC3E}">
        <p14:creationId xmlns:p14="http://schemas.microsoft.com/office/powerpoint/2010/main" val="1282366914"/>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99CD66-3B74-EFAB-1EB8-C958156EEF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B7E978-DD76-971C-2CF3-CBD9BCDB9DAB}"/>
              </a:ext>
            </a:extLst>
          </p:cNvPr>
          <p:cNvSpPr>
            <a:spLocks noGrp="1"/>
          </p:cNvSpPr>
          <p:nvPr>
            <p:ph type="title"/>
          </p:nvPr>
        </p:nvSpPr>
        <p:spPr>
          <a:xfrm>
            <a:off x="256674" y="365125"/>
            <a:ext cx="11550315" cy="597401"/>
          </a:xfrm>
        </p:spPr>
        <p:txBody>
          <a:bodyPr>
            <a:normAutofit fontScale="90000"/>
          </a:bodyPr>
          <a:lstStyle/>
          <a:p>
            <a:r>
              <a:rPr lang="en-US" dirty="0"/>
              <a:t>Multiplexing – Need?</a:t>
            </a:r>
            <a:endParaRPr lang="en-IN" dirty="0"/>
          </a:p>
        </p:txBody>
      </p:sp>
      <p:sp>
        <p:nvSpPr>
          <p:cNvPr id="3" name="Content Placeholder 2">
            <a:extLst>
              <a:ext uri="{FF2B5EF4-FFF2-40B4-BE49-F238E27FC236}">
                <a16:creationId xmlns:a16="http://schemas.microsoft.com/office/drawing/2014/main" id="{5F2061E3-938A-072D-B1C3-CD29C35AB866}"/>
              </a:ext>
            </a:extLst>
          </p:cNvPr>
          <p:cNvSpPr>
            <a:spLocks noGrp="1"/>
          </p:cNvSpPr>
          <p:nvPr>
            <p:ph idx="1"/>
          </p:nvPr>
        </p:nvSpPr>
        <p:spPr>
          <a:xfrm>
            <a:off x="256673" y="1251284"/>
            <a:ext cx="11550315" cy="4925679"/>
          </a:xfrm>
        </p:spPr>
        <p:txBody>
          <a:bodyPr/>
          <a:lstStyle/>
          <a:p>
            <a:r>
              <a:rPr lang="en-IN" dirty="0"/>
              <a:t>When a telecommunications company lays an expensive high-capacity </a:t>
            </a:r>
            <a:r>
              <a:rPr lang="en-IN" dirty="0" err="1"/>
              <a:t>fiber</a:t>
            </a:r>
            <a:r>
              <a:rPr lang="en-IN" dirty="0"/>
              <a:t>-optic cable under a river or builds a wireless transmission tower, the physical installation cost can be massive. If that physical medium could only carry one single data packet from one single computer at a time, the entire network would freeze up while thousands of other users waited for their turn. Buying a separate physical cable line for every individual smartphone or internet user on Earth is financially and physically impossible.</a:t>
            </a:r>
          </a:p>
          <a:p>
            <a:r>
              <a:rPr lang="en-IN" dirty="0"/>
              <a:t>We need a mathematical and logical way to slice up a single high-capacity physical connection so that thousands of independent data packets can travel down the same wire simultaneously without blending together into data noise.</a:t>
            </a:r>
          </a:p>
          <a:p>
            <a:endParaRPr lang="en-IN" dirty="0"/>
          </a:p>
        </p:txBody>
      </p:sp>
    </p:spTree>
    <p:extLst>
      <p:ext uri="{BB962C8B-B14F-4D97-AF65-F5344CB8AC3E}">
        <p14:creationId xmlns:p14="http://schemas.microsoft.com/office/powerpoint/2010/main" val="5873715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AD74FE-B4A1-E5B9-14D2-7DB2B0E5117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2E4BC65-CB6E-FC6F-8D0F-16E42C6E9192}"/>
              </a:ext>
            </a:extLst>
          </p:cNvPr>
          <p:cNvSpPr>
            <a:spLocks noGrp="1"/>
          </p:cNvSpPr>
          <p:nvPr>
            <p:ph type="title"/>
          </p:nvPr>
        </p:nvSpPr>
        <p:spPr>
          <a:xfrm>
            <a:off x="256672" y="541588"/>
            <a:ext cx="11550315" cy="597401"/>
          </a:xfrm>
        </p:spPr>
        <p:txBody>
          <a:bodyPr>
            <a:normAutofit fontScale="90000"/>
          </a:bodyPr>
          <a:lstStyle/>
          <a:p>
            <a:r>
              <a:rPr lang="en-IN" dirty="0"/>
              <a:t>Multiplexing</a:t>
            </a:r>
          </a:p>
        </p:txBody>
      </p:sp>
      <p:sp>
        <p:nvSpPr>
          <p:cNvPr id="3" name="Content Placeholder 2">
            <a:extLst>
              <a:ext uri="{FF2B5EF4-FFF2-40B4-BE49-F238E27FC236}">
                <a16:creationId xmlns:a16="http://schemas.microsoft.com/office/drawing/2014/main" id="{6D67C2E5-043E-80E7-BA08-E9BD9BE0C5A5}"/>
              </a:ext>
            </a:extLst>
          </p:cNvPr>
          <p:cNvSpPr>
            <a:spLocks noGrp="1"/>
          </p:cNvSpPr>
          <p:nvPr>
            <p:ph idx="1"/>
          </p:nvPr>
        </p:nvSpPr>
        <p:spPr>
          <a:xfrm>
            <a:off x="256673" y="1251284"/>
            <a:ext cx="11550315" cy="5358063"/>
          </a:xfrm>
        </p:spPr>
        <p:txBody>
          <a:bodyPr/>
          <a:lstStyle/>
          <a:p>
            <a:pPr marL="0" indent="0">
              <a:buNone/>
            </a:pPr>
            <a:r>
              <a:rPr lang="en-IN" dirty="0"/>
              <a:t>Multiplexing in data communications is a method that combines multiple signals or data streams into one signal over a shared medium. This process allows for efficient use of resources and can significantly increase the amount of data that can be sent over a network.</a:t>
            </a:r>
          </a:p>
          <a:p>
            <a:pPr marL="0" indent="0">
              <a:buNone/>
            </a:pPr>
            <a:endParaRPr lang="en-IN" b="1" dirty="0"/>
          </a:p>
          <a:p>
            <a:r>
              <a:rPr lang="en-IN" b="1" dirty="0"/>
              <a:t>The Multiplexer (MUX):</a:t>
            </a:r>
            <a:r>
              <a:rPr lang="en-IN" dirty="0"/>
              <a:t> A hardware or logical component that acts as a many-to-one selector, taking N input streams and merging them onto 1 shared line.</a:t>
            </a:r>
          </a:p>
          <a:p>
            <a:r>
              <a:rPr lang="en-IN" b="1" dirty="0"/>
              <a:t>The Demultiplexer (DEMUX):</a:t>
            </a:r>
            <a:r>
              <a:rPr lang="en-IN" dirty="0"/>
              <a:t> A component situated at the receiver's end that acts as a one-to-many distributor, separating the combined stream back into its </a:t>
            </a:r>
            <a:r>
              <a:rPr lang="en-IN" b="1" dirty="0"/>
              <a:t>N</a:t>
            </a:r>
            <a:r>
              <a:rPr lang="en-IN" dirty="0"/>
              <a:t> original, independent data channels.</a:t>
            </a:r>
          </a:p>
          <a:p>
            <a:endParaRPr lang="en-IN" dirty="0"/>
          </a:p>
        </p:txBody>
      </p:sp>
    </p:spTree>
    <p:extLst>
      <p:ext uri="{BB962C8B-B14F-4D97-AF65-F5344CB8AC3E}">
        <p14:creationId xmlns:p14="http://schemas.microsoft.com/office/powerpoint/2010/main" val="4042587765"/>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1117588-EBE4-D50F-CDB8-BF782FCA11C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56AF08-E86D-591E-57F7-621658871D39}"/>
              </a:ext>
            </a:extLst>
          </p:cNvPr>
          <p:cNvSpPr>
            <a:spLocks noGrp="1"/>
          </p:cNvSpPr>
          <p:nvPr>
            <p:ph type="title"/>
          </p:nvPr>
        </p:nvSpPr>
        <p:spPr>
          <a:xfrm>
            <a:off x="256672" y="541588"/>
            <a:ext cx="11550315" cy="597401"/>
          </a:xfrm>
        </p:spPr>
        <p:txBody>
          <a:bodyPr>
            <a:normAutofit fontScale="90000"/>
          </a:bodyPr>
          <a:lstStyle/>
          <a:p>
            <a:r>
              <a:rPr lang="en-IN" dirty="0"/>
              <a:t>Multiplexing </a:t>
            </a:r>
          </a:p>
        </p:txBody>
      </p:sp>
      <p:pic>
        <p:nvPicPr>
          <p:cNvPr id="5" name="Picture 4">
            <a:extLst>
              <a:ext uri="{FF2B5EF4-FFF2-40B4-BE49-F238E27FC236}">
                <a16:creationId xmlns:a16="http://schemas.microsoft.com/office/drawing/2014/main" id="{47060833-3E49-85FC-7D7A-B541255EDB46}"/>
              </a:ext>
            </a:extLst>
          </p:cNvPr>
          <p:cNvPicPr>
            <a:picLocks noChangeAspect="1"/>
          </p:cNvPicPr>
          <p:nvPr/>
        </p:nvPicPr>
        <p:blipFill>
          <a:blip r:embed="rId2"/>
          <a:stretch>
            <a:fillRect/>
          </a:stretch>
        </p:blipFill>
        <p:spPr>
          <a:xfrm>
            <a:off x="1010653" y="2073732"/>
            <a:ext cx="9366627" cy="2555597"/>
          </a:xfrm>
          <a:prstGeom prst="rect">
            <a:avLst/>
          </a:prstGeom>
        </p:spPr>
      </p:pic>
      <p:sp>
        <p:nvSpPr>
          <p:cNvPr id="7" name="TextBox 6">
            <a:extLst>
              <a:ext uri="{FF2B5EF4-FFF2-40B4-BE49-F238E27FC236}">
                <a16:creationId xmlns:a16="http://schemas.microsoft.com/office/drawing/2014/main" id="{29DCE8EB-41D1-168C-631F-7F51420930D0}"/>
              </a:ext>
            </a:extLst>
          </p:cNvPr>
          <p:cNvSpPr txBox="1"/>
          <p:nvPr/>
        </p:nvSpPr>
        <p:spPr>
          <a:xfrm>
            <a:off x="1010654" y="4792579"/>
            <a:ext cx="8983578" cy="923330"/>
          </a:xfrm>
          <a:prstGeom prst="rect">
            <a:avLst/>
          </a:prstGeom>
          <a:noFill/>
        </p:spPr>
        <p:txBody>
          <a:bodyPr wrap="square">
            <a:spAutoFit/>
          </a:bodyPr>
          <a:lstStyle/>
          <a:p>
            <a:r>
              <a:rPr lang="en-IN" b="1" i="1" dirty="0">
                <a:solidFill>
                  <a:srgbClr val="273239"/>
                </a:solidFill>
                <a:effectLst/>
                <a:latin typeface="Nunito" pitchFamily="2" charset="0"/>
              </a:rPr>
              <a:t>Note: </a:t>
            </a:r>
            <a:r>
              <a:rPr lang="en-IN" dirty="0">
                <a:latin typeface="Nunito" pitchFamily="2" charset="0"/>
              </a:rPr>
              <a:t>Multiplexing </a:t>
            </a:r>
            <a:r>
              <a:rPr lang="en-IN" b="0" dirty="0">
                <a:effectLst/>
                <a:latin typeface="Nunito" pitchFamily="2" charset="0"/>
              </a:rPr>
              <a:t>is the sharing of a medium or bandwidth. It is the process in which multiple signals coming from multiple sources are combined and transmitted over a single communication/physical line.</a:t>
            </a:r>
            <a:endParaRPr lang="en-IN" dirty="0"/>
          </a:p>
        </p:txBody>
      </p:sp>
    </p:spTree>
    <p:extLst>
      <p:ext uri="{BB962C8B-B14F-4D97-AF65-F5344CB8AC3E}">
        <p14:creationId xmlns:p14="http://schemas.microsoft.com/office/powerpoint/2010/main" val="3508050099"/>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4607B7C-D216-F46E-6341-FD4C078366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09DAE4-DB28-97BA-759B-36CE14BFD3C7}"/>
              </a:ext>
            </a:extLst>
          </p:cNvPr>
          <p:cNvSpPr>
            <a:spLocks noGrp="1"/>
          </p:cNvSpPr>
          <p:nvPr>
            <p:ph type="title"/>
          </p:nvPr>
        </p:nvSpPr>
        <p:spPr>
          <a:xfrm>
            <a:off x="256672" y="541588"/>
            <a:ext cx="11550315" cy="597401"/>
          </a:xfrm>
        </p:spPr>
        <p:txBody>
          <a:bodyPr>
            <a:normAutofit fontScale="90000"/>
          </a:bodyPr>
          <a:lstStyle/>
          <a:p>
            <a:r>
              <a:rPr lang="en-IN" dirty="0"/>
              <a:t>Multiplexing - Uses</a:t>
            </a:r>
          </a:p>
        </p:txBody>
      </p:sp>
      <p:sp>
        <p:nvSpPr>
          <p:cNvPr id="3" name="Content Placeholder 2">
            <a:extLst>
              <a:ext uri="{FF2B5EF4-FFF2-40B4-BE49-F238E27FC236}">
                <a16:creationId xmlns:a16="http://schemas.microsoft.com/office/drawing/2014/main" id="{1043C73C-9EB2-0552-AE4C-9CFD6BE22C4A}"/>
              </a:ext>
            </a:extLst>
          </p:cNvPr>
          <p:cNvSpPr>
            <a:spLocks noGrp="1"/>
          </p:cNvSpPr>
          <p:nvPr>
            <p:ph idx="1"/>
          </p:nvPr>
        </p:nvSpPr>
        <p:spPr>
          <a:xfrm>
            <a:off x="256673" y="1251284"/>
            <a:ext cx="11550315" cy="5358063"/>
          </a:xfrm>
        </p:spPr>
        <p:txBody>
          <a:bodyPr>
            <a:normAutofit lnSpcReduction="10000"/>
          </a:bodyPr>
          <a:lstStyle/>
          <a:p>
            <a:pPr fontAlgn="base"/>
            <a:r>
              <a:rPr lang="en-IN" b="1" dirty="0"/>
              <a:t>Efficient Utilization of Resources</a:t>
            </a:r>
            <a:r>
              <a:rPr lang="en-IN" dirty="0"/>
              <a:t>: Multiplexing allows multiple signals to share the same communication channel, making the most of the available bandwidth. This is especially important in environments where bandwidth is limited.</a:t>
            </a:r>
          </a:p>
          <a:p>
            <a:pPr fontAlgn="base"/>
            <a:r>
              <a:rPr lang="en-IN" b="1" dirty="0"/>
              <a:t>Telecommunications</a:t>
            </a:r>
            <a:r>
              <a:rPr lang="en-IN" dirty="0"/>
              <a:t>: In telephone networks, multiplexing enables the simultaneous transmission of multiple telephone calls over a single line, enhancing the capacity of the network.</a:t>
            </a:r>
          </a:p>
          <a:p>
            <a:pPr fontAlgn="base"/>
            <a:r>
              <a:rPr lang="en-IN" b="1" dirty="0"/>
              <a:t>Internet and Data Networks</a:t>
            </a:r>
            <a:r>
              <a:rPr lang="en-IN" dirty="0"/>
              <a:t>: Multiplexing is used in internet communications to transmit data from multiple users over a single network line, improving the efficiency and speed of data transfer.</a:t>
            </a:r>
          </a:p>
          <a:p>
            <a:pPr fontAlgn="base"/>
            <a:r>
              <a:rPr lang="en-IN" b="1" dirty="0"/>
              <a:t>Satellite Communications</a:t>
            </a:r>
            <a:r>
              <a:rPr lang="en-IN" dirty="0"/>
              <a:t>: Multiplexing helps in efficiently utilizing the available bandwidth on satellite transponders, allowing multiple signals to be transmitted and received simultaneously.</a:t>
            </a:r>
          </a:p>
          <a:p>
            <a:endParaRPr lang="en-IN" dirty="0"/>
          </a:p>
        </p:txBody>
      </p:sp>
    </p:spTree>
    <p:extLst>
      <p:ext uri="{BB962C8B-B14F-4D97-AF65-F5344CB8AC3E}">
        <p14:creationId xmlns:p14="http://schemas.microsoft.com/office/powerpoint/2010/main" val="284197449"/>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E35D289-5947-8549-4E3D-58CDFEB797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FD1342-066A-F00A-D335-01AFC6BCEE15}"/>
              </a:ext>
            </a:extLst>
          </p:cNvPr>
          <p:cNvSpPr>
            <a:spLocks noGrp="1"/>
          </p:cNvSpPr>
          <p:nvPr>
            <p:ph type="title"/>
          </p:nvPr>
        </p:nvSpPr>
        <p:spPr>
          <a:xfrm>
            <a:off x="256672" y="541588"/>
            <a:ext cx="11550315" cy="597401"/>
          </a:xfrm>
        </p:spPr>
        <p:txBody>
          <a:bodyPr>
            <a:normAutofit fontScale="90000"/>
          </a:bodyPr>
          <a:lstStyle/>
          <a:p>
            <a:r>
              <a:rPr lang="en-IN" dirty="0"/>
              <a:t>Multiplexing – Types / Strategies</a:t>
            </a:r>
          </a:p>
        </p:txBody>
      </p:sp>
      <p:pic>
        <p:nvPicPr>
          <p:cNvPr id="7" name="Picture 6">
            <a:extLst>
              <a:ext uri="{FF2B5EF4-FFF2-40B4-BE49-F238E27FC236}">
                <a16:creationId xmlns:a16="http://schemas.microsoft.com/office/drawing/2014/main" id="{AC24B3B5-FC87-6945-4823-6DAFAAB3482B}"/>
              </a:ext>
            </a:extLst>
          </p:cNvPr>
          <p:cNvPicPr>
            <a:picLocks noChangeAspect="1"/>
          </p:cNvPicPr>
          <p:nvPr/>
        </p:nvPicPr>
        <p:blipFill>
          <a:blip r:embed="rId2"/>
          <a:stretch>
            <a:fillRect/>
          </a:stretch>
        </p:blipFill>
        <p:spPr>
          <a:xfrm>
            <a:off x="465220" y="1459832"/>
            <a:ext cx="11117179" cy="4856579"/>
          </a:xfrm>
          <a:prstGeom prst="rect">
            <a:avLst/>
          </a:prstGeom>
        </p:spPr>
      </p:pic>
    </p:spTree>
    <p:extLst>
      <p:ext uri="{BB962C8B-B14F-4D97-AF65-F5344CB8AC3E}">
        <p14:creationId xmlns:p14="http://schemas.microsoft.com/office/powerpoint/2010/main" val="255912868"/>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D2ECDF-E4E7-5F7A-50E3-257F4C18500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D9C98F1-F95A-30D0-625C-715B5B124C9D}"/>
              </a:ext>
            </a:extLst>
          </p:cNvPr>
          <p:cNvSpPr>
            <a:spLocks noGrp="1"/>
          </p:cNvSpPr>
          <p:nvPr>
            <p:ph type="title"/>
          </p:nvPr>
        </p:nvSpPr>
        <p:spPr>
          <a:xfrm>
            <a:off x="256672" y="541588"/>
            <a:ext cx="11550315" cy="597401"/>
          </a:xfrm>
        </p:spPr>
        <p:txBody>
          <a:bodyPr>
            <a:normAutofit fontScale="90000"/>
          </a:bodyPr>
          <a:lstStyle/>
          <a:p>
            <a:r>
              <a:rPr lang="en-IN" dirty="0"/>
              <a:t>FDM (Frequency Division Multiplexing)</a:t>
            </a:r>
          </a:p>
        </p:txBody>
      </p:sp>
      <p:sp>
        <p:nvSpPr>
          <p:cNvPr id="3" name="Content Placeholder 2">
            <a:extLst>
              <a:ext uri="{FF2B5EF4-FFF2-40B4-BE49-F238E27FC236}">
                <a16:creationId xmlns:a16="http://schemas.microsoft.com/office/drawing/2014/main" id="{4E6AB271-9282-9942-1DD0-0C67C1CC35CE}"/>
              </a:ext>
            </a:extLst>
          </p:cNvPr>
          <p:cNvSpPr>
            <a:spLocks noGrp="1"/>
          </p:cNvSpPr>
          <p:nvPr>
            <p:ph idx="1"/>
          </p:nvPr>
        </p:nvSpPr>
        <p:spPr>
          <a:xfrm>
            <a:off x="256673" y="1251284"/>
            <a:ext cx="11550315" cy="5358063"/>
          </a:xfrm>
        </p:spPr>
        <p:txBody>
          <a:bodyPr>
            <a:normAutofit fontScale="92500" lnSpcReduction="20000"/>
          </a:bodyPr>
          <a:lstStyle/>
          <a:p>
            <a:r>
              <a:rPr lang="en-IN" dirty="0"/>
              <a:t>Frequency division multiplexing is defined as a type of multiplexing where the bandwidth of a single physical medium is divided into a number of smaller, independent frequency channels.</a:t>
            </a:r>
          </a:p>
          <a:p>
            <a:endParaRPr lang="en-IN" dirty="0"/>
          </a:p>
          <a:p>
            <a:endParaRPr lang="en-IN" dirty="0"/>
          </a:p>
          <a:p>
            <a:endParaRPr lang="en-IN" dirty="0"/>
          </a:p>
          <a:p>
            <a:endParaRPr lang="en-IN" dirty="0"/>
          </a:p>
          <a:p>
            <a:endParaRPr lang="en-IN" dirty="0"/>
          </a:p>
          <a:p>
            <a:endParaRPr lang="en-IN" dirty="0"/>
          </a:p>
          <a:p>
            <a:pPr fontAlgn="base"/>
            <a:r>
              <a:rPr lang="en-IN" dirty="0"/>
              <a:t>In FDM, we can observe a lot of inter-channel cross-talk because in this type of multiplexing the bandwidth is divided into frequency channels.</a:t>
            </a:r>
          </a:p>
          <a:p>
            <a:pPr fontAlgn="base"/>
            <a:r>
              <a:rPr lang="en-IN" dirty="0"/>
              <a:t>In order to prevent the inter-channel cross talk, unused strips of bandwidth must be placed between each channel. These unused strips between each channel are known as guard bands.</a:t>
            </a:r>
          </a:p>
          <a:p>
            <a:pPr marL="0" indent="0">
              <a:buNone/>
            </a:pPr>
            <a:endParaRPr lang="en-IN" dirty="0"/>
          </a:p>
        </p:txBody>
      </p:sp>
      <p:pic>
        <p:nvPicPr>
          <p:cNvPr id="5" name="Picture 4">
            <a:extLst>
              <a:ext uri="{FF2B5EF4-FFF2-40B4-BE49-F238E27FC236}">
                <a16:creationId xmlns:a16="http://schemas.microsoft.com/office/drawing/2014/main" id="{7762EE8B-6FB2-8F48-85D9-7D13F60F38EE}"/>
              </a:ext>
            </a:extLst>
          </p:cNvPr>
          <p:cNvPicPr>
            <a:picLocks noChangeAspect="1"/>
          </p:cNvPicPr>
          <p:nvPr/>
        </p:nvPicPr>
        <p:blipFill>
          <a:blip r:embed="rId2"/>
          <a:stretch>
            <a:fillRect/>
          </a:stretch>
        </p:blipFill>
        <p:spPr>
          <a:xfrm>
            <a:off x="1912995" y="2245262"/>
            <a:ext cx="7563906" cy="1886213"/>
          </a:xfrm>
          <a:prstGeom prst="rect">
            <a:avLst/>
          </a:prstGeom>
        </p:spPr>
      </p:pic>
    </p:spTree>
    <p:extLst>
      <p:ext uri="{BB962C8B-B14F-4D97-AF65-F5344CB8AC3E}">
        <p14:creationId xmlns:p14="http://schemas.microsoft.com/office/powerpoint/2010/main" val="1097116657"/>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35BCFA-9345-C56E-5A0C-DED1BD54E1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604249-1638-8B1F-E004-C7EC030711E6}"/>
              </a:ext>
            </a:extLst>
          </p:cNvPr>
          <p:cNvSpPr>
            <a:spLocks noGrp="1"/>
          </p:cNvSpPr>
          <p:nvPr>
            <p:ph type="title"/>
          </p:nvPr>
        </p:nvSpPr>
        <p:spPr>
          <a:xfrm>
            <a:off x="256672" y="541588"/>
            <a:ext cx="11550315" cy="597401"/>
          </a:xfrm>
        </p:spPr>
        <p:txBody>
          <a:bodyPr>
            <a:normAutofit fontScale="90000"/>
          </a:bodyPr>
          <a:lstStyle/>
          <a:p>
            <a:r>
              <a:rPr lang="en-IN" dirty="0"/>
              <a:t>FDM (Frequency Division Multiplexing)</a:t>
            </a:r>
          </a:p>
        </p:txBody>
      </p:sp>
      <p:pic>
        <p:nvPicPr>
          <p:cNvPr id="6" name="Picture 5">
            <a:extLst>
              <a:ext uri="{FF2B5EF4-FFF2-40B4-BE49-F238E27FC236}">
                <a16:creationId xmlns:a16="http://schemas.microsoft.com/office/drawing/2014/main" id="{CA58D04C-F4EA-B949-7256-485DCF880369}"/>
              </a:ext>
            </a:extLst>
          </p:cNvPr>
          <p:cNvPicPr>
            <a:picLocks noChangeAspect="1"/>
          </p:cNvPicPr>
          <p:nvPr/>
        </p:nvPicPr>
        <p:blipFill>
          <a:blip r:embed="rId2"/>
          <a:stretch>
            <a:fillRect/>
          </a:stretch>
        </p:blipFill>
        <p:spPr>
          <a:xfrm>
            <a:off x="770021" y="1572127"/>
            <a:ext cx="10058399" cy="4074694"/>
          </a:xfrm>
          <a:prstGeom prst="rect">
            <a:avLst/>
          </a:prstGeom>
        </p:spPr>
      </p:pic>
      <p:sp>
        <p:nvSpPr>
          <p:cNvPr id="8" name="TextBox 7">
            <a:extLst>
              <a:ext uri="{FF2B5EF4-FFF2-40B4-BE49-F238E27FC236}">
                <a16:creationId xmlns:a16="http://schemas.microsoft.com/office/drawing/2014/main" id="{605FF4C1-3EC7-8C63-BA14-17EE52F0C12C}"/>
              </a:ext>
            </a:extLst>
          </p:cNvPr>
          <p:cNvSpPr txBox="1"/>
          <p:nvPr/>
        </p:nvSpPr>
        <p:spPr>
          <a:xfrm>
            <a:off x="962526" y="5756793"/>
            <a:ext cx="10282990" cy="369332"/>
          </a:xfrm>
          <a:prstGeom prst="rect">
            <a:avLst/>
          </a:prstGeom>
          <a:noFill/>
        </p:spPr>
        <p:txBody>
          <a:bodyPr wrap="square">
            <a:spAutoFit/>
          </a:bodyPr>
          <a:lstStyle/>
          <a:p>
            <a:r>
              <a:rPr lang="en-IN" b="1" i="1" dirty="0">
                <a:solidFill>
                  <a:srgbClr val="273239"/>
                </a:solidFill>
                <a:effectLst/>
                <a:latin typeface="Nunito" pitchFamily="2" charset="0"/>
              </a:rPr>
              <a:t>Note: </a:t>
            </a:r>
            <a:r>
              <a:rPr lang="en-IN" b="0" i="1" dirty="0">
                <a:solidFill>
                  <a:srgbClr val="273239"/>
                </a:solidFill>
                <a:effectLst/>
                <a:latin typeface="Nunito" pitchFamily="2" charset="0"/>
              </a:rPr>
              <a:t>Frequency Division Multiplexing is used in radio and television transmission</a:t>
            </a:r>
            <a:endParaRPr lang="en-IN" dirty="0"/>
          </a:p>
        </p:txBody>
      </p:sp>
    </p:spTree>
    <p:extLst>
      <p:ext uri="{BB962C8B-B14F-4D97-AF65-F5344CB8AC3E}">
        <p14:creationId xmlns:p14="http://schemas.microsoft.com/office/powerpoint/2010/main" val="388395443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C52993-3CBC-3855-0E9A-549DFF3715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32117D8-4E88-B42D-B0D0-909E4D453C5F}"/>
              </a:ext>
            </a:extLst>
          </p:cNvPr>
          <p:cNvSpPr>
            <a:spLocks noGrp="1"/>
          </p:cNvSpPr>
          <p:nvPr>
            <p:ph type="title"/>
          </p:nvPr>
        </p:nvSpPr>
        <p:spPr>
          <a:xfrm>
            <a:off x="256672" y="541588"/>
            <a:ext cx="11550315" cy="597401"/>
          </a:xfrm>
        </p:spPr>
        <p:txBody>
          <a:bodyPr>
            <a:normAutofit fontScale="90000"/>
          </a:bodyPr>
          <a:lstStyle/>
          <a:p>
            <a:r>
              <a:rPr lang="en-IN" dirty="0"/>
              <a:t>FDM (Frequency Division Multiplexing)</a:t>
            </a:r>
          </a:p>
        </p:txBody>
      </p:sp>
      <p:sp>
        <p:nvSpPr>
          <p:cNvPr id="4" name="TextBox 3">
            <a:extLst>
              <a:ext uri="{FF2B5EF4-FFF2-40B4-BE49-F238E27FC236}">
                <a16:creationId xmlns:a16="http://schemas.microsoft.com/office/drawing/2014/main" id="{16016E71-BDC7-B581-CC8E-94BB9961FDD8}"/>
              </a:ext>
            </a:extLst>
          </p:cNvPr>
          <p:cNvSpPr txBox="1"/>
          <p:nvPr/>
        </p:nvSpPr>
        <p:spPr>
          <a:xfrm>
            <a:off x="401053" y="1600796"/>
            <a:ext cx="10908631" cy="2957861"/>
          </a:xfrm>
          <a:prstGeom prst="rect">
            <a:avLst/>
          </a:prstGeom>
          <a:noFill/>
        </p:spPr>
        <p:txBody>
          <a:bodyPr wrap="square">
            <a:spAutoFit/>
          </a:bodyPr>
          <a:lstStyle/>
          <a:p>
            <a:pPr>
              <a:lnSpc>
                <a:spcPct val="150000"/>
              </a:lnSpc>
              <a:buNone/>
            </a:pPr>
            <a:r>
              <a:rPr lang="en-IN" b="1" dirty="0"/>
              <a:t>Example</a:t>
            </a:r>
          </a:p>
          <a:p>
            <a:pPr>
              <a:lnSpc>
                <a:spcPct val="150000"/>
              </a:lnSpc>
              <a:buNone/>
            </a:pPr>
            <a:r>
              <a:rPr lang="en-IN" b="1" dirty="0"/>
              <a:t>Commercial Cable Television:</a:t>
            </a:r>
            <a:r>
              <a:rPr lang="en-IN" dirty="0"/>
              <a:t> A single coaxial cable wire enters your house. That wire carries data packets for Channel 10, Channel 20, and Channel 30 simultaneously.</a:t>
            </a:r>
          </a:p>
          <a:p>
            <a:pPr>
              <a:lnSpc>
                <a:spcPct val="150000"/>
              </a:lnSpc>
              <a:buFont typeface="Arial" panose="020B0604020202020204" pitchFamily="34" charset="0"/>
              <a:buChar char="•"/>
            </a:pPr>
            <a:r>
              <a:rPr lang="en-IN" dirty="0"/>
              <a:t>Channel 10 is broadcasted strictly on the frequency band of </a:t>
            </a:r>
            <a:r>
              <a:rPr lang="en-IN" b="1" dirty="0"/>
              <a:t>100 MHz to 106 </a:t>
            </a:r>
            <a:r>
              <a:rPr lang="en-IN" b="1" dirty="0" err="1"/>
              <a:t>MHz</a:t>
            </a:r>
            <a:r>
              <a:rPr lang="en-IN" dirty="0" err="1"/>
              <a:t>.</a:t>
            </a:r>
            <a:endParaRPr lang="en-IN" dirty="0"/>
          </a:p>
          <a:p>
            <a:pPr>
              <a:lnSpc>
                <a:spcPct val="150000"/>
              </a:lnSpc>
              <a:buFont typeface="Arial" panose="020B0604020202020204" pitchFamily="34" charset="0"/>
              <a:buChar char="•"/>
            </a:pPr>
            <a:r>
              <a:rPr lang="en-IN" dirty="0"/>
              <a:t>Channel 20 is broadcasted on </a:t>
            </a:r>
            <a:r>
              <a:rPr lang="en-IN" b="1" dirty="0"/>
              <a:t>108 MHz to 114 </a:t>
            </a:r>
            <a:r>
              <a:rPr lang="en-IN" b="1" dirty="0" err="1"/>
              <a:t>MHz</a:t>
            </a:r>
            <a:r>
              <a:rPr lang="en-IN" dirty="0" err="1"/>
              <a:t>.</a:t>
            </a:r>
            <a:endParaRPr lang="en-IN" dirty="0"/>
          </a:p>
          <a:p>
            <a:pPr>
              <a:lnSpc>
                <a:spcPct val="150000"/>
              </a:lnSpc>
              <a:buFont typeface="Arial" panose="020B0604020202020204" pitchFamily="34" charset="0"/>
              <a:buChar char="•"/>
            </a:pPr>
            <a:r>
              <a:rPr lang="en-IN" dirty="0"/>
              <a:t>The space between them (</a:t>
            </a:r>
            <a:r>
              <a:rPr lang="en-IN" b="1" dirty="0"/>
              <a:t>106 MHz to 108 MHz</a:t>
            </a:r>
            <a:r>
              <a:rPr lang="en-IN" dirty="0"/>
              <a:t>) is an empty </a:t>
            </a:r>
            <a:r>
              <a:rPr lang="en-IN" b="1" dirty="0"/>
              <a:t>Guard Band</a:t>
            </a:r>
            <a:r>
              <a:rPr lang="en-IN" dirty="0"/>
              <a:t> to prevent video static. Your TV tuner simply shifts its internal focus to read one lane while ignoring the others.</a:t>
            </a:r>
          </a:p>
        </p:txBody>
      </p:sp>
    </p:spTree>
    <p:extLst>
      <p:ext uri="{BB962C8B-B14F-4D97-AF65-F5344CB8AC3E}">
        <p14:creationId xmlns:p14="http://schemas.microsoft.com/office/powerpoint/2010/main" val="1959157007"/>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515A45-5C3A-68E9-2035-6FBA225E59D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98A122-534E-2A1F-6F2F-CB1F98440FF7}"/>
              </a:ext>
            </a:extLst>
          </p:cNvPr>
          <p:cNvSpPr>
            <a:spLocks noGrp="1"/>
          </p:cNvSpPr>
          <p:nvPr>
            <p:ph type="title"/>
          </p:nvPr>
        </p:nvSpPr>
        <p:spPr>
          <a:xfrm>
            <a:off x="256672" y="541588"/>
            <a:ext cx="11550315" cy="597401"/>
          </a:xfrm>
        </p:spPr>
        <p:txBody>
          <a:bodyPr>
            <a:normAutofit fontScale="90000"/>
          </a:bodyPr>
          <a:lstStyle/>
          <a:p>
            <a:r>
              <a:rPr lang="en-IN" dirty="0"/>
              <a:t>FDM (Frequency Division Multiplexing)</a:t>
            </a:r>
          </a:p>
        </p:txBody>
      </p:sp>
      <p:graphicFrame>
        <p:nvGraphicFramePr>
          <p:cNvPr id="3" name="Table 2">
            <a:extLst>
              <a:ext uri="{FF2B5EF4-FFF2-40B4-BE49-F238E27FC236}">
                <a16:creationId xmlns:a16="http://schemas.microsoft.com/office/drawing/2014/main" id="{60E4E9B3-A347-0AB2-77D0-91318779E4AC}"/>
              </a:ext>
            </a:extLst>
          </p:cNvPr>
          <p:cNvGraphicFramePr>
            <a:graphicFrameLocks noGrp="1"/>
          </p:cNvGraphicFramePr>
          <p:nvPr>
            <p:extLst>
              <p:ext uri="{D42A27DB-BD31-4B8C-83A1-F6EECF244321}">
                <p14:modId xmlns:p14="http://schemas.microsoft.com/office/powerpoint/2010/main" val="1696900640"/>
              </p:ext>
            </p:extLst>
          </p:nvPr>
        </p:nvGraphicFramePr>
        <p:xfrm>
          <a:off x="876968" y="1425519"/>
          <a:ext cx="8127999" cy="469392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445953166"/>
                    </a:ext>
                  </a:extLst>
                </a:gridCol>
                <a:gridCol w="2709333">
                  <a:extLst>
                    <a:ext uri="{9D8B030D-6E8A-4147-A177-3AD203B41FA5}">
                      <a16:colId xmlns:a16="http://schemas.microsoft.com/office/drawing/2014/main" val="2311450600"/>
                    </a:ext>
                  </a:extLst>
                </a:gridCol>
                <a:gridCol w="2709333">
                  <a:extLst>
                    <a:ext uri="{9D8B030D-6E8A-4147-A177-3AD203B41FA5}">
                      <a16:colId xmlns:a16="http://schemas.microsoft.com/office/drawing/2014/main" val="2407970071"/>
                    </a:ext>
                  </a:extLst>
                </a:gridCol>
              </a:tblGrid>
              <a:tr h="370840">
                <a:tc>
                  <a:txBody>
                    <a:bodyPr/>
                    <a:lstStyle/>
                    <a:p>
                      <a:pPr>
                        <a:buNone/>
                      </a:pPr>
                      <a:r>
                        <a:rPr lang="en-IN" b="1" dirty="0">
                          <a:effectLst/>
                          <a:latin typeface="Google Sans Text"/>
                        </a:rPr>
                        <a:t>Multiplexing Technique</a:t>
                      </a:r>
                      <a:endParaRPr lang="en-IN" dirty="0">
                        <a:effectLst/>
                        <a:latin typeface="Google Sans Text"/>
                      </a:endParaRPr>
                    </a:p>
                  </a:txBody>
                  <a:tcPr marL="114300" marR="114300" marT="76200" marB="76200" anchor="ctr"/>
                </a:tc>
                <a:tc>
                  <a:txBody>
                    <a:bodyPr/>
                    <a:lstStyle/>
                    <a:p>
                      <a:pPr>
                        <a:buNone/>
                      </a:pPr>
                      <a:r>
                        <a:rPr lang="en-IN" b="1">
                          <a:effectLst/>
                          <a:latin typeface="Google Sans Text"/>
                        </a:rPr>
                        <a:t>Advantages</a:t>
                      </a:r>
                      <a:endParaRPr lang="en-IN">
                        <a:effectLst/>
                        <a:latin typeface="Google Sans Text"/>
                      </a:endParaRPr>
                    </a:p>
                  </a:txBody>
                  <a:tcPr marL="114300" marR="114300" marT="76200" marB="76200" anchor="ctr"/>
                </a:tc>
                <a:tc>
                  <a:txBody>
                    <a:bodyPr/>
                    <a:lstStyle/>
                    <a:p>
                      <a:pPr>
                        <a:buNone/>
                      </a:pPr>
                      <a:r>
                        <a:rPr lang="en-IN" b="1">
                          <a:effectLst/>
                          <a:latin typeface="Google Sans Text"/>
                        </a:rPr>
                        <a:t>Disadvantages</a:t>
                      </a:r>
                      <a:endParaRPr lang="en-IN">
                        <a:effectLst/>
                        <a:latin typeface="Google Sans Text"/>
                      </a:endParaRPr>
                    </a:p>
                  </a:txBody>
                  <a:tcPr marL="114300" marR="114300" marT="76200" marB="76200" anchor="ctr"/>
                </a:tc>
                <a:extLst>
                  <a:ext uri="{0D108BD9-81ED-4DB2-BD59-A6C34878D82A}">
                    <a16:rowId xmlns:a16="http://schemas.microsoft.com/office/drawing/2014/main" val="2750838481"/>
                  </a:ext>
                </a:extLst>
              </a:tr>
              <a:tr h="370840">
                <a:tc>
                  <a:txBody>
                    <a:bodyPr/>
                    <a:lstStyle/>
                    <a:p>
                      <a:pPr>
                        <a:buNone/>
                      </a:pPr>
                      <a:r>
                        <a:rPr lang="en-IN" b="1">
                          <a:effectLst/>
                          <a:latin typeface="Google Sans Text"/>
                        </a:rPr>
                        <a:t>Frequency Division Multiplexing (FDM)</a:t>
                      </a:r>
                      <a:endParaRPr lang="en-IN">
                        <a:effectLst/>
                        <a:latin typeface="Google Sans Text"/>
                      </a:endParaRPr>
                    </a:p>
                  </a:txBody>
                  <a:tcPr marL="114300" marR="114300" marT="76200" marB="76200" anchor="ctr"/>
                </a:tc>
                <a:tc>
                  <a:txBody>
                    <a:bodyPr/>
                    <a:lstStyle/>
                    <a:p>
                      <a:pPr>
                        <a:buNone/>
                      </a:pPr>
                      <a:r>
                        <a:rPr lang="en-IN">
                          <a:effectLst/>
                          <a:latin typeface="Google Sans Text"/>
                        </a:rPr>
                        <a:t>* Does not require synchronization between transmitter and receiver clocks.</a:t>
                      </a:r>
                    </a:p>
                    <a:p>
                      <a:pPr>
                        <a:buNone/>
                      </a:pPr>
                      <a:br>
                        <a:rPr lang="en-IN">
                          <a:effectLst/>
                          <a:latin typeface="Google Sans Text"/>
                        </a:rPr>
                      </a:br>
                      <a:endParaRPr lang="en-IN">
                        <a:effectLst/>
                        <a:latin typeface="Google Sans Text"/>
                      </a:endParaRPr>
                    </a:p>
                    <a:p>
                      <a:pPr>
                        <a:buNone/>
                      </a:pPr>
                      <a:r>
                        <a:rPr lang="en-IN">
                          <a:effectLst/>
                          <a:latin typeface="Google Sans Text"/>
                        </a:rPr>
                        <a:t>* Supports simultaneous transmission from multiple sources without time delays.</a:t>
                      </a:r>
                    </a:p>
                    <a:p>
                      <a:pPr>
                        <a:buNone/>
                      </a:pPr>
                      <a:br>
                        <a:rPr lang="en-IN">
                          <a:effectLst/>
                          <a:latin typeface="Google Sans Text"/>
                        </a:rPr>
                      </a:br>
                      <a:endParaRPr lang="en-IN">
                        <a:effectLst/>
                        <a:latin typeface="Google Sans Text"/>
                      </a:endParaRPr>
                    </a:p>
                    <a:p>
                      <a:pPr>
                        <a:buNone/>
                      </a:pPr>
                      <a:r>
                        <a:rPr lang="en-IN">
                          <a:effectLst/>
                          <a:latin typeface="Google Sans Text"/>
                        </a:rPr>
                        <a:t>* Highly mature and robust for analog media frameworks.</a:t>
                      </a:r>
                    </a:p>
                  </a:txBody>
                  <a:tcPr marL="114300" marR="114300" marT="76200" marB="76200" anchor="ctr"/>
                </a:tc>
                <a:tc>
                  <a:txBody>
                    <a:bodyPr/>
                    <a:lstStyle/>
                    <a:p>
                      <a:pPr>
                        <a:buNone/>
                      </a:pPr>
                      <a:r>
                        <a:rPr lang="en-IN" dirty="0">
                          <a:effectLst/>
                          <a:latin typeface="Google Sans Text"/>
                        </a:rPr>
                        <a:t>* Prone to </a:t>
                      </a:r>
                      <a:r>
                        <a:rPr lang="en-IN" b="1" dirty="0">
                          <a:effectLst/>
                          <a:latin typeface="Google Sans Text"/>
                        </a:rPr>
                        <a:t>Crosstalk</a:t>
                      </a:r>
                      <a:r>
                        <a:rPr lang="en-IN" dirty="0">
                          <a:effectLst/>
                          <a:latin typeface="Google Sans Text"/>
                        </a:rPr>
                        <a:t> and intermodulation distortion.</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Bandwidth is wasted due to the mandatory allocation of </a:t>
                      </a:r>
                      <a:r>
                        <a:rPr lang="en-IN" b="1" dirty="0">
                          <a:effectLst/>
                          <a:latin typeface="Google Sans Text"/>
                        </a:rPr>
                        <a:t>Guard Bands</a:t>
                      </a:r>
                      <a:r>
                        <a:rPr lang="en-IN" dirty="0">
                          <a:effectLst/>
                          <a:latin typeface="Google Sans Text"/>
                        </a:rPr>
                        <a:t>.</a:t>
                      </a:r>
                    </a:p>
                    <a:p>
                      <a:pPr>
                        <a:buNone/>
                      </a:pPr>
                      <a:br>
                        <a:rPr lang="en-IN" dirty="0">
                          <a:effectLst/>
                          <a:latin typeface="Google Sans Text"/>
                        </a:rPr>
                      </a:br>
                      <a:endParaRPr lang="en-IN" dirty="0">
                        <a:effectLst/>
                        <a:latin typeface="Google Sans Text"/>
                      </a:endParaRPr>
                    </a:p>
                    <a:p>
                      <a:pPr>
                        <a:buNone/>
                      </a:pPr>
                      <a:r>
                        <a:rPr lang="en-IN" dirty="0">
                          <a:effectLst/>
                          <a:latin typeface="Google Sans Text"/>
                        </a:rPr>
                        <a:t>* Hardware modifications are complex if changing the number of allocated channels.</a:t>
                      </a:r>
                    </a:p>
                  </a:txBody>
                  <a:tcPr marL="114300" marR="114300" marT="76200" marB="76200" anchor="ctr"/>
                </a:tc>
                <a:extLst>
                  <a:ext uri="{0D108BD9-81ED-4DB2-BD59-A6C34878D82A}">
                    <a16:rowId xmlns:a16="http://schemas.microsoft.com/office/drawing/2014/main" val="125857868"/>
                  </a:ext>
                </a:extLst>
              </a:tr>
            </a:tbl>
          </a:graphicData>
        </a:graphic>
      </p:graphicFrame>
    </p:spTree>
    <p:extLst>
      <p:ext uri="{BB962C8B-B14F-4D97-AF65-F5344CB8AC3E}">
        <p14:creationId xmlns:p14="http://schemas.microsoft.com/office/powerpoint/2010/main" val="3643445183"/>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3A73AB-04DD-915B-6978-7BBD62CCE5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67A05F-89CD-33B5-2336-7F24088D9785}"/>
              </a:ext>
            </a:extLst>
          </p:cNvPr>
          <p:cNvSpPr>
            <a:spLocks noGrp="1"/>
          </p:cNvSpPr>
          <p:nvPr>
            <p:ph type="title"/>
          </p:nvPr>
        </p:nvSpPr>
        <p:spPr>
          <a:xfrm>
            <a:off x="256672" y="541588"/>
            <a:ext cx="11550315" cy="597401"/>
          </a:xfrm>
        </p:spPr>
        <p:txBody>
          <a:bodyPr>
            <a:normAutofit fontScale="90000"/>
          </a:bodyPr>
          <a:lstStyle/>
          <a:p>
            <a:r>
              <a:rPr lang="en-IN" dirty="0"/>
              <a:t>TDM (Time Division Multiplexing)</a:t>
            </a:r>
          </a:p>
        </p:txBody>
      </p:sp>
      <p:sp>
        <p:nvSpPr>
          <p:cNvPr id="3" name="Content Placeholder 2">
            <a:extLst>
              <a:ext uri="{FF2B5EF4-FFF2-40B4-BE49-F238E27FC236}">
                <a16:creationId xmlns:a16="http://schemas.microsoft.com/office/drawing/2014/main" id="{1559007A-10A6-967A-0190-49E3DDE56899}"/>
              </a:ext>
            </a:extLst>
          </p:cNvPr>
          <p:cNvSpPr>
            <a:spLocks noGrp="1"/>
          </p:cNvSpPr>
          <p:nvPr>
            <p:ph idx="1"/>
          </p:nvPr>
        </p:nvSpPr>
        <p:spPr>
          <a:xfrm>
            <a:off x="256673" y="1251284"/>
            <a:ext cx="11550315" cy="5358063"/>
          </a:xfrm>
        </p:spPr>
        <p:txBody>
          <a:bodyPr/>
          <a:lstStyle/>
          <a:p>
            <a:pPr fontAlgn="base"/>
            <a:r>
              <a:rPr lang="en-IN" dirty="0"/>
              <a:t>Time-division multiplexing is multiplexing wherein FDM, instead of sharing a portion of the bandwidth in the form of channels, in TDM, time is shared. Each connection occupies a portion of time in the link. In Time Division Multiplexing, all signals operate with the same frequency (bandwidth) at different times.</a:t>
            </a:r>
          </a:p>
          <a:p>
            <a:r>
              <a:rPr lang="en-IN" b="1" dirty="0"/>
              <a:t>Analogy</a:t>
            </a:r>
            <a:r>
              <a:rPr lang="en-IN" dirty="0"/>
              <a:t>: Imagine a narrow, 1-lane bridge. Cars cannot drive side-by-side. To let everyone cross fairly, a traffic guard sets a strict timer. For the first 10 seconds, only cars from Road A can cross. For the next 10 seconds, only cars from Road B can cross. Everyone gets to use the </a:t>
            </a:r>
            <a:r>
              <a:rPr lang="en-IN" b="1" dirty="0"/>
              <a:t>full width and maximum speed of the bridge</a:t>
            </a:r>
            <a:r>
              <a:rPr lang="en-IN" dirty="0"/>
              <a:t>, but they must </a:t>
            </a:r>
            <a:r>
              <a:rPr lang="en-IN" b="1" dirty="0"/>
              <a:t>take turns based on time</a:t>
            </a:r>
            <a:r>
              <a:rPr lang="en-IN" dirty="0"/>
              <a:t>.</a:t>
            </a:r>
            <a:br>
              <a:rPr lang="en-IN" dirty="0"/>
            </a:br>
            <a:endParaRPr lang="en-IN" dirty="0"/>
          </a:p>
        </p:txBody>
      </p:sp>
    </p:spTree>
    <p:extLst>
      <p:ext uri="{BB962C8B-B14F-4D97-AF65-F5344CB8AC3E}">
        <p14:creationId xmlns:p14="http://schemas.microsoft.com/office/powerpoint/2010/main" val="690901182"/>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5AEAA2-2677-52B3-9B25-ECC7ED98A8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250140-68EF-E7DA-EA1A-FA4E503967F1}"/>
              </a:ext>
            </a:extLst>
          </p:cNvPr>
          <p:cNvSpPr>
            <a:spLocks noGrp="1"/>
          </p:cNvSpPr>
          <p:nvPr>
            <p:ph type="title"/>
          </p:nvPr>
        </p:nvSpPr>
        <p:spPr>
          <a:xfrm>
            <a:off x="256672" y="541588"/>
            <a:ext cx="11550315" cy="597401"/>
          </a:xfrm>
        </p:spPr>
        <p:txBody>
          <a:bodyPr>
            <a:normAutofit fontScale="90000"/>
          </a:bodyPr>
          <a:lstStyle/>
          <a:p>
            <a:r>
              <a:rPr lang="en-IN" dirty="0"/>
              <a:t>WDM (Wavelength Division Multiplexing)</a:t>
            </a:r>
          </a:p>
        </p:txBody>
      </p:sp>
      <p:sp>
        <p:nvSpPr>
          <p:cNvPr id="3" name="Content Placeholder 2">
            <a:extLst>
              <a:ext uri="{FF2B5EF4-FFF2-40B4-BE49-F238E27FC236}">
                <a16:creationId xmlns:a16="http://schemas.microsoft.com/office/drawing/2014/main" id="{A8032653-65E7-9C81-79B1-C15A89122C32}"/>
              </a:ext>
            </a:extLst>
          </p:cNvPr>
          <p:cNvSpPr>
            <a:spLocks noGrp="1"/>
          </p:cNvSpPr>
          <p:nvPr>
            <p:ph idx="1"/>
          </p:nvPr>
        </p:nvSpPr>
        <p:spPr>
          <a:xfrm>
            <a:off x="256673" y="1251284"/>
            <a:ext cx="11550315" cy="5358063"/>
          </a:xfrm>
        </p:spPr>
        <p:txBody>
          <a:bodyPr/>
          <a:lstStyle/>
          <a:p>
            <a:pPr fontAlgn="base"/>
            <a:r>
              <a:rPr lang="en-IN" dirty="0"/>
              <a:t>Wavelength Division Multiplexing (WDM) is a multiplexing technology used to increase the capacity of optical </a:t>
            </a:r>
            <a:r>
              <a:rPr lang="en-IN" dirty="0" err="1"/>
              <a:t>fiber</a:t>
            </a:r>
            <a:r>
              <a:rPr lang="en-IN" dirty="0"/>
              <a:t> by transmitting multiple optical signals simultaneously over a single optical </a:t>
            </a:r>
            <a:r>
              <a:rPr lang="en-IN" dirty="0" err="1"/>
              <a:t>fiber</a:t>
            </a:r>
            <a:r>
              <a:rPr lang="en-IN" dirty="0"/>
              <a:t>, each with a different wavelength.</a:t>
            </a:r>
          </a:p>
          <a:p>
            <a:pPr fontAlgn="base"/>
            <a:r>
              <a:rPr lang="en-IN" dirty="0"/>
              <a:t>Each signal is carried on a different wavelength of light, and the resulting signals are combined onto a single optical </a:t>
            </a:r>
            <a:r>
              <a:rPr lang="en-IN" dirty="0" err="1"/>
              <a:t>fiber</a:t>
            </a:r>
            <a:r>
              <a:rPr lang="en-IN" dirty="0"/>
              <a:t> for transmission.</a:t>
            </a:r>
          </a:p>
          <a:p>
            <a:pPr fontAlgn="base"/>
            <a:r>
              <a:rPr lang="en-IN" dirty="0"/>
              <a:t>At the receiving end, the signals are separated by their wavelengths, demultiplexed and routed to their respective destinations.</a:t>
            </a:r>
          </a:p>
          <a:p>
            <a:pPr fontAlgn="base"/>
            <a:r>
              <a:rPr lang="en-IN" dirty="0"/>
              <a:t>It is used in telecommunications, cable TV, ISPs, and data </a:t>
            </a:r>
            <a:r>
              <a:rPr lang="en-IN" dirty="0" err="1"/>
              <a:t>centers</a:t>
            </a:r>
            <a:r>
              <a:rPr lang="en-IN" dirty="0"/>
              <a:t> for high-speed, long-distance data transmission.</a:t>
            </a:r>
          </a:p>
          <a:p>
            <a:pPr fontAlgn="base"/>
            <a:endParaRPr lang="en-IN" dirty="0"/>
          </a:p>
        </p:txBody>
      </p:sp>
    </p:spTree>
    <p:extLst>
      <p:ext uri="{BB962C8B-B14F-4D97-AF65-F5344CB8AC3E}">
        <p14:creationId xmlns:p14="http://schemas.microsoft.com/office/powerpoint/2010/main" val="280569025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5D7EA4-D374-6033-AA36-6C9F7C67DC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982685-F082-AF9F-DEE6-E5FDA59481D3}"/>
              </a:ext>
            </a:extLst>
          </p:cNvPr>
          <p:cNvSpPr>
            <a:spLocks noGrp="1"/>
          </p:cNvSpPr>
          <p:nvPr>
            <p:ph type="title"/>
          </p:nvPr>
        </p:nvSpPr>
        <p:spPr>
          <a:xfrm>
            <a:off x="256672" y="541588"/>
            <a:ext cx="11550315" cy="597401"/>
          </a:xfrm>
        </p:spPr>
        <p:txBody>
          <a:bodyPr>
            <a:normAutofit fontScale="90000"/>
          </a:bodyPr>
          <a:lstStyle/>
          <a:p>
            <a:r>
              <a:rPr lang="en-IN" dirty="0"/>
              <a:t>WDM (Wavelength Division Multiplexing)</a:t>
            </a:r>
          </a:p>
        </p:txBody>
      </p:sp>
      <p:pic>
        <p:nvPicPr>
          <p:cNvPr id="7" name="Picture 6">
            <a:extLst>
              <a:ext uri="{FF2B5EF4-FFF2-40B4-BE49-F238E27FC236}">
                <a16:creationId xmlns:a16="http://schemas.microsoft.com/office/drawing/2014/main" id="{8BE753D7-FEB8-AF89-A99B-D835E8A6844B}"/>
              </a:ext>
            </a:extLst>
          </p:cNvPr>
          <p:cNvPicPr>
            <a:picLocks noChangeAspect="1"/>
          </p:cNvPicPr>
          <p:nvPr/>
        </p:nvPicPr>
        <p:blipFill>
          <a:blip r:embed="rId2"/>
          <a:stretch>
            <a:fillRect/>
          </a:stretch>
        </p:blipFill>
        <p:spPr>
          <a:xfrm>
            <a:off x="837184" y="1708239"/>
            <a:ext cx="9333511" cy="4066919"/>
          </a:xfrm>
          <a:prstGeom prst="rect">
            <a:avLst/>
          </a:prstGeom>
        </p:spPr>
      </p:pic>
    </p:spTree>
    <p:extLst>
      <p:ext uri="{BB962C8B-B14F-4D97-AF65-F5344CB8AC3E}">
        <p14:creationId xmlns:p14="http://schemas.microsoft.com/office/powerpoint/2010/main" val="2348680858"/>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C59780-72B7-7EF1-AE32-3BB0C25BD3B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719D3D-A6F1-F768-C6FE-F1FE74345E2F}"/>
              </a:ext>
            </a:extLst>
          </p:cNvPr>
          <p:cNvSpPr>
            <a:spLocks noGrp="1"/>
          </p:cNvSpPr>
          <p:nvPr>
            <p:ph type="title"/>
          </p:nvPr>
        </p:nvSpPr>
        <p:spPr>
          <a:xfrm>
            <a:off x="256672" y="541588"/>
            <a:ext cx="11550315" cy="597401"/>
          </a:xfrm>
        </p:spPr>
        <p:txBody>
          <a:bodyPr>
            <a:normAutofit fontScale="90000"/>
          </a:bodyPr>
          <a:lstStyle/>
          <a:p>
            <a:r>
              <a:rPr lang="en-IN" dirty="0"/>
              <a:t>WDM (Wavelength Division Multiplexing)</a:t>
            </a:r>
          </a:p>
        </p:txBody>
      </p:sp>
      <p:graphicFrame>
        <p:nvGraphicFramePr>
          <p:cNvPr id="4" name="Table 3">
            <a:extLst>
              <a:ext uri="{FF2B5EF4-FFF2-40B4-BE49-F238E27FC236}">
                <a16:creationId xmlns:a16="http://schemas.microsoft.com/office/drawing/2014/main" id="{77BD4F97-C276-82D1-E2F7-786DAAEA7D54}"/>
              </a:ext>
            </a:extLst>
          </p:cNvPr>
          <p:cNvGraphicFramePr>
            <a:graphicFrameLocks noGrp="1"/>
          </p:cNvGraphicFramePr>
          <p:nvPr>
            <p:extLst>
              <p:ext uri="{D42A27DB-BD31-4B8C-83A1-F6EECF244321}">
                <p14:modId xmlns:p14="http://schemas.microsoft.com/office/powerpoint/2010/main" val="2563749153"/>
              </p:ext>
            </p:extLst>
          </p:nvPr>
        </p:nvGraphicFramePr>
        <p:xfrm>
          <a:off x="1278021" y="1835852"/>
          <a:ext cx="8127999" cy="4480560"/>
        </p:xfrm>
        <a:graphic>
          <a:graphicData uri="http://schemas.openxmlformats.org/drawingml/2006/table">
            <a:tbl>
              <a:tblPr firstRow="1" bandRow="1">
                <a:tableStyleId>{5C22544A-7EE6-4342-B048-85BDC9FD1C3A}</a:tableStyleId>
              </a:tblPr>
              <a:tblGrid>
                <a:gridCol w="2709333">
                  <a:extLst>
                    <a:ext uri="{9D8B030D-6E8A-4147-A177-3AD203B41FA5}">
                      <a16:colId xmlns:a16="http://schemas.microsoft.com/office/drawing/2014/main" val="3637018510"/>
                    </a:ext>
                  </a:extLst>
                </a:gridCol>
                <a:gridCol w="2709333">
                  <a:extLst>
                    <a:ext uri="{9D8B030D-6E8A-4147-A177-3AD203B41FA5}">
                      <a16:colId xmlns:a16="http://schemas.microsoft.com/office/drawing/2014/main" val="4091050330"/>
                    </a:ext>
                  </a:extLst>
                </a:gridCol>
                <a:gridCol w="2709333">
                  <a:extLst>
                    <a:ext uri="{9D8B030D-6E8A-4147-A177-3AD203B41FA5}">
                      <a16:colId xmlns:a16="http://schemas.microsoft.com/office/drawing/2014/main" val="3535127907"/>
                    </a:ext>
                  </a:extLst>
                </a:gridCol>
              </a:tblGrid>
              <a:tr h="370840">
                <a:tc>
                  <a:txBody>
                    <a:bodyPr/>
                    <a:lstStyle/>
                    <a:p>
                      <a:pPr>
                        <a:buNone/>
                      </a:pPr>
                      <a:r>
                        <a:rPr lang="en-IN" b="1" dirty="0"/>
                        <a:t>Wavelength Division Multiplexing (WDM)</a:t>
                      </a:r>
                      <a:endParaRPr lang="en-IN" dirty="0"/>
                    </a:p>
                  </a:txBody>
                  <a:tcPr anchor="ctr"/>
                </a:tc>
                <a:tc>
                  <a:txBody>
                    <a:bodyPr/>
                    <a:lstStyle/>
                    <a:p>
                      <a:pPr>
                        <a:buNone/>
                      </a:pPr>
                      <a:r>
                        <a:rPr lang="en-IN"/>
                        <a:t>* Yields massive transmission capacities over a single strand of fiber-optic glass.</a:t>
                      </a:r>
                    </a:p>
                    <a:p>
                      <a:pPr>
                        <a:buNone/>
                      </a:pPr>
                      <a:br>
                        <a:rPr lang="en-IN"/>
                      </a:br>
                      <a:endParaRPr lang="en-IN"/>
                    </a:p>
                    <a:p>
                      <a:pPr>
                        <a:buNone/>
                      </a:pPr>
                      <a:r>
                        <a:rPr lang="en-IN"/>
                        <a:t>* Full duplex transmission can be achieved easily over a single link.</a:t>
                      </a:r>
                    </a:p>
                    <a:p>
                      <a:pPr>
                        <a:buNone/>
                      </a:pPr>
                      <a:br>
                        <a:rPr lang="en-IN"/>
                      </a:br>
                      <a:endParaRPr lang="en-IN"/>
                    </a:p>
                    <a:p>
                      <a:pPr>
                        <a:buNone/>
                      </a:pPr>
                      <a:r>
                        <a:rPr lang="en-IN"/>
                        <a:t>* Highly secure and immune to electromagnetic interference (EMI).</a:t>
                      </a:r>
                    </a:p>
                  </a:txBody>
                  <a:tcPr anchor="ctr"/>
                </a:tc>
                <a:tc>
                  <a:txBody>
                    <a:bodyPr/>
                    <a:lstStyle/>
                    <a:p>
                      <a:pPr>
                        <a:buNone/>
                      </a:pPr>
                      <a:r>
                        <a:rPr lang="en-IN" dirty="0"/>
                        <a:t>* Extremely high initial cost for optical components, lasers, and prisms.</a:t>
                      </a:r>
                    </a:p>
                    <a:p>
                      <a:pPr>
                        <a:buNone/>
                      </a:pPr>
                      <a:br>
                        <a:rPr lang="en-IN" dirty="0"/>
                      </a:br>
                      <a:endParaRPr lang="en-IN" dirty="0"/>
                    </a:p>
                    <a:p>
                      <a:pPr>
                        <a:buNone/>
                      </a:pPr>
                      <a:r>
                        <a:rPr lang="en-IN" dirty="0"/>
                        <a:t>* Complex optical amplification is required over very long geographical distances.</a:t>
                      </a:r>
                    </a:p>
                    <a:p>
                      <a:pPr>
                        <a:buNone/>
                      </a:pPr>
                      <a:br>
                        <a:rPr lang="en-IN" dirty="0"/>
                      </a:br>
                      <a:endParaRPr lang="en-IN" dirty="0"/>
                    </a:p>
                    <a:p>
                      <a:pPr>
                        <a:buNone/>
                      </a:pPr>
                      <a:r>
                        <a:rPr lang="en-IN" dirty="0"/>
                        <a:t>* Tuning and alignment of precise laser wavelengths require specialized calibration.</a:t>
                      </a:r>
                    </a:p>
                  </a:txBody>
                  <a:tcPr anchor="ctr"/>
                </a:tc>
                <a:extLst>
                  <a:ext uri="{0D108BD9-81ED-4DB2-BD59-A6C34878D82A}">
                    <a16:rowId xmlns:a16="http://schemas.microsoft.com/office/drawing/2014/main" val="1350623143"/>
                  </a:ext>
                </a:extLst>
              </a:tr>
            </a:tbl>
          </a:graphicData>
        </a:graphic>
      </p:graphicFrame>
    </p:spTree>
    <p:extLst>
      <p:ext uri="{BB962C8B-B14F-4D97-AF65-F5344CB8AC3E}">
        <p14:creationId xmlns:p14="http://schemas.microsoft.com/office/powerpoint/2010/main" val="2823529535"/>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05DE442-7CCC-86ED-1C09-A5F802E8AD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702397E-7EE7-FE31-2E6D-C5D37EF9F27E}"/>
              </a:ext>
            </a:extLst>
          </p:cNvPr>
          <p:cNvSpPr>
            <a:spLocks noGrp="1"/>
          </p:cNvSpPr>
          <p:nvPr>
            <p:ph type="title"/>
          </p:nvPr>
        </p:nvSpPr>
        <p:spPr>
          <a:xfrm>
            <a:off x="256672" y="541588"/>
            <a:ext cx="11550315" cy="597401"/>
          </a:xfrm>
        </p:spPr>
        <p:txBody>
          <a:bodyPr>
            <a:normAutofit fontScale="90000"/>
          </a:bodyPr>
          <a:lstStyle/>
          <a:p>
            <a:r>
              <a:rPr lang="en-IN" dirty="0"/>
              <a:t>TDM (Time Division Multiplexing)</a:t>
            </a:r>
          </a:p>
        </p:txBody>
      </p:sp>
      <p:pic>
        <p:nvPicPr>
          <p:cNvPr id="7" name="Picture 6">
            <a:extLst>
              <a:ext uri="{FF2B5EF4-FFF2-40B4-BE49-F238E27FC236}">
                <a16:creationId xmlns:a16="http://schemas.microsoft.com/office/drawing/2014/main" id="{953B7071-9FB3-4248-868A-E3A5E6BACA3F}"/>
              </a:ext>
            </a:extLst>
          </p:cNvPr>
          <p:cNvPicPr>
            <a:picLocks noChangeAspect="1"/>
          </p:cNvPicPr>
          <p:nvPr/>
        </p:nvPicPr>
        <p:blipFill>
          <a:blip r:embed="rId2"/>
          <a:stretch>
            <a:fillRect/>
          </a:stretch>
        </p:blipFill>
        <p:spPr>
          <a:xfrm>
            <a:off x="720436" y="2264046"/>
            <a:ext cx="9674847" cy="3350691"/>
          </a:xfrm>
          <a:prstGeom prst="rect">
            <a:avLst/>
          </a:prstGeom>
        </p:spPr>
      </p:pic>
      <p:sp>
        <p:nvSpPr>
          <p:cNvPr id="9" name="TextBox 8">
            <a:extLst>
              <a:ext uri="{FF2B5EF4-FFF2-40B4-BE49-F238E27FC236}">
                <a16:creationId xmlns:a16="http://schemas.microsoft.com/office/drawing/2014/main" id="{F04313CC-C003-1340-921F-0DB10EE0C70E}"/>
              </a:ext>
            </a:extLst>
          </p:cNvPr>
          <p:cNvSpPr txBox="1"/>
          <p:nvPr/>
        </p:nvSpPr>
        <p:spPr>
          <a:xfrm>
            <a:off x="585533" y="5993246"/>
            <a:ext cx="10892591" cy="646331"/>
          </a:xfrm>
          <a:prstGeom prst="rect">
            <a:avLst/>
          </a:prstGeom>
          <a:noFill/>
        </p:spPr>
        <p:txBody>
          <a:bodyPr wrap="square">
            <a:spAutoFit/>
          </a:bodyPr>
          <a:lstStyle/>
          <a:p>
            <a:r>
              <a:rPr lang="en-IN" b="1" i="1" dirty="0">
                <a:solidFill>
                  <a:srgbClr val="273239"/>
                </a:solidFill>
                <a:effectLst/>
                <a:latin typeface="Nunito" pitchFamily="2" charset="0"/>
              </a:rPr>
              <a:t>Note: </a:t>
            </a:r>
            <a:r>
              <a:rPr lang="en-IN" b="0" i="1" dirty="0">
                <a:solidFill>
                  <a:srgbClr val="273239"/>
                </a:solidFill>
                <a:effectLst/>
                <a:latin typeface="Nunito" pitchFamily="2" charset="0"/>
              </a:rPr>
              <a:t>There are two Types of Time Division Multiplexing - Synchronous Time Division Multiplexing &amp; Statistical (or Asynchronous) Time Division Multiplexing.</a:t>
            </a:r>
            <a:endParaRPr lang="en-IN" dirty="0"/>
          </a:p>
        </p:txBody>
      </p:sp>
      <p:sp>
        <p:nvSpPr>
          <p:cNvPr id="11" name="TextBox 10">
            <a:extLst>
              <a:ext uri="{FF2B5EF4-FFF2-40B4-BE49-F238E27FC236}">
                <a16:creationId xmlns:a16="http://schemas.microsoft.com/office/drawing/2014/main" id="{709963E8-D93A-15F1-F942-509E65F1240A}"/>
              </a:ext>
            </a:extLst>
          </p:cNvPr>
          <p:cNvSpPr txBox="1"/>
          <p:nvPr/>
        </p:nvSpPr>
        <p:spPr>
          <a:xfrm>
            <a:off x="256670" y="1243263"/>
            <a:ext cx="11550315" cy="1579920"/>
          </a:xfrm>
          <a:prstGeom prst="rect">
            <a:avLst/>
          </a:prstGeom>
          <a:noFill/>
        </p:spPr>
        <p:txBody>
          <a:bodyPr wrap="square">
            <a:spAutoFit/>
          </a:bodyPr>
          <a:lstStyle/>
          <a:p>
            <a:pPr algn="l" rtl="0" fontAlgn="base">
              <a:spcAft>
                <a:spcPts val="750"/>
              </a:spcAft>
              <a:buNone/>
            </a:pPr>
            <a:r>
              <a:rPr lang="en-IN" b="0" i="0" dirty="0">
                <a:solidFill>
                  <a:srgbClr val="273239"/>
                </a:solidFill>
                <a:effectLst/>
                <a:latin typeface="Nunito" pitchFamily="2" charset="0"/>
              </a:rPr>
              <a:t>Time-division multiplexing is multiplexing wherein FDM, instead of sharing a portion of the bandwidth in the form of channels, in TDM, time is shared. Each connection occupies a portion of time in the link. In Time Division Multiplexing, all signals operate with the same frequency (bandwidth) at different times.</a:t>
            </a:r>
          </a:p>
          <a:p>
            <a:pPr>
              <a:buNone/>
            </a:pPr>
            <a:br>
              <a:rPr lang="en-IN" dirty="0"/>
            </a:br>
            <a:endParaRPr lang="en-IN" dirty="0"/>
          </a:p>
        </p:txBody>
      </p:sp>
    </p:spTree>
    <p:extLst>
      <p:ext uri="{BB962C8B-B14F-4D97-AF65-F5344CB8AC3E}">
        <p14:creationId xmlns:p14="http://schemas.microsoft.com/office/powerpoint/2010/main" val="132711163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CFDB600-A357-4041-5C6D-1507F57CF7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7644D5A-000B-ADB6-FB94-6AF1D703E5D7}"/>
              </a:ext>
            </a:extLst>
          </p:cNvPr>
          <p:cNvSpPr>
            <a:spLocks noGrp="1"/>
          </p:cNvSpPr>
          <p:nvPr>
            <p:ph type="title"/>
          </p:nvPr>
        </p:nvSpPr>
        <p:spPr>
          <a:xfrm>
            <a:off x="256672" y="541588"/>
            <a:ext cx="11550315" cy="597401"/>
          </a:xfrm>
        </p:spPr>
        <p:txBody>
          <a:bodyPr>
            <a:normAutofit fontScale="90000"/>
          </a:bodyPr>
          <a:lstStyle/>
          <a:p>
            <a:r>
              <a:rPr lang="en-IN" dirty="0"/>
              <a:t>TDM : Synchronous TDM</a:t>
            </a:r>
          </a:p>
        </p:txBody>
      </p:sp>
      <p:pic>
        <p:nvPicPr>
          <p:cNvPr id="4" name="Picture 3">
            <a:extLst>
              <a:ext uri="{FF2B5EF4-FFF2-40B4-BE49-F238E27FC236}">
                <a16:creationId xmlns:a16="http://schemas.microsoft.com/office/drawing/2014/main" id="{73A0E10D-8051-4596-2E47-7FB2C584F519}"/>
              </a:ext>
            </a:extLst>
          </p:cNvPr>
          <p:cNvPicPr>
            <a:picLocks noChangeAspect="1"/>
          </p:cNvPicPr>
          <p:nvPr/>
        </p:nvPicPr>
        <p:blipFill>
          <a:blip r:embed="rId2"/>
          <a:stretch>
            <a:fillRect/>
          </a:stretch>
        </p:blipFill>
        <p:spPr>
          <a:xfrm>
            <a:off x="4044347" y="3316718"/>
            <a:ext cx="7440063" cy="3541282"/>
          </a:xfrm>
          <a:prstGeom prst="rect">
            <a:avLst/>
          </a:prstGeom>
        </p:spPr>
      </p:pic>
      <p:sp>
        <p:nvSpPr>
          <p:cNvPr id="6" name="TextBox 5">
            <a:extLst>
              <a:ext uri="{FF2B5EF4-FFF2-40B4-BE49-F238E27FC236}">
                <a16:creationId xmlns:a16="http://schemas.microsoft.com/office/drawing/2014/main" id="{4D1BD647-6196-5167-258E-3CEDB467F325}"/>
              </a:ext>
            </a:extLst>
          </p:cNvPr>
          <p:cNvSpPr txBox="1"/>
          <p:nvPr/>
        </p:nvSpPr>
        <p:spPr>
          <a:xfrm>
            <a:off x="513346" y="1289342"/>
            <a:ext cx="10427369" cy="3816429"/>
          </a:xfrm>
          <a:prstGeom prst="rect">
            <a:avLst/>
          </a:prstGeom>
          <a:noFill/>
        </p:spPr>
        <p:txBody>
          <a:bodyPr wrap="square">
            <a:spAutoFit/>
          </a:bodyPr>
          <a:lstStyle/>
          <a:p>
            <a:pPr marL="285750" indent="-285750">
              <a:buFont typeface="Arial" panose="020B0604020202020204" pitchFamily="34" charset="0"/>
              <a:buChar char="•"/>
            </a:pPr>
            <a:r>
              <a:rPr lang="en-IN" sz="2200" dirty="0"/>
              <a:t>A digital multiplexing technique where </a:t>
            </a:r>
            <a:r>
              <a:rPr lang="en-IN" sz="2200" b="1" dirty="0"/>
              <a:t>every input line owns a permanently reserved time slot in the output channel</a:t>
            </a:r>
            <a:r>
              <a:rPr lang="en-IN" sz="2200" dirty="0"/>
              <a:t>. The mapping is fixed and pre-allocated.</a:t>
            </a:r>
          </a:p>
          <a:p>
            <a:pPr marL="285750" indent="-285750">
              <a:buFont typeface="Arial" panose="020B0604020202020204" pitchFamily="34" charset="0"/>
              <a:buChar char="•"/>
            </a:pPr>
            <a:r>
              <a:rPr lang="en-IN" sz="2200" b="1" dirty="0"/>
              <a:t>Frames:</a:t>
            </a:r>
            <a:r>
              <a:rPr lang="en-IN" sz="2200" dirty="0"/>
              <a:t> Time is divided into blocks called </a:t>
            </a:r>
            <a:r>
              <a:rPr lang="en-IN" sz="2200" b="1" dirty="0"/>
              <a:t>Frames</a:t>
            </a:r>
            <a:r>
              <a:rPr lang="en-IN" sz="2200" dirty="0"/>
              <a:t>. One frame represents one complete round-robin cycle of all input time slots.</a:t>
            </a:r>
          </a:p>
          <a:p>
            <a:pPr marL="285750" indent="-285750">
              <a:buFont typeface="Arial" panose="020B0604020202020204" pitchFamily="34" charset="0"/>
              <a:buChar char="•"/>
            </a:pPr>
            <a:r>
              <a:rPr lang="en-IN" sz="2200" b="1" dirty="0"/>
              <a:t>Bandwidth Waste:</a:t>
            </a:r>
            <a:r>
              <a:rPr lang="en-IN" sz="2200" dirty="0"/>
              <a:t> It is inefficient for irregular traffic. If an input line has no data to send, its assigned slot travels down the wire completely </a:t>
            </a:r>
            <a:r>
              <a:rPr lang="en-IN" sz="2200" b="1" dirty="0"/>
              <a:t>empty</a:t>
            </a:r>
            <a:r>
              <a:rPr lang="en-IN" sz="2200" dirty="0"/>
              <a:t> and cannot be used by other devices.</a:t>
            </a:r>
          </a:p>
          <a:p>
            <a:pPr marL="285750" indent="-285750">
              <a:buFont typeface="Arial" panose="020B0604020202020204" pitchFamily="34" charset="0"/>
              <a:buChar char="•"/>
            </a:pPr>
            <a:r>
              <a:rPr lang="en-IN" sz="2200" b="1" dirty="0"/>
              <a:t>Synchronization Bit:</a:t>
            </a:r>
            <a:r>
              <a:rPr lang="en-IN" sz="2200" dirty="0"/>
              <a:t> A single tracking bit is added to the </a:t>
            </a:r>
            <a:r>
              <a:rPr lang="en-IN" sz="2200" b="1" dirty="0"/>
              <a:t>beginning of each frame</a:t>
            </a:r>
            <a:r>
              <a:rPr lang="en-IN" sz="2200" dirty="0"/>
              <a:t>. This allows the receiver to align its clock and accurately split the incoming slots without needing complex address headers.</a:t>
            </a:r>
          </a:p>
          <a:p>
            <a:pPr algn="l" rtl="0" fontAlgn="base">
              <a:spcAft>
                <a:spcPts val="750"/>
              </a:spcAft>
              <a:buNone/>
            </a:pPr>
            <a:endParaRPr lang="en-IN" sz="2200" dirty="0"/>
          </a:p>
        </p:txBody>
      </p:sp>
    </p:spTree>
    <p:extLst>
      <p:ext uri="{BB962C8B-B14F-4D97-AF65-F5344CB8AC3E}">
        <p14:creationId xmlns:p14="http://schemas.microsoft.com/office/powerpoint/2010/main" val="898366895"/>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00F908-C4A3-2A3F-99D7-F77A034563A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748226-C016-0906-1B22-480AA2768571}"/>
              </a:ext>
            </a:extLst>
          </p:cNvPr>
          <p:cNvSpPr>
            <a:spLocks noGrp="1"/>
          </p:cNvSpPr>
          <p:nvPr>
            <p:ph type="title"/>
          </p:nvPr>
        </p:nvSpPr>
        <p:spPr>
          <a:xfrm>
            <a:off x="256672" y="541588"/>
            <a:ext cx="11550315" cy="597401"/>
          </a:xfrm>
        </p:spPr>
        <p:txBody>
          <a:bodyPr>
            <a:normAutofit fontScale="90000"/>
          </a:bodyPr>
          <a:lstStyle/>
          <a:p>
            <a:r>
              <a:rPr lang="en-IN" dirty="0"/>
              <a:t>TDM : Statistical TDM</a:t>
            </a:r>
          </a:p>
        </p:txBody>
      </p:sp>
      <p:sp>
        <p:nvSpPr>
          <p:cNvPr id="6" name="TextBox 5">
            <a:extLst>
              <a:ext uri="{FF2B5EF4-FFF2-40B4-BE49-F238E27FC236}">
                <a16:creationId xmlns:a16="http://schemas.microsoft.com/office/drawing/2014/main" id="{7ADC5661-25D5-6CDE-78DE-83F6CB3831AA}"/>
              </a:ext>
            </a:extLst>
          </p:cNvPr>
          <p:cNvSpPr txBox="1"/>
          <p:nvPr/>
        </p:nvSpPr>
        <p:spPr>
          <a:xfrm>
            <a:off x="256672" y="1321427"/>
            <a:ext cx="10427369" cy="5601533"/>
          </a:xfrm>
          <a:prstGeom prst="rect">
            <a:avLst/>
          </a:prstGeom>
          <a:noFill/>
        </p:spPr>
        <p:txBody>
          <a:bodyPr wrap="square">
            <a:spAutoFit/>
          </a:bodyPr>
          <a:lstStyle/>
          <a:p>
            <a:r>
              <a:rPr lang="en-IN" sz="2400" dirty="0"/>
              <a:t>A dynamic digital multiplexing technique designed to maximize efficiency. Instead of reserving fixed slots for every line, the output frame </a:t>
            </a:r>
            <a:r>
              <a:rPr lang="en-IN" sz="2400" b="1" dirty="0"/>
              <a:t>collects data from active inputs until it is completely full</a:t>
            </a:r>
            <a:r>
              <a:rPr lang="en-IN" sz="2400" dirty="0"/>
              <a:t>, leaving zero empty slots.</a:t>
            </a:r>
          </a:p>
          <a:p>
            <a:endParaRPr lang="en-IN" sz="2400" dirty="0"/>
          </a:p>
          <a:p>
            <a:pPr marL="342900" indent="-342900">
              <a:buFont typeface="Arial" panose="020B0604020202020204" pitchFamily="34" charset="0"/>
              <a:buChar char="•"/>
            </a:pPr>
            <a:r>
              <a:rPr lang="en-IN" sz="2400" b="1" dirty="0"/>
              <a:t>Maximum Efficiency:</a:t>
            </a:r>
            <a:r>
              <a:rPr lang="en-IN" sz="2400" dirty="0"/>
              <a:t> Unlike Synchronous TDM, it does not waste bandwidth on idle devices. If an input line has no data to send, the system skips it entirely, ensuring the shared channel capacity is fully utilized.</a:t>
            </a:r>
          </a:p>
          <a:p>
            <a:pPr marL="342900" indent="-342900">
              <a:buFont typeface="Arial" panose="020B0604020202020204" pitchFamily="34" charset="0"/>
              <a:buChar char="•"/>
            </a:pPr>
            <a:r>
              <a:rPr lang="en-IN" sz="2400" b="1" dirty="0"/>
              <a:t>Mandatory Addressing:</a:t>
            </a:r>
            <a:r>
              <a:rPr lang="en-IN" sz="2400" dirty="0"/>
              <a:t> Because slots do not follow a fixed, predictable order, the receiver cannot identify data by its time position. Therefore, the multiplexer must include the </a:t>
            </a:r>
            <a:r>
              <a:rPr lang="en-IN" sz="2400" b="1" dirty="0"/>
              <a:t>address (ID) of each particular data source</a:t>
            </a:r>
            <a:r>
              <a:rPr lang="en-IN" sz="2400" dirty="0"/>
              <a:t> inside its assigned output slot.</a:t>
            </a:r>
          </a:p>
          <a:p>
            <a:pPr marL="342900" indent="-342900">
              <a:buFont typeface="Arial" panose="020B0604020202020204" pitchFamily="34" charset="0"/>
              <a:buChar char="•"/>
            </a:pPr>
            <a:r>
              <a:rPr lang="en-IN" sz="2400" b="1" dirty="0"/>
              <a:t>Bandwidth Optimization:</a:t>
            </a:r>
            <a:r>
              <a:rPr lang="en-IN" sz="2400" dirty="0"/>
              <a:t> By dynamically allocating slots only on-demand and skipping silent nodes, it improves overall bandwidth efficiency and allows more devices to share the line.</a:t>
            </a:r>
          </a:p>
          <a:p>
            <a:pPr algn="l" rtl="0" fontAlgn="base">
              <a:spcAft>
                <a:spcPts val="750"/>
              </a:spcAft>
              <a:buNone/>
            </a:pPr>
            <a:endParaRPr lang="en-IN" sz="2200" dirty="0"/>
          </a:p>
        </p:txBody>
      </p:sp>
    </p:spTree>
    <p:extLst>
      <p:ext uri="{BB962C8B-B14F-4D97-AF65-F5344CB8AC3E}">
        <p14:creationId xmlns:p14="http://schemas.microsoft.com/office/powerpoint/2010/main" val="3834448718"/>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A43823A-8B9F-5F67-F35D-E0D347C96C2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DCB797-18E7-B92B-6AD7-0854A560D884}"/>
              </a:ext>
            </a:extLst>
          </p:cNvPr>
          <p:cNvSpPr>
            <a:spLocks noGrp="1"/>
          </p:cNvSpPr>
          <p:nvPr>
            <p:ph type="title"/>
          </p:nvPr>
        </p:nvSpPr>
        <p:spPr>
          <a:xfrm>
            <a:off x="256672" y="541588"/>
            <a:ext cx="11550315" cy="597401"/>
          </a:xfrm>
        </p:spPr>
        <p:txBody>
          <a:bodyPr>
            <a:normAutofit fontScale="90000"/>
          </a:bodyPr>
          <a:lstStyle/>
          <a:p>
            <a:r>
              <a:rPr lang="en-IN" dirty="0"/>
              <a:t>TDM : Statistical TDM</a:t>
            </a:r>
          </a:p>
        </p:txBody>
      </p:sp>
      <p:pic>
        <p:nvPicPr>
          <p:cNvPr id="4" name="Picture 3">
            <a:extLst>
              <a:ext uri="{FF2B5EF4-FFF2-40B4-BE49-F238E27FC236}">
                <a16:creationId xmlns:a16="http://schemas.microsoft.com/office/drawing/2014/main" id="{A93CD057-5F01-0B48-89D9-E6D6319C33DE}"/>
              </a:ext>
            </a:extLst>
          </p:cNvPr>
          <p:cNvPicPr>
            <a:picLocks noChangeAspect="1"/>
          </p:cNvPicPr>
          <p:nvPr/>
        </p:nvPicPr>
        <p:blipFill>
          <a:blip r:embed="rId2"/>
          <a:stretch>
            <a:fillRect/>
          </a:stretch>
        </p:blipFill>
        <p:spPr>
          <a:xfrm>
            <a:off x="735093" y="1560345"/>
            <a:ext cx="8411749" cy="1800476"/>
          </a:xfrm>
          <a:prstGeom prst="rect">
            <a:avLst/>
          </a:prstGeom>
        </p:spPr>
      </p:pic>
      <p:sp>
        <p:nvSpPr>
          <p:cNvPr id="7" name="TextBox 6">
            <a:extLst>
              <a:ext uri="{FF2B5EF4-FFF2-40B4-BE49-F238E27FC236}">
                <a16:creationId xmlns:a16="http://schemas.microsoft.com/office/drawing/2014/main" id="{CD4E2A88-B033-F765-0494-9AE5A9B77D5A}"/>
              </a:ext>
            </a:extLst>
          </p:cNvPr>
          <p:cNvSpPr txBox="1"/>
          <p:nvPr/>
        </p:nvSpPr>
        <p:spPr>
          <a:xfrm>
            <a:off x="465221" y="3497180"/>
            <a:ext cx="11341766" cy="923330"/>
          </a:xfrm>
          <a:prstGeom prst="rect">
            <a:avLst/>
          </a:prstGeom>
          <a:noFill/>
        </p:spPr>
        <p:txBody>
          <a:bodyPr wrap="square">
            <a:spAutoFit/>
          </a:bodyPr>
          <a:lstStyle/>
          <a:p>
            <a:pPr>
              <a:buNone/>
            </a:pPr>
            <a:r>
              <a:rPr lang="en-IN" dirty="0"/>
              <a:t>Instead of rigidly creating a 5-slot frame and leaving a blank space for the empty Line C (like Synchronous TDM would do), the Statistical MUX actively scans the queues and packs the output frames </a:t>
            </a:r>
            <a:r>
              <a:rPr lang="en-IN" b="1" dirty="0"/>
              <a:t>on-demand</a:t>
            </a:r>
            <a:r>
              <a:rPr lang="en-IN" dirty="0"/>
              <a:t> using only active data.</a:t>
            </a:r>
          </a:p>
          <a:p>
            <a:pPr>
              <a:buNone/>
            </a:pPr>
            <a:r>
              <a:rPr lang="en-IN" dirty="0"/>
              <a:t>It processes the data in two sequential output bursts (Frames):</a:t>
            </a:r>
          </a:p>
        </p:txBody>
      </p:sp>
      <p:sp>
        <p:nvSpPr>
          <p:cNvPr id="9" name="TextBox 8">
            <a:extLst>
              <a:ext uri="{FF2B5EF4-FFF2-40B4-BE49-F238E27FC236}">
                <a16:creationId xmlns:a16="http://schemas.microsoft.com/office/drawing/2014/main" id="{E0BB6F37-480B-0CAC-DE9F-284BD3F90F2A}"/>
              </a:ext>
            </a:extLst>
          </p:cNvPr>
          <p:cNvSpPr txBox="1"/>
          <p:nvPr/>
        </p:nvSpPr>
        <p:spPr>
          <a:xfrm>
            <a:off x="465221" y="4697490"/>
            <a:ext cx="10411326" cy="1200329"/>
          </a:xfrm>
          <a:prstGeom prst="rect">
            <a:avLst/>
          </a:prstGeom>
          <a:noFill/>
        </p:spPr>
        <p:txBody>
          <a:bodyPr wrap="square">
            <a:spAutoFit/>
          </a:bodyPr>
          <a:lstStyle/>
          <a:p>
            <a:pPr>
              <a:buNone/>
            </a:pPr>
            <a:r>
              <a:rPr lang="en-IN" b="1" dirty="0"/>
              <a:t>Frame 1 (The First Frame Sent on the Right)</a:t>
            </a:r>
          </a:p>
          <a:p>
            <a:pPr>
              <a:buNone/>
            </a:pPr>
            <a:r>
              <a:rPr lang="en-IN" dirty="0"/>
              <a:t>The MUX looks at the first available packets in the queues: </a:t>
            </a:r>
            <a:r>
              <a:rPr lang="en-IN" dirty="0">
                <a:latin typeface="Courier New" panose="02070309020205020404" pitchFamily="49" charset="0"/>
              </a:rPr>
              <a:t>A1</a:t>
            </a:r>
            <a:r>
              <a:rPr lang="en-IN" dirty="0"/>
              <a:t>, </a:t>
            </a:r>
            <a:r>
              <a:rPr lang="en-IN" dirty="0">
                <a:latin typeface="Courier New" panose="02070309020205020404" pitchFamily="49" charset="0"/>
              </a:rPr>
              <a:t>B1</a:t>
            </a:r>
            <a:r>
              <a:rPr lang="en-IN" dirty="0"/>
              <a:t>, and </a:t>
            </a:r>
            <a:r>
              <a:rPr lang="en-IN" dirty="0">
                <a:latin typeface="Courier New" panose="02070309020205020404" pitchFamily="49" charset="0"/>
              </a:rPr>
              <a:t>D1</a:t>
            </a:r>
            <a:r>
              <a:rPr lang="en-IN" dirty="0"/>
              <a:t>.</a:t>
            </a:r>
          </a:p>
          <a:p>
            <a:pPr>
              <a:buFont typeface="Arial" panose="020B0604020202020204" pitchFamily="34" charset="0"/>
              <a:buChar char="•"/>
            </a:pPr>
            <a:r>
              <a:rPr lang="en-IN" dirty="0"/>
              <a:t>It leaves </a:t>
            </a:r>
            <a:r>
              <a:rPr lang="en-IN" b="1" dirty="0"/>
              <a:t>zero empty slots</a:t>
            </a:r>
            <a:r>
              <a:rPr lang="en-IN" dirty="0"/>
              <a:t> for Line C.</a:t>
            </a:r>
          </a:p>
          <a:p>
            <a:pPr>
              <a:buFont typeface="Arial" panose="020B0604020202020204" pitchFamily="34" charset="0"/>
              <a:buChar char="•"/>
            </a:pPr>
            <a:r>
              <a:rPr lang="en-IN" dirty="0"/>
              <a:t>It packs these three blocks tightly together into a single frame: </a:t>
            </a:r>
            <a:r>
              <a:rPr lang="en-IN" dirty="0">
                <a:latin typeface="Courier New" panose="02070309020205020404" pitchFamily="49" charset="0"/>
              </a:rPr>
              <a:t>[D1][B1][A1]</a:t>
            </a:r>
            <a:r>
              <a:rPr lang="en-IN" dirty="0"/>
              <a:t>.</a:t>
            </a:r>
          </a:p>
        </p:txBody>
      </p:sp>
    </p:spTree>
    <p:extLst>
      <p:ext uri="{BB962C8B-B14F-4D97-AF65-F5344CB8AC3E}">
        <p14:creationId xmlns:p14="http://schemas.microsoft.com/office/powerpoint/2010/main" val="2736845322"/>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A23379-F9D5-BDA0-B274-3B345031DDD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CC1EE9E-F5B9-DA5A-E752-2E7ED9016D06}"/>
              </a:ext>
            </a:extLst>
          </p:cNvPr>
          <p:cNvSpPr>
            <a:spLocks noGrp="1"/>
          </p:cNvSpPr>
          <p:nvPr>
            <p:ph type="title"/>
          </p:nvPr>
        </p:nvSpPr>
        <p:spPr>
          <a:xfrm>
            <a:off x="256672" y="541588"/>
            <a:ext cx="11550315" cy="597401"/>
          </a:xfrm>
        </p:spPr>
        <p:txBody>
          <a:bodyPr>
            <a:normAutofit fontScale="90000"/>
          </a:bodyPr>
          <a:lstStyle/>
          <a:p>
            <a:r>
              <a:rPr lang="en-IN" dirty="0"/>
              <a:t>TDM : Statistical TDM</a:t>
            </a:r>
          </a:p>
        </p:txBody>
      </p:sp>
      <p:sp>
        <p:nvSpPr>
          <p:cNvPr id="5" name="TextBox 4">
            <a:extLst>
              <a:ext uri="{FF2B5EF4-FFF2-40B4-BE49-F238E27FC236}">
                <a16:creationId xmlns:a16="http://schemas.microsoft.com/office/drawing/2014/main" id="{0785EC37-7349-718A-F9E9-9DE84251E81A}"/>
              </a:ext>
            </a:extLst>
          </p:cNvPr>
          <p:cNvSpPr txBox="1"/>
          <p:nvPr/>
        </p:nvSpPr>
        <p:spPr>
          <a:xfrm>
            <a:off x="376988" y="1421141"/>
            <a:ext cx="11309682" cy="923330"/>
          </a:xfrm>
          <a:prstGeom prst="rect">
            <a:avLst/>
          </a:prstGeom>
          <a:noFill/>
        </p:spPr>
        <p:txBody>
          <a:bodyPr wrap="square">
            <a:spAutoFit/>
          </a:bodyPr>
          <a:lstStyle/>
          <a:p>
            <a:pPr>
              <a:buNone/>
            </a:pPr>
            <a:r>
              <a:rPr lang="en-IN" b="1"/>
              <a:t>Frame 2 (The Second Frame Sent on the Left)</a:t>
            </a:r>
          </a:p>
          <a:p>
            <a:pPr>
              <a:buNone/>
            </a:pPr>
            <a:r>
              <a:rPr lang="en-IN"/>
              <a:t>Once the first frame is sent, the MUX looks at the remaining packets left in the queues: </a:t>
            </a:r>
            <a:r>
              <a:rPr lang="en-IN">
                <a:latin typeface="Courier New" panose="02070309020205020404" pitchFamily="49" charset="0"/>
              </a:rPr>
              <a:t>B2</a:t>
            </a:r>
            <a:r>
              <a:rPr lang="en-IN"/>
              <a:t>, </a:t>
            </a:r>
            <a:r>
              <a:rPr lang="en-IN">
                <a:latin typeface="Courier New" panose="02070309020205020404" pitchFamily="49" charset="0"/>
              </a:rPr>
              <a:t>D2</a:t>
            </a:r>
            <a:r>
              <a:rPr lang="en-IN"/>
              <a:t>, and </a:t>
            </a:r>
            <a:r>
              <a:rPr lang="en-IN">
                <a:latin typeface="Courier New" panose="02070309020205020404" pitchFamily="49" charset="0"/>
              </a:rPr>
              <a:t>E2</a:t>
            </a:r>
            <a:r>
              <a:rPr lang="en-IN"/>
              <a:t>.</a:t>
            </a:r>
          </a:p>
          <a:p>
            <a:pPr>
              <a:buFont typeface="Arial" panose="020B0604020202020204" pitchFamily="34" charset="0"/>
              <a:buChar char="•"/>
            </a:pPr>
            <a:r>
              <a:rPr lang="en-IN"/>
              <a:t>It packs them perfectly into the next frame: </a:t>
            </a:r>
            <a:r>
              <a:rPr lang="en-IN">
                <a:latin typeface="Courier New" panose="02070309020205020404" pitchFamily="49" charset="0"/>
              </a:rPr>
              <a:t>[E2][D2][B2]</a:t>
            </a:r>
            <a:r>
              <a:rPr lang="en-IN"/>
              <a:t>.</a:t>
            </a:r>
            <a:endParaRPr lang="en-IN" dirty="0"/>
          </a:p>
        </p:txBody>
      </p:sp>
      <p:sp>
        <p:nvSpPr>
          <p:cNvPr id="8" name="TextBox 7">
            <a:extLst>
              <a:ext uri="{FF2B5EF4-FFF2-40B4-BE49-F238E27FC236}">
                <a16:creationId xmlns:a16="http://schemas.microsoft.com/office/drawing/2014/main" id="{61F69061-A83E-DE54-CB44-0F6B182A4BA4}"/>
              </a:ext>
            </a:extLst>
          </p:cNvPr>
          <p:cNvSpPr txBox="1"/>
          <p:nvPr/>
        </p:nvSpPr>
        <p:spPr>
          <a:xfrm>
            <a:off x="376988" y="2752961"/>
            <a:ext cx="11309682" cy="3139321"/>
          </a:xfrm>
          <a:prstGeom prst="rect">
            <a:avLst/>
          </a:prstGeom>
          <a:noFill/>
        </p:spPr>
        <p:txBody>
          <a:bodyPr wrap="square">
            <a:spAutoFit/>
          </a:bodyPr>
          <a:lstStyle/>
          <a:p>
            <a:pPr>
              <a:buNone/>
            </a:pPr>
            <a:r>
              <a:rPr lang="en-IN" b="1" dirty="0"/>
              <a:t>The Need for Address Tags (The lowercase letters)</a:t>
            </a:r>
          </a:p>
          <a:p>
            <a:pPr>
              <a:buNone/>
            </a:pPr>
            <a:r>
              <a:rPr lang="en-IN" dirty="0"/>
              <a:t>Look closely at the individual slots inside the output frames. You will see lowercase letters (</a:t>
            </a:r>
            <a:r>
              <a:rPr lang="en-IN" dirty="0">
                <a:latin typeface="Courier New" panose="02070309020205020404" pitchFamily="49" charset="0"/>
              </a:rPr>
              <a:t>a</a:t>
            </a:r>
            <a:r>
              <a:rPr lang="en-IN" dirty="0"/>
              <a:t>, </a:t>
            </a:r>
            <a:r>
              <a:rPr lang="en-IN" dirty="0">
                <a:latin typeface="Courier New" panose="02070309020205020404" pitchFamily="49" charset="0"/>
              </a:rPr>
              <a:t>b</a:t>
            </a:r>
            <a:r>
              <a:rPr lang="en-IN" dirty="0"/>
              <a:t>, </a:t>
            </a:r>
            <a:r>
              <a:rPr lang="en-IN" dirty="0">
                <a:latin typeface="Courier New" panose="02070309020205020404" pitchFamily="49" charset="0"/>
              </a:rPr>
              <a:t>d</a:t>
            </a:r>
            <a:r>
              <a:rPr lang="en-IN" dirty="0"/>
              <a:t>, </a:t>
            </a:r>
            <a:r>
              <a:rPr lang="en-IN" dirty="0">
                <a:latin typeface="Courier New" panose="02070309020205020404" pitchFamily="49" charset="0"/>
              </a:rPr>
              <a:t>e</a:t>
            </a:r>
            <a:r>
              <a:rPr lang="en-IN" dirty="0"/>
              <a:t>) attached right next to the data payloads:</a:t>
            </a:r>
          </a:p>
          <a:p>
            <a:pPr>
              <a:buFont typeface="Arial" panose="020B0604020202020204" pitchFamily="34" charset="0"/>
              <a:buChar char="•"/>
            </a:pPr>
            <a:r>
              <a:rPr lang="en-IN" b="1" dirty="0">
                <a:latin typeface="Courier New" panose="02070309020205020404" pitchFamily="49" charset="0"/>
              </a:rPr>
              <a:t>a</a:t>
            </a:r>
            <a:r>
              <a:rPr lang="en-IN" dirty="0"/>
              <a:t> is the address header for Line A.</a:t>
            </a:r>
          </a:p>
          <a:p>
            <a:pPr>
              <a:buFont typeface="Arial" panose="020B0604020202020204" pitchFamily="34" charset="0"/>
              <a:buChar char="•"/>
            </a:pPr>
            <a:r>
              <a:rPr lang="en-IN" b="1" dirty="0">
                <a:latin typeface="Courier New" panose="02070309020205020404" pitchFamily="49" charset="0"/>
              </a:rPr>
              <a:t>b</a:t>
            </a:r>
            <a:r>
              <a:rPr lang="en-IN" dirty="0"/>
              <a:t> is the address header for Line B.</a:t>
            </a:r>
          </a:p>
          <a:p>
            <a:pPr>
              <a:buFont typeface="Arial" panose="020B0604020202020204" pitchFamily="34" charset="0"/>
              <a:buChar char="•"/>
            </a:pPr>
            <a:r>
              <a:rPr lang="en-IN" b="1" dirty="0">
                <a:latin typeface="Courier New" panose="02070309020205020404" pitchFamily="49" charset="0"/>
              </a:rPr>
              <a:t>d</a:t>
            </a:r>
            <a:r>
              <a:rPr lang="en-IN" dirty="0"/>
              <a:t> is the address header for Line D.</a:t>
            </a:r>
          </a:p>
          <a:p>
            <a:pPr>
              <a:buFont typeface="Arial" panose="020B0604020202020204" pitchFamily="34" charset="0"/>
              <a:buChar char="•"/>
            </a:pPr>
            <a:r>
              <a:rPr lang="en-IN" b="1" dirty="0">
                <a:latin typeface="Courier New" panose="02070309020205020404" pitchFamily="49" charset="0"/>
              </a:rPr>
              <a:t>e</a:t>
            </a:r>
            <a:r>
              <a:rPr lang="en-IN" dirty="0"/>
              <a:t> is the address header for Line E.</a:t>
            </a:r>
          </a:p>
          <a:p>
            <a:pPr>
              <a:buNone/>
            </a:pPr>
            <a:r>
              <a:rPr lang="en-IN" b="1" dirty="0"/>
              <a:t>Why are they there?</a:t>
            </a:r>
            <a:r>
              <a:rPr lang="en-IN" dirty="0"/>
              <a:t> Because the Demultiplexer (DEMUX) at the other end of the wire cannot predict when a line will be skipped. Without these lowercase tags, the receiver would get Frame 1 (</a:t>
            </a:r>
            <a:r>
              <a:rPr lang="en-IN" dirty="0">
                <a:latin typeface="Courier New" panose="02070309020205020404" pitchFamily="49" charset="0"/>
              </a:rPr>
              <a:t>D1</a:t>
            </a:r>
            <a:r>
              <a:rPr lang="en-IN" dirty="0"/>
              <a:t>, </a:t>
            </a:r>
            <a:r>
              <a:rPr lang="en-IN" dirty="0">
                <a:latin typeface="Courier New" panose="02070309020205020404" pitchFamily="49" charset="0"/>
              </a:rPr>
              <a:t>B1</a:t>
            </a:r>
            <a:r>
              <a:rPr lang="en-IN" dirty="0"/>
              <a:t>, </a:t>
            </a:r>
            <a:r>
              <a:rPr lang="en-IN" dirty="0">
                <a:latin typeface="Courier New" panose="02070309020205020404" pitchFamily="49" charset="0"/>
              </a:rPr>
              <a:t>A1</a:t>
            </a:r>
            <a:r>
              <a:rPr lang="en-IN" dirty="0"/>
              <a:t>) and assume that </a:t>
            </a:r>
            <a:r>
              <a:rPr lang="en-IN" dirty="0">
                <a:latin typeface="Courier New" panose="02070309020205020404" pitchFamily="49" charset="0"/>
              </a:rPr>
              <a:t>D1</a:t>
            </a:r>
            <a:r>
              <a:rPr lang="en-IN" dirty="0"/>
              <a:t> belonged to Line A and </a:t>
            </a:r>
            <a:r>
              <a:rPr lang="en-IN" dirty="0">
                <a:latin typeface="Courier New" panose="02070309020205020404" pitchFamily="49" charset="0"/>
              </a:rPr>
              <a:t>B1</a:t>
            </a:r>
            <a:r>
              <a:rPr lang="en-IN" dirty="0"/>
              <a:t> belonged to Line B. The address tags guarantee that the data is routed back to the correct software application.</a:t>
            </a:r>
          </a:p>
        </p:txBody>
      </p:sp>
    </p:spTree>
    <p:extLst>
      <p:ext uri="{BB962C8B-B14F-4D97-AF65-F5344CB8AC3E}">
        <p14:creationId xmlns:p14="http://schemas.microsoft.com/office/powerpoint/2010/main" val="1788024803"/>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B31485C-27C8-CDCE-3260-681BE8EA9F6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FB33A13-3489-9436-04C9-7C3581E01C49}"/>
              </a:ext>
            </a:extLst>
          </p:cNvPr>
          <p:cNvSpPr>
            <a:spLocks noGrp="1"/>
          </p:cNvSpPr>
          <p:nvPr>
            <p:ph idx="1"/>
          </p:nvPr>
        </p:nvSpPr>
        <p:spPr>
          <a:xfrm>
            <a:off x="256673" y="834190"/>
            <a:ext cx="11550315" cy="5775158"/>
          </a:xfrm>
        </p:spPr>
        <p:txBody>
          <a:bodyPr/>
          <a:lstStyle/>
          <a:p>
            <a:pPr marL="0" indent="0" fontAlgn="base">
              <a:buNone/>
            </a:pPr>
            <a:r>
              <a:rPr lang="en-IN" b="1" dirty="0">
                <a:highlight>
                  <a:srgbClr val="FFFF00"/>
                </a:highlight>
              </a:rPr>
              <a:t>Advantages of Multiplexing</a:t>
            </a:r>
          </a:p>
          <a:p>
            <a:pPr fontAlgn="base"/>
            <a:r>
              <a:rPr lang="en-IN" b="1" dirty="0"/>
              <a:t>Efficient Use of Bandwidth: </a:t>
            </a:r>
            <a:r>
              <a:rPr lang="en-IN" dirty="0"/>
              <a:t>You can send more than one signal over a single channel. This way, you can use the channel's capacity more efficiently.</a:t>
            </a:r>
          </a:p>
          <a:p>
            <a:pPr fontAlgn="base"/>
            <a:r>
              <a:rPr lang="en-IN" b="1" dirty="0"/>
              <a:t>Increased Data Transmission</a:t>
            </a:r>
            <a:r>
              <a:rPr lang="en-IN" dirty="0"/>
              <a:t>: Multiplexing can significantly boost the amount of data that can be sent over a network simultaneously, enhancing overall transmission capacity.</a:t>
            </a:r>
          </a:p>
          <a:p>
            <a:pPr fontAlgn="base"/>
            <a:r>
              <a:rPr lang="en-IN" b="1" dirty="0"/>
              <a:t>Scalability</a:t>
            </a:r>
            <a:r>
              <a:rPr lang="en-IN" dirty="0"/>
              <a:t>: Multiplexing allows networks to easily expand and accommodate more data streams without requiring significant changes to the existing infrastructure.</a:t>
            </a:r>
          </a:p>
          <a:p>
            <a:pPr fontAlgn="base"/>
            <a:r>
              <a:rPr lang="en-IN" b="1" dirty="0"/>
              <a:t>Flexibility</a:t>
            </a:r>
            <a:r>
              <a:rPr lang="en-IN" dirty="0"/>
              <a:t>: Different types of multiplexing (TDM, FDM, WDM, CDM) can be used based on the specific needs and characteristics of the communication system, providing flexibility in network design.</a:t>
            </a:r>
          </a:p>
          <a:p>
            <a:endParaRPr lang="en-IN" dirty="0"/>
          </a:p>
        </p:txBody>
      </p:sp>
    </p:spTree>
    <p:extLst>
      <p:ext uri="{BB962C8B-B14F-4D97-AF65-F5344CB8AC3E}">
        <p14:creationId xmlns:p14="http://schemas.microsoft.com/office/powerpoint/2010/main" val="95482779"/>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E0611C-D2FC-6290-1F7C-A2253233E4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61BEF9-F6BD-4B2E-5B67-43DE05BF0419}"/>
              </a:ext>
            </a:extLst>
          </p:cNvPr>
          <p:cNvSpPr>
            <a:spLocks noGrp="1"/>
          </p:cNvSpPr>
          <p:nvPr>
            <p:ph idx="1"/>
          </p:nvPr>
        </p:nvSpPr>
        <p:spPr>
          <a:xfrm>
            <a:off x="256673" y="834190"/>
            <a:ext cx="11550315" cy="5775158"/>
          </a:xfrm>
        </p:spPr>
        <p:txBody>
          <a:bodyPr/>
          <a:lstStyle/>
          <a:p>
            <a:pPr marL="0" indent="0" fontAlgn="base">
              <a:buNone/>
            </a:pPr>
            <a:r>
              <a:rPr lang="en-IN" b="1" dirty="0">
                <a:highlight>
                  <a:srgbClr val="FFFF00"/>
                </a:highlight>
              </a:rPr>
              <a:t>Disadvantages of Multiplexing</a:t>
            </a:r>
          </a:p>
          <a:p>
            <a:pPr fontAlgn="base"/>
            <a:r>
              <a:rPr lang="en-IN" b="1" dirty="0"/>
              <a:t>Synchronization Issues</a:t>
            </a:r>
            <a:r>
              <a:rPr lang="en-IN" dirty="0"/>
              <a:t>: Ensuring that multiple data streams remain properly synchronized can be challenging, leading to potential data loss or errors if not managed correctly.</a:t>
            </a:r>
          </a:p>
          <a:p>
            <a:pPr fontAlgn="base"/>
            <a:r>
              <a:rPr lang="en-IN" b="1" dirty="0"/>
              <a:t>Latency</a:t>
            </a:r>
            <a:r>
              <a:rPr lang="en-IN" dirty="0"/>
              <a:t>: Combining multiple signals into one can introduce delays, as each data stream needs to be processed, synchronized, and demultiplexed at the receiving end.</a:t>
            </a:r>
          </a:p>
          <a:p>
            <a:pPr fontAlgn="base"/>
            <a:r>
              <a:rPr lang="en-IN" b="1" dirty="0"/>
              <a:t>Signal Degradation</a:t>
            </a:r>
            <a:r>
              <a:rPr lang="en-IN" dirty="0"/>
              <a:t>: Over long distances, multiplexed signals can experience degradation and interference, requiring additional measures such as signal boosters or repeaters to maintain quality.</a:t>
            </a:r>
          </a:p>
          <a:p>
            <a:pPr fontAlgn="base"/>
            <a:r>
              <a:rPr lang="en-IN" b="1" dirty="0"/>
              <a:t>Resource Management</a:t>
            </a:r>
            <a:r>
              <a:rPr lang="en-IN" dirty="0"/>
              <a:t>: Allocating and managing resources for multiplexing can be complicated, requiring careful planning and real-time adjustments to avoid congestion and ensure efficient operation.</a:t>
            </a:r>
          </a:p>
          <a:p>
            <a:endParaRPr lang="en-IN" dirty="0"/>
          </a:p>
        </p:txBody>
      </p:sp>
    </p:spTree>
    <p:extLst>
      <p:ext uri="{BB962C8B-B14F-4D97-AF65-F5344CB8AC3E}">
        <p14:creationId xmlns:p14="http://schemas.microsoft.com/office/powerpoint/2010/main" val="354317673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9CBBCD-A4E5-F595-0AF9-272F628593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CD5429E-9A3F-746E-84C5-E38332748E27}"/>
              </a:ext>
            </a:extLst>
          </p:cNvPr>
          <p:cNvSpPr>
            <a:spLocks noGrp="1"/>
          </p:cNvSpPr>
          <p:nvPr>
            <p:ph type="title"/>
          </p:nvPr>
        </p:nvSpPr>
        <p:spPr>
          <a:xfrm>
            <a:off x="256672" y="541588"/>
            <a:ext cx="11550315" cy="597401"/>
          </a:xfrm>
        </p:spPr>
        <p:txBody>
          <a:bodyPr>
            <a:normAutofit fontScale="90000"/>
          </a:bodyPr>
          <a:lstStyle/>
          <a:p>
            <a:r>
              <a:rPr lang="en-IN" dirty="0"/>
              <a:t>Modulation - Need?</a:t>
            </a:r>
          </a:p>
        </p:txBody>
      </p:sp>
      <p:sp>
        <p:nvSpPr>
          <p:cNvPr id="3" name="Content Placeholder 2">
            <a:extLst>
              <a:ext uri="{FF2B5EF4-FFF2-40B4-BE49-F238E27FC236}">
                <a16:creationId xmlns:a16="http://schemas.microsoft.com/office/drawing/2014/main" id="{CCD5C389-2B9B-A6BD-9941-14A6DA2E449B}"/>
              </a:ext>
            </a:extLst>
          </p:cNvPr>
          <p:cNvSpPr>
            <a:spLocks noGrp="1"/>
          </p:cNvSpPr>
          <p:nvPr>
            <p:ph idx="1"/>
          </p:nvPr>
        </p:nvSpPr>
        <p:spPr>
          <a:xfrm>
            <a:off x="256673" y="1251284"/>
            <a:ext cx="11550315" cy="5358063"/>
          </a:xfrm>
        </p:spPr>
        <p:txBody>
          <a:bodyPr>
            <a:normAutofit/>
          </a:bodyPr>
          <a:lstStyle/>
          <a:p>
            <a:r>
              <a:rPr lang="en-IN" sz="2400" dirty="0"/>
              <a:t>Inside a computer's CPU or RAM, data exists as </a:t>
            </a:r>
            <a:r>
              <a:rPr lang="en-IN" sz="2400" b="1" dirty="0"/>
              <a:t>digital pulses</a:t>
            </a:r>
            <a:r>
              <a:rPr lang="en-IN" sz="2400" dirty="0"/>
              <a:t> (discrete square waves with sharp voltage jumps). However, physical transmission media like the open air, telephone lines, or satellite links are </a:t>
            </a:r>
            <a:r>
              <a:rPr lang="en-IN" sz="2400" b="1" dirty="0" err="1"/>
              <a:t>analog</a:t>
            </a:r>
            <a:r>
              <a:rPr lang="en-IN" sz="2400" b="1" dirty="0"/>
              <a:t> environments</a:t>
            </a:r>
            <a:r>
              <a:rPr lang="en-IN" sz="2400" dirty="0"/>
              <a:t>. They can only carry continuous, smooth electromagnetic sine waves.</a:t>
            </a:r>
          </a:p>
          <a:p>
            <a:r>
              <a:rPr lang="en-IN" sz="2400" dirty="0"/>
              <a:t>If you try to blast a raw, jagged digital square wave directly through the air or across a long copper wire, the signal degrades almost instantly due to physical resistance (attenuation) and turns into unreadable garbage.</a:t>
            </a:r>
          </a:p>
          <a:p>
            <a:r>
              <a:rPr lang="en-IN" sz="2400" b="1" dirty="0"/>
              <a:t>Modulation is the solution to this bottleneck.</a:t>
            </a:r>
            <a:r>
              <a:rPr lang="en-IN" sz="2400" dirty="0"/>
              <a:t> We take a perfectly smooth </a:t>
            </a:r>
            <a:r>
              <a:rPr lang="en-IN" sz="2400" dirty="0" err="1"/>
              <a:t>analog</a:t>
            </a:r>
            <a:r>
              <a:rPr lang="en-IN" sz="2400" dirty="0"/>
              <a:t> wave (called the </a:t>
            </a:r>
            <a:r>
              <a:rPr lang="en-IN" sz="2400" b="1" dirty="0"/>
              <a:t>Carrier Wave</a:t>
            </a:r>
            <a:r>
              <a:rPr lang="en-IN" sz="2400" dirty="0"/>
              <a:t>) that is naturally great at traveling long distances, and we intentionally alter its characteristics to "carry" our software bits hidden inside it. Without modulation, long-distance wireless networking, cellular data, and satellite communications would be physically impossible.</a:t>
            </a:r>
          </a:p>
          <a:p>
            <a:endParaRPr lang="en-IN" sz="2200" dirty="0"/>
          </a:p>
        </p:txBody>
      </p:sp>
    </p:spTree>
    <p:extLst>
      <p:ext uri="{BB962C8B-B14F-4D97-AF65-F5344CB8AC3E}">
        <p14:creationId xmlns:p14="http://schemas.microsoft.com/office/powerpoint/2010/main" val="946683776"/>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772F11-1BE8-9697-489B-7DD7C03A5D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59BC6A0-7A56-FCFA-5E11-76F0272D0136}"/>
              </a:ext>
            </a:extLst>
          </p:cNvPr>
          <p:cNvSpPr>
            <a:spLocks noGrp="1"/>
          </p:cNvSpPr>
          <p:nvPr>
            <p:ph type="title"/>
          </p:nvPr>
        </p:nvSpPr>
        <p:spPr>
          <a:xfrm>
            <a:off x="256672" y="541588"/>
            <a:ext cx="11550315" cy="597401"/>
          </a:xfrm>
        </p:spPr>
        <p:txBody>
          <a:bodyPr>
            <a:normAutofit fontScale="90000"/>
          </a:bodyPr>
          <a:lstStyle/>
          <a:p>
            <a:r>
              <a:rPr lang="en-US" dirty="0"/>
              <a:t>M</a:t>
            </a:r>
            <a:r>
              <a:rPr lang="en-IN" dirty="0" err="1"/>
              <a:t>odulation</a:t>
            </a:r>
            <a:endParaRPr lang="en-IN" dirty="0"/>
          </a:p>
        </p:txBody>
      </p:sp>
      <p:sp>
        <p:nvSpPr>
          <p:cNvPr id="3" name="Content Placeholder 2">
            <a:extLst>
              <a:ext uri="{FF2B5EF4-FFF2-40B4-BE49-F238E27FC236}">
                <a16:creationId xmlns:a16="http://schemas.microsoft.com/office/drawing/2014/main" id="{BA1D27AE-E567-F5E7-DD6B-A44FBA55D479}"/>
              </a:ext>
            </a:extLst>
          </p:cNvPr>
          <p:cNvSpPr>
            <a:spLocks noGrp="1"/>
          </p:cNvSpPr>
          <p:nvPr>
            <p:ph idx="1"/>
          </p:nvPr>
        </p:nvSpPr>
        <p:spPr>
          <a:xfrm>
            <a:off x="256673" y="1251284"/>
            <a:ext cx="11550315" cy="5358063"/>
          </a:xfrm>
        </p:spPr>
        <p:txBody>
          <a:bodyPr>
            <a:noAutofit/>
          </a:bodyPr>
          <a:lstStyle/>
          <a:p>
            <a:r>
              <a:rPr lang="en-IN" sz="2000" dirty="0"/>
              <a:t>A </a:t>
            </a:r>
            <a:r>
              <a:rPr lang="en-IN" sz="2000" b="1" dirty="0"/>
              <a:t>Modem</a:t>
            </a:r>
            <a:r>
              <a:rPr lang="en-IN" sz="2000" dirty="0"/>
              <a:t> (</a:t>
            </a:r>
            <a:r>
              <a:rPr lang="en-IN" sz="2000" b="1" dirty="0" err="1"/>
              <a:t>MO</a:t>
            </a:r>
            <a:r>
              <a:rPr lang="en-IN" sz="2000" dirty="0" err="1"/>
              <a:t>dulator-</a:t>
            </a:r>
            <a:r>
              <a:rPr lang="en-IN" sz="2000" b="1" dirty="0" err="1"/>
              <a:t>DE</a:t>
            </a:r>
            <a:r>
              <a:rPr lang="en-IN" sz="2000" dirty="0" err="1"/>
              <a:t>modulator</a:t>
            </a:r>
            <a:r>
              <a:rPr lang="en-IN" sz="2000" dirty="0"/>
              <a:t>) is a translator device that sits between a computer and a network cable.</a:t>
            </a:r>
          </a:p>
          <a:p>
            <a:r>
              <a:rPr lang="en-IN" sz="2000" b="1" dirty="0"/>
              <a:t>The Problem:</a:t>
            </a:r>
            <a:r>
              <a:rPr lang="en-IN" sz="2000" dirty="0"/>
              <a:t> A computer is a purely </a:t>
            </a:r>
            <a:r>
              <a:rPr lang="en-IN" sz="2000" b="1" dirty="0"/>
              <a:t>digital</a:t>
            </a:r>
            <a:r>
              <a:rPr lang="en-IN" sz="2000" dirty="0"/>
              <a:t> machine its operating system and software applications only understand discrete blocks of 0s and 1s. However, long-distance cables (like telephone lines, cable TV wires, or wireless space) are </a:t>
            </a:r>
            <a:r>
              <a:rPr lang="en-IN" sz="2000" b="1" dirty="0" err="1"/>
              <a:t>analog</a:t>
            </a:r>
            <a:r>
              <a:rPr lang="en-IN" sz="2000" dirty="0"/>
              <a:t> media—they can only carry continuous, flowing electromagnetic waves.</a:t>
            </a:r>
          </a:p>
          <a:p>
            <a:r>
              <a:rPr lang="en-IN" sz="2000" b="1" dirty="0"/>
              <a:t>The Solution:</a:t>
            </a:r>
            <a:r>
              <a:rPr lang="en-IN" sz="2000" dirty="0"/>
              <a:t> * </a:t>
            </a:r>
            <a:r>
              <a:rPr lang="en-IN" sz="2000" b="1" dirty="0"/>
              <a:t>Modulation:</a:t>
            </a:r>
            <a:r>
              <a:rPr lang="en-IN" sz="2000" dirty="0"/>
              <a:t> </a:t>
            </a:r>
            <a:r>
              <a:rPr lang="en-US" sz="2000" dirty="0"/>
              <a:t>Process by which data is converted into electrical/digital signals for transferring that signal over a medium is called modulation. It increases strength for maximum reach of the signals.</a:t>
            </a:r>
          </a:p>
          <a:p>
            <a:r>
              <a:rPr lang="en-IN" sz="2000" b="1" dirty="0"/>
              <a:t>Demodulation:</a:t>
            </a:r>
            <a:r>
              <a:rPr lang="en-IN" sz="2000" dirty="0"/>
              <a:t> </a:t>
            </a:r>
            <a:r>
              <a:rPr lang="en-US" sz="2000" dirty="0"/>
              <a:t>The process of extracting data from the transmitted signal is called demodulation.</a:t>
            </a:r>
          </a:p>
          <a:p>
            <a:r>
              <a:rPr lang="en-US" sz="2000" dirty="0"/>
              <a:t>Modem is a device that performs both modulation and demodulation processes.</a:t>
            </a:r>
          </a:p>
          <a:p>
            <a:pPr fontAlgn="base"/>
            <a:r>
              <a:rPr lang="en-IN" sz="2000" dirty="0"/>
              <a:t>The most commonly altered characteristics of modulation include </a:t>
            </a:r>
            <a:r>
              <a:rPr lang="en-IN" sz="2000" b="1" dirty="0"/>
              <a:t>amplitude</a:t>
            </a:r>
            <a:r>
              <a:rPr lang="en-IN" sz="2000" dirty="0"/>
              <a:t>, </a:t>
            </a:r>
            <a:r>
              <a:rPr lang="en-IN" sz="2000" b="1" dirty="0"/>
              <a:t>frequency</a:t>
            </a:r>
            <a:r>
              <a:rPr lang="en-IN" sz="2000" dirty="0"/>
              <a:t>, and </a:t>
            </a:r>
            <a:r>
              <a:rPr lang="en-IN" sz="2000" b="1" dirty="0"/>
              <a:t>phase</a:t>
            </a:r>
            <a:r>
              <a:rPr lang="en-IN" sz="2000" dirty="0"/>
              <a:t>.</a:t>
            </a:r>
          </a:p>
          <a:p>
            <a:pPr fontAlgn="base"/>
            <a:r>
              <a:rPr lang="en-IN" sz="2000" b="1" dirty="0"/>
              <a:t>Carrier signal: </a:t>
            </a:r>
            <a:r>
              <a:rPr lang="en-IN" sz="2000" dirty="0"/>
              <a:t>The signals that contain no information but have a certain phase, frequency, and amplitude are called carrier signals.</a:t>
            </a:r>
          </a:p>
          <a:p>
            <a:pPr fontAlgn="base"/>
            <a:r>
              <a:rPr lang="en-IN" sz="2000" b="1" dirty="0"/>
              <a:t>Modulated signals: </a:t>
            </a:r>
            <a:r>
              <a:rPr lang="en-IN" sz="2000" dirty="0"/>
              <a:t>The signals that are the combination of the carrier signals and modulation signals are modulated signals. The modulated signal is obtained after the modulation of the signals</a:t>
            </a:r>
          </a:p>
          <a:p>
            <a:endParaRPr lang="en-IN" sz="2000" dirty="0"/>
          </a:p>
        </p:txBody>
      </p:sp>
    </p:spTree>
    <p:extLst>
      <p:ext uri="{BB962C8B-B14F-4D97-AF65-F5344CB8AC3E}">
        <p14:creationId xmlns:p14="http://schemas.microsoft.com/office/powerpoint/2010/main" val="1314504616"/>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8FED9F-F0B2-ADDB-6BA3-C3CA186B38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EE70A4-57CD-7D32-5783-6C8E64684EE2}"/>
              </a:ext>
            </a:extLst>
          </p:cNvPr>
          <p:cNvSpPr>
            <a:spLocks noGrp="1"/>
          </p:cNvSpPr>
          <p:nvPr>
            <p:ph type="title"/>
          </p:nvPr>
        </p:nvSpPr>
        <p:spPr>
          <a:xfrm>
            <a:off x="256672" y="541588"/>
            <a:ext cx="11550315" cy="597401"/>
          </a:xfrm>
        </p:spPr>
        <p:txBody>
          <a:bodyPr>
            <a:normAutofit fontScale="90000"/>
          </a:bodyPr>
          <a:lstStyle/>
          <a:p>
            <a:r>
              <a:rPr lang="en-IN" dirty="0"/>
              <a:t>Need?</a:t>
            </a:r>
          </a:p>
        </p:txBody>
      </p:sp>
      <p:sp>
        <p:nvSpPr>
          <p:cNvPr id="3" name="Content Placeholder 2">
            <a:extLst>
              <a:ext uri="{FF2B5EF4-FFF2-40B4-BE49-F238E27FC236}">
                <a16:creationId xmlns:a16="http://schemas.microsoft.com/office/drawing/2014/main" id="{600BED0B-AC67-7E9C-8CBD-9811FF4CC493}"/>
              </a:ext>
            </a:extLst>
          </p:cNvPr>
          <p:cNvSpPr>
            <a:spLocks noGrp="1"/>
          </p:cNvSpPr>
          <p:nvPr>
            <p:ph idx="1"/>
          </p:nvPr>
        </p:nvSpPr>
        <p:spPr>
          <a:xfrm>
            <a:off x="256673" y="1251284"/>
            <a:ext cx="11550315" cy="5358063"/>
          </a:xfrm>
        </p:spPr>
        <p:txBody>
          <a:bodyPr>
            <a:normAutofit/>
          </a:bodyPr>
          <a:lstStyle/>
          <a:p>
            <a:pPr marL="0" indent="0">
              <a:buNone/>
            </a:pPr>
            <a:r>
              <a:rPr lang="en-IN" sz="2400" dirty="0"/>
              <a:t>To turn data into a wave, a modem modifies one of three basic properties of that continuous carrier signal.</a:t>
            </a:r>
            <a:endParaRPr lang="en-IN" sz="2200" dirty="0"/>
          </a:p>
        </p:txBody>
      </p:sp>
    </p:spTree>
    <p:extLst>
      <p:ext uri="{BB962C8B-B14F-4D97-AF65-F5344CB8AC3E}">
        <p14:creationId xmlns:p14="http://schemas.microsoft.com/office/powerpoint/2010/main" val="1193771839"/>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2924</TotalTime>
  <Words>9566</Words>
  <Application>Microsoft Office PowerPoint</Application>
  <PresentationFormat>Widescreen</PresentationFormat>
  <Paragraphs>916</Paragraphs>
  <Slides>86</Slides>
  <Notes>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86</vt:i4>
      </vt:variant>
    </vt:vector>
  </HeadingPairs>
  <TitlesOfParts>
    <vt:vector size="93" baseType="lpstr">
      <vt:lpstr>Arial</vt:lpstr>
      <vt:lpstr>Calibri</vt:lpstr>
      <vt:lpstr>Calibri Light</vt:lpstr>
      <vt:lpstr>Courier New</vt:lpstr>
      <vt:lpstr>Google Sans Text</vt:lpstr>
      <vt:lpstr>Nunito</vt:lpstr>
      <vt:lpstr>Office Theme</vt:lpstr>
      <vt:lpstr>Computer Networks</vt:lpstr>
      <vt:lpstr>Contents</vt:lpstr>
      <vt:lpstr>Network Reference Models</vt:lpstr>
      <vt:lpstr>OSI - Layers</vt:lpstr>
      <vt:lpstr>Layer 7: The Application Layer</vt:lpstr>
      <vt:lpstr>The Application Layer: Functionalities</vt:lpstr>
      <vt:lpstr>The Application Layer: Protocols Used</vt:lpstr>
      <vt:lpstr>Data Format (Protocol Data Unit - PDU) &amp; Header</vt:lpstr>
      <vt:lpstr>WhatsApp Chat Example</vt:lpstr>
      <vt:lpstr>Presentation Layer</vt:lpstr>
      <vt:lpstr>The Presentation Layer: Functionalities</vt:lpstr>
      <vt:lpstr>The Presentation Layer: Protocols Used</vt:lpstr>
      <vt:lpstr>Data Format (Protocol Data Unit - PDU) &amp; Header</vt:lpstr>
      <vt:lpstr>Session Layer</vt:lpstr>
      <vt:lpstr>Session Layer: Why do we even need it?</vt:lpstr>
      <vt:lpstr>The Session Layer: Functionalities</vt:lpstr>
      <vt:lpstr>The Session Layer: Protocols Used</vt:lpstr>
      <vt:lpstr>Data Format (Protocol Data Unit - PDU) &amp; Header</vt:lpstr>
      <vt:lpstr>WhatsApp Chat Example</vt:lpstr>
      <vt:lpstr>Transport Layer</vt:lpstr>
      <vt:lpstr>The Transport Layer: Functionalities</vt:lpstr>
      <vt:lpstr>The Transport Layer: Protocols</vt:lpstr>
      <vt:lpstr>The Transport Layer: Data Format (Protocol Data Unit)</vt:lpstr>
      <vt:lpstr>The Transport Layer: Header Format (TCP)</vt:lpstr>
      <vt:lpstr>The Transport Layer: Header Format (UDP)</vt:lpstr>
      <vt:lpstr>The Transport Layer: 3-way handshake</vt:lpstr>
      <vt:lpstr>Network Layer</vt:lpstr>
      <vt:lpstr>The Network Layer: Functionalities</vt:lpstr>
      <vt:lpstr>The Network Layer: Protocols</vt:lpstr>
      <vt:lpstr>Data Format (Protocol Data Unit - PDU) &amp; Header</vt:lpstr>
      <vt:lpstr>Data Format (Protocol Data Unit - PDU) &amp; Header</vt:lpstr>
      <vt:lpstr>Data Format (Protocol Data Unit - PDU) &amp; Header</vt:lpstr>
      <vt:lpstr>Data Link Layer</vt:lpstr>
      <vt:lpstr>The Data Link Layer: Functionalities</vt:lpstr>
      <vt:lpstr>The Data Link Layer: Protocols</vt:lpstr>
      <vt:lpstr>PDU, Header &amp; Trailer</vt:lpstr>
      <vt:lpstr>The Data Link Layer: Sub-Layers</vt:lpstr>
      <vt:lpstr>The Data Link Layer: Sub-Layers</vt:lpstr>
      <vt:lpstr>Physical Layer</vt:lpstr>
      <vt:lpstr>Physical Layer: Why do we need it?</vt:lpstr>
      <vt:lpstr>The Physical Layer: Functionalities</vt:lpstr>
      <vt:lpstr>The Physical Layer: Devices Used</vt:lpstr>
      <vt:lpstr>PowerPoint Presentation</vt:lpstr>
      <vt:lpstr>PowerPoint Presentation</vt:lpstr>
      <vt:lpstr>PowerPoint Presentation</vt:lpstr>
      <vt:lpstr>Transmission Media (Guided vs Unguided Media)</vt:lpstr>
      <vt:lpstr>Transmission Media</vt:lpstr>
      <vt:lpstr>GUIDED MEDIA (WIRED) – Twisted Pair Cable</vt:lpstr>
      <vt:lpstr>PowerPoint Presentation</vt:lpstr>
      <vt:lpstr>COAXIAL CABLE</vt:lpstr>
      <vt:lpstr>PowerPoint Presentation</vt:lpstr>
      <vt:lpstr>FIBER OPTIC CABLE</vt:lpstr>
      <vt:lpstr>PowerPoint Presentation</vt:lpstr>
      <vt:lpstr>UNGUIDED MEDIA (WIRELESS) – Radio Waves</vt:lpstr>
      <vt:lpstr>PowerPoint Presentation</vt:lpstr>
      <vt:lpstr>MICROWAVES</vt:lpstr>
      <vt:lpstr>PowerPoint Presentation</vt:lpstr>
      <vt:lpstr>INFRARED</vt:lpstr>
      <vt:lpstr>PowerPoint Presentation</vt:lpstr>
      <vt:lpstr>PowerPoint Presentation</vt:lpstr>
      <vt:lpstr>Physical Layer Core Responsibilities</vt:lpstr>
      <vt:lpstr>PowerPoint Presentation</vt:lpstr>
      <vt:lpstr>PowerPoint Presentation</vt:lpstr>
      <vt:lpstr>Multiplexing – Need?</vt:lpstr>
      <vt:lpstr>Multiplexing</vt:lpstr>
      <vt:lpstr>Multiplexing </vt:lpstr>
      <vt:lpstr>Multiplexing - Uses</vt:lpstr>
      <vt:lpstr>Multiplexing – Types / Strategies</vt:lpstr>
      <vt:lpstr>FDM (Frequency Division Multiplexing)</vt:lpstr>
      <vt:lpstr>FDM (Frequency Division Multiplexing)</vt:lpstr>
      <vt:lpstr>FDM (Frequency Division Multiplexing)</vt:lpstr>
      <vt:lpstr>FDM (Frequency Division Multiplexing)</vt:lpstr>
      <vt:lpstr>TDM (Time Division Multiplexing)</vt:lpstr>
      <vt:lpstr>WDM (Wavelength Division Multiplexing)</vt:lpstr>
      <vt:lpstr>WDM (Wavelength Division Multiplexing)</vt:lpstr>
      <vt:lpstr>WDM (Wavelength Division Multiplexing)</vt:lpstr>
      <vt:lpstr>TDM (Time Division Multiplexing)</vt:lpstr>
      <vt:lpstr>TDM : Synchronous TDM</vt:lpstr>
      <vt:lpstr>TDM : Statistical TDM</vt:lpstr>
      <vt:lpstr>TDM : Statistical TDM</vt:lpstr>
      <vt:lpstr>TDM : Statistical TDM</vt:lpstr>
      <vt:lpstr>PowerPoint Presentation</vt:lpstr>
      <vt:lpstr>PowerPoint Presentation</vt:lpstr>
      <vt:lpstr>Modulation - Need?</vt:lpstr>
      <vt:lpstr>Modulation</vt:lpstr>
      <vt:lpstr>Need?</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Alok Singh Rathore</dc:creator>
  <cp:lastModifiedBy>Deven goyal</cp:lastModifiedBy>
  <cp:revision>91</cp:revision>
  <dcterms:created xsi:type="dcterms:W3CDTF">2026-06-17T09:11:57Z</dcterms:created>
  <dcterms:modified xsi:type="dcterms:W3CDTF">2026-08-24T14:05:21Z</dcterms:modified>
</cp:coreProperties>
</file>